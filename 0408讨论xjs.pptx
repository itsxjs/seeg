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691" r:id="rId2"/>
    <p:sldId id="2286" r:id="rId3"/>
    <p:sldId id="2273" r:id="rId4"/>
    <p:sldId id="2283" r:id="rId5"/>
    <p:sldId id="2296" r:id="rId6"/>
    <p:sldId id="2299" r:id="rId7"/>
    <p:sldId id="2279" r:id="rId8"/>
    <p:sldId id="2281" r:id="rId9"/>
    <p:sldId id="2308" r:id="rId10"/>
    <p:sldId id="2300" r:id="rId11"/>
    <p:sldId id="2305" r:id="rId12"/>
    <p:sldId id="2304" r:id="rId13"/>
    <p:sldId id="2298" r:id="rId14"/>
    <p:sldId id="2306" r:id="rId15"/>
    <p:sldId id="2303" r:id="rId16"/>
    <p:sldId id="2307" r:id="rId17"/>
    <p:sldId id="2309" r:id="rId18"/>
    <p:sldId id="2310" r:id="rId19"/>
    <p:sldId id="2311" r:id="rId20"/>
    <p:sldId id="2287" r:id="rId21"/>
  </p:sldIdLst>
  <p:sldSz cx="12192000" cy="6858000"/>
  <p:notesSz cx="6784975" cy="99187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469" userDrawn="1">
          <p15:clr>
            <a:srgbClr val="A4A3A4"/>
          </p15:clr>
        </p15:guide>
        <p15:guide id="3" orient="horz" pos="4201" userDrawn="1">
          <p15:clr>
            <a:srgbClr val="A4A3A4"/>
          </p15:clr>
        </p15:guide>
        <p15:guide id="4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1" clrIdx="0"/>
  <p:cmAuthor id="2" name="Fengxian WU" initials="F" lastIdx="2" clrIdx="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000"/>
    <a:srgbClr val="C00000"/>
    <a:srgbClr val="FFBFBF"/>
    <a:srgbClr val="0F3D8B"/>
    <a:srgbClr val="D7EAFE"/>
    <a:srgbClr val="2E75B6"/>
    <a:srgbClr val="FFFF00"/>
    <a:srgbClr val="D8D8D8"/>
    <a:srgbClr val="7F7F7F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82" autoAdjust="0"/>
    <p:restoredTop sz="86648" autoAdjust="0"/>
  </p:normalViewPr>
  <p:slideViewPr>
    <p:cSldViewPr snapToGrid="0" showGuides="1">
      <p:cViewPr varScale="1">
        <p:scale>
          <a:sx n="105" d="100"/>
          <a:sy n="105" d="100"/>
        </p:scale>
        <p:origin x="360" y="192"/>
      </p:cViewPr>
      <p:guideLst>
        <p:guide orient="horz" pos="2160"/>
        <p:guide pos="7469"/>
        <p:guide orient="horz" pos="4201"/>
        <p:guide pos="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60"/>
    </p:cViewPr>
  </p:sorterViewPr>
  <p:notesViewPr>
    <p:cSldViewPr snapToGrid="0">
      <p:cViewPr varScale="1">
        <p:scale>
          <a:sx n="120" d="100"/>
          <a:sy n="120" d="100"/>
        </p:scale>
        <p:origin x="10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7F54C-37C4-4BF4-BFE3-C27AF4B991CA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49DDB-6E2D-4EBF-BA11-33B598197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1F4A4-A522-43EE-BB05-ADEFB8783349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8498" y="4773374"/>
            <a:ext cx="5427980" cy="3905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0470A-4597-4319-87FD-3AB9665446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根据效价选取标准图片库中的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类图片。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秒内判断正负性。刺激呈现间隔伪随机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1FA7-02D7-8EDC-9839-9A6E4F58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559F56-82C0-4746-840A-C2AEA7E7B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16094E-F911-20DF-7E86-90CB95719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345CF-F250-466D-6461-F26300B9F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240D-EF6E-DAD3-1562-024596BE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B32C9D-4E82-1E00-11FB-7CD9F499C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54533-4509-56EC-F483-96C50655A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D42A55-61FA-689A-97DE-6C25A7CC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00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897C-9FA0-4AC1-2838-3FCF416F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6C09E0-4DB9-0595-73C6-9E9EDEFCE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5F83BC-2E4B-BD69-EF94-8B57E905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D7B46E-F6EB-59B2-9EC8-36EAEF2E7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93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3C59-054E-6ADB-BBB3-A51CF07A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91B3FD-95E5-D0F1-9A89-49F46C1EE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E82657-DE03-2044-B494-A3DC439A2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0F6135-E22B-A5F5-CF95-D4F49275C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60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DF48-68E3-64A4-F7DF-2079CD46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85642D-CD27-2BB5-37EC-39DF2D32D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1E269D-B508-683A-29AF-8C66651A8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1FC947-0323-7004-B932-724C62219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191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1491-C8D6-F942-E110-B74E4428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8A3B70-ECBD-D4D7-022D-8404110C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B86B56-20CE-F30F-486C-5000C26A9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4AA373-23E5-B52B-AB81-D5EFFFE0A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980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9BEF4-8ED3-EC32-55D1-3D5B39BD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938723-0DE1-059E-CC82-833840A33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BA9339-01A7-868F-8947-CA32933FD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572C6-D530-42F2-EDAF-B1BFE5171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327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DCE5-E86F-80D8-4C21-7F1AE05D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8686F1-F650-EC84-E307-7F6168D18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ED7480-3F5D-354D-6B9D-6CB9E7F6E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A1F72-C924-78C5-DE53-66500CA92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422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0367-5D51-E6F9-44AF-6D18B93F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139F00-A771-1222-76BD-603EF489B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2B8348-2376-C2A6-33BD-D742DC65F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1233CD-D679-9136-916D-FCE36D4AA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93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06BE-7DF0-2AA8-CADA-D237FEB5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F06552-1A45-EFFA-0E61-D5346E6E8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040DCB-4817-C01D-5641-E4A9F9368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6E585-0D17-5E51-E972-C12E20027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975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D5BC-F52C-7F4A-A506-857E9009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D7EFB8-FC39-8A98-06DF-7EEDFA829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AA74C5-091F-A77D-FE9C-ABDC9E96D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C04585-F66C-D599-D7A8-8C7F4F450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7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FFF5-7D9D-7F59-A88C-A67C692E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B1C6A3-70EF-CFA1-925F-6E7952548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07101-B25A-12C8-F885-309431442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6B57AE-A112-8B67-0E8A-50692C358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536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EF41-0FBC-4BCE-DDE6-8791A205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A574FF-5E42-212E-4E79-C6E6DAD4B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E87D1C-37BE-4CD1-F22B-0B7C31B5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EC776-C84E-5C97-D77F-5B7BECACE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04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2725" y="230251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2751" y="21511"/>
            <a:ext cx="1323062" cy="1052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/>
          <a:srcRect l="13275" t="7950" r="12114" b="51019"/>
          <a:stretch>
            <a:fillRect/>
          </a:stretch>
        </p:blipFill>
        <p:spPr>
          <a:xfrm>
            <a:off x="10367812" y="205325"/>
            <a:ext cx="1678137" cy="636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41160" y="190525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008912" y="568053"/>
            <a:ext cx="7479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2751" y="21511"/>
            <a:ext cx="1323062" cy="1052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/>
          <a:srcRect l="13275" t="7950" r="12114" b="51019"/>
          <a:stretch>
            <a:fillRect/>
          </a:stretch>
        </p:blipFill>
        <p:spPr>
          <a:xfrm>
            <a:off x="10367812" y="205325"/>
            <a:ext cx="1678137" cy="63603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jp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t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estmobile.com.cn/research/report/181558870953542041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.cnsa.cn/art/2024/3/28/art_1977_43660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" y="1847849"/>
            <a:ext cx="12192000" cy="2667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zh-CN" altLang="zh-CN" sz="4000" dirty="0">
              <a:solidFill>
                <a:schemeClr val="bg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22276"/>
            <a:ext cx="645022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 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毕业论文进展汇报 </a:t>
            </a: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2180" y="2346194"/>
            <a:ext cx="1112763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短视频观看诱发的颅内脑电研究</a:t>
            </a:r>
            <a:b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007488"/>
              </p:ext>
            </p:extLst>
          </p:nvPr>
        </p:nvGraphicFramePr>
        <p:xfrm>
          <a:off x="4108610" y="4811666"/>
          <a:ext cx="4683234" cy="1726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汇报人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徐嘉晟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导师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胡玉正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2026.4.8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068827" y="3638856"/>
            <a:ext cx="3615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心理与行为科学系</a:t>
            </a:r>
            <a:endParaRPr lang="en-US" altLang="zh-CN" sz="2400" b="1" spc="3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352"/>
    </mc:Choice>
    <mc:Fallback xmlns="">
      <p:transition advTm="213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6822" y="297442"/>
            <a:ext cx="17748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292" name="矩形: 圆角 291"/>
          <p:cNvSpPr/>
          <p:nvPr/>
        </p:nvSpPr>
        <p:spPr>
          <a:xfrm>
            <a:off x="4858915" y="2758456"/>
            <a:ext cx="6177717" cy="3080387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3" name="组合 352"/>
          <p:cNvGrpSpPr/>
          <p:nvPr/>
        </p:nvGrpSpPr>
        <p:grpSpPr>
          <a:xfrm>
            <a:off x="1062692" y="6047980"/>
            <a:ext cx="10066616" cy="610779"/>
            <a:chOff x="403899" y="5579753"/>
            <a:chExt cx="10066616" cy="610779"/>
          </a:xfrm>
        </p:grpSpPr>
        <p:sp>
          <p:nvSpPr>
            <p:cNvPr id="354" name="矩形 353"/>
            <p:cNvSpPr/>
            <p:nvPr/>
          </p:nvSpPr>
          <p:spPr>
            <a:xfrm>
              <a:off x="1196949" y="5585061"/>
              <a:ext cx="9273566" cy="5654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流程图: 离页连接符 919"/>
            <p:cNvSpPr/>
            <p:nvPr/>
          </p:nvSpPr>
          <p:spPr>
            <a:xfrm rot="16200000">
              <a:off x="796007" y="5209889"/>
              <a:ext cx="565497" cy="131584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-1" fmla="*/ 0 w 10000"/>
                <a:gd name="connsiteY0-2" fmla="*/ 0 h 10000"/>
                <a:gd name="connsiteX1-3" fmla="*/ 10000 w 10000"/>
                <a:gd name="connsiteY1-4" fmla="*/ 0 h 10000"/>
                <a:gd name="connsiteX2-5" fmla="*/ 9877 w 10000"/>
                <a:gd name="connsiteY2-6" fmla="*/ 5975 h 10000"/>
                <a:gd name="connsiteX3-7" fmla="*/ 5000 w 10000"/>
                <a:gd name="connsiteY3-8" fmla="*/ 10000 h 10000"/>
                <a:gd name="connsiteX4-9" fmla="*/ 0 w 10000"/>
                <a:gd name="connsiteY4-10" fmla="*/ 8000 h 10000"/>
                <a:gd name="connsiteX5-11" fmla="*/ 0 w 10000"/>
                <a:gd name="connsiteY5-12" fmla="*/ 0 h 10000"/>
                <a:gd name="connsiteX0-13" fmla="*/ 0 w 10000"/>
                <a:gd name="connsiteY0-14" fmla="*/ 0 h 10000"/>
                <a:gd name="connsiteX1-15" fmla="*/ 10000 w 10000"/>
                <a:gd name="connsiteY1-16" fmla="*/ 0 h 10000"/>
                <a:gd name="connsiteX2-17" fmla="*/ 9877 w 10000"/>
                <a:gd name="connsiteY2-18" fmla="*/ 5975 h 10000"/>
                <a:gd name="connsiteX3-19" fmla="*/ 5000 w 10000"/>
                <a:gd name="connsiteY3-20" fmla="*/ 10000 h 10000"/>
                <a:gd name="connsiteX4-21" fmla="*/ 123 w 10000"/>
                <a:gd name="connsiteY4-22" fmla="*/ 6071 h 10000"/>
                <a:gd name="connsiteX5-23" fmla="*/ 0 w 10000"/>
                <a:gd name="connsiteY5-2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9877" y="5975"/>
                  </a:lnTo>
                  <a:lnTo>
                    <a:pt x="5000" y="10000"/>
                  </a:lnTo>
                  <a:lnTo>
                    <a:pt x="123" y="6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1691833" y="5579753"/>
              <a:ext cx="8686006" cy="6107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ts val="2460"/>
                </a:lnSpc>
              </a:pPr>
              <a:r>
                <a:rPr lang="zh-CN" altLang="en-US" sz="2000" b="1" kern="10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探究短视频情绪加工是否依赖已知神经机制</a:t>
              </a:r>
              <a:endParaRPr lang="en-US" altLang="zh-CN" sz="20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57" name="文本框 356"/>
            <p:cNvSpPr txBox="1"/>
            <p:nvPr/>
          </p:nvSpPr>
          <p:spPr>
            <a:xfrm>
              <a:off x="403899" y="5606200"/>
              <a:ext cx="9100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0" name="矩形: 圆角 359"/>
          <p:cNvSpPr/>
          <p:nvPr/>
        </p:nvSpPr>
        <p:spPr>
          <a:xfrm>
            <a:off x="358346" y="1073012"/>
            <a:ext cx="11398794" cy="1496980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短视频过度使用日益成为社会问题，情绪调节对智能手机成瘾有显著影响。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“自下而上情绪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奖赏驱动”与“自上而下前额叶控制”失衡可能是其重要基础。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杏仁核和前额叶在情绪评估、价值表征与调节中发挥重要关键作用。</a:t>
            </a:r>
          </a:p>
        </p:txBody>
      </p:sp>
      <p:sp>
        <p:nvSpPr>
          <p:cNvPr id="363" name="文本框 36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49">
            <a:extLst>
              <a:ext uri="{FF2B5EF4-FFF2-40B4-BE49-F238E27FC236}">
                <a16:creationId xmlns:a16="http://schemas.microsoft.com/office/drawing/2014/main" id="{A412E3F5-D2C7-559F-8A95-A127A5DA89A2}"/>
              </a:ext>
            </a:extLst>
          </p:cNvPr>
          <p:cNvSpPr txBox="1"/>
          <p:nvPr/>
        </p:nvSpPr>
        <p:spPr>
          <a:xfrm>
            <a:off x="9115764" y="5303292"/>
            <a:ext cx="171991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Sonkusare</a:t>
            </a:r>
            <a:r>
              <a:rPr lang="en-US" altLang="zh-CN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et al., 2022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FE9742-A58D-6CA9-3D47-2DA7D26159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474"/>
          <a:stretch>
            <a:fillRect/>
          </a:stretch>
        </p:blipFill>
        <p:spPr>
          <a:xfrm>
            <a:off x="5077625" y="2833197"/>
            <a:ext cx="3489496" cy="2909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68F656-BA05-5AB6-201A-47D0F4A6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526" r="13367"/>
          <a:stretch>
            <a:fillRect/>
          </a:stretch>
        </p:blipFill>
        <p:spPr>
          <a:xfrm>
            <a:off x="8553266" y="3399782"/>
            <a:ext cx="2469511" cy="1424297"/>
          </a:xfrm>
          <a:prstGeom prst="rect">
            <a:avLst/>
          </a:prstGeom>
        </p:spPr>
      </p:pic>
      <p:pic>
        <p:nvPicPr>
          <p:cNvPr id="14" name="Picture 13" descr="A diagram of a brain&#10;&#10;AI-generated content may be incorrect.">
            <a:extLst>
              <a:ext uri="{FF2B5EF4-FFF2-40B4-BE49-F238E27FC236}">
                <a16:creationId xmlns:a16="http://schemas.microsoft.com/office/drawing/2014/main" id="{AB284067-F8FB-C865-5315-6E3259748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068" y="2800839"/>
            <a:ext cx="3227526" cy="2799948"/>
          </a:xfrm>
          <a:prstGeom prst="rect">
            <a:avLst/>
          </a:prstGeom>
        </p:spPr>
      </p:pic>
      <p:sp>
        <p:nvSpPr>
          <p:cNvPr id="15" name="矩形: 圆角 291">
            <a:extLst>
              <a:ext uri="{FF2B5EF4-FFF2-40B4-BE49-F238E27FC236}">
                <a16:creationId xmlns:a16="http://schemas.microsoft.com/office/drawing/2014/main" id="{C7331AE5-FB16-8CF2-D776-60F629CE213F}"/>
              </a:ext>
            </a:extLst>
          </p:cNvPr>
          <p:cNvSpPr/>
          <p:nvPr/>
        </p:nvSpPr>
        <p:spPr>
          <a:xfrm>
            <a:off x="1176084" y="2758456"/>
            <a:ext cx="3481876" cy="3080387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349">
            <a:extLst>
              <a:ext uri="{FF2B5EF4-FFF2-40B4-BE49-F238E27FC236}">
                <a16:creationId xmlns:a16="http://schemas.microsoft.com/office/drawing/2014/main" id="{4326AB79-7C00-4E68-EE2D-1FB2A724EE3B}"/>
              </a:ext>
            </a:extLst>
          </p:cNvPr>
          <p:cNvSpPr txBox="1"/>
          <p:nvPr/>
        </p:nvSpPr>
        <p:spPr>
          <a:xfrm>
            <a:off x="2821547" y="5581831"/>
            <a:ext cx="1794848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Antoine Bechara, 2005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="">
      <p:transition advTm="504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/>
          <p:cNvSpPr/>
          <p:nvPr/>
        </p:nvSpPr>
        <p:spPr>
          <a:xfrm>
            <a:off x="656047" y="1202525"/>
            <a:ext cx="10879905" cy="1336758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短视频刺激引发的主观偏好在神经层面是否构成一种情绪表征？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这种表征与经典图片刺激中的效价判断是否具有一致性？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与效价判断任务相比，是不是引入了新的加工机制？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173882" y="957664"/>
            <a:ext cx="1133073" cy="353242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36822" y="297442"/>
            <a:ext cx="376256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研究问题和研究内容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A2E16-E132-33D7-B274-B6983AC8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439" y="2746762"/>
            <a:ext cx="6042961" cy="4099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42"/>
    </mc:Choice>
    <mc:Fallback xmlns="">
      <p:transition spd="slow" advTm="243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136822" y="297442"/>
            <a:ext cx="17748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范式</a:t>
            </a:r>
            <a:endParaRPr kumimoji="0" lang="zh-CN" altLang="en-US" sz="2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9" name="文本框 47">
            <a:extLst>
              <a:ext uri="{FF2B5EF4-FFF2-40B4-BE49-F238E27FC236}">
                <a16:creationId xmlns:a16="http://schemas.microsoft.com/office/drawing/2014/main" id="{0CF1107C-2C95-F3DC-F8E5-019BFCF2B37D}"/>
              </a:ext>
            </a:extLst>
          </p:cNvPr>
          <p:cNvSpPr txBox="1"/>
          <p:nvPr/>
        </p:nvSpPr>
        <p:spPr>
          <a:xfrm>
            <a:off x="191617" y="1372975"/>
            <a:ext cx="117559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指导语：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在该任务中，您会看到一系列场景图片。图片呈现后，请您根据自己的真实感受，做出按键反应。请尽量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准确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地反应，不必追求速度。</a:t>
            </a: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如果您看到图片后产生了难过、厌恶、不安、愤怒等消极的情绪，按 “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1”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键；</a:t>
            </a: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如果图片没有使您产生明确的情绪变化，按 “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2”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键；</a:t>
            </a: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如果您看到图片后产生了愉悦、轻松、满足、开心等积极的情绪，按“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3”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键。</a:t>
            </a:r>
          </a:p>
          <a:p>
            <a:pPr indent="457200"/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612" name="矩形: 圆角 1047">
            <a:extLst>
              <a:ext uri="{FF2B5EF4-FFF2-40B4-BE49-F238E27FC236}">
                <a16:creationId xmlns:a16="http://schemas.microsoft.com/office/drawing/2014/main" id="{FB99B5C6-72A9-A18C-4904-1361380951AE}"/>
              </a:ext>
            </a:extLst>
          </p:cNvPr>
          <p:cNvSpPr/>
          <p:nvPr/>
        </p:nvSpPr>
        <p:spPr>
          <a:xfrm>
            <a:off x="189064" y="1176400"/>
            <a:ext cx="11923914" cy="3790711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3" name="文本框 1053">
            <a:extLst>
              <a:ext uri="{FF2B5EF4-FFF2-40B4-BE49-F238E27FC236}">
                <a16:creationId xmlns:a16="http://schemas.microsoft.com/office/drawing/2014/main" id="{6C638AE8-151F-BBA6-5627-4E53C599E188}"/>
              </a:ext>
            </a:extLst>
          </p:cNvPr>
          <p:cNvSpPr txBox="1"/>
          <p:nvPr/>
        </p:nvSpPr>
        <p:spPr>
          <a:xfrm>
            <a:off x="478455" y="1029047"/>
            <a:ext cx="1881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情境判别范式（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49" name="文本框 78">
            <a:extLst>
              <a:ext uri="{FF2B5EF4-FFF2-40B4-BE49-F238E27FC236}">
                <a16:creationId xmlns:a16="http://schemas.microsoft.com/office/drawing/2014/main" id="{0D1C3571-EDBD-AE79-4EB2-B300601BEE8A}"/>
              </a:ext>
            </a:extLst>
          </p:cNvPr>
          <p:cNvSpPr txBox="1"/>
          <p:nvPr/>
        </p:nvSpPr>
        <p:spPr>
          <a:xfrm>
            <a:off x="5190470" y="4475177"/>
            <a:ext cx="1338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张图片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682" name="矩形 6">
            <a:extLst>
              <a:ext uri="{FF2B5EF4-FFF2-40B4-BE49-F238E27FC236}">
                <a16:creationId xmlns:a16="http://schemas.microsoft.com/office/drawing/2014/main" id="{E7F5200F-76DF-D650-8E28-61263210143A}"/>
              </a:ext>
            </a:extLst>
          </p:cNvPr>
          <p:cNvSpPr/>
          <p:nvPr/>
        </p:nvSpPr>
        <p:spPr>
          <a:xfrm>
            <a:off x="1924670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4" name="文本框 8">
            <a:extLst>
              <a:ext uri="{FF2B5EF4-FFF2-40B4-BE49-F238E27FC236}">
                <a16:creationId xmlns:a16="http://schemas.microsoft.com/office/drawing/2014/main" id="{411332EA-9CF6-B359-3C0A-B8E47CEF8632}"/>
              </a:ext>
            </a:extLst>
          </p:cNvPr>
          <p:cNvSpPr txBox="1"/>
          <p:nvPr/>
        </p:nvSpPr>
        <p:spPr>
          <a:xfrm>
            <a:off x="10178745" y="3551003"/>
            <a:ext cx="677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5" name="文本框 10">
            <a:extLst>
              <a:ext uri="{FF2B5EF4-FFF2-40B4-BE49-F238E27FC236}">
                <a16:creationId xmlns:a16="http://schemas.microsoft.com/office/drawing/2014/main" id="{B79A7B28-506F-38EA-F5FB-9DB530D0ECFE}"/>
              </a:ext>
            </a:extLst>
          </p:cNvPr>
          <p:cNvSpPr txBox="1"/>
          <p:nvPr/>
        </p:nvSpPr>
        <p:spPr>
          <a:xfrm>
            <a:off x="727960" y="4134753"/>
            <a:ext cx="513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" name="文本框 11">
            <a:extLst>
              <a:ext uri="{FF2B5EF4-FFF2-40B4-BE49-F238E27FC236}">
                <a16:creationId xmlns:a16="http://schemas.microsoft.com/office/drawing/2014/main" id="{E743F3DD-6033-995D-DC74-0819CB636585}"/>
              </a:ext>
            </a:extLst>
          </p:cNvPr>
          <p:cNvSpPr txBox="1"/>
          <p:nvPr/>
        </p:nvSpPr>
        <p:spPr>
          <a:xfrm>
            <a:off x="3756940" y="4134753"/>
            <a:ext cx="43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4" name="文本框 19">
            <a:extLst>
              <a:ext uri="{FF2B5EF4-FFF2-40B4-BE49-F238E27FC236}">
                <a16:creationId xmlns:a16="http://schemas.microsoft.com/office/drawing/2014/main" id="{41CBA0BC-1FB8-9E53-1C44-0D4830AD2752}"/>
              </a:ext>
            </a:extLst>
          </p:cNvPr>
          <p:cNvSpPr txBox="1"/>
          <p:nvPr/>
        </p:nvSpPr>
        <p:spPr>
          <a:xfrm>
            <a:off x="2237926" y="4134753"/>
            <a:ext cx="95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1~4s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8" name="矩形 27">
            <a:extLst>
              <a:ext uri="{FF2B5EF4-FFF2-40B4-BE49-F238E27FC236}">
                <a16:creationId xmlns:a16="http://schemas.microsoft.com/office/drawing/2014/main" id="{736258CF-16FC-8F3E-B641-DFBC442A6481}"/>
              </a:ext>
            </a:extLst>
          </p:cNvPr>
          <p:cNvSpPr/>
          <p:nvPr/>
        </p:nvSpPr>
        <p:spPr>
          <a:xfrm>
            <a:off x="250924" y="3162302"/>
            <a:ext cx="1355808" cy="973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指导语</a:t>
            </a:r>
          </a:p>
        </p:txBody>
      </p:sp>
      <p:sp>
        <p:nvSpPr>
          <p:cNvPr id="699" name="矩形 28">
            <a:extLst>
              <a:ext uri="{FF2B5EF4-FFF2-40B4-BE49-F238E27FC236}">
                <a16:creationId xmlns:a16="http://schemas.microsoft.com/office/drawing/2014/main" id="{979BD1FF-F0E2-05A9-E9CD-742FC189AB21}"/>
              </a:ext>
            </a:extLst>
          </p:cNvPr>
          <p:cNvSpPr/>
          <p:nvPr/>
        </p:nvSpPr>
        <p:spPr>
          <a:xfrm>
            <a:off x="10667153" y="3162302"/>
            <a:ext cx="1355808" cy="973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结束</a:t>
            </a:r>
          </a:p>
        </p:txBody>
      </p:sp>
      <p:sp>
        <p:nvSpPr>
          <p:cNvPr id="706" name="矩形 75">
            <a:extLst>
              <a:ext uri="{FF2B5EF4-FFF2-40B4-BE49-F238E27FC236}">
                <a16:creationId xmlns:a16="http://schemas.microsoft.com/office/drawing/2014/main" id="{CEB3F87D-AC94-E749-0A91-904FF22F1307}"/>
              </a:ext>
            </a:extLst>
          </p:cNvPr>
          <p:cNvSpPr/>
          <p:nvPr/>
        </p:nvSpPr>
        <p:spPr>
          <a:xfrm>
            <a:off x="1793141" y="3025022"/>
            <a:ext cx="8385604" cy="144828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07" name="矩形 6">
            <a:extLst>
              <a:ext uri="{FF2B5EF4-FFF2-40B4-BE49-F238E27FC236}">
                <a16:creationId xmlns:a16="http://schemas.microsoft.com/office/drawing/2014/main" id="{50673D17-EDA1-CA21-B449-DBFA413D72D6}"/>
              </a:ext>
            </a:extLst>
          </p:cNvPr>
          <p:cNvSpPr/>
          <p:nvPr/>
        </p:nvSpPr>
        <p:spPr>
          <a:xfrm>
            <a:off x="3324890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8" name="Picture 707" descr="A puppy in a cup&#10;&#10;Description automatically generated">
            <a:extLst>
              <a:ext uri="{FF2B5EF4-FFF2-40B4-BE49-F238E27FC236}">
                <a16:creationId xmlns:a16="http://schemas.microsoft.com/office/drawing/2014/main" id="{2CA6EAC0-3687-2610-E25E-A9476D71D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65" y="3234205"/>
            <a:ext cx="999275" cy="799419"/>
          </a:xfrm>
          <a:prstGeom prst="rect">
            <a:avLst/>
          </a:prstGeom>
        </p:spPr>
      </p:pic>
      <p:sp>
        <p:nvSpPr>
          <p:cNvPr id="709" name="矩形 6">
            <a:extLst>
              <a:ext uri="{FF2B5EF4-FFF2-40B4-BE49-F238E27FC236}">
                <a16:creationId xmlns:a16="http://schemas.microsoft.com/office/drawing/2014/main" id="{99647F76-F83B-160D-6935-1C16FB4B3969}"/>
              </a:ext>
            </a:extLst>
          </p:cNvPr>
          <p:cNvSpPr/>
          <p:nvPr/>
        </p:nvSpPr>
        <p:spPr>
          <a:xfrm>
            <a:off x="4676605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0" name="文本框 11">
            <a:extLst>
              <a:ext uri="{FF2B5EF4-FFF2-40B4-BE49-F238E27FC236}">
                <a16:creationId xmlns:a16="http://schemas.microsoft.com/office/drawing/2014/main" id="{1349F3BA-0399-CED8-AA94-8D20B1F2264D}"/>
              </a:ext>
            </a:extLst>
          </p:cNvPr>
          <p:cNvSpPr txBox="1"/>
          <p:nvPr/>
        </p:nvSpPr>
        <p:spPr>
          <a:xfrm>
            <a:off x="6522643" y="4128030"/>
            <a:ext cx="635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1" name="文本框 19">
            <a:extLst>
              <a:ext uri="{FF2B5EF4-FFF2-40B4-BE49-F238E27FC236}">
                <a16:creationId xmlns:a16="http://schemas.microsoft.com/office/drawing/2014/main" id="{952A29A8-51C3-73EE-3EBB-6AC1D0EE1130}"/>
              </a:ext>
            </a:extLst>
          </p:cNvPr>
          <p:cNvSpPr txBox="1"/>
          <p:nvPr/>
        </p:nvSpPr>
        <p:spPr>
          <a:xfrm>
            <a:off x="4999646" y="4134753"/>
            <a:ext cx="95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1~4s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2" name="矩形 6">
            <a:extLst>
              <a:ext uri="{FF2B5EF4-FFF2-40B4-BE49-F238E27FC236}">
                <a16:creationId xmlns:a16="http://schemas.microsoft.com/office/drawing/2014/main" id="{22AB9CCA-21A9-0070-E307-21D4029513A2}"/>
              </a:ext>
            </a:extLst>
          </p:cNvPr>
          <p:cNvSpPr/>
          <p:nvPr/>
        </p:nvSpPr>
        <p:spPr>
          <a:xfrm>
            <a:off x="6076825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4" name="矩形 6">
            <a:extLst>
              <a:ext uri="{FF2B5EF4-FFF2-40B4-BE49-F238E27FC236}">
                <a16:creationId xmlns:a16="http://schemas.microsoft.com/office/drawing/2014/main" id="{5AFC7202-1CEF-FBAC-464F-B031F1F94A9F}"/>
              </a:ext>
            </a:extLst>
          </p:cNvPr>
          <p:cNvSpPr/>
          <p:nvPr/>
        </p:nvSpPr>
        <p:spPr>
          <a:xfrm>
            <a:off x="7410433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5" name="文本框 11">
            <a:extLst>
              <a:ext uri="{FF2B5EF4-FFF2-40B4-BE49-F238E27FC236}">
                <a16:creationId xmlns:a16="http://schemas.microsoft.com/office/drawing/2014/main" id="{7AD4E4E5-28D5-8303-3D8F-73E3FD9A5EAE}"/>
              </a:ext>
            </a:extLst>
          </p:cNvPr>
          <p:cNvSpPr txBox="1"/>
          <p:nvPr/>
        </p:nvSpPr>
        <p:spPr>
          <a:xfrm>
            <a:off x="9261241" y="4136532"/>
            <a:ext cx="635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" name="文本框 19">
            <a:extLst>
              <a:ext uri="{FF2B5EF4-FFF2-40B4-BE49-F238E27FC236}">
                <a16:creationId xmlns:a16="http://schemas.microsoft.com/office/drawing/2014/main" id="{8B33C72D-225F-BF2C-13C3-35035619C9F8}"/>
              </a:ext>
            </a:extLst>
          </p:cNvPr>
          <p:cNvSpPr txBox="1"/>
          <p:nvPr/>
        </p:nvSpPr>
        <p:spPr>
          <a:xfrm>
            <a:off x="7748773" y="4128030"/>
            <a:ext cx="95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1~4s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" name="矩形 6">
            <a:extLst>
              <a:ext uri="{FF2B5EF4-FFF2-40B4-BE49-F238E27FC236}">
                <a16:creationId xmlns:a16="http://schemas.microsoft.com/office/drawing/2014/main" id="{528E681C-F964-F893-5ED2-9E024C0DF925}"/>
              </a:ext>
            </a:extLst>
          </p:cNvPr>
          <p:cNvSpPr/>
          <p:nvPr/>
        </p:nvSpPr>
        <p:spPr>
          <a:xfrm>
            <a:off x="8810653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0" name="Picture 719" descr="A shopping cart in the middle of a pile of garbage&#10;&#10;Description automatically generated">
            <a:extLst>
              <a:ext uri="{FF2B5EF4-FFF2-40B4-BE49-F238E27FC236}">
                <a16:creationId xmlns:a16="http://schemas.microsoft.com/office/drawing/2014/main" id="{1A3ECFD7-B136-4F96-84D7-806F1972E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75" y="3240430"/>
            <a:ext cx="990685" cy="792548"/>
          </a:xfrm>
          <a:prstGeom prst="rect">
            <a:avLst/>
          </a:prstGeom>
        </p:spPr>
      </p:pic>
      <p:pic>
        <p:nvPicPr>
          <p:cNvPr id="722" name="Picture 721" descr="A yellow lined paper on a table&#10;&#10;Description automatically generated">
            <a:extLst>
              <a:ext uri="{FF2B5EF4-FFF2-40B4-BE49-F238E27FC236}">
                <a16:creationId xmlns:a16="http://schemas.microsoft.com/office/drawing/2014/main" id="{FEF48CD9-2554-72E7-D3D4-2C603AECA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155" y="3244649"/>
            <a:ext cx="985411" cy="788329"/>
          </a:xfrm>
          <a:prstGeom prst="rect">
            <a:avLst/>
          </a:prstGeom>
        </p:spPr>
      </p:pic>
      <p:sp>
        <p:nvSpPr>
          <p:cNvPr id="723" name="矩形 11">
            <a:extLst>
              <a:ext uri="{FF2B5EF4-FFF2-40B4-BE49-F238E27FC236}">
                <a16:creationId xmlns:a16="http://schemas.microsoft.com/office/drawing/2014/main" id="{5B17A120-AECF-BE42-4EBB-1BCBA6D7F646}"/>
              </a:ext>
            </a:extLst>
          </p:cNvPr>
          <p:cNvSpPr/>
          <p:nvPr/>
        </p:nvSpPr>
        <p:spPr>
          <a:xfrm>
            <a:off x="189064" y="5311040"/>
            <a:ext cx="6791599" cy="65814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4" name="文本框 47">
            <a:extLst>
              <a:ext uri="{FF2B5EF4-FFF2-40B4-BE49-F238E27FC236}">
                <a16:creationId xmlns:a16="http://schemas.microsoft.com/office/drawing/2014/main" id="{50F02791-F28E-4088-D320-584339F50B7E}"/>
              </a:ext>
            </a:extLst>
          </p:cNvPr>
          <p:cNvSpPr txBox="1"/>
          <p:nvPr/>
        </p:nvSpPr>
        <p:spPr>
          <a:xfrm>
            <a:off x="189064" y="5322848"/>
            <a:ext cx="6791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图片库来自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International affective picture system (IAPS)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 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负性图片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=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中性图片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=</a:t>
            </a:r>
            <a:r>
              <a:rPr lang="zh-CN" altLang="en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正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性图片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=40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49"/>
    </mc:Choice>
    <mc:Fallback xmlns="">
      <p:transition spd="slow" advTm="66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" grpId="0"/>
      <p:bldP spid="649" grpId="0"/>
      <p:bldP spid="706" grpId="0" animBg="1"/>
      <p:bldP spid="7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ADF1-C0F6-74AF-919E-500A24AA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11EF63E-3BB7-0EA9-B0F9-AF0AE0B26D9E}"/>
              </a:ext>
            </a:extLst>
          </p:cNvPr>
          <p:cNvSpPr txBox="1"/>
          <p:nvPr/>
        </p:nvSpPr>
        <p:spPr>
          <a:xfrm>
            <a:off x="1136822" y="297442"/>
            <a:ext cx="17748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范式</a:t>
            </a:r>
            <a:endParaRPr kumimoji="0" lang="zh-CN" altLang="en-US" sz="2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423B76-7C87-803B-8BEB-6196479D7716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8" name="组合 3">
            <a:extLst>
              <a:ext uri="{FF2B5EF4-FFF2-40B4-BE49-F238E27FC236}">
                <a16:creationId xmlns:a16="http://schemas.microsoft.com/office/drawing/2014/main" id="{EEC47B35-8B08-E954-1194-FFD53EA4C906}"/>
              </a:ext>
            </a:extLst>
          </p:cNvPr>
          <p:cNvGrpSpPr/>
          <p:nvPr/>
        </p:nvGrpSpPr>
        <p:grpSpPr>
          <a:xfrm>
            <a:off x="2276401" y="2064237"/>
            <a:ext cx="1024116" cy="810221"/>
            <a:chOff x="1792962" y="5139080"/>
            <a:chExt cx="864000" cy="759496"/>
          </a:xfrm>
        </p:grpSpPr>
        <p:sp>
          <p:nvSpPr>
            <p:cNvPr id="535" name="矩形 4">
              <a:extLst>
                <a:ext uri="{FF2B5EF4-FFF2-40B4-BE49-F238E27FC236}">
                  <a16:creationId xmlns:a16="http://schemas.microsoft.com/office/drawing/2014/main" id="{0056780A-A695-EF88-4443-8473E6E5C119}"/>
                </a:ext>
              </a:extLst>
            </p:cNvPr>
            <p:cNvSpPr/>
            <p:nvPr/>
          </p:nvSpPr>
          <p:spPr>
            <a:xfrm>
              <a:off x="1792962" y="5139080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536" name="图片 5">
              <a:extLst>
                <a:ext uri="{FF2B5EF4-FFF2-40B4-BE49-F238E27FC236}">
                  <a16:creationId xmlns:a16="http://schemas.microsoft.com/office/drawing/2014/main" id="{1F312E77-4B51-8A00-A8C4-6F14A4E2C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557" y="5154576"/>
              <a:ext cx="251870" cy="744000"/>
            </a:xfrm>
            <a:prstGeom prst="rect">
              <a:avLst/>
            </a:prstGeom>
          </p:spPr>
        </p:pic>
      </p:grpSp>
      <p:sp>
        <p:nvSpPr>
          <p:cNvPr id="537" name="矩形 6">
            <a:extLst>
              <a:ext uri="{FF2B5EF4-FFF2-40B4-BE49-F238E27FC236}">
                <a16:creationId xmlns:a16="http://schemas.microsoft.com/office/drawing/2014/main" id="{41F90B23-C697-9D75-AEC3-08E329CAE489}"/>
              </a:ext>
            </a:extLst>
          </p:cNvPr>
          <p:cNvSpPr/>
          <p:nvPr/>
        </p:nvSpPr>
        <p:spPr>
          <a:xfrm>
            <a:off x="1331097" y="2067662"/>
            <a:ext cx="921704" cy="8033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" name="矩形 7">
            <a:extLst>
              <a:ext uri="{FF2B5EF4-FFF2-40B4-BE49-F238E27FC236}">
                <a16:creationId xmlns:a16="http://schemas.microsoft.com/office/drawing/2014/main" id="{283BEDFA-E23C-B40E-190E-7885C709432F}"/>
              </a:ext>
            </a:extLst>
          </p:cNvPr>
          <p:cNvSpPr/>
          <p:nvPr/>
        </p:nvSpPr>
        <p:spPr>
          <a:xfrm>
            <a:off x="5419549" y="2067662"/>
            <a:ext cx="921704" cy="8033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0" name="文本框 8">
            <a:extLst>
              <a:ext uri="{FF2B5EF4-FFF2-40B4-BE49-F238E27FC236}">
                <a16:creationId xmlns:a16="http://schemas.microsoft.com/office/drawing/2014/main" id="{169BB58C-B6B7-A15E-BEAF-5064C6B876FE}"/>
              </a:ext>
            </a:extLst>
          </p:cNvPr>
          <p:cNvSpPr txBox="1"/>
          <p:nvPr/>
        </p:nvSpPr>
        <p:spPr>
          <a:xfrm>
            <a:off x="10469449" y="2365670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" name="文本框 10">
            <a:extLst>
              <a:ext uri="{FF2B5EF4-FFF2-40B4-BE49-F238E27FC236}">
                <a16:creationId xmlns:a16="http://schemas.microsoft.com/office/drawing/2014/main" id="{768920DB-86BB-7B13-9208-6A969901ADA6}"/>
              </a:ext>
            </a:extLst>
          </p:cNvPr>
          <p:cNvSpPr txBox="1"/>
          <p:nvPr/>
        </p:nvSpPr>
        <p:spPr>
          <a:xfrm>
            <a:off x="567453" y="2891642"/>
            <a:ext cx="388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1" name="文本框 11">
            <a:extLst>
              <a:ext uri="{FF2B5EF4-FFF2-40B4-BE49-F238E27FC236}">
                <a16:creationId xmlns:a16="http://schemas.microsoft.com/office/drawing/2014/main" id="{1A6984C1-3155-B8E6-68BF-29E6936992F4}"/>
              </a:ext>
            </a:extLst>
          </p:cNvPr>
          <p:cNvSpPr txBox="1"/>
          <p:nvPr/>
        </p:nvSpPr>
        <p:spPr>
          <a:xfrm>
            <a:off x="2623884" y="2891642"/>
            <a:ext cx="47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" name="文本框 12">
            <a:extLst>
              <a:ext uri="{FF2B5EF4-FFF2-40B4-BE49-F238E27FC236}">
                <a16:creationId xmlns:a16="http://schemas.microsoft.com/office/drawing/2014/main" id="{B7FA654C-59F9-6B8A-A62B-A8A79B25457D}"/>
              </a:ext>
            </a:extLst>
          </p:cNvPr>
          <p:cNvSpPr txBox="1"/>
          <p:nvPr/>
        </p:nvSpPr>
        <p:spPr>
          <a:xfrm>
            <a:off x="3653199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矩形 13">
            <a:extLst>
              <a:ext uri="{FF2B5EF4-FFF2-40B4-BE49-F238E27FC236}">
                <a16:creationId xmlns:a16="http://schemas.microsoft.com/office/drawing/2014/main" id="{5095345C-3BC0-B9CD-45D2-84E64191D8D9}"/>
              </a:ext>
            </a:extLst>
          </p:cNvPr>
          <p:cNvSpPr/>
          <p:nvPr/>
        </p:nvSpPr>
        <p:spPr>
          <a:xfrm>
            <a:off x="3324117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喜好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4" name="矩形 14">
            <a:extLst>
              <a:ext uri="{FF2B5EF4-FFF2-40B4-BE49-F238E27FC236}">
                <a16:creationId xmlns:a16="http://schemas.microsoft.com/office/drawing/2014/main" id="{6FDA09DB-C17E-E2F8-A32B-E2F01D7C162B}"/>
              </a:ext>
            </a:extLst>
          </p:cNvPr>
          <p:cNvSpPr/>
          <p:nvPr/>
        </p:nvSpPr>
        <p:spPr>
          <a:xfrm>
            <a:off x="4371833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渴望程度评分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5" name="文本框 15">
            <a:extLst>
              <a:ext uri="{FF2B5EF4-FFF2-40B4-BE49-F238E27FC236}">
                <a16:creationId xmlns:a16="http://schemas.microsoft.com/office/drawing/2014/main" id="{A6FD060C-D9AC-5E6A-9A88-FCEBF5C35E96}"/>
              </a:ext>
            </a:extLst>
          </p:cNvPr>
          <p:cNvSpPr txBox="1"/>
          <p:nvPr/>
        </p:nvSpPr>
        <p:spPr>
          <a:xfrm>
            <a:off x="4749821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6" name="组合 16">
            <a:extLst>
              <a:ext uri="{FF2B5EF4-FFF2-40B4-BE49-F238E27FC236}">
                <a16:creationId xmlns:a16="http://schemas.microsoft.com/office/drawing/2014/main" id="{EBC81CC0-A472-6E29-908D-E010AC7C3527}"/>
              </a:ext>
            </a:extLst>
          </p:cNvPr>
          <p:cNvGrpSpPr/>
          <p:nvPr/>
        </p:nvGrpSpPr>
        <p:grpSpPr>
          <a:xfrm>
            <a:off x="6364853" y="2063587"/>
            <a:ext cx="1024116" cy="811521"/>
            <a:chOff x="3581714" y="5115565"/>
            <a:chExt cx="864000" cy="760715"/>
          </a:xfrm>
        </p:grpSpPr>
        <p:sp>
          <p:nvSpPr>
            <p:cNvPr id="567" name="矩形 17">
              <a:extLst>
                <a:ext uri="{FF2B5EF4-FFF2-40B4-BE49-F238E27FC236}">
                  <a16:creationId xmlns:a16="http://schemas.microsoft.com/office/drawing/2014/main" id="{32F91144-F0F3-1B06-A2B3-E26F84244299}"/>
                </a:ext>
              </a:extLst>
            </p:cNvPr>
            <p:cNvSpPr/>
            <p:nvPr/>
          </p:nvSpPr>
          <p:spPr>
            <a:xfrm>
              <a:off x="3581714" y="5115565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568" name="图片 18">
              <a:extLst>
                <a:ext uri="{FF2B5EF4-FFF2-40B4-BE49-F238E27FC236}">
                  <a16:creationId xmlns:a16="http://schemas.microsoft.com/office/drawing/2014/main" id="{3AC32740-51FB-397E-8C35-978406725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22309" y="5131064"/>
              <a:ext cx="252282" cy="745216"/>
            </a:xfrm>
            <a:prstGeom prst="rect">
              <a:avLst/>
            </a:prstGeom>
          </p:spPr>
        </p:pic>
      </p:grpSp>
      <p:sp>
        <p:nvSpPr>
          <p:cNvPr id="569" name="文本框 19">
            <a:extLst>
              <a:ext uri="{FF2B5EF4-FFF2-40B4-BE49-F238E27FC236}">
                <a16:creationId xmlns:a16="http://schemas.microsoft.com/office/drawing/2014/main" id="{6CA58A99-75C3-5D1E-A0AC-24B5185FB462}"/>
              </a:ext>
            </a:extLst>
          </p:cNvPr>
          <p:cNvSpPr txBox="1"/>
          <p:nvPr/>
        </p:nvSpPr>
        <p:spPr>
          <a:xfrm>
            <a:off x="1507189" y="2891642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矩形 21">
            <a:extLst>
              <a:ext uri="{FF2B5EF4-FFF2-40B4-BE49-F238E27FC236}">
                <a16:creationId xmlns:a16="http://schemas.microsoft.com/office/drawing/2014/main" id="{3613DBAD-DBF1-F3CF-9A96-A2B6D6825DDF}"/>
              </a:ext>
            </a:extLst>
          </p:cNvPr>
          <p:cNvSpPr/>
          <p:nvPr/>
        </p:nvSpPr>
        <p:spPr>
          <a:xfrm>
            <a:off x="9508001" y="2067662"/>
            <a:ext cx="921704" cy="8033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1" name="矩形 24">
            <a:extLst>
              <a:ext uri="{FF2B5EF4-FFF2-40B4-BE49-F238E27FC236}">
                <a16:creationId xmlns:a16="http://schemas.microsoft.com/office/drawing/2014/main" id="{C901DD89-0C10-6FFA-6693-24F9411F9128}"/>
              </a:ext>
            </a:extLst>
          </p:cNvPr>
          <p:cNvSpPr/>
          <p:nvPr/>
        </p:nvSpPr>
        <p:spPr>
          <a:xfrm>
            <a:off x="7412569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喜好程度评分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2" name="矩形 25">
            <a:extLst>
              <a:ext uri="{FF2B5EF4-FFF2-40B4-BE49-F238E27FC236}">
                <a16:creationId xmlns:a16="http://schemas.microsoft.com/office/drawing/2014/main" id="{826C91D9-A790-2761-3DA8-58DA772CD73F}"/>
              </a:ext>
            </a:extLst>
          </p:cNvPr>
          <p:cNvSpPr/>
          <p:nvPr/>
        </p:nvSpPr>
        <p:spPr>
          <a:xfrm>
            <a:off x="8460285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渴望程度评分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7" name="矩形 27">
            <a:extLst>
              <a:ext uri="{FF2B5EF4-FFF2-40B4-BE49-F238E27FC236}">
                <a16:creationId xmlns:a16="http://schemas.microsoft.com/office/drawing/2014/main" id="{19403991-C6AC-3803-65E1-8107F7AC5B92}"/>
              </a:ext>
            </a:extLst>
          </p:cNvPr>
          <p:cNvSpPr/>
          <p:nvPr/>
        </p:nvSpPr>
        <p:spPr>
          <a:xfrm>
            <a:off x="249514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指导语</a:t>
            </a:r>
          </a:p>
        </p:txBody>
      </p:sp>
      <p:sp>
        <p:nvSpPr>
          <p:cNvPr id="578" name="矩形 28">
            <a:extLst>
              <a:ext uri="{FF2B5EF4-FFF2-40B4-BE49-F238E27FC236}">
                <a16:creationId xmlns:a16="http://schemas.microsoft.com/office/drawing/2014/main" id="{77C3D1D9-BD71-7829-378A-0902A19BD5CA}"/>
              </a:ext>
            </a:extLst>
          </p:cNvPr>
          <p:cNvSpPr/>
          <p:nvPr/>
        </p:nvSpPr>
        <p:spPr>
          <a:xfrm>
            <a:off x="10928487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结束</a:t>
            </a:r>
          </a:p>
        </p:txBody>
      </p:sp>
      <p:sp>
        <p:nvSpPr>
          <p:cNvPr id="579" name="文本框 29">
            <a:extLst>
              <a:ext uri="{FF2B5EF4-FFF2-40B4-BE49-F238E27FC236}">
                <a16:creationId xmlns:a16="http://schemas.microsoft.com/office/drawing/2014/main" id="{C6FBE885-DEF6-6E78-5704-F387C6A2F742}"/>
              </a:ext>
            </a:extLst>
          </p:cNvPr>
          <p:cNvSpPr txBox="1"/>
          <p:nvPr/>
        </p:nvSpPr>
        <p:spPr>
          <a:xfrm>
            <a:off x="5621253" y="2891642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1" name="文本框 36">
            <a:extLst>
              <a:ext uri="{FF2B5EF4-FFF2-40B4-BE49-F238E27FC236}">
                <a16:creationId xmlns:a16="http://schemas.microsoft.com/office/drawing/2014/main" id="{10279026-814E-FF50-3DD7-4C56A5913A02}"/>
              </a:ext>
            </a:extLst>
          </p:cNvPr>
          <p:cNvSpPr txBox="1"/>
          <p:nvPr/>
        </p:nvSpPr>
        <p:spPr>
          <a:xfrm>
            <a:off x="6729691" y="2891642"/>
            <a:ext cx="47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2" name="文本框 37">
            <a:extLst>
              <a:ext uri="{FF2B5EF4-FFF2-40B4-BE49-F238E27FC236}">
                <a16:creationId xmlns:a16="http://schemas.microsoft.com/office/drawing/2014/main" id="{201D0EF6-1C9A-2EB5-3235-77A0AF1D4045}"/>
              </a:ext>
            </a:extLst>
          </p:cNvPr>
          <p:cNvSpPr txBox="1"/>
          <p:nvPr/>
        </p:nvSpPr>
        <p:spPr>
          <a:xfrm>
            <a:off x="7759006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" name="文本框 38">
            <a:extLst>
              <a:ext uri="{FF2B5EF4-FFF2-40B4-BE49-F238E27FC236}">
                <a16:creationId xmlns:a16="http://schemas.microsoft.com/office/drawing/2014/main" id="{7FBDD5D1-A78C-419A-124C-27A380425FD2}"/>
              </a:ext>
            </a:extLst>
          </p:cNvPr>
          <p:cNvSpPr txBox="1"/>
          <p:nvPr/>
        </p:nvSpPr>
        <p:spPr>
          <a:xfrm>
            <a:off x="8855628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" name="文本框 39">
            <a:extLst>
              <a:ext uri="{FF2B5EF4-FFF2-40B4-BE49-F238E27FC236}">
                <a16:creationId xmlns:a16="http://schemas.microsoft.com/office/drawing/2014/main" id="{89C3E1B0-66EC-EBC1-AA11-8791FC766E1A}"/>
              </a:ext>
            </a:extLst>
          </p:cNvPr>
          <p:cNvSpPr txBox="1"/>
          <p:nvPr/>
        </p:nvSpPr>
        <p:spPr>
          <a:xfrm>
            <a:off x="9727060" y="2891642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" name="矩形: 圆角 1047">
            <a:extLst>
              <a:ext uri="{FF2B5EF4-FFF2-40B4-BE49-F238E27FC236}">
                <a16:creationId xmlns:a16="http://schemas.microsoft.com/office/drawing/2014/main" id="{5533D78E-7ADC-6515-51DB-0F1C81F4C36F}"/>
              </a:ext>
            </a:extLst>
          </p:cNvPr>
          <p:cNvSpPr/>
          <p:nvPr/>
        </p:nvSpPr>
        <p:spPr>
          <a:xfrm>
            <a:off x="145194" y="1072666"/>
            <a:ext cx="11923914" cy="2622496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文本框 1053">
            <a:extLst>
              <a:ext uri="{FF2B5EF4-FFF2-40B4-BE49-F238E27FC236}">
                <a16:creationId xmlns:a16="http://schemas.microsoft.com/office/drawing/2014/main" id="{E7F79B29-7223-1581-DA7B-F3C5A91D062F}"/>
              </a:ext>
            </a:extLst>
          </p:cNvPr>
          <p:cNvSpPr txBox="1"/>
          <p:nvPr/>
        </p:nvSpPr>
        <p:spPr>
          <a:xfrm>
            <a:off x="572076" y="971783"/>
            <a:ext cx="1882735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固定观看范式（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16" name="文本框 78">
            <a:extLst>
              <a:ext uri="{FF2B5EF4-FFF2-40B4-BE49-F238E27FC236}">
                <a16:creationId xmlns:a16="http://schemas.microsoft.com/office/drawing/2014/main" id="{7142D7AC-EF82-D7E3-0FFF-F10C2EE6F6F5}"/>
              </a:ext>
            </a:extLst>
          </p:cNvPr>
          <p:cNvSpPr txBox="1"/>
          <p:nvPr/>
        </p:nvSpPr>
        <p:spPr>
          <a:xfrm>
            <a:off x="4636133" y="3178097"/>
            <a:ext cx="2374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段短视频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617" name="文本框 47">
            <a:extLst>
              <a:ext uri="{FF2B5EF4-FFF2-40B4-BE49-F238E27FC236}">
                <a16:creationId xmlns:a16="http://schemas.microsoft.com/office/drawing/2014/main" id="{12CB6557-42A4-97A1-902E-EBD33FA5A7E0}"/>
              </a:ext>
            </a:extLst>
          </p:cNvPr>
          <p:cNvSpPr txBox="1"/>
          <p:nvPr/>
        </p:nvSpPr>
        <p:spPr>
          <a:xfrm>
            <a:off x="166827" y="1191478"/>
            <a:ext cx="11755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指导语：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在该任务中，您将观看一系列短视频的开头五秒。每段视频看完后，您都要先后对喜好程度和继续观看该视频的渴望程度进行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1-5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评分。</a:t>
            </a:r>
          </a:p>
        </p:txBody>
      </p:sp>
      <p:sp>
        <p:nvSpPr>
          <p:cNvPr id="618" name="矩形 75">
            <a:extLst>
              <a:ext uri="{FF2B5EF4-FFF2-40B4-BE49-F238E27FC236}">
                <a16:creationId xmlns:a16="http://schemas.microsoft.com/office/drawing/2014/main" id="{A5ACF8EB-E031-297F-A452-D31DAD117DE8}"/>
              </a:ext>
            </a:extLst>
          </p:cNvPr>
          <p:cNvSpPr/>
          <p:nvPr/>
        </p:nvSpPr>
        <p:spPr>
          <a:xfrm>
            <a:off x="1496933" y="4844103"/>
            <a:ext cx="2482458" cy="12059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62">
            <a:extLst>
              <a:ext uri="{FF2B5EF4-FFF2-40B4-BE49-F238E27FC236}">
                <a16:creationId xmlns:a16="http://schemas.microsoft.com/office/drawing/2014/main" id="{0BC907F6-404D-FCB3-871D-BA7ADC32F74B}"/>
              </a:ext>
            </a:extLst>
          </p:cNvPr>
          <p:cNvSpPr/>
          <p:nvPr/>
        </p:nvSpPr>
        <p:spPr>
          <a:xfrm>
            <a:off x="297891" y="511188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指导语</a:t>
            </a:r>
          </a:p>
        </p:txBody>
      </p:sp>
      <p:sp>
        <p:nvSpPr>
          <p:cNvPr id="4" name="文本框 63">
            <a:extLst>
              <a:ext uri="{FF2B5EF4-FFF2-40B4-BE49-F238E27FC236}">
                <a16:creationId xmlns:a16="http://schemas.microsoft.com/office/drawing/2014/main" id="{CCA6E876-70C8-A840-D1CA-FCE6146D6648}"/>
              </a:ext>
            </a:extLst>
          </p:cNvPr>
          <p:cNvSpPr txBox="1"/>
          <p:nvPr/>
        </p:nvSpPr>
        <p:spPr>
          <a:xfrm>
            <a:off x="615830" y="5905459"/>
            <a:ext cx="388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74">
            <a:extLst>
              <a:ext uri="{FF2B5EF4-FFF2-40B4-BE49-F238E27FC236}">
                <a16:creationId xmlns:a16="http://schemas.microsoft.com/office/drawing/2014/main" id="{EE993341-FD3F-05E7-904C-19EB7B104F61}"/>
              </a:ext>
            </a:extLst>
          </p:cNvPr>
          <p:cNvSpPr/>
          <p:nvPr/>
        </p:nvSpPr>
        <p:spPr>
          <a:xfrm>
            <a:off x="10890643" y="5111455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休息</a:t>
            </a:r>
          </a:p>
        </p:txBody>
      </p:sp>
      <p:sp>
        <p:nvSpPr>
          <p:cNvPr id="22" name="矩形: 圆角 1047">
            <a:extLst>
              <a:ext uri="{FF2B5EF4-FFF2-40B4-BE49-F238E27FC236}">
                <a16:creationId xmlns:a16="http://schemas.microsoft.com/office/drawing/2014/main" id="{05785CE3-619F-CA76-7CC7-6D4CA5AF1B74}"/>
              </a:ext>
            </a:extLst>
          </p:cNvPr>
          <p:cNvSpPr/>
          <p:nvPr/>
        </p:nvSpPr>
        <p:spPr>
          <a:xfrm>
            <a:off x="145194" y="4302392"/>
            <a:ext cx="11923914" cy="2490992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1053">
            <a:extLst>
              <a:ext uri="{FF2B5EF4-FFF2-40B4-BE49-F238E27FC236}">
                <a16:creationId xmlns:a16="http://schemas.microsoft.com/office/drawing/2014/main" id="{1E3607B9-94A6-4692-EBCA-C8793DE9F574}"/>
              </a:ext>
            </a:extLst>
          </p:cNvPr>
          <p:cNvSpPr txBox="1"/>
          <p:nvPr/>
        </p:nvSpPr>
        <p:spPr>
          <a:xfrm>
            <a:off x="434585" y="4185214"/>
            <a:ext cx="202022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Keles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数据集（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N=16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4" name="矩形 11">
            <a:extLst>
              <a:ext uri="{FF2B5EF4-FFF2-40B4-BE49-F238E27FC236}">
                <a16:creationId xmlns:a16="http://schemas.microsoft.com/office/drawing/2014/main" id="{612FFFFC-812A-A006-A8FD-2B4E84099A2C}"/>
              </a:ext>
            </a:extLst>
          </p:cNvPr>
          <p:cNvSpPr/>
          <p:nvPr/>
        </p:nvSpPr>
        <p:spPr>
          <a:xfrm>
            <a:off x="169044" y="3761266"/>
            <a:ext cx="6791599" cy="40459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47">
            <a:extLst>
              <a:ext uri="{FF2B5EF4-FFF2-40B4-BE49-F238E27FC236}">
                <a16:creationId xmlns:a16="http://schemas.microsoft.com/office/drawing/2014/main" id="{4CE1C51D-DCA1-DA67-C093-50FF99710696}"/>
              </a:ext>
            </a:extLst>
          </p:cNvPr>
          <p:cNvSpPr txBox="1"/>
          <p:nvPr/>
        </p:nvSpPr>
        <p:spPr>
          <a:xfrm>
            <a:off x="188346" y="3791746"/>
            <a:ext cx="6791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自有视频库来自抖音新注册用户的随机推送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grpSp>
        <p:nvGrpSpPr>
          <p:cNvPr id="58" name="组合 3">
            <a:extLst>
              <a:ext uri="{FF2B5EF4-FFF2-40B4-BE49-F238E27FC236}">
                <a16:creationId xmlns:a16="http://schemas.microsoft.com/office/drawing/2014/main" id="{3CB0B08A-5D29-5CF6-1A5E-81E9F87C7F9F}"/>
              </a:ext>
            </a:extLst>
          </p:cNvPr>
          <p:cNvGrpSpPr/>
          <p:nvPr/>
        </p:nvGrpSpPr>
        <p:grpSpPr>
          <a:xfrm>
            <a:off x="1615060" y="5118346"/>
            <a:ext cx="1024116" cy="810221"/>
            <a:chOff x="1792962" y="5139080"/>
            <a:chExt cx="864000" cy="759496"/>
          </a:xfrm>
        </p:grpSpPr>
        <p:sp>
          <p:nvSpPr>
            <p:cNvPr id="59" name="矩形 4">
              <a:extLst>
                <a:ext uri="{FF2B5EF4-FFF2-40B4-BE49-F238E27FC236}">
                  <a16:creationId xmlns:a16="http://schemas.microsoft.com/office/drawing/2014/main" id="{BDF3B8E3-B7C4-DA0A-0AEF-825F15E221E6}"/>
                </a:ext>
              </a:extLst>
            </p:cNvPr>
            <p:cNvSpPr/>
            <p:nvPr/>
          </p:nvSpPr>
          <p:spPr>
            <a:xfrm>
              <a:off x="1792962" y="5139080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60" name="图片 5">
              <a:extLst>
                <a:ext uri="{FF2B5EF4-FFF2-40B4-BE49-F238E27FC236}">
                  <a16:creationId xmlns:a16="http://schemas.microsoft.com/office/drawing/2014/main" id="{9F47A75A-130C-48D7-73A3-B2785708C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557" y="5154576"/>
              <a:ext cx="251870" cy="744000"/>
            </a:xfrm>
            <a:prstGeom prst="rect">
              <a:avLst/>
            </a:prstGeom>
          </p:spPr>
        </p:pic>
      </p:grpSp>
      <p:grpSp>
        <p:nvGrpSpPr>
          <p:cNvPr id="61" name="组合 3">
            <a:extLst>
              <a:ext uri="{FF2B5EF4-FFF2-40B4-BE49-F238E27FC236}">
                <a16:creationId xmlns:a16="http://schemas.microsoft.com/office/drawing/2014/main" id="{8D834A6F-41A5-F6C6-6550-000592B3A987}"/>
              </a:ext>
            </a:extLst>
          </p:cNvPr>
          <p:cNvGrpSpPr/>
          <p:nvPr/>
        </p:nvGrpSpPr>
        <p:grpSpPr>
          <a:xfrm>
            <a:off x="2672313" y="5118346"/>
            <a:ext cx="1024116" cy="810221"/>
            <a:chOff x="1792962" y="5139080"/>
            <a:chExt cx="864000" cy="759496"/>
          </a:xfrm>
        </p:grpSpPr>
        <p:sp>
          <p:nvSpPr>
            <p:cNvPr id="62" name="矩形 4">
              <a:extLst>
                <a:ext uri="{FF2B5EF4-FFF2-40B4-BE49-F238E27FC236}">
                  <a16:creationId xmlns:a16="http://schemas.microsoft.com/office/drawing/2014/main" id="{C2797A13-9DDE-1D9B-64D1-F8C69F3429BF}"/>
                </a:ext>
              </a:extLst>
            </p:cNvPr>
            <p:cNvSpPr/>
            <p:nvPr/>
          </p:nvSpPr>
          <p:spPr>
            <a:xfrm>
              <a:off x="1792962" y="5139080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63" name="图片 5">
              <a:extLst>
                <a:ext uri="{FF2B5EF4-FFF2-40B4-BE49-F238E27FC236}">
                  <a16:creationId xmlns:a16="http://schemas.microsoft.com/office/drawing/2014/main" id="{8CCC4FF7-E75C-01E0-6914-4CA42B791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557" y="5154576"/>
              <a:ext cx="251870" cy="744000"/>
            </a:xfrm>
            <a:prstGeom prst="rect">
              <a:avLst/>
            </a:prstGeom>
          </p:spPr>
        </p:pic>
      </p:grpSp>
      <p:sp>
        <p:nvSpPr>
          <p:cNvPr id="448" name="文本框 8">
            <a:extLst>
              <a:ext uri="{FF2B5EF4-FFF2-40B4-BE49-F238E27FC236}">
                <a16:creationId xmlns:a16="http://schemas.microsoft.com/office/drawing/2014/main" id="{23F43483-21B7-1D78-65C2-42E1B7754920}"/>
              </a:ext>
            </a:extLst>
          </p:cNvPr>
          <p:cNvSpPr txBox="1"/>
          <p:nvPr/>
        </p:nvSpPr>
        <p:spPr>
          <a:xfrm>
            <a:off x="3668560" y="5418182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9" name="组合 16">
            <a:extLst>
              <a:ext uri="{FF2B5EF4-FFF2-40B4-BE49-F238E27FC236}">
                <a16:creationId xmlns:a16="http://schemas.microsoft.com/office/drawing/2014/main" id="{BD2D496F-CA62-0585-6DE1-D0171A3A8336}"/>
              </a:ext>
            </a:extLst>
          </p:cNvPr>
          <p:cNvGrpSpPr/>
          <p:nvPr/>
        </p:nvGrpSpPr>
        <p:grpSpPr>
          <a:xfrm>
            <a:off x="4049384" y="5117046"/>
            <a:ext cx="1024116" cy="811521"/>
            <a:chOff x="3581714" y="5115565"/>
            <a:chExt cx="864000" cy="760715"/>
          </a:xfrm>
        </p:grpSpPr>
        <p:sp>
          <p:nvSpPr>
            <p:cNvPr id="450" name="矩形 17">
              <a:extLst>
                <a:ext uri="{FF2B5EF4-FFF2-40B4-BE49-F238E27FC236}">
                  <a16:creationId xmlns:a16="http://schemas.microsoft.com/office/drawing/2014/main" id="{4E016792-8F3F-950A-44D2-8A6286DB3C6B}"/>
                </a:ext>
              </a:extLst>
            </p:cNvPr>
            <p:cNvSpPr/>
            <p:nvPr/>
          </p:nvSpPr>
          <p:spPr>
            <a:xfrm>
              <a:off x="3581714" y="5115565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451" name="图片 18">
              <a:extLst>
                <a:ext uri="{FF2B5EF4-FFF2-40B4-BE49-F238E27FC236}">
                  <a16:creationId xmlns:a16="http://schemas.microsoft.com/office/drawing/2014/main" id="{C6B1A82F-9AC2-9464-2FBF-C78AD6E8A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22309" y="5131064"/>
              <a:ext cx="252282" cy="745216"/>
            </a:xfrm>
            <a:prstGeom prst="rect">
              <a:avLst/>
            </a:prstGeom>
          </p:spPr>
        </p:pic>
      </p:grpSp>
      <p:grpSp>
        <p:nvGrpSpPr>
          <p:cNvPr id="452" name="组合 16">
            <a:extLst>
              <a:ext uri="{FF2B5EF4-FFF2-40B4-BE49-F238E27FC236}">
                <a16:creationId xmlns:a16="http://schemas.microsoft.com/office/drawing/2014/main" id="{E8FE41E9-126A-5F82-FBAD-FC4F526A2C92}"/>
              </a:ext>
            </a:extLst>
          </p:cNvPr>
          <p:cNvGrpSpPr/>
          <p:nvPr/>
        </p:nvGrpSpPr>
        <p:grpSpPr>
          <a:xfrm>
            <a:off x="5113985" y="5108375"/>
            <a:ext cx="1024116" cy="811521"/>
            <a:chOff x="3581714" y="5115565"/>
            <a:chExt cx="864000" cy="760715"/>
          </a:xfrm>
        </p:grpSpPr>
        <p:sp>
          <p:nvSpPr>
            <p:cNvPr id="453" name="矩形 17">
              <a:extLst>
                <a:ext uri="{FF2B5EF4-FFF2-40B4-BE49-F238E27FC236}">
                  <a16:creationId xmlns:a16="http://schemas.microsoft.com/office/drawing/2014/main" id="{E9A3C032-C9BA-0DC0-128A-D9A34C09572D}"/>
                </a:ext>
              </a:extLst>
            </p:cNvPr>
            <p:cNvSpPr/>
            <p:nvPr/>
          </p:nvSpPr>
          <p:spPr>
            <a:xfrm>
              <a:off x="3581714" y="5115565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454" name="图片 18">
              <a:extLst>
                <a:ext uri="{FF2B5EF4-FFF2-40B4-BE49-F238E27FC236}">
                  <a16:creationId xmlns:a16="http://schemas.microsoft.com/office/drawing/2014/main" id="{42733D5D-23ED-10DC-45E2-FE3361821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22309" y="5131064"/>
              <a:ext cx="252282" cy="745216"/>
            </a:xfrm>
            <a:prstGeom prst="rect">
              <a:avLst/>
            </a:prstGeom>
          </p:spPr>
        </p:pic>
      </p:grpSp>
      <p:sp>
        <p:nvSpPr>
          <p:cNvPr id="455" name="文本框 8">
            <a:extLst>
              <a:ext uri="{FF2B5EF4-FFF2-40B4-BE49-F238E27FC236}">
                <a16:creationId xmlns:a16="http://schemas.microsoft.com/office/drawing/2014/main" id="{44907509-BCDE-9C66-8D31-FC709E5D046C}"/>
              </a:ext>
            </a:extLst>
          </p:cNvPr>
          <p:cNvSpPr txBox="1"/>
          <p:nvPr/>
        </p:nvSpPr>
        <p:spPr>
          <a:xfrm>
            <a:off x="6169689" y="5410458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6" name="矩形 6">
            <a:extLst>
              <a:ext uri="{FF2B5EF4-FFF2-40B4-BE49-F238E27FC236}">
                <a16:creationId xmlns:a16="http://schemas.microsoft.com/office/drawing/2014/main" id="{80D2D9E8-533D-F702-4D6F-7E72BC469B8A}"/>
              </a:ext>
            </a:extLst>
          </p:cNvPr>
          <p:cNvSpPr/>
          <p:nvPr/>
        </p:nvSpPr>
        <p:spPr>
          <a:xfrm>
            <a:off x="6567426" y="5092168"/>
            <a:ext cx="1075237" cy="836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7" name="Picture 456" descr="A puppy in a cup&#10;&#10;Description automatically generated">
            <a:extLst>
              <a:ext uri="{FF2B5EF4-FFF2-40B4-BE49-F238E27FC236}">
                <a16:creationId xmlns:a16="http://schemas.microsoft.com/office/drawing/2014/main" id="{A660A253-B11B-A782-3A70-1471FC5E9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09" y="5151880"/>
            <a:ext cx="880539" cy="704430"/>
          </a:xfrm>
          <a:prstGeom prst="rect">
            <a:avLst/>
          </a:prstGeom>
        </p:spPr>
      </p:pic>
      <p:sp>
        <p:nvSpPr>
          <p:cNvPr id="458" name="矩形 6">
            <a:extLst>
              <a:ext uri="{FF2B5EF4-FFF2-40B4-BE49-F238E27FC236}">
                <a16:creationId xmlns:a16="http://schemas.microsoft.com/office/drawing/2014/main" id="{A9C63C4D-4CFD-05E2-EB18-7AEA63B1488A}"/>
              </a:ext>
            </a:extLst>
          </p:cNvPr>
          <p:cNvSpPr/>
          <p:nvPr/>
        </p:nvSpPr>
        <p:spPr>
          <a:xfrm>
            <a:off x="7711557" y="5092168"/>
            <a:ext cx="1075237" cy="836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9" name="Picture 458" descr="A puppy in a cup&#10;&#10;Description automatically generated">
            <a:extLst>
              <a:ext uri="{FF2B5EF4-FFF2-40B4-BE49-F238E27FC236}">
                <a16:creationId xmlns:a16="http://schemas.microsoft.com/office/drawing/2014/main" id="{4CD98572-7911-735C-80CB-DC426700A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840" y="5151880"/>
            <a:ext cx="880539" cy="704430"/>
          </a:xfrm>
          <a:prstGeom prst="rect">
            <a:avLst/>
          </a:prstGeom>
        </p:spPr>
      </p:pic>
      <p:sp>
        <p:nvSpPr>
          <p:cNvPr id="460" name="文本框 8">
            <a:extLst>
              <a:ext uri="{FF2B5EF4-FFF2-40B4-BE49-F238E27FC236}">
                <a16:creationId xmlns:a16="http://schemas.microsoft.com/office/drawing/2014/main" id="{88A3D292-4BF6-C99A-C548-073A5BD8CB86}"/>
              </a:ext>
            </a:extLst>
          </p:cNvPr>
          <p:cNvSpPr txBox="1"/>
          <p:nvPr/>
        </p:nvSpPr>
        <p:spPr>
          <a:xfrm>
            <a:off x="9874519" y="5359788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1" name="矩形 75">
            <a:extLst>
              <a:ext uri="{FF2B5EF4-FFF2-40B4-BE49-F238E27FC236}">
                <a16:creationId xmlns:a16="http://schemas.microsoft.com/office/drawing/2014/main" id="{7D573EF1-BBD1-6991-EB4B-2EDD9368BC7E}"/>
              </a:ext>
            </a:extLst>
          </p:cNvPr>
          <p:cNvSpPr/>
          <p:nvPr/>
        </p:nvSpPr>
        <p:spPr>
          <a:xfrm>
            <a:off x="1297623" y="1996997"/>
            <a:ext cx="9174223" cy="150268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文本框 8">
            <a:extLst>
              <a:ext uri="{FF2B5EF4-FFF2-40B4-BE49-F238E27FC236}">
                <a16:creationId xmlns:a16="http://schemas.microsoft.com/office/drawing/2014/main" id="{AB9F4D8C-CA0D-E802-91EF-C77F0622C3B2}"/>
              </a:ext>
            </a:extLst>
          </p:cNvPr>
          <p:cNvSpPr txBox="1"/>
          <p:nvPr/>
        </p:nvSpPr>
        <p:spPr>
          <a:xfrm>
            <a:off x="10355448" y="5359788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3" name="文本框 78">
            <a:extLst>
              <a:ext uri="{FF2B5EF4-FFF2-40B4-BE49-F238E27FC236}">
                <a16:creationId xmlns:a16="http://schemas.microsoft.com/office/drawing/2014/main" id="{6F170E6F-425B-86E7-0E6E-C04B9405F7AC}"/>
              </a:ext>
            </a:extLst>
          </p:cNvPr>
          <p:cNvSpPr txBox="1"/>
          <p:nvPr/>
        </p:nvSpPr>
        <p:spPr>
          <a:xfrm>
            <a:off x="1622134" y="4844103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A</a:t>
            </a:r>
          </a:p>
        </p:txBody>
      </p:sp>
      <p:sp>
        <p:nvSpPr>
          <p:cNvPr id="464" name="文本框 78">
            <a:extLst>
              <a:ext uri="{FF2B5EF4-FFF2-40B4-BE49-F238E27FC236}">
                <a16:creationId xmlns:a16="http://schemas.microsoft.com/office/drawing/2014/main" id="{C660D14D-00E4-5729-B8AD-C85916992B5E}"/>
              </a:ext>
            </a:extLst>
          </p:cNvPr>
          <p:cNvSpPr txBox="1"/>
          <p:nvPr/>
        </p:nvSpPr>
        <p:spPr>
          <a:xfrm>
            <a:off x="2676194" y="4839442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</a:t>
            </a:r>
          </a:p>
        </p:txBody>
      </p:sp>
      <p:sp>
        <p:nvSpPr>
          <p:cNvPr id="465" name="文本框 78">
            <a:extLst>
              <a:ext uri="{FF2B5EF4-FFF2-40B4-BE49-F238E27FC236}">
                <a16:creationId xmlns:a16="http://schemas.microsoft.com/office/drawing/2014/main" id="{EDDAA16D-F865-31F6-4797-49FF722B7D29}"/>
              </a:ext>
            </a:extLst>
          </p:cNvPr>
          <p:cNvSpPr txBox="1"/>
          <p:nvPr/>
        </p:nvSpPr>
        <p:spPr>
          <a:xfrm>
            <a:off x="4053596" y="4837576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A</a:t>
            </a:r>
          </a:p>
        </p:txBody>
      </p:sp>
      <p:sp>
        <p:nvSpPr>
          <p:cNvPr id="466" name="文本框 78">
            <a:extLst>
              <a:ext uri="{FF2B5EF4-FFF2-40B4-BE49-F238E27FC236}">
                <a16:creationId xmlns:a16="http://schemas.microsoft.com/office/drawing/2014/main" id="{C5797BB7-E123-57E9-C198-16047F8E3831}"/>
              </a:ext>
            </a:extLst>
          </p:cNvPr>
          <p:cNvSpPr txBox="1"/>
          <p:nvPr/>
        </p:nvSpPr>
        <p:spPr>
          <a:xfrm>
            <a:off x="5107656" y="4820723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</a:t>
            </a:r>
          </a:p>
        </p:txBody>
      </p:sp>
      <p:sp>
        <p:nvSpPr>
          <p:cNvPr id="467" name="矩形 6">
            <a:extLst>
              <a:ext uri="{FF2B5EF4-FFF2-40B4-BE49-F238E27FC236}">
                <a16:creationId xmlns:a16="http://schemas.microsoft.com/office/drawing/2014/main" id="{36EFD5ED-3745-16AD-4BA1-F3A75C549811}"/>
              </a:ext>
            </a:extLst>
          </p:cNvPr>
          <p:cNvSpPr/>
          <p:nvPr/>
        </p:nvSpPr>
        <p:spPr>
          <a:xfrm>
            <a:off x="8826803" y="5093444"/>
            <a:ext cx="1075237" cy="836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8" name="Picture 467" descr="A puppy in a cup&#10;&#10;Description automatically generated">
            <a:extLst>
              <a:ext uri="{FF2B5EF4-FFF2-40B4-BE49-F238E27FC236}">
                <a16:creationId xmlns:a16="http://schemas.microsoft.com/office/drawing/2014/main" id="{B8970A57-EF23-06C3-B623-9422B7939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086" y="5153156"/>
            <a:ext cx="880539" cy="704430"/>
          </a:xfrm>
          <a:prstGeom prst="rect">
            <a:avLst/>
          </a:prstGeom>
        </p:spPr>
      </p:pic>
      <p:sp>
        <p:nvSpPr>
          <p:cNvPr id="469" name="文本框 78">
            <a:extLst>
              <a:ext uri="{FF2B5EF4-FFF2-40B4-BE49-F238E27FC236}">
                <a16:creationId xmlns:a16="http://schemas.microsoft.com/office/drawing/2014/main" id="{F9924AA4-76DF-5295-676E-6CA4B3745D7B}"/>
              </a:ext>
            </a:extLst>
          </p:cNvPr>
          <p:cNvSpPr txBox="1"/>
          <p:nvPr/>
        </p:nvSpPr>
        <p:spPr>
          <a:xfrm>
            <a:off x="6588603" y="4825275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A</a:t>
            </a:r>
          </a:p>
        </p:txBody>
      </p:sp>
      <p:sp>
        <p:nvSpPr>
          <p:cNvPr id="470" name="文本框 78">
            <a:extLst>
              <a:ext uri="{FF2B5EF4-FFF2-40B4-BE49-F238E27FC236}">
                <a16:creationId xmlns:a16="http://schemas.microsoft.com/office/drawing/2014/main" id="{E8291D53-11D6-A7A2-5D43-A0FCD7ED3A22}"/>
              </a:ext>
            </a:extLst>
          </p:cNvPr>
          <p:cNvSpPr txBox="1"/>
          <p:nvPr/>
        </p:nvSpPr>
        <p:spPr>
          <a:xfrm>
            <a:off x="7747116" y="4820967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</a:t>
            </a:r>
          </a:p>
        </p:txBody>
      </p:sp>
      <p:sp>
        <p:nvSpPr>
          <p:cNvPr id="471" name="文本框 78">
            <a:extLst>
              <a:ext uri="{FF2B5EF4-FFF2-40B4-BE49-F238E27FC236}">
                <a16:creationId xmlns:a16="http://schemas.microsoft.com/office/drawing/2014/main" id="{04823397-3680-623B-CFA0-C0A4D8EC6F42}"/>
              </a:ext>
            </a:extLst>
          </p:cNvPr>
          <p:cNvSpPr txBox="1"/>
          <p:nvPr/>
        </p:nvSpPr>
        <p:spPr>
          <a:xfrm>
            <a:off x="8888605" y="4815834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C</a:t>
            </a:r>
          </a:p>
        </p:txBody>
      </p:sp>
      <p:sp>
        <p:nvSpPr>
          <p:cNvPr id="472" name="文本框 78">
            <a:extLst>
              <a:ext uri="{FF2B5EF4-FFF2-40B4-BE49-F238E27FC236}">
                <a16:creationId xmlns:a16="http://schemas.microsoft.com/office/drawing/2014/main" id="{57A7DD5F-5F47-4DBE-D85A-1F41FE4B9330}"/>
              </a:ext>
            </a:extLst>
          </p:cNvPr>
          <p:cNvSpPr txBox="1"/>
          <p:nvPr/>
        </p:nvSpPr>
        <p:spPr>
          <a:xfrm>
            <a:off x="2252801" y="6055823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场景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</a:t>
            </a:r>
          </a:p>
        </p:txBody>
      </p:sp>
      <p:sp>
        <p:nvSpPr>
          <p:cNvPr id="474" name="矩形 75">
            <a:extLst>
              <a:ext uri="{FF2B5EF4-FFF2-40B4-BE49-F238E27FC236}">
                <a16:creationId xmlns:a16="http://schemas.microsoft.com/office/drawing/2014/main" id="{9F8051CE-FA31-767A-482E-47B0227F9F37}"/>
              </a:ext>
            </a:extLst>
          </p:cNvPr>
          <p:cNvSpPr/>
          <p:nvPr/>
        </p:nvSpPr>
        <p:spPr>
          <a:xfrm>
            <a:off x="4014506" y="4849897"/>
            <a:ext cx="2482458" cy="12059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文本框 78">
            <a:extLst>
              <a:ext uri="{FF2B5EF4-FFF2-40B4-BE49-F238E27FC236}">
                <a16:creationId xmlns:a16="http://schemas.microsoft.com/office/drawing/2014/main" id="{4FF37E03-85D6-76AE-C0B5-BFFC11EC3743}"/>
              </a:ext>
            </a:extLst>
          </p:cNvPr>
          <p:cNvSpPr txBox="1"/>
          <p:nvPr/>
        </p:nvSpPr>
        <p:spPr>
          <a:xfrm>
            <a:off x="4782566" y="6061617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场景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</a:t>
            </a:r>
          </a:p>
        </p:txBody>
      </p:sp>
      <p:sp>
        <p:nvSpPr>
          <p:cNvPr id="476" name="矩形 75">
            <a:extLst>
              <a:ext uri="{FF2B5EF4-FFF2-40B4-BE49-F238E27FC236}">
                <a16:creationId xmlns:a16="http://schemas.microsoft.com/office/drawing/2014/main" id="{ED7E8B87-646B-A79A-DCCF-DFB7814F8DC9}"/>
              </a:ext>
            </a:extLst>
          </p:cNvPr>
          <p:cNvSpPr/>
          <p:nvPr/>
        </p:nvSpPr>
        <p:spPr>
          <a:xfrm>
            <a:off x="6533402" y="4844171"/>
            <a:ext cx="3639823" cy="12059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文本框 78">
            <a:extLst>
              <a:ext uri="{FF2B5EF4-FFF2-40B4-BE49-F238E27FC236}">
                <a16:creationId xmlns:a16="http://schemas.microsoft.com/office/drawing/2014/main" id="{C64E435A-0F2C-8028-427D-57D67AB6A4BB}"/>
              </a:ext>
            </a:extLst>
          </p:cNvPr>
          <p:cNvSpPr txBox="1"/>
          <p:nvPr/>
        </p:nvSpPr>
        <p:spPr>
          <a:xfrm>
            <a:off x="7809840" y="6045745"/>
            <a:ext cx="148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场景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</a:t>
            </a:r>
          </a:p>
        </p:txBody>
      </p:sp>
      <p:sp>
        <p:nvSpPr>
          <p:cNvPr id="479" name="文本框 78">
            <a:extLst>
              <a:ext uri="{FF2B5EF4-FFF2-40B4-BE49-F238E27FC236}">
                <a16:creationId xmlns:a16="http://schemas.microsoft.com/office/drawing/2014/main" id="{CD67428F-D2A6-53F6-7AA7-955CEE058676}"/>
              </a:ext>
            </a:extLst>
          </p:cNvPr>
          <p:cNvSpPr txBox="1"/>
          <p:nvPr/>
        </p:nvSpPr>
        <p:spPr>
          <a:xfrm>
            <a:off x="4769930" y="6483670"/>
            <a:ext cx="2736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共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13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个场景，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80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个切片，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8min</a:t>
            </a:r>
          </a:p>
        </p:txBody>
      </p:sp>
      <p:sp>
        <p:nvSpPr>
          <p:cNvPr id="481" name="Right Brace 480">
            <a:extLst>
              <a:ext uri="{FF2B5EF4-FFF2-40B4-BE49-F238E27FC236}">
                <a16:creationId xmlns:a16="http://schemas.microsoft.com/office/drawing/2014/main" id="{17A7DA3C-C084-78FB-F7FB-94C9F026574B}"/>
              </a:ext>
            </a:extLst>
          </p:cNvPr>
          <p:cNvSpPr/>
          <p:nvPr/>
        </p:nvSpPr>
        <p:spPr>
          <a:xfrm rot="5400000">
            <a:off x="6042462" y="1692869"/>
            <a:ext cx="191277" cy="938226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029B4A74-BC3C-46CD-858A-8BC2115624ED}"/>
              </a:ext>
            </a:extLst>
          </p:cNvPr>
          <p:cNvSpPr txBox="1"/>
          <p:nvPr/>
        </p:nvSpPr>
        <p:spPr>
          <a:xfrm>
            <a:off x="230397" y="4436181"/>
            <a:ext cx="9621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连续观看希区柯克导演的黑白电影</a:t>
            </a:r>
            <a:r>
              <a:rPr lang="en-US" sz="1600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Bang! You‘re Dead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，将原始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分钟的内容剪辑为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8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分钟。</a:t>
            </a:r>
            <a:endParaRPr lang="en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68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49"/>
    </mc:Choice>
    <mc:Fallback xmlns="">
      <p:transition spd="slow" advTm="66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" grpId="0"/>
      <p:bldP spid="617" grpId="0"/>
      <p:bldP spid="618" grpId="0" animBg="1"/>
      <p:bldP spid="3" grpId="0" animBg="1"/>
      <p:bldP spid="4" grpId="0"/>
      <p:bldP spid="13" grpId="0" animBg="1"/>
      <p:bldP spid="25" grpId="0"/>
      <p:bldP spid="461" grpId="0" animBg="1"/>
      <p:bldP spid="463" grpId="0"/>
      <p:bldP spid="464" grpId="0"/>
      <p:bldP spid="465" grpId="0"/>
      <p:bldP spid="466" grpId="0"/>
      <p:bldP spid="469" grpId="0"/>
      <p:bldP spid="470" grpId="0"/>
      <p:bldP spid="471" grpId="0"/>
      <p:bldP spid="472" grpId="0"/>
      <p:bldP spid="474" grpId="0" animBg="1"/>
      <p:bldP spid="475" grpId="0"/>
      <p:bldP spid="476" grpId="0" animBg="1"/>
      <p:bldP spid="477" grpId="0"/>
      <p:bldP spid="4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F60A-7A66-DD12-AF8E-482DFD6A5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C4A990-1188-9EE1-E757-A6F16B6F01AF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F00A98E6-49E7-BC50-08DF-FCFE78AC602E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E6EC4880-7874-232B-A11C-97A34663050E}"/>
              </a:ext>
            </a:extLst>
          </p:cNvPr>
          <p:cNvSpPr txBox="1"/>
          <p:nvPr/>
        </p:nvSpPr>
        <p:spPr>
          <a:xfrm>
            <a:off x="358346" y="1105217"/>
            <a:ext cx="15696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电极重建</a:t>
            </a:r>
          </a:p>
        </p:txBody>
      </p:sp>
      <p:sp>
        <p:nvSpPr>
          <p:cNvPr id="7" name="文本框 15">
            <a:extLst>
              <a:ext uri="{FF2B5EF4-FFF2-40B4-BE49-F238E27FC236}">
                <a16:creationId xmlns:a16="http://schemas.microsoft.com/office/drawing/2014/main" id="{A1658669-E173-774D-2B1D-24803D4C13A6}"/>
              </a:ext>
            </a:extLst>
          </p:cNvPr>
          <p:cNvSpPr txBox="1"/>
          <p:nvPr/>
        </p:nvSpPr>
        <p:spPr>
          <a:xfrm>
            <a:off x="358346" y="3672014"/>
            <a:ext cx="188064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LFP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7A2672-9748-2C40-7FC6-E75EF98F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85" y="1385036"/>
            <a:ext cx="2442256" cy="18316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D6E929-C292-4AEA-D6D1-F3D0E829D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95" y="1385036"/>
            <a:ext cx="2659459" cy="1850022"/>
          </a:xfrm>
          <a:prstGeom prst="rect">
            <a:avLst/>
          </a:prstGeom>
        </p:spPr>
      </p:pic>
      <p:sp>
        <p:nvSpPr>
          <p:cNvPr id="14" name="文本框 47">
            <a:extLst>
              <a:ext uri="{FF2B5EF4-FFF2-40B4-BE49-F238E27FC236}">
                <a16:creationId xmlns:a16="http://schemas.microsoft.com/office/drawing/2014/main" id="{1DA688F6-7C30-E363-68A0-8983EB1FDBFB}"/>
              </a:ext>
            </a:extLst>
          </p:cNvPr>
          <p:cNvSpPr txBox="1"/>
          <p:nvPr/>
        </p:nvSpPr>
        <p:spPr>
          <a:xfrm>
            <a:off x="358346" y="1566882"/>
            <a:ext cx="573765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1.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术后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CT/MRI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造影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2.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配准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并叠加到原始解剖空间中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识别电极轴上的每个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宏电极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和微电极位点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将原始空间映射到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MNI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空间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5.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结合临床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Desikan-Killiany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标签完成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QC</a:t>
            </a:r>
          </a:p>
          <a:p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4" name="文本框 47">
            <a:extLst>
              <a:ext uri="{FF2B5EF4-FFF2-40B4-BE49-F238E27FC236}">
                <a16:creationId xmlns:a16="http://schemas.microsoft.com/office/drawing/2014/main" id="{B96FED3A-B7DB-9235-3AF2-35D70D467337}"/>
              </a:ext>
            </a:extLst>
          </p:cNvPr>
          <p:cNvSpPr txBox="1"/>
          <p:nvPr/>
        </p:nvSpPr>
        <p:spPr>
          <a:xfrm>
            <a:off x="358346" y="4133679"/>
            <a:ext cx="6668096" cy="152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1.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降采样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到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1000Hz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2.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滤波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1-200Hz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带通滤波，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49-51Hz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陷波去工频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对齐行为数据，合并事件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4.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QC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：对两种策略筛选后的试次取交集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CBB3AB-A30D-DFD0-3206-2FD1F76CCBF4}"/>
                  </a:ext>
                </a:extLst>
              </p:cNvPr>
              <p:cNvSpPr txBox="1"/>
              <p:nvPr/>
            </p:nvSpPr>
            <p:spPr>
              <a:xfrm>
                <a:off x="5733644" y="4645098"/>
                <a:ext cx="6100010" cy="1526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N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Robust</a:t>
                </a:r>
                <a:r>
                  <a:rPr lang="zh-CN" altLang="en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规则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：用基线窗和响应窗计算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RMS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比值和峰值，在各条件   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	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内做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robust z-score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，剔除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z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&gt;4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，至少命中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5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个通道的</a:t>
                </a:r>
                <a:r>
                  <a:rPr lang="zh-CN" altLang="en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试次</a:t>
                </a:r>
                <a:endParaRPr lang="en-US" altLang="zh-CN" sz="1600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Microsoft GothicNeo" panose="020B0500000101010101" pitchFamily="34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幅度规则：在全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epoch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内检测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  <a:cs typeface="Microsoft GothicNeo" panose="020B0500000101010101" pitchFamily="34" charset="-127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  <a:cs typeface="Microsoft GothicNeo" panose="020B0500000101010101" pitchFamily="34" charset="-127"/>
                          </a:rPr>
                          <m:t>𝑠𝑖𝑔𝑛𝑎𝑙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≥200</m:t>
                    </m:r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μ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𝑉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，并按条件分组做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	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峰值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mean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±3</m:t>
                    </m:r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σ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判定，剔除至少命中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3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个通道的试次</a:t>
                </a:r>
                <a:endParaRPr lang="en-CN" altLang="zh-CN" sz="1600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Microsoft GothicNeo" panose="020B0500000101010101" pitchFamily="34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CBB3AB-A30D-DFD0-3206-2FD1F76CC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644" y="4645098"/>
                <a:ext cx="6100010" cy="1526636"/>
              </a:xfrm>
              <a:prstGeom prst="rect">
                <a:avLst/>
              </a:prstGeom>
              <a:blipFill>
                <a:blip r:embed="rId5"/>
                <a:stretch>
                  <a:fillRect l="-624" b="-495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75">
            <a:extLst>
              <a:ext uri="{FF2B5EF4-FFF2-40B4-BE49-F238E27FC236}">
                <a16:creationId xmlns:a16="http://schemas.microsoft.com/office/drawing/2014/main" id="{0C815A96-F649-DF7B-C3CD-7E4BA6722D74}"/>
              </a:ext>
            </a:extLst>
          </p:cNvPr>
          <p:cNvSpPr/>
          <p:nvPr/>
        </p:nvSpPr>
        <p:spPr>
          <a:xfrm>
            <a:off x="5733644" y="4669047"/>
            <a:ext cx="6100010" cy="150268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75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91"/>
    </mc:Choice>
    <mc:Fallback xmlns="">
      <p:transition spd="slow" advTm="21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4EA0F987-940E-FBC7-51C3-48FF62785071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7127CF15-E8F9-AA4B-8834-DAA6AFD66650}"/>
              </a:ext>
            </a:extLst>
          </p:cNvPr>
          <p:cNvSpPr txBox="1"/>
          <p:nvPr/>
        </p:nvSpPr>
        <p:spPr>
          <a:xfrm>
            <a:off x="358346" y="1105217"/>
            <a:ext cx="222208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2167C6-9853-E974-F27D-ED022C62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609" y="1217236"/>
            <a:ext cx="4320979" cy="2534860"/>
          </a:xfrm>
          <a:prstGeom prst="rect">
            <a:avLst/>
          </a:prstGeom>
        </p:spPr>
      </p:pic>
      <p:sp>
        <p:nvSpPr>
          <p:cNvPr id="14" name="文本框 47">
            <a:extLst>
              <a:ext uri="{FF2B5EF4-FFF2-40B4-BE49-F238E27FC236}">
                <a16:creationId xmlns:a16="http://schemas.microsoft.com/office/drawing/2014/main" id="{2E3F6D9A-65BC-5D48-9A32-393DE3EF5AF1}"/>
              </a:ext>
            </a:extLst>
          </p:cNvPr>
          <p:cNvSpPr txBox="1"/>
          <p:nvPr/>
        </p:nvSpPr>
        <p:spPr>
          <a:xfrm>
            <a:off x="358346" y="1566882"/>
            <a:ext cx="5737654" cy="189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1.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转换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数据格式至二进制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2.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使用</a:t>
            </a:r>
            <a:r>
              <a:rPr lang="en-US" altLang="zh-CN" sz="1600" b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kilosort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完成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spike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 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sorting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基于</a:t>
            </a:r>
            <a:r>
              <a:rPr lang="en-US" altLang="zh-CN" sz="1600" b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phy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筛选、合并、重组神经元并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QC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将每个放电单元的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spike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 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time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对齐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事件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窗，计算高斯核平滑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	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瞬时放电率（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IFR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）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91"/>
    </mc:Choice>
    <mc:Fallback xmlns="">
      <p:transition spd="slow" advTm="21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E73703-A7E2-04C1-FE99-1A6A57B0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995" y="3968866"/>
            <a:ext cx="4601003" cy="23898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6416CA-46E2-9145-6BA0-E6A88189B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997" y="955963"/>
            <a:ext cx="4475019" cy="2679807"/>
          </a:xfrm>
          <a:prstGeom prst="rect">
            <a:avLst/>
          </a:prstGeom>
        </p:spPr>
      </p:pic>
      <p:sp>
        <p:nvSpPr>
          <p:cNvPr id="26" name="矩形: 圆角 359">
            <a:extLst>
              <a:ext uri="{FF2B5EF4-FFF2-40B4-BE49-F238E27FC236}">
                <a16:creationId xmlns:a16="http://schemas.microsoft.com/office/drawing/2014/main" id="{E2553C60-0218-7017-6787-8774167BF8C6}"/>
              </a:ext>
            </a:extLst>
          </p:cNvPr>
          <p:cNvSpPr/>
          <p:nvPr/>
        </p:nvSpPr>
        <p:spPr>
          <a:xfrm>
            <a:off x="216124" y="1142125"/>
            <a:ext cx="1322172" cy="67977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行为学分析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8ED7945-5D48-630F-302F-D3CFFB4CE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599" y="3724086"/>
            <a:ext cx="5137403" cy="26951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E0F3B7-3DE3-9BC6-3328-26E060A98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594" y="955963"/>
            <a:ext cx="5137403" cy="24730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BFC77F2-D445-D9C8-6C63-9B45390EB4C1}"/>
              </a:ext>
            </a:extLst>
          </p:cNvPr>
          <p:cNvSpPr txBox="1"/>
          <p:nvPr/>
        </p:nvSpPr>
        <p:spPr>
          <a:xfrm>
            <a:off x="3796136" y="6419226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情境判别范式反应时分布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C7AF6B-9C58-2894-E769-540EA1CB78FD}"/>
              </a:ext>
            </a:extLst>
          </p:cNvPr>
          <p:cNvSpPr txBox="1"/>
          <p:nvPr/>
        </p:nvSpPr>
        <p:spPr>
          <a:xfrm>
            <a:off x="3832448" y="3407266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情境判别范式正确率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A2111D-E77F-635D-C20B-73E5A6FB6709}"/>
              </a:ext>
            </a:extLst>
          </p:cNvPr>
          <p:cNvSpPr txBox="1"/>
          <p:nvPr/>
        </p:nvSpPr>
        <p:spPr>
          <a:xfrm>
            <a:off x="8478332" y="3591783"/>
            <a:ext cx="2826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固定观看范式偏好分布</a:t>
            </a:r>
          </a:p>
          <a:p>
            <a:pPr algn="ctr"/>
            <a:endParaRPr lang="en-C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A4F604-F0A4-8450-0184-7DEBCCBB9AAD}"/>
              </a:ext>
            </a:extLst>
          </p:cNvPr>
          <p:cNvSpPr txBox="1"/>
          <p:nvPr/>
        </p:nvSpPr>
        <p:spPr>
          <a:xfrm>
            <a:off x="8478332" y="6465392"/>
            <a:ext cx="2826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固定观看范式评分分布</a:t>
            </a:r>
          </a:p>
          <a:p>
            <a:pPr algn="ctr"/>
            <a:endParaRPr lang="en-CN" sz="1600" dirty="0"/>
          </a:p>
        </p:txBody>
      </p:sp>
      <p:sp>
        <p:nvSpPr>
          <p:cNvPr id="33" name="矩形: 圆角 29">
            <a:extLst>
              <a:ext uri="{FF2B5EF4-FFF2-40B4-BE49-F238E27FC236}">
                <a16:creationId xmlns:a16="http://schemas.microsoft.com/office/drawing/2014/main" id="{9A9883BD-0DF0-1504-EA69-D93F5CCE443A}"/>
              </a:ext>
            </a:extLst>
          </p:cNvPr>
          <p:cNvSpPr/>
          <p:nvPr/>
        </p:nvSpPr>
        <p:spPr>
          <a:xfrm>
            <a:off x="216124" y="2008058"/>
            <a:ext cx="2282253" cy="2695140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被试间由于认知能的不同，准确率方差较大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被试间对视频观看本身的喜好程度和评分标准差别均较大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BA6A-C198-012C-8B30-7A5F4946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2FC18AEE-A973-406E-1C8A-3DFF193D1211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1EC9CF-D543-4B87-3394-5C68D1D96A94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C9819-1EE1-8587-4BB1-85EAFB483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7" t="15097" r="4739" b="10942"/>
          <a:stretch>
            <a:fillRect/>
          </a:stretch>
        </p:blipFill>
        <p:spPr>
          <a:xfrm>
            <a:off x="6777037" y="2351410"/>
            <a:ext cx="4527208" cy="1219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747BDD-4FC7-A858-85A5-E590630D97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62" t="10368" r="4533" b="9802"/>
          <a:stretch>
            <a:fillRect/>
          </a:stretch>
        </p:blipFill>
        <p:spPr>
          <a:xfrm>
            <a:off x="7270650" y="1010376"/>
            <a:ext cx="3539981" cy="13410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82DF69-B19F-E945-8360-2AD35293A4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50" t="13795" r="2444" b="11326"/>
          <a:stretch>
            <a:fillRect/>
          </a:stretch>
        </p:blipFill>
        <p:spPr>
          <a:xfrm>
            <a:off x="6782245" y="5256332"/>
            <a:ext cx="4689142" cy="1236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F5ABB0-5D8F-ADB3-8611-84B4EEEE76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63" t="13012" r="3749" b="13741"/>
          <a:stretch>
            <a:fillRect/>
          </a:stretch>
        </p:blipFill>
        <p:spPr>
          <a:xfrm>
            <a:off x="7270650" y="3959867"/>
            <a:ext cx="3712331" cy="12964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D2F6ED-AD34-B65A-DCC1-838EA1DCF7EE}"/>
              </a:ext>
            </a:extLst>
          </p:cNvPr>
          <p:cNvSpPr txBox="1"/>
          <p:nvPr/>
        </p:nvSpPr>
        <p:spPr>
          <a:xfrm>
            <a:off x="7713651" y="3478598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情境判别任务</a:t>
            </a:r>
            <a:r>
              <a:rPr lang="zh-CN" altLang="en-US" sz="1600" dirty="0"/>
              <a:t>，</a:t>
            </a:r>
            <a:r>
              <a:rPr lang="en-US" altLang="zh-CN" sz="1600" dirty="0"/>
              <a:t>Amygdala</a:t>
            </a:r>
            <a:endParaRPr lang="en-C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4A466-4553-0446-2257-67480DCE1FB4}"/>
              </a:ext>
            </a:extLst>
          </p:cNvPr>
          <p:cNvSpPr txBox="1"/>
          <p:nvPr/>
        </p:nvSpPr>
        <p:spPr>
          <a:xfrm>
            <a:off x="7713651" y="6383520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情境判别任务</a:t>
            </a:r>
            <a:r>
              <a:rPr lang="zh-CN" altLang="en-US" sz="1600" dirty="0"/>
              <a:t>，</a:t>
            </a:r>
            <a:r>
              <a:rPr lang="en-US" altLang="zh-CN" sz="1600" dirty="0"/>
              <a:t>Hippocampus</a:t>
            </a:r>
            <a:endParaRPr lang="en-CN" sz="1600" dirty="0"/>
          </a:p>
        </p:txBody>
      </p:sp>
      <p:sp>
        <p:nvSpPr>
          <p:cNvPr id="20" name="矩形: 圆角 29">
            <a:extLst>
              <a:ext uri="{FF2B5EF4-FFF2-40B4-BE49-F238E27FC236}">
                <a16:creationId xmlns:a16="http://schemas.microsoft.com/office/drawing/2014/main" id="{801B735F-1D6E-F0D6-C6A3-41BA7DF1CE84}"/>
              </a:ext>
            </a:extLst>
          </p:cNvPr>
          <p:cNvSpPr/>
          <p:nvPr/>
        </p:nvSpPr>
        <p:spPr>
          <a:xfrm>
            <a:off x="358345" y="2338760"/>
            <a:ext cx="5251623" cy="2917571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2-100Hz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onset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0-1500ms</a:t>
            </a: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在杏仁核中观察到效价调制效应：在刺激后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500-800ms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发现相比消极图片，</a:t>
            </a: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积极图片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诱发的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波减弱，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波增强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在海马中未观察到相应现象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359">
            <a:extLst>
              <a:ext uri="{FF2B5EF4-FFF2-40B4-BE49-F238E27FC236}">
                <a16:creationId xmlns:a16="http://schemas.microsoft.com/office/drawing/2014/main" id="{DAD7BFCC-35DC-005B-9AD5-A1A21A5F00C9}"/>
              </a:ext>
            </a:extLst>
          </p:cNvPr>
          <p:cNvSpPr/>
          <p:nvPr/>
        </p:nvSpPr>
        <p:spPr>
          <a:xfrm>
            <a:off x="358346" y="1144115"/>
            <a:ext cx="4525887" cy="67977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杏仁核和海马在情景判别任务上的频谱分析</a:t>
            </a: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816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B86A5-8CF9-CAE6-A4D9-6A10A8B5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5BDE35F0-C185-C570-F261-3078D862F1F9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ADA640-F155-1B26-2D91-47DF3EA6D88D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4F926-FD2A-3C32-03C2-B1E87E98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61" t="14331" r="5882" b="12657"/>
          <a:stretch>
            <a:fillRect/>
          </a:stretch>
        </p:blipFill>
        <p:spPr>
          <a:xfrm>
            <a:off x="6554683" y="2262439"/>
            <a:ext cx="4695208" cy="1275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35DB0-B791-1BC2-94B6-012E09397A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83" t="16680" r="4353" b="14418"/>
          <a:stretch>
            <a:fillRect/>
          </a:stretch>
        </p:blipFill>
        <p:spPr>
          <a:xfrm>
            <a:off x="7038108" y="1021145"/>
            <a:ext cx="3729840" cy="1241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7B4EF4-59B4-8AD8-0ACF-D744CE119F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72" t="13761" r="5514" b="11173"/>
          <a:stretch>
            <a:fillRect/>
          </a:stretch>
        </p:blipFill>
        <p:spPr>
          <a:xfrm>
            <a:off x="6609184" y="5198865"/>
            <a:ext cx="4586204" cy="1275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21B486-3AA0-8046-DE8A-07D3F2A40C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428" t="11466" r="3654" b="15211"/>
          <a:stretch>
            <a:fillRect/>
          </a:stretch>
        </p:blipFill>
        <p:spPr>
          <a:xfrm>
            <a:off x="7038108" y="3844252"/>
            <a:ext cx="3729840" cy="13262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DD6582-2CE8-19AF-E661-A0760AE55CE3}"/>
              </a:ext>
            </a:extLst>
          </p:cNvPr>
          <p:cNvSpPr txBox="1"/>
          <p:nvPr/>
        </p:nvSpPr>
        <p:spPr>
          <a:xfrm>
            <a:off x="7489123" y="3505698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固定观看任务</a:t>
            </a:r>
            <a:r>
              <a:rPr lang="zh-CN" altLang="en-US" sz="1600" dirty="0"/>
              <a:t>，</a:t>
            </a:r>
            <a:r>
              <a:rPr lang="en-US" altLang="zh-CN" sz="1600" dirty="0"/>
              <a:t>Amy</a:t>
            </a:r>
            <a:endParaRPr lang="en-C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DE442F-2491-6AB3-EB23-ECEA78AF0507}"/>
              </a:ext>
            </a:extLst>
          </p:cNvPr>
          <p:cNvSpPr txBox="1"/>
          <p:nvPr/>
        </p:nvSpPr>
        <p:spPr>
          <a:xfrm>
            <a:off x="7489123" y="6419425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固定观看任务</a:t>
            </a:r>
            <a:r>
              <a:rPr lang="zh-CN" altLang="en-US" sz="1600" dirty="0"/>
              <a:t>，</a:t>
            </a:r>
            <a:r>
              <a:rPr lang="en-US" altLang="zh-CN" sz="1600" dirty="0"/>
              <a:t>Hippo</a:t>
            </a:r>
            <a:endParaRPr lang="en-CN" sz="1600" dirty="0"/>
          </a:p>
        </p:txBody>
      </p:sp>
      <p:sp>
        <p:nvSpPr>
          <p:cNvPr id="21" name="矩形: 圆角 29">
            <a:extLst>
              <a:ext uri="{FF2B5EF4-FFF2-40B4-BE49-F238E27FC236}">
                <a16:creationId xmlns:a16="http://schemas.microsoft.com/office/drawing/2014/main" id="{9D819F54-15A5-BCAF-4544-992B87AED9AB}"/>
              </a:ext>
            </a:extLst>
          </p:cNvPr>
          <p:cNvSpPr/>
          <p:nvPr/>
        </p:nvSpPr>
        <p:spPr>
          <a:xfrm>
            <a:off x="358345" y="2338759"/>
            <a:ext cx="5251623" cy="3375125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2-100Hz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onset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0-1500ms</a:t>
            </a: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在杏仁核中观察到偏好调制效应：在刺激后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500-1000ms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发现相比不喜欢的视频，喜欢的视频诱发的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波均减弱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在海马中也观察到偏好调制效应：在刺激后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800-1200ms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发现相比不喜欢的视频，喜欢的视频诱发的低频波段均减弱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359">
            <a:extLst>
              <a:ext uri="{FF2B5EF4-FFF2-40B4-BE49-F238E27FC236}">
                <a16:creationId xmlns:a16="http://schemas.microsoft.com/office/drawing/2014/main" id="{134BE765-8237-F0A5-937E-15B69825E7A1}"/>
              </a:ext>
            </a:extLst>
          </p:cNvPr>
          <p:cNvSpPr/>
          <p:nvPr/>
        </p:nvSpPr>
        <p:spPr>
          <a:xfrm>
            <a:off x="358346" y="1144115"/>
            <a:ext cx="4525887" cy="67977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杏仁核和海马在固定观看任务上的频谱分析</a:t>
            </a: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64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0DB5-B9EC-7343-FBD0-A06F2480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70279D10-8F46-21AF-A115-9361A697CEE9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76BAEC-291D-42FD-6C45-9267843022CF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D6ED84-01C0-C796-76DB-031E699E1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328" y="1191490"/>
            <a:ext cx="5758325" cy="5161993"/>
          </a:xfrm>
          <a:prstGeom prst="rect">
            <a:avLst/>
          </a:prstGeom>
        </p:spPr>
      </p:pic>
      <p:sp>
        <p:nvSpPr>
          <p:cNvPr id="5" name="矩形: 圆角 29">
            <a:extLst>
              <a:ext uri="{FF2B5EF4-FFF2-40B4-BE49-F238E27FC236}">
                <a16:creationId xmlns:a16="http://schemas.microsoft.com/office/drawing/2014/main" id="{FD8E7DF2-1F1D-83C3-1A5B-A87827D43DD0}"/>
              </a:ext>
            </a:extLst>
          </p:cNvPr>
          <p:cNvSpPr/>
          <p:nvPr/>
        </p:nvSpPr>
        <p:spPr>
          <a:xfrm>
            <a:off x="358346" y="2259066"/>
            <a:ext cx="4670854" cy="1677933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无论是在海马和杏仁核，</a:t>
            </a:r>
            <a:r>
              <a:rPr lang="en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事件后增量均低于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全脑区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Wilcoxon p=0.128</a:t>
            </a:r>
          </a:p>
        </p:txBody>
      </p:sp>
      <p:sp>
        <p:nvSpPr>
          <p:cNvPr id="7" name="矩形: 圆角 359">
            <a:extLst>
              <a:ext uri="{FF2B5EF4-FFF2-40B4-BE49-F238E27FC236}">
                <a16:creationId xmlns:a16="http://schemas.microsoft.com/office/drawing/2014/main" id="{B13AFA32-9765-336B-43D1-E7E0BD039CC0}"/>
              </a:ext>
            </a:extLst>
          </p:cNvPr>
          <p:cNvSpPr/>
          <p:nvPr/>
        </p:nvSpPr>
        <p:spPr>
          <a:xfrm>
            <a:off x="358347" y="1185442"/>
            <a:ext cx="2372154" cy="69984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413815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0232-F781-977F-DB9F-D1033067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A075D2D9-009E-88AE-8D8E-75A71E62947F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5AA817-E5AA-055B-0B62-E824D3F56E71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76079-4B45-CEF2-B2E8-BE282F72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862" y="1191490"/>
            <a:ext cx="4402282" cy="1796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C12B5-5549-C934-9838-F8A4D7647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862" y="3003227"/>
            <a:ext cx="4402282" cy="1804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172C74-04A5-1390-D342-AD139E6666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37"/>
          <a:stretch>
            <a:fillRect/>
          </a:stretch>
        </p:blipFill>
        <p:spPr>
          <a:xfrm>
            <a:off x="7098861" y="4826378"/>
            <a:ext cx="4402281" cy="1796850"/>
          </a:xfrm>
          <a:prstGeom prst="rect">
            <a:avLst/>
          </a:prstGeom>
        </p:spPr>
      </p:pic>
      <p:sp>
        <p:nvSpPr>
          <p:cNvPr id="14" name="矩形: 圆角 29">
            <a:extLst>
              <a:ext uri="{FF2B5EF4-FFF2-40B4-BE49-F238E27FC236}">
                <a16:creationId xmlns:a16="http://schemas.microsoft.com/office/drawing/2014/main" id="{9E7026E3-9BC1-8CBB-5548-406B74EF7D2D}"/>
              </a:ext>
            </a:extLst>
          </p:cNvPr>
          <p:cNvSpPr/>
          <p:nvPr/>
        </p:nvSpPr>
        <p:spPr>
          <a:xfrm>
            <a:off x="358346" y="2289671"/>
            <a:ext cx="5432854" cy="3231385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和海马的脑区内和脑区间耦合程度均较低，表明两个脑区的神经活动在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like/dislike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条件下的同步性都不强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响应斜率更陡，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较缓；海马中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也有</a:t>
            </a: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正斜率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略微负斜率。可能提示两个脑区在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条件下都显示出响应升高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359">
            <a:extLst>
              <a:ext uri="{FF2B5EF4-FFF2-40B4-BE49-F238E27FC236}">
                <a16:creationId xmlns:a16="http://schemas.microsoft.com/office/drawing/2014/main" id="{36CEB7AC-E828-2D74-E245-8D67C32912A8}"/>
              </a:ext>
            </a:extLst>
          </p:cNvPr>
          <p:cNvSpPr/>
          <p:nvPr/>
        </p:nvSpPr>
        <p:spPr>
          <a:xfrm>
            <a:off x="358346" y="1191490"/>
            <a:ext cx="2372154" cy="69984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379601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C270-5B6C-ADD1-906F-31EA148A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A6ED796-6B3A-D1F8-E46A-48CFB743FC7C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研究三结果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224639-151D-9E6D-45DB-00E4807F6550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9">
            <a:extLst>
              <a:ext uri="{FF2B5EF4-FFF2-40B4-BE49-F238E27FC236}">
                <a16:creationId xmlns:a16="http://schemas.microsoft.com/office/drawing/2014/main" id="{5D9DAA13-56C1-46BE-0DDD-3A91263C8594}"/>
              </a:ext>
            </a:extLst>
          </p:cNvPr>
          <p:cNvSpPr/>
          <p:nvPr/>
        </p:nvSpPr>
        <p:spPr>
          <a:xfrm>
            <a:off x="358346" y="2370028"/>
            <a:ext cx="5280453" cy="1795572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验证结论一：低频功能连接强度高于高频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验证结论二：视频观看时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H→A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信息流强度高于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A→H</a:t>
            </a: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1BA10D53-16A2-4281-2612-38B66CB8DF09}"/>
              </a:ext>
            </a:extLst>
          </p:cNvPr>
          <p:cNvSpPr/>
          <p:nvPr/>
        </p:nvSpPr>
        <p:spPr>
          <a:xfrm>
            <a:off x="381683" y="1236672"/>
            <a:ext cx="4088717" cy="66428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Keles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数据集上的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connectivity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sGC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79FF9B-69E9-0A75-291A-E895465D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969" y="1236672"/>
            <a:ext cx="5706229" cy="2192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28BE9E-9EB0-1627-3C1D-9E0C94941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783" y="3723918"/>
            <a:ext cx="4292600" cy="28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0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AD00-E4A4-0108-83A6-1BE17667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043CC06-CA26-F76E-B35D-F2DB730EFAB9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研究三结果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FBD7B0-DFF4-CCDE-DF05-E63ADA1EC1E8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4DB9CA-3A88-E83D-C32B-931FE01E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17" y="1079840"/>
            <a:ext cx="5225035" cy="4686776"/>
          </a:xfrm>
          <a:prstGeom prst="rect">
            <a:avLst/>
          </a:prstGeom>
        </p:spPr>
      </p:pic>
      <p:sp>
        <p:nvSpPr>
          <p:cNvPr id="4" name="矩形: 圆角 359">
            <a:extLst>
              <a:ext uri="{FF2B5EF4-FFF2-40B4-BE49-F238E27FC236}">
                <a16:creationId xmlns:a16="http://schemas.microsoft.com/office/drawing/2014/main" id="{DB259877-B7C2-D623-AE05-0DE3F63314A3}"/>
              </a:ext>
            </a:extLst>
          </p:cNvPr>
          <p:cNvSpPr/>
          <p:nvPr/>
        </p:nvSpPr>
        <p:spPr>
          <a:xfrm>
            <a:off x="358346" y="1107059"/>
            <a:ext cx="3110817" cy="66428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Keles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数据集上的</a:t>
            </a:r>
            <a:r>
              <a:rPr lang="en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29">
            <a:extLst>
              <a:ext uri="{FF2B5EF4-FFF2-40B4-BE49-F238E27FC236}">
                <a16:creationId xmlns:a16="http://schemas.microsoft.com/office/drawing/2014/main" id="{55D58AF1-585E-4F8A-2905-81342AA6DC5A}"/>
              </a:ext>
            </a:extLst>
          </p:cNvPr>
          <p:cNvSpPr/>
          <p:nvPr/>
        </p:nvSpPr>
        <p:spPr>
          <a:xfrm>
            <a:off x="358346" y="2066739"/>
            <a:ext cx="5280453" cy="3684201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在中立场景切割事件锁定条件下，杏仁核与海马均显示显著事件相关放电率调制，但耦合强度整体较弱，脑区内耦合强于跨脑区耦合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海马大部分试次中领先杏仁核，提示海马可能先处理情景信息，后传递至杏仁核。（存在部分试次杏仁核中位领先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被试间单元分布异质性较大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174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8230-0050-3357-85C7-5DC231FF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1797092D-D441-A0C4-79CF-4B9D87BD5B87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研究三结果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39201E-2626-7363-D272-892A2BEDF4C4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9">
            <a:extLst>
              <a:ext uri="{FF2B5EF4-FFF2-40B4-BE49-F238E27FC236}">
                <a16:creationId xmlns:a16="http://schemas.microsoft.com/office/drawing/2014/main" id="{E622ABDE-B7DC-ADD9-2524-F4737AF552C6}"/>
              </a:ext>
            </a:extLst>
          </p:cNvPr>
          <p:cNvSpPr/>
          <p:nvPr/>
        </p:nvSpPr>
        <p:spPr>
          <a:xfrm>
            <a:off x="358346" y="2260636"/>
            <a:ext cx="5737654" cy="2057364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时间曲线发现两组神经元：一组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(n=899)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事件发生后放电率显著下降（抑制型）；另一组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(n=503)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放电率显著上升（激活型）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空间分布上无殊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F3393899-5470-7F51-99D3-1C2B84C7E920}"/>
              </a:ext>
            </a:extLst>
          </p:cNvPr>
          <p:cNvSpPr/>
          <p:nvPr/>
        </p:nvSpPr>
        <p:spPr>
          <a:xfrm>
            <a:off x="358347" y="1229648"/>
            <a:ext cx="1368854" cy="68968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探索性分析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1249B-D7D0-BCA0-84CC-5ED57658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39" y="1919332"/>
            <a:ext cx="5229514" cy="26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6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FD2C-3C8D-C6D2-9602-FDFD38BD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1A9FC710-DD38-8D1E-9A01-EC1251A7DF91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结论与讨论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88A290-B934-2EDD-51FA-A4F59A8E947E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9">
            <a:extLst>
              <a:ext uri="{FF2B5EF4-FFF2-40B4-BE49-F238E27FC236}">
                <a16:creationId xmlns:a16="http://schemas.microsoft.com/office/drawing/2014/main" id="{EF9E54CB-9501-73A7-C5E8-5DFAFD1EBAA9}"/>
              </a:ext>
            </a:extLst>
          </p:cNvPr>
          <p:cNvSpPr/>
          <p:nvPr/>
        </p:nvSpPr>
        <p:spPr>
          <a:xfrm>
            <a:off x="358346" y="4097282"/>
            <a:ext cx="5737654" cy="1143908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短视频观看过程中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top-down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驱动占主导地位（是否是因为被试不够沉浸）？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F9F07E23-90D5-66FD-4F9F-9F5FDFA44588}"/>
              </a:ext>
            </a:extLst>
          </p:cNvPr>
          <p:cNvSpPr/>
          <p:nvPr/>
        </p:nvSpPr>
        <p:spPr>
          <a:xfrm>
            <a:off x="358346" y="1494716"/>
            <a:ext cx="6245653" cy="192851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短视频情绪加工在频谱层面上与经典机制部分重合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刺激诱发更快速、更陡峭的杏仁核放电响应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揭示“海马领先、杏仁核跟随”的情境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情绪加工序列</a:t>
            </a:r>
          </a:p>
        </p:txBody>
      </p:sp>
    </p:spTree>
    <p:extLst>
      <p:ext uri="{BB962C8B-B14F-4D97-AF65-F5344CB8AC3E}">
        <p14:creationId xmlns:p14="http://schemas.microsoft.com/office/powerpoint/2010/main" val="339763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7186-5418-179A-6035-21836889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EEDA46E-021F-4709-E9D6-A76143B78B41}"/>
              </a:ext>
            </a:extLst>
          </p:cNvPr>
          <p:cNvSpPr txBox="1"/>
          <p:nvPr/>
        </p:nvSpPr>
        <p:spPr>
          <a:xfrm>
            <a:off x="1219949" y="319219"/>
            <a:ext cx="61157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Availability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93DD5E-26EC-19C2-89D4-6BD2E79331EE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7F132-D5FC-EFC1-2591-1BA3F2222903}"/>
              </a:ext>
            </a:extLst>
          </p:cNvPr>
          <p:cNvSpPr txBox="1"/>
          <p:nvPr/>
        </p:nvSpPr>
        <p:spPr>
          <a:xfrm>
            <a:off x="0" y="849762"/>
            <a:ext cx="6096000" cy="5443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QUEST MOBILE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QuestMobile2024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年全景生态流量半年报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</a:t>
            </a:r>
            <a:r>
              <a:rPr lang="en-US" sz="1800" u="none" strike="noStrike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  <a:hlinkClick r:id="rId3"/>
              </a:rPr>
              <a:t>https://www.questmobile.com.cn/research/report/1815588709535420417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中国互联网络信息中心（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54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次中国互联网络发展状况统计报告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https://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www.cnnic.net.cn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/n4/2024/0829/c88-11065.html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中国网络视听节目服务协会（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《中国网络视听发展研究报告（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）》在蓉发布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</a:t>
            </a:r>
            <a:r>
              <a:rPr lang="en-US" sz="1800" u="none" strike="noStrike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  <a:hlinkClick r:id="rId4"/>
              </a:rPr>
              <a:t>http://www.cnsa.cn/art/2024/3/28/art_1977_43660.html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Chen, S. et al. (2021). Theta oscillations synchronize human medial prefrontal cortex and amygdala during fear learning. Sci. Adv. 7, eabf4198.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31962-7647-6934-254D-31815B14D0EF}"/>
              </a:ext>
            </a:extLst>
          </p:cNvPr>
          <p:cNvSpPr txBox="1"/>
          <p:nvPr/>
        </p:nvSpPr>
        <p:spPr>
          <a:xfrm>
            <a:off x="6096001" y="509719"/>
            <a:ext cx="6096000" cy="5767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Etkin, A., Egner, T., &amp; Kalisch, R. (2011). Emotional processing in anterior cingulate and medial prefrontal cortex. Trends in Cognitive Sciences, 15(2), 85–93.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Guex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R. et al. (2023). Frequency-specific gaze modulation of emotional face processing in the human amygdala, Cerebral Cortex, Volume 33, Issue 8, 4859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4869.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Hasan, M. R., Jha, A. K., &amp; Liu, Y. (2018). Excessive use of online video streaming services: Impact of recommender system use, psychological factors, and motives. Computers in Human Behavior, 80, 220-228.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Hyman, S. E., Malenka, R. C., &amp; Nestler, E. J. (2006). Neural mechanisms of addiction: the role of reward-related learning and memory. Annu. Rev.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Neurosci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., 29(1), 565-598.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531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BF41-0E1F-245D-FB80-FFA7E2FF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86E24DE4-327F-5246-AF5A-53FF548EF4A1}"/>
              </a:ext>
            </a:extLst>
          </p:cNvPr>
          <p:cNvSpPr txBox="1"/>
          <p:nvPr/>
        </p:nvSpPr>
        <p:spPr>
          <a:xfrm>
            <a:off x="1219949" y="319219"/>
            <a:ext cx="61157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Availability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2B5B37-A4F5-31E3-66E9-6C8B74264DC5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822904-52D0-B940-DA2A-1B116FF578DD}"/>
              </a:ext>
            </a:extLst>
          </p:cNvPr>
          <p:cNvSpPr txBox="1"/>
          <p:nvPr/>
        </p:nvSpPr>
        <p:spPr>
          <a:xfrm>
            <a:off x="0" y="914754"/>
            <a:ext cx="6096000" cy="502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Lang PJ, Bradley MM, Cuthbert BN. International affective picture system (IAPS): Technical manual and affective ratings. NIMH Center for the Study of Emotion and Attention; 1997.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Manssuer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L., Ding, Q., Liu, W. et al. (2022). Integrated Amygdala, Orbitofrontal and Hippocampal Contributions to Reward and Loss Coding Revealed with Human Intracranial EEG. Journal of Neuroscience, 42 (13) 2756-2771.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Ochsner, K. N., &amp; Gross, J. J. (2005). The cognitive control of emotion. Trends in Cognitive Sciences, 9(5), 242–249.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Pessoa, L. (2017). A network model of the emotional brain. Trends in Cognitive Sciences, 21(5), 357–371.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5A66F-422B-CEE5-7613-4946DE0EE897}"/>
              </a:ext>
            </a:extLst>
          </p:cNvPr>
          <p:cNvSpPr txBox="1"/>
          <p:nvPr/>
        </p:nvSpPr>
        <p:spPr>
          <a:xfrm>
            <a:off x="6096000" y="811662"/>
            <a:ext cx="5918200" cy="5443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Sonkusare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S., Nguyen, V. T., Moran, R. et al. (2020). Intracranial-EEG evidence for medial temporal pole driving amygdala activity induced by multi-modal emotional stimuli. Cortex 130, 32</a:t>
            </a:r>
            <a:r>
              <a:rPr lang="en-US" altLang="zh-CN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–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48.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Sonkusare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S., Qiong, D., Zhao, Y. et al. (2023). Frequency dependent emotion differentiation and directional coupling in amygdala, orbitofrontal and medial prefrontal cortex network with intracranial recordings. Mol Psychiatry 28, 1636</a:t>
            </a:r>
            <a:r>
              <a:rPr lang="en-US" altLang="zh-CN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–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1646.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Su, C., Zhou, H., Gong, L., Teng, B., Geng, F., &amp; Hu, Y. (2021). Viewing personalized video clips recommended by TikTok activates default mode network and ventral tegmental area. </a:t>
            </a: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NeuroImage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237, 118136.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88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53DB-99C3-2E04-58B4-ABD97806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C9A3CFE5-EC37-FA75-8A69-B3D879414ADA}"/>
              </a:ext>
            </a:extLst>
          </p:cNvPr>
          <p:cNvSpPr txBox="1"/>
          <p:nvPr/>
        </p:nvSpPr>
        <p:spPr>
          <a:xfrm>
            <a:off x="1219949" y="319219"/>
            <a:ext cx="61157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Availability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A1FB85-98FF-6E76-277E-380E567879B7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EDE26E41-85C9-50F9-C782-0B9C228841F5}"/>
              </a:ext>
            </a:extLst>
          </p:cNvPr>
          <p:cNvSpPr/>
          <p:nvPr/>
        </p:nvSpPr>
        <p:spPr>
          <a:xfrm>
            <a:off x="537519" y="4142926"/>
            <a:ext cx="5737654" cy="1219041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Repository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</a:p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</a:t>
            </a:r>
            <a:r>
              <a:rPr lang="en-US" altLang="zh-CN" b="1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github.com</a:t>
            </a:r>
            <a:r>
              <a:rPr lang="en-US" altLang="zh-CN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itsxjs</a:t>
            </a:r>
            <a:r>
              <a:rPr lang="en-US" altLang="zh-CN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seeg</a:t>
            </a:r>
            <a:endParaRPr lang="zh-CN" altLang="en-US" b="1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B13A64-08B6-70AE-AB1D-8B77F820DC2C}"/>
              </a:ext>
            </a:extLst>
          </p:cNvPr>
          <p:cNvSpPr txBox="1"/>
          <p:nvPr/>
        </p:nvSpPr>
        <p:spPr>
          <a:xfrm>
            <a:off x="358346" y="1270354"/>
            <a:ext cx="6096000" cy="253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Zhang, X., Wu, Y., &amp; Liu, S. (2019). Exploring short-form video application addiction: Socio-technical and attachment perspectives. Telematics and Informatics, 42, 101243.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Zheng, J., Anderson, K., Leal, S. et al. (2017). Amygdala-hippocampal dynamics during salient information processing. Nat Commun 8, 14413.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985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961008" y="2391912"/>
            <a:ext cx="5134992" cy="7199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zh-CN" altLang="en-US" dirty="0"/>
          </a:p>
        </p:txBody>
      </p:sp>
      <p:sp>
        <p:nvSpPr>
          <p:cNvPr id="6" name="任意多边形 25"/>
          <p:cNvSpPr/>
          <p:nvPr/>
        </p:nvSpPr>
        <p:spPr>
          <a:xfrm rot="10800000">
            <a:off x="2496042" y="1305082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32784" y="3877729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 谢</a:t>
            </a:r>
          </a:p>
        </p:txBody>
      </p:sp>
      <p:sp>
        <p:nvSpPr>
          <p:cNvPr id="4" name="任意多边形 25"/>
          <p:cNvSpPr/>
          <p:nvPr/>
        </p:nvSpPr>
        <p:spPr>
          <a:xfrm rot="10800000">
            <a:off x="3262047" y="1130497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1176" r="1176"/>
          <a:stretch>
            <a:fillRect/>
          </a:stretch>
        </p:blipFill>
        <p:spPr>
          <a:xfrm>
            <a:off x="487200" y="238200"/>
            <a:ext cx="7094700" cy="66218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l="12674" r="41628"/>
          <a:stretch>
            <a:fillRect/>
          </a:stretch>
        </p:blipFill>
        <p:spPr>
          <a:xfrm>
            <a:off x="8243008" y="1302584"/>
            <a:ext cx="3036637" cy="425283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EwMGMxN2NmYjcwNzYwMmZiNmFlMWY3YzFmNWQzY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heme/theme1.xml><?xml version="1.0" encoding="utf-8"?>
<a:theme xmlns:a="http://schemas.openxmlformats.org/drawingml/2006/main" name="Office Theme">
  <a:themeElements>
    <a:clrScheme name="浙大蓝色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003E8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11611</TotalTime>
  <Words>2037</Words>
  <Application>Microsoft Macintosh PowerPoint</Application>
  <PresentationFormat>Widescreen</PresentationFormat>
  <Paragraphs>237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等线</vt:lpstr>
      <vt:lpstr>微软雅黑</vt:lpstr>
      <vt:lpstr>Microsoft YaHei UI</vt:lpstr>
      <vt:lpstr>微软雅黑 Light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博士学长的百宝箱</dc:creator>
  <cp:lastModifiedBy>TA17200</cp:lastModifiedBy>
  <cp:revision>953</cp:revision>
  <cp:lastPrinted>2023-12-14T09:48:00Z</cp:lastPrinted>
  <dcterms:created xsi:type="dcterms:W3CDTF">2019-10-11T01:48:00Z</dcterms:created>
  <dcterms:modified xsi:type="dcterms:W3CDTF">2026-04-25T11:47:08Z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F79EE4121D954E6CAB4BC5AA0085E3C4_12</vt:lpwstr>
  </property>
  <property fmtid="{D5CDD505-2E9C-101B-9397-08002B2CF9AE}" pid="3" name="KSOProductBuildVer">
    <vt:lpwstr>2052-12.1.0.18276</vt:lpwstr>
  </property>
</Properties>
</file>