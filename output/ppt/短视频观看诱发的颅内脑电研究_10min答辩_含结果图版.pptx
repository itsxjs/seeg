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0f2250e302748b6" /><Relationship Type="http://schemas.openxmlformats.org/officeDocument/2006/relationships/extended-properties" Target="/docProps/app.xml" Id="R6af4bfa14d2541ed" /><Relationship Type="http://schemas.openxmlformats.org/officeDocument/2006/relationships/officeDocument" Target="/ppt/presentation.xml" Id="R7c717e3916e04b4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d60f9c6b69849c2"/>
  </p:sldMasterIdLst>
  <p:notesMasterIdLst>
    <p:notesMasterId xmlns:r="http://schemas.openxmlformats.org/officeDocument/2006/relationships" r:id="R4e1bf262e9194dd6"/>
  </p:notesMasterIdLst>
  <p:sldIdLst>
    <p:sldId xmlns:r="http://schemas.openxmlformats.org/officeDocument/2006/relationships" id="256" r:id="Rcedbbc08dd794ab2"/>
    <p:sldId xmlns:r="http://schemas.openxmlformats.org/officeDocument/2006/relationships" id="257" r:id="Re579b4cb941346c6"/>
    <p:sldId xmlns:r="http://schemas.openxmlformats.org/officeDocument/2006/relationships" id="258" r:id="R10230b3d296b4ca8"/>
    <p:sldId xmlns:r="http://schemas.openxmlformats.org/officeDocument/2006/relationships" id="259" r:id="Rdb885ac24c334600"/>
    <p:sldId xmlns:r="http://schemas.openxmlformats.org/officeDocument/2006/relationships" id="260" r:id="R455977779fa84dbd"/>
    <p:sldId xmlns:r="http://schemas.openxmlformats.org/officeDocument/2006/relationships" id="261" r:id="R43e092c799d14a91"/>
    <p:sldId xmlns:r="http://schemas.openxmlformats.org/officeDocument/2006/relationships" id="262" r:id="Rf0862a5960b0437a"/>
    <p:sldId xmlns:r="http://schemas.openxmlformats.org/officeDocument/2006/relationships" id="263" r:id="R7c8c226638e9434f"/>
    <p:sldId xmlns:r="http://schemas.openxmlformats.org/officeDocument/2006/relationships" id="264" r:id="Rc60eae54d9924544"/>
    <p:sldId xmlns:r="http://schemas.openxmlformats.org/officeDocument/2006/relationships" id="265" r:id="R098e47667bab4fcd"/>
    <p:sldId xmlns:r="http://schemas.openxmlformats.org/officeDocument/2006/relationships" id="266" r:id="Rdeb89d770153428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60f9c6b69849c2" /><Relationship Type="http://schemas.openxmlformats.org/officeDocument/2006/relationships/theme" Target="/ppt/theme/theme1.xml" Id="R893fc0dca57c4ece" /><Relationship Type="http://schemas.openxmlformats.org/officeDocument/2006/relationships/notesMaster" Target="/ppt/notesMasters/notesMaster1.xml" Id="R4e1bf262e9194dd6" /><Relationship Type="http://schemas.openxmlformats.org/officeDocument/2006/relationships/presProps" Target="/ppt/presProps.xml" Id="R04f5393d366043e2" /><Relationship Type="http://schemas.openxmlformats.org/officeDocument/2006/relationships/viewProps" Target="/ppt/viewProps.xml" Id="R83f206348dae48fe" /><Relationship Type="http://schemas.openxmlformats.org/officeDocument/2006/relationships/tableStyles" Target="/ppt/tableStyles.xml" Id="R759f05ed1156422b" /><Relationship Type="http://schemas.openxmlformats.org/officeDocument/2006/relationships/slide" Target="/ppt/slides/slide1.xml" Id="Rcedbbc08dd794ab2" /><Relationship Type="http://schemas.openxmlformats.org/officeDocument/2006/relationships/slide" Target="/ppt/slides/slide2.xml" Id="Re579b4cb941346c6" /><Relationship Type="http://schemas.openxmlformats.org/officeDocument/2006/relationships/slide" Target="/ppt/slides/slide3.xml" Id="R10230b3d296b4ca8" /><Relationship Type="http://schemas.openxmlformats.org/officeDocument/2006/relationships/slide" Target="/ppt/slides/slide4.xml" Id="Rdb885ac24c334600" /><Relationship Type="http://schemas.openxmlformats.org/officeDocument/2006/relationships/slide" Target="/ppt/slides/slide5.xml" Id="R455977779fa84dbd" /><Relationship Type="http://schemas.openxmlformats.org/officeDocument/2006/relationships/slide" Target="/ppt/slides/slide6.xml" Id="R43e092c799d14a91" /><Relationship Type="http://schemas.openxmlformats.org/officeDocument/2006/relationships/slide" Target="/ppt/slides/slide7.xml" Id="Rf0862a5960b0437a" /><Relationship Type="http://schemas.openxmlformats.org/officeDocument/2006/relationships/slide" Target="/ppt/slides/slide8.xml" Id="R7c8c226638e9434f" /><Relationship Type="http://schemas.openxmlformats.org/officeDocument/2006/relationships/slide" Target="/ppt/slides/slide9.xml" Id="Rc60eae54d9924544" /><Relationship Type="http://schemas.openxmlformats.org/officeDocument/2006/relationships/slide" Target="/ppt/slides/slide10.xml" Id="R098e47667bab4fcd" /><Relationship Type="http://schemas.openxmlformats.org/officeDocument/2006/relationships/slide" Target="/ppt/slides/slide11.xml" Id="Rdeb89d77015342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e8c61c75e40463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ac51c5f37e49ed" /><Relationship Type="http://schemas.openxmlformats.org/officeDocument/2006/relationships/notesMaster" Target="/ppt/notesMasters/notesMaster1.xml" Id="Rba6f55d6164a4d8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6d2d458dc344d9b" /><Relationship Type="http://schemas.openxmlformats.org/officeDocument/2006/relationships/notesMaster" Target="/ppt/notesMasters/notesMaster1.xml" Id="Rae80ac1c63cd47e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90e52d00da545d4" /><Relationship Type="http://schemas.openxmlformats.org/officeDocument/2006/relationships/notesMaster" Target="/ppt/notesMasters/notesMaster1.xml" Id="R38af4f5dded8465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70002d93e2c46f3" /><Relationship Type="http://schemas.openxmlformats.org/officeDocument/2006/relationships/notesMaster" Target="/ppt/notesMasters/notesMaster1.xml" Id="R7f0a07925d3d4a1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dab30af5836481f" /><Relationship Type="http://schemas.openxmlformats.org/officeDocument/2006/relationships/notesMaster" Target="/ppt/notesMasters/notesMaster1.xml" Id="R8d63a9e5aaa14fc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63b0d14e02f4b04" /><Relationship Type="http://schemas.openxmlformats.org/officeDocument/2006/relationships/notesMaster" Target="/ppt/notesMasters/notesMaster1.xml" Id="Rb9cee15bd3884dd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28b4683c6d341d6" /><Relationship Type="http://schemas.openxmlformats.org/officeDocument/2006/relationships/notesMaster" Target="/ppt/notesMasters/notesMaster1.xml" Id="Rcaabe27d77e74e9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73e0d72f309468d" /><Relationship Type="http://schemas.openxmlformats.org/officeDocument/2006/relationships/notesMaster" Target="/ppt/notesMasters/notesMaster1.xml" Id="R3a3e6e53b6ec463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ca8b31205034174" /><Relationship Type="http://schemas.openxmlformats.org/officeDocument/2006/relationships/notesMaster" Target="/ppt/notesMasters/notesMaster1.xml" Id="R7b99ae9ba03c496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5aed3516e1841b8" /><Relationship Type="http://schemas.openxmlformats.org/officeDocument/2006/relationships/notesMaster" Target="/ppt/notesMasters/notesMaster1.xml" Id="R74d9693e5b8e4fb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cdafd79140d423e" /><Relationship Type="http://schemas.openxmlformats.org/officeDocument/2006/relationships/notesMaster" Target="/ppt/notesMasters/notesMaster1.xml" Id="R12654624891b402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edf85416be4da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a50ddc115e6411c" /><Relationship Type="http://schemas.openxmlformats.org/officeDocument/2006/relationships/slideLayout" Target="/ppt/slideLayouts/slideLayout2.xml" Id="Rb85b09054b0c4d5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85b09054b0c4d5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52d9ed25cc9442a" /><Relationship Type="http://schemas.openxmlformats.org/officeDocument/2006/relationships/image" Target="/ppt/media/image.png" Id="Rbf9330754a374717" /><Relationship Type="http://schemas.openxmlformats.org/officeDocument/2006/relationships/notesSlide" Target="/ppt/notesSlides/notesSlide1.xml" Id="Re4d619babb1b435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7a7e2b892f14aec" /><Relationship Type="http://schemas.openxmlformats.org/officeDocument/2006/relationships/image" Target="/ppt/media/image2.png" Id="R87173f392e4d4945" /><Relationship Type="http://schemas.openxmlformats.org/officeDocument/2006/relationships/notesSlide" Target="/ppt/notesSlides/notesSlide2.xml" Id="R04af2af37a93433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f11317939a94577" /><Relationship Type="http://schemas.openxmlformats.org/officeDocument/2006/relationships/image" Target="/ppt/media/image3.png" Id="Rf6fc85bd9fbc44c7" /><Relationship Type="http://schemas.openxmlformats.org/officeDocument/2006/relationships/notesSlide" Target="/ppt/notesSlides/notesSlide3.xml" Id="Re8c0e9257f55493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93888ad69e34c20" /><Relationship Type="http://schemas.openxmlformats.org/officeDocument/2006/relationships/image" Target="/ppt/media/image4.png" Id="R1515efb021694503" /><Relationship Type="http://schemas.openxmlformats.org/officeDocument/2006/relationships/image" Target="/ppt/media/image5.png" Id="R1ac18e00acf54e4d" /><Relationship Type="http://schemas.openxmlformats.org/officeDocument/2006/relationships/notesSlide" Target="/ppt/notesSlides/notesSlide4.xml" Id="R9a076bf6e8e14da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da5d357096d4152" /><Relationship Type="http://schemas.openxmlformats.org/officeDocument/2006/relationships/image" Target="/ppt/media/image6.png" Id="Rd09e3efcc71e4023" /><Relationship Type="http://schemas.openxmlformats.org/officeDocument/2006/relationships/image" Target="/ppt/media/image7.png" Id="Re833e5596ba747d3" /><Relationship Type="http://schemas.openxmlformats.org/officeDocument/2006/relationships/image" Target="/ppt/media/image8.png" Id="Rdf6964b7ff744687" /><Relationship Type="http://schemas.openxmlformats.org/officeDocument/2006/relationships/notesSlide" Target="/ppt/notesSlides/notesSlide5.xml" Id="R105b6c2eff064c2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9ef6eac10a744f2" /><Relationship Type="http://schemas.openxmlformats.org/officeDocument/2006/relationships/image" Target="/ppt/media/image9.png" Id="Rb7d8b3af82fd4bbd" /><Relationship Type="http://schemas.openxmlformats.org/officeDocument/2006/relationships/image" Target="/ppt/media/image10.png" Id="R646d79f15fac4b74" /><Relationship Type="http://schemas.openxmlformats.org/officeDocument/2006/relationships/notesSlide" Target="/ppt/notesSlides/notesSlide6.xml" Id="R9974aa18d36046a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f7a1296ea334c4c" /><Relationship Type="http://schemas.openxmlformats.org/officeDocument/2006/relationships/image" Target="/ppt/media/image11.png" Id="R4dd4a87c47cc4103" /><Relationship Type="http://schemas.openxmlformats.org/officeDocument/2006/relationships/image" Target="/ppt/media/image12.png" Id="Rbe01bff593744b27" /><Relationship Type="http://schemas.openxmlformats.org/officeDocument/2006/relationships/image" Target="/ppt/media/image13.png" Id="R40f10880c77e4331" /><Relationship Type="http://schemas.openxmlformats.org/officeDocument/2006/relationships/notesSlide" Target="/ppt/notesSlides/notesSlide7.xml" Id="Rd91965da39ae448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5dd2b2eba0047d0" /><Relationship Type="http://schemas.openxmlformats.org/officeDocument/2006/relationships/image" Target="/ppt/media/image14.png" Id="Ra770f282575346af" /><Relationship Type="http://schemas.openxmlformats.org/officeDocument/2006/relationships/image" Target="/ppt/media/image15.png" Id="R063d0de83acb49ac" /><Relationship Type="http://schemas.openxmlformats.org/officeDocument/2006/relationships/image" Target="/ppt/media/image16.png" Id="R8c15057bf8d64884" /><Relationship Type="http://schemas.openxmlformats.org/officeDocument/2006/relationships/notesSlide" Target="/ppt/notesSlides/notesSlide8.xml" Id="R2b2e9c8d2db84b7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ae5b7d33504fee" /><Relationship Type="http://schemas.openxmlformats.org/officeDocument/2006/relationships/image" Target="/ppt/media/image17.png" Id="Rc753d274e67d498e" /><Relationship Type="http://schemas.openxmlformats.org/officeDocument/2006/relationships/notesSlide" Target="/ppt/notesSlides/notesSlide9.xml" Id="R7c4a17a063fb483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074d525ae3c42da" /><Relationship Type="http://schemas.openxmlformats.org/officeDocument/2006/relationships/image" Target="/ppt/media/image18.png" Id="Ra04e7c33aaa7461d" /><Relationship Type="http://schemas.openxmlformats.org/officeDocument/2006/relationships/notesSlide" Target="/ppt/notesSlides/notesSlide10.xml" Id="R17280b4b924a414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a653e3b48c340b0" /><Relationship Type="http://schemas.openxmlformats.org/officeDocument/2006/relationships/image" Target="/ppt/media/image19.png" Id="Rc21f3f0daa074d91" /><Relationship Type="http://schemas.openxmlformats.org/officeDocument/2006/relationships/notesSlide" Target="/ppt/notesSlides/notesSlide11.xml" Id="Rc4abc440d4d34da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15B94B-ED6C-4E79-9F2F-D7FD0AEF8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7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609C3D-CB87-4BFE-9763-0A95A6F81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9330754a374717"/>
          <a:stretch xmlns:a="http://schemas.openxmlformats.org/drawingml/2006/main"/>
        </p:blipFill>
        <p:spPr>
          <a:xfrm xmlns:a="http://schemas.openxmlformats.org/drawingml/2006/main">
            <a:off x="10318657" y="361950"/>
            <a:ext cx="746312" cy="5143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35CC77-1551-42F4-9696-28F054AF0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BDADC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BBDADC"/>
                </a:solidFill>
                <a:latin typeface="PingFang SC"/>
                <a:ea typeface="PingFang SC"/>
                <a:cs typeface="PingFang SC"/>
              </a:rPr>
              <a:t>本科毕业论文答辩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82ED59-FB74-482E-B443-5B248AA9C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7239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短视频观看诱发的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颅内脑电研究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56FB17-DC7B-4677-8EF3-9F09EDF42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28950"/>
            <a:ext cx="581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DE9E8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DDE9E8"/>
                </a:solidFill>
                <a:latin typeface="PingFang SC"/>
                <a:ea typeface="PingFang SC"/>
                <a:cs typeface="PingFang SC"/>
              </a:rPr>
              <a:t>情绪效价 · 主观偏好 · 刺激凸显性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294388-30F3-43F6-B544-F28FD56D2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6762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83D"/>
          </a:solidFill>
          <a:ln xmlns:a="http://schemas.openxmlformats.org/drawingml/2006/main" w="11430">
            <a:solidFill>
              <a:srgbClr val="44656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7A1DF5-9627-48DA-9E12-201DFC335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67200"/>
            <a:ext cx="619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基于 sEEG/LFP、单神经元放电与杏仁核-海马连接性的三项研究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8C27C8-1986-47EF-8DA4-CB314B0B4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7D8D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C7D8D8"/>
                </a:solidFill>
                <a:latin typeface="PingFang SC"/>
                <a:ea typeface="PingFang SC"/>
                <a:cs typeface="PingFang SC"/>
              </a:rPr>
              <a:t>徐嘉晟｜浙江大学｜2026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DC8573-0E49-4F99-97F0-242E92AE6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F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E6F72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3708663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748C92-EDF5-4EF7-970F-E78B8E74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F7E637-9857-49F1-AEAE-00B7BE761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C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E396B3-1EB4-4FA1-AF28-0DA19E4A1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6C7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26C75"/>
                </a:solidFill>
                <a:latin typeface="PingFang SC"/>
                <a:ea typeface="PingFang SC"/>
                <a:cs typeface="PingFang SC"/>
              </a:rPr>
              <a:t>研究框架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EBC583-331D-48E7-8ADB-1DB00D463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990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272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1272B"/>
                </a:solidFill>
                <a:latin typeface="PingFang SC"/>
                <a:ea typeface="PingFang SC"/>
                <a:cs typeface="PingFang SC"/>
              </a:rPr>
              <a:t>用三类自然观看信息拆解短视频诱发的杏仁核-海马动态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1577BD-652F-4C4E-A714-9E8A32EE7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173f392e4d4945"/>
          <a:stretch xmlns:a="http://schemas.openxmlformats.org/drawingml/2006/main"/>
        </p:blipFill>
        <p:spPr>
          <a:xfrm xmlns:a="http://schemas.openxmlformats.org/drawingml/2006/main">
            <a:off x="10890250" y="266700"/>
            <a:ext cx="469900" cy="3238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BE3DCE-95A5-4947-9D0A-D2708D6E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32004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65B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51D5F1-9B3C-4BE4-830A-13E48779C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838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65B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F461AF-79ED-479F-92E9-FA7C38537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6690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B65B3D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B65B3D"/>
                </a:solidFill>
                <a:latin typeface="PingFang SC"/>
                <a:ea typeface="PingFang SC"/>
                <a:cs typeface="PingFang SC"/>
              </a:rPr>
              <a:t>研究一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3F0706-DF95-4C15-87FF-C8D8100DB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266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B65B3D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B65B3D"/>
                </a:solidFill>
                <a:latin typeface="PingFang SC"/>
                <a:ea typeface="PingFang SC"/>
                <a:cs typeface="PingFang SC"/>
              </a:rPr>
              <a:t>情绪效价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D25A6F-09CB-4EAA-BB58-84DCAAB3E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90825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272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272B"/>
                </a:solidFill>
                <a:latin typeface="PingFang SC"/>
                <a:ea typeface="PingFang SC"/>
                <a:cs typeface="PingFang SC"/>
              </a:rPr>
              <a:t>标准化图片刺激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17793B-7DD9-449E-9A88-D14218A7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81375"/>
            <a:ext cx="26289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272B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272B"/>
                </a:solidFill>
                <a:latin typeface="PingFang SC"/>
                <a:ea typeface="PingFang SC"/>
                <a:cs typeface="PingFang SC"/>
              </a:rPr>
              <a:t>正性/负性情绪是否在内侧颞叶产生可分辨的时间-频率响应？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78693D-6E68-4E9C-9DBD-7CB670A9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14875"/>
            <a:ext cx="2743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ADEB9C-0548-47B1-A7F5-2E7AEFED9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571625"/>
            <a:ext cx="32004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26C7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D166B0-336E-48EF-811E-570E3C24B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809750"/>
            <a:ext cx="838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26C7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55E089-7619-48C7-8F60-CB7BB2957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6690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26C75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126C75"/>
                </a:solidFill>
                <a:latin typeface="PingFang SC"/>
                <a:ea typeface="PingFang SC"/>
                <a:cs typeface="PingFang SC"/>
              </a:rPr>
              <a:t>研究二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751261-D8F3-4B5E-8AB6-FBB9ED164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05050"/>
            <a:ext cx="266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6C75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26C75"/>
                </a:solidFill>
                <a:latin typeface="PingFang SC"/>
                <a:ea typeface="PingFang SC"/>
                <a:cs typeface="PingFang SC"/>
              </a:rPr>
              <a:t>主观偏好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FC812D-D070-4784-B78C-248673365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90825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272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272B"/>
                </a:solidFill>
                <a:latin typeface="PingFang SC"/>
                <a:ea typeface="PingFang SC"/>
                <a:cs typeface="PingFang SC"/>
              </a:rPr>
              <a:t>真实短视频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31C468-312D-4158-A609-F4FFCCD9F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381375"/>
            <a:ext cx="26289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272B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272B"/>
                </a:solidFill>
                <a:latin typeface="PingFang SC"/>
                <a:ea typeface="PingFang SC"/>
                <a:cs typeface="PingFang SC"/>
              </a:rPr>
              <a:t>个体喜欢/不喜欢是否调制 LFP 与单神经元放电？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E5D3C8-8600-4377-A4CE-4C8798564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714875"/>
            <a:ext cx="2743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C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1BC5FD-1E1D-4E52-86DD-1E7807509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571625"/>
            <a:ext cx="32004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6D8A5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3BFB18-45A6-4CD3-A888-924C001DD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09750"/>
            <a:ext cx="838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6D8A5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033C24-190E-415D-9492-DFABF598F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86690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6D8A52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6D8A52"/>
                </a:solidFill>
                <a:latin typeface="PingFang SC"/>
                <a:ea typeface="PingFang SC"/>
                <a:cs typeface="PingFang SC"/>
              </a:rPr>
              <a:t>研究三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351F64-8737-4AD1-8BFC-DBD6DD36D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05050"/>
            <a:ext cx="266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6D8A52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6D8A52"/>
                </a:solidFill>
                <a:latin typeface="PingFang SC"/>
                <a:ea typeface="PingFang SC"/>
                <a:cs typeface="PingFang SC"/>
              </a:rPr>
              <a:t>刺激凸显性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04B9D4-61AE-4734-AC09-854934552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90825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272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272B"/>
                </a:solidFill>
                <a:latin typeface="PingFang SC"/>
                <a:ea typeface="PingFang SC"/>
                <a:cs typeface="PingFang SC"/>
              </a:rPr>
              <a:t>公开自然电影数据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476CB6-E65E-43F1-9A58-554383C06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81375"/>
            <a:ext cx="26289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272B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272B"/>
                </a:solidFill>
                <a:latin typeface="PingFang SC"/>
                <a:ea typeface="PingFang SC"/>
                <a:cs typeface="PingFang SC"/>
              </a:rPr>
              <a:t>场景切换与高唤醒片段是否牵引 A-H 连接方向？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43DB35-BC92-49C0-9A29-9B2F36C18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714875"/>
            <a:ext cx="2743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A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304E36-D110-432C-BB08-56AC6EBD8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53100"/>
            <a:ext cx="895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272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272B"/>
                </a:solidFill>
                <a:latin typeface="PingFang SC"/>
                <a:ea typeface="PingFang SC"/>
                <a:cs typeface="PingFang SC"/>
              </a:rPr>
              <a:t>答辩主线：刺激属性从“可控情绪”推进到“真实偏好”与“自然情境凸显性”。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1E3723-13AD-4543-BA71-5716A2539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F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E6F72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6660454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7712E3-6779-4ABE-A2CD-52567FB90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E1F0A9-5DFC-46FF-816F-E5A49097B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C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C6DB27-8EF7-43CA-ACB6-C467CDFB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6C7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26C75"/>
                </a:solidFill>
                <a:latin typeface="PingFang SC"/>
                <a:ea typeface="PingFang SC"/>
                <a:cs typeface="PingFang SC"/>
              </a:rPr>
              <a:t>数据与方法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4F8BC4-178D-4AAB-A560-29E1B5459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990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272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1272B"/>
                </a:solidFill>
                <a:latin typeface="PingFang SC"/>
                <a:ea typeface="PingFang SC"/>
                <a:cs typeface="PingFang SC"/>
              </a:rPr>
              <a:t>同一脑区系统内，结合 LFP、放电与连接性指标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72043B-5319-4C9E-9160-636C33105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fc85bd9fbc44c7"/>
          <a:stretch xmlns:a="http://schemas.openxmlformats.org/drawingml/2006/main"/>
        </p:blipFill>
        <p:spPr>
          <a:xfrm xmlns:a="http://schemas.openxmlformats.org/drawingml/2006/main">
            <a:off x="10890250" y="266700"/>
            <a:ext cx="469900" cy="3238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6049A2-78B5-4D98-8C22-DE2010E81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1062990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E0D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114E13-FE59-422B-AF03-C3C35F00A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94310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6C7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26C75"/>
                </a:solidFill>
                <a:latin typeface="PingFang SC"/>
                <a:ea typeface="PingFang SC"/>
                <a:cs typeface="PingFang SC"/>
              </a:rPr>
              <a:t>研究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844CFF-515A-46D3-B3F3-1BAE1B379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9431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6C7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26C75"/>
                </a:solidFill>
                <a:latin typeface="PingFang SC"/>
                <a:ea typeface="PingFang SC"/>
                <a:cs typeface="PingFang SC"/>
              </a:rPr>
              <a:t>刺激/数据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6F0DF1-9EBB-4BC8-905A-57734CA2C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9431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6C7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26C75"/>
                </a:solidFill>
                <a:latin typeface="PingFang SC"/>
                <a:ea typeface="PingFang SC"/>
                <a:cs typeface="PingFang SC"/>
              </a:rPr>
              <a:t>核心指标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B794CC-8139-4B30-9F4F-2FC541F64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9431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6C7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26C75"/>
                </a:solidFill>
                <a:latin typeface="PingFang SC"/>
                <a:ea typeface="PingFang SC"/>
                <a:cs typeface="PingFang SC"/>
              </a:rPr>
              <a:t>统计策略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F09F33-FFDA-44AB-BC80-189EC6C07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050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06593B-01B9-4548-ACEF-03D0DE1AE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00300"/>
            <a:ext cx="133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65B3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B65B3D"/>
                </a:solidFill>
                <a:latin typeface="PingFang SC"/>
                <a:ea typeface="PingFang SC"/>
                <a:cs typeface="PingFang SC"/>
              </a:rPr>
              <a:t>研究一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ED0120-9EEA-4286-A9EB-9195327CB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400300"/>
            <a:ext cx="2333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272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272B"/>
                </a:solidFill>
                <a:latin typeface="PingFang SC"/>
                <a:ea typeface="PingFang SC"/>
                <a:cs typeface="PingFang SC"/>
              </a:rPr>
              <a:t>IAPS 图片 120 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CB4777-6891-4786-B58A-FBFF72BFA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400300"/>
            <a:ext cx="2333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272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272B"/>
                </a:solidFill>
                <a:latin typeface="PingFang SC"/>
                <a:ea typeface="PingFang SC"/>
                <a:cs typeface="PingFang SC"/>
              </a:rPr>
              <a:t>LFP 时间-频率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32048A-FC8D-460D-989D-1465FEAB3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00300"/>
            <a:ext cx="30003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272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272B"/>
                </a:solidFill>
                <a:latin typeface="PingFang SC"/>
                <a:ea typeface="PingFang SC"/>
                <a:cs typeface="PingFang SC"/>
              </a:rPr>
              <a:t>LME + cluster-based permutation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06965B-68CE-43F9-BE87-EEB2FD0AD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337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7736F6-4AF8-4E13-B871-5E9282830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28950"/>
            <a:ext cx="133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65B3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B65B3D"/>
                </a:solidFill>
                <a:latin typeface="PingFang SC"/>
                <a:ea typeface="PingFang SC"/>
                <a:cs typeface="PingFang SC"/>
              </a:rPr>
              <a:t>研究二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DC1DB2-FFDB-48FE-BE00-1C8524DAB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28950"/>
            <a:ext cx="2333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272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272B"/>
                </a:solidFill>
                <a:latin typeface="PingFang SC"/>
                <a:ea typeface="PingFang SC"/>
                <a:cs typeface="PingFang SC"/>
              </a:rPr>
              <a:t>短视频 66 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04567C-539D-4F33-9E2F-4F460DABC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028950"/>
            <a:ext cx="2333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272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272B"/>
                </a:solidFill>
                <a:latin typeface="PingFang SC"/>
                <a:ea typeface="PingFang SC"/>
                <a:cs typeface="PingFang SC"/>
              </a:rPr>
              <a:t>LFP + IFR/聚类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4489E6-B59D-4F39-8223-019045E63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28950"/>
            <a:ext cx="30003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272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272B"/>
                </a:solidFill>
                <a:latin typeface="PingFang SC"/>
                <a:ea typeface="PingFang SC"/>
                <a:cs typeface="PingFang SC"/>
              </a:rPr>
              <a:t>喜欢/不喜欢评分分组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D0C924-EFF0-4326-B797-3D6FF905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623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C1739E-CBC9-44DD-BFF8-39792F6EA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57600"/>
            <a:ext cx="133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65B3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B65B3D"/>
                </a:solidFill>
                <a:latin typeface="PingFang SC"/>
                <a:ea typeface="PingFang SC"/>
                <a:cs typeface="PingFang SC"/>
              </a:rPr>
              <a:t>研究三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B563FB-521D-4196-89E2-D437FA8BB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657600"/>
            <a:ext cx="2333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272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272B"/>
                </a:solidFill>
                <a:latin typeface="PingFang SC"/>
                <a:ea typeface="PingFang SC"/>
                <a:cs typeface="PingFang SC"/>
              </a:rPr>
              <a:t>Keles 公开自然电影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3F1703-D2BD-427F-9869-E300C8ABD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657600"/>
            <a:ext cx="2333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272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272B"/>
                </a:solidFill>
                <a:latin typeface="PingFang SC"/>
                <a:ea typeface="PingFang SC"/>
                <a:cs typeface="PingFang SC"/>
              </a:rPr>
              <a:t>Coherence + sGC + spike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611742-44EA-4E4B-957A-677D47628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57600"/>
            <a:ext cx="30003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272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272B"/>
                </a:solidFill>
                <a:latin typeface="PingFang SC"/>
                <a:ea typeface="PingFang SC"/>
                <a:cs typeface="PingFang SC"/>
              </a:rPr>
              <a:t>场景切换与高唤醒事件锁定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F81C43-5E3E-453C-8DB6-63FDC3182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196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E0D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1ECE6F-5C53-499A-A4F9-8AE44C97C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24425"/>
            <a:ext cx="2114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5E6F72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5E6F72"/>
                </a:solidFill>
                <a:latin typeface="PingFang SC"/>
                <a:ea typeface="PingFang SC"/>
                <a:cs typeface="PingFang SC"/>
              </a:rPr>
              <a:t>研究三 QC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F00FE9-8585-4CBB-B046-47F0734F0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14925"/>
            <a:ext cx="2114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6C75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26C75"/>
                </a:solidFill>
                <a:latin typeface="PingFang SC"/>
                <a:ea typeface="PingFang SC"/>
                <a:cs typeface="PingFang SC"/>
              </a:rPr>
              <a:t>27 个 run 纳入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4D709D-1FD2-46BB-9625-846354028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8196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E0D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CEA68B-A930-4078-8450-21BC7D19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924425"/>
            <a:ext cx="2114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5E6F72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5E6F72"/>
                </a:solidFill>
                <a:latin typeface="PingFang SC"/>
                <a:ea typeface="PingFang SC"/>
                <a:cs typeface="PingFang SC"/>
              </a:rPr>
              <a:t>单元层面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44964A-2810-48FC-AFDD-B80784BE9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114925"/>
            <a:ext cx="2114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65B3D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B65B3D"/>
                </a:solidFill>
                <a:latin typeface="PingFang SC"/>
                <a:ea typeface="PingFang SC"/>
                <a:cs typeface="PingFang SC"/>
              </a:rPr>
              <a:t>45 个可分析 units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42267E-6CE6-4479-9BA8-EC1E6FFA4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8196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E0D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64DC33-4A9B-48DD-81F6-62119B0D1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924425"/>
            <a:ext cx="2114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5E6F72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5E6F72"/>
                </a:solidFill>
                <a:latin typeface="PingFang SC"/>
                <a:ea typeface="PingFang SC"/>
                <a:cs typeface="PingFang SC"/>
              </a:rPr>
              <a:t>事件锁定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9FE20CB-3270-483F-848C-2F60DBE3E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114925"/>
            <a:ext cx="2114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D8A52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6D8A52"/>
                </a:solidFill>
                <a:latin typeface="PingFang SC"/>
                <a:ea typeface="PingFang SC"/>
                <a:cs typeface="PingFang SC"/>
              </a:rPr>
              <a:t>场景切换 / 高唤醒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F230691-E71C-4289-95C5-51410E81F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8196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E0D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A7A4A6F-9E0E-4535-BF2D-3A96402A8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24425"/>
            <a:ext cx="2114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5E6F72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5E6F72"/>
                </a:solidFill>
                <a:latin typeface="PingFang SC"/>
                <a:ea typeface="PingFang SC"/>
                <a:cs typeface="PingFang SC"/>
              </a:rPr>
              <a:t>答辩取舍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F791DD8-5161-4B87-99A3-6DD709FE2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114925"/>
            <a:ext cx="2114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272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272B"/>
                </a:solidFill>
                <a:latin typeface="PingFang SC"/>
                <a:ea typeface="PingFang SC"/>
                <a:cs typeface="PingFang SC"/>
              </a:rPr>
              <a:t>只展示核心结果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A3F50C3-E1FC-41BE-BC66-BB2384819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F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E6F72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1526962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61F5E6-A17E-4AE8-A2B1-9F6F41124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7362DF-DDCD-4F12-A901-3A017F186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C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1759B0-F2B6-4FB4-BCE9-B05C25E28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6C7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26C75"/>
                </a:solidFill>
                <a:latin typeface="PingFang SC"/>
                <a:ea typeface="PingFang SC"/>
                <a:cs typeface="PingFang SC"/>
              </a:rPr>
              <a:t>研究一｜情绪效价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187A40-3AC9-487F-853F-7CE95C6E6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990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272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1272B"/>
                </a:solidFill>
                <a:latin typeface="PingFang SC"/>
                <a:ea typeface="PingFang SC"/>
                <a:cs typeface="PingFang SC"/>
              </a:rPr>
              <a:t>杏仁核在早期中低频段区分正性与负性情绪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AFFEBD-123C-42CA-B22D-17B403A0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15efb021694503"/>
          <a:stretch xmlns:a="http://schemas.openxmlformats.org/drawingml/2006/main"/>
        </p:blipFill>
        <p:spPr>
          <a:xfrm xmlns:a="http://schemas.openxmlformats.org/drawingml/2006/main">
            <a:off x="10890250" y="266700"/>
            <a:ext cx="469900" cy="3238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3396ED-DCB2-474F-88F4-5DBC50A54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674370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AD7D5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c18e00acf54e4d"/>
          <a:stretch xmlns:a="http://schemas.openxmlformats.org/drawingml/2006/main"/>
        </p:blipFill>
        <p:spPr>
          <a:xfrm xmlns:a="http://schemas.openxmlformats.org/drawingml/2006/main">
            <a:off x="723900" y="1887296"/>
            <a:ext cx="6477000" cy="3140558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5B5D7D-D8CE-4918-A440-5383579E5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57825"/>
            <a:ext cx="6400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E6F72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E6F72"/>
                </a:solidFill>
                <a:latin typeface="PingFang SC"/>
                <a:ea typeface="PingFang SC"/>
                <a:cs typeface="PingFang SC"/>
              </a:rPr>
              <a:t>核心结果图：情绪效价的时间-频率 F 统计量与显著簇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18773D-4851-4373-A977-CB49C32F7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466850"/>
            <a:ext cx="2952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E0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8F96D5-E809-475E-A639-0ADF2D4AD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571625"/>
            <a:ext cx="2686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5E6F72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5E6F72"/>
                </a:solidFill>
                <a:latin typeface="PingFang SC"/>
                <a:ea typeface="PingFang SC"/>
                <a:cs typeface="PingFang SC"/>
              </a:rPr>
              <a:t>刺激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0DE78B-2920-4FF0-B919-605F86FEC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762125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65B3D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B65B3D"/>
                </a:solidFill>
                <a:latin typeface="PingFang SC"/>
                <a:ea typeface="PingFang SC"/>
                <a:cs typeface="PingFang SC"/>
              </a:rPr>
              <a:t>IAPS 120 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62E730-C2AE-44D2-B4BD-104ED43C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05050"/>
            <a:ext cx="2952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E0D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661E4B-A84F-4492-9D86-C0B0C774E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409825"/>
            <a:ext cx="2686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5E6F72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5E6F72"/>
                </a:solidFill>
                <a:latin typeface="PingFang SC"/>
                <a:ea typeface="PingFang SC"/>
                <a:cs typeface="PingFang SC"/>
              </a:rPr>
              <a:t>分析窗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02951F-3A0A-4DED-8D4E-4DDC3E544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600325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6C75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26C75"/>
                </a:solidFill>
                <a:latin typeface="PingFang SC"/>
                <a:ea typeface="PingFang SC"/>
                <a:cs typeface="PingFang SC"/>
              </a:rPr>
              <a:t>0–2 s｜2–100 Hz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F324E4-28B5-4C57-97F7-75A95DAE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43250"/>
            <a:ext cx="2952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E0D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3E3E30-6085-4A47-BCA5-D362992B2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48025"/>
            <a:ext cx="2686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5E6F72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5E6F72"/>
                </a:solidFill>
                <a:latin typeface="PingFang SC"/>
                <a:ea typeface="PingFang SC"/>
                <a:cs typeface="PingFang SC"/>
              </a:rPr>
              <a:t>显著簇 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E66A9C-C067-4971-B72B-8406C87C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438525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65B3D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B65B3D"/>
                </a:solidFill>
                <a:latin typeface="PingFang SC"/>
                <a:ea typeface="PingFang SC"/>
                <a:cs typeface="PingFang SC"/>
              </a:rPr>
              <a:t>450–800 ms｜5.8–20.2 Hz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1B339D-80AD-4118-9D96-84CEC81DB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981450"/>
            <a:ext cx="2952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E0D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E93FAC-79CA-402D-A484-548300CC8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086225"/>
            <a:ext cx="2686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5E6F72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5E6F72"/>
                </a:solidFill>
                <a:latin typeface="PingFang SC"/>
                <a:ea typeface="PingFang SC"/>
                <a:cs typeface="PingFang SC"/>
              </a:rPr>
              <a:t>显著簇 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BA1B9E-14CC-449A-B229-82BFE2A02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276725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65B3D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B65B3D"/>
                </a:solidFill>
                <a:latin typeface="PingFang SC"/>
                <a:ea typeface="PingFang SC"/>
                <a:cs typeface="PingFang SC"/>
              </a:rPr>
              <a:t>1650–1950 ms｜2.0–4.1 Hz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3BB4EE-742D-4ECC-B765-C5C345ACC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0958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C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007458-321E-4DF6-A6DA-6E0CA45A6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010150"/>
            <a:ext cx="32099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272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272B"/>
                </a:solidFill>
                <a:latin typeface="PingFang SC"/>
                <a:ea typeface="PingFang SC"/>
                <a:cs typeface="PingFang SC"/>
              </a:rPr>
              <a:t>cluster 校正后杏仁核效应稳定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676A94-18F3-43E6-94BF-00FFF5F5E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400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C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0EB74F-A580-4159-B78B-56106006E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314950"/>
            <a:ext cx="32099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272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272B"/>
                </a:solidFill>
                <a:latin typeface="PingFang SC"/>
                <a:ea typeface="PingFang SC"/>
                <a:cs typeface="PingFang SC"/>
              </a:rPr>
              <a:t>海马未出现稳定显著簇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32058C-DD82-4C7F-B723-8D3F9BEF5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705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C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EE8D28-AB88-41F9-A10F-1A11F87C1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619750"/>
            <a:ext cx="32099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272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272B"/>
                </a:solidFill>
                <a:latin typeface="PingFang SC"/>
                <a:ea typeface="PingFang SC"/>
                <a:cs typeface="PingFang SC"/>
              </a:rPr>
              <a:t>为真实短视频偏好分析提供脑区假设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863A00-E5A5-4453-AB50-3DE5D2C4E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F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E6F72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8500177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ECFC42-AF8F-454D-880F-EE2024821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9DC708-1189-4C7F-9116-80776A8A2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C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CE76A7-DAED-48C0-8E93-00AD4AF81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6C7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26C75"/>
                </a:solidFill>
                <a:latin typeface="PingFang SC"/>
                <a:ea typeface="PingFang SC"/>
                <a:cs typeface="PingFang SC"/>
              </a:rPr>
              <a:t>研究二｜主观偏好 LFP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D4684E-975A-49C7-9DCC-BEF3B64F4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990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272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1272B"/>
                </a:solidFill>
                <a:latin typeface="PingFang SC"/>
                <a:ea typeface="PingFang SC"/>
                <a:cs typeface="PingFang SC"/>
              </a:rPr>
              <a:t>喜欢/不喜欢短视频在杏仁核与海马均诱发时间-频率差异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DDFE5A-A700-40A6-855D-E07320CA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9e3efcc71e4023"/>
          <a:stretch xmlns:a="http://schemas.openxmlformats.org/drawingml/2006/main"/>
        </p:blipFill>
        <p:spPr>
          <a:xfrm xmlns:a="http://schemas.openxmlformats.org/drawingml/2006/main">
            <a:off x="10890250" y="266700"/>
            <a:ext cx="469900" cy="3238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2A175A-C565-486F-A5E7-160A3920A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490537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AD7D5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33e5596ba747d3"/>
          <a:stretch xmlns:a="http://schemas.openxmlformats.org/drawingml/2006/main"/>
        </p:blipFill>
        <p:spPr>
          <a:xfrm xmlns:a="http://schemas.openxmlformats.org/drawingml/2006/main">
            <a:off x="647700" y="1975509"/>
            <a:ext cx="4638675" cy="1954482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EA1E1D-568E-4B20-B2BD-E839911FC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45624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E6F72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E6F72"/>
                </a:solidFill>
                <a:latin typeface="PingFang SC"/>
                <a:ea typeface="PingFang SC"/>
                <a:cs typeface="PingFang SC"/>
              </a:rPr>
              <a:t>杏仁核：like / dislike LFP 差异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19C74B-CC2B-4B02-A966-AF2357701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333500"/>
            <a:ext cx="490537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AD7D5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6964b7ff744687"/>
          <a:stretch xmlns:a="http://schemas.openxmlformats.org/drawingml/2006/main"/>
        </p:blipFill>
        <p:spPr>
          <a:xfrm xmlns:a="http://schemas.openxmlformats.org/drawingml/2006/main">
            <a:off x="5800725" y="1983284"/>
            <a:ext cx="4638675" cy="1938932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8E8357-0B37-487B-9C50-D6BF25097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4495800"/>
            <a:ext cx="45624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E6F72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E6F72"/>
                </a:solidFill>
                <a:latin typeface="PingFang SC"/>
                <a:ea typeface="PingFang SC"/>
                <a:cs typeface="PingFang SC"/>
              </a:rPr>
              <a:t>海马：like / dislike LFP 差异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74B402-2ADD-4A5E-B255-347ADB04E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95875"/>
            <a:ext cx="32861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E0D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AF9CAE-899D-49D0-86DA-8F51DF700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00650"/>
            <a:ext cx="30194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5E6F72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5E6F72"/>
                </a:solidFill>
                <a:latin typeface="PingFang SC"/>
                <a:ea typeface="PingFang SC"/>
                <a:cs typeface="PingFang SC"/>
              </a:rPr>
              <a:t>杏仁核显著窗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3DE48D-1E4A-4AB3-A476-36E502A94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30194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65B3D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B65B3D"/>
                </a:solidFill>
                <a:latin typeface="PingFang SC"/>
                <a:ea typeface="PingFang SC"/>
                <a:cs typeface="PingFang SC"/>
              </a:rPr>
              <a:t>450–1100 ms｜4.9–24.2 Hz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8A0014-BA95-4F97-9F89-3C7FD12D8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095875"/>
            <a:ext cx="32861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E0D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187A81-F156-43DE-9E2A-CE510B7D0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200650"/>
            <a:ext cx="30194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5E6F72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5E6F72"/>
                </a:solidFill>
                <a:latin typeface="PingFang SC"/>
                <a:ea typeface="PingFang SC"/>
                <a:cs typeface="PingFang SC"/>
              </a:rPr>
              <a:t>海马显著窗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95BBA0-DB4F-4B50-8C1F-A7C1C1DB7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391150"/>
            <a:ext cx="30194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6C75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26C75"/>
                </a:solidFill>
                <a:latin typeface="PingFang SC"/>
                <a:ea typeface="PingFang SC"/>
                <a:cs typeface="PingFang SC"/>
              </a:rPr>
              <a:t>700–1200 ms｜2.0–28.9 Hz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717F31-1123-4932-B877-3931D660E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81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8A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55F59E-62B6-4B7E-B396-B36486AEC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095875"/>
            <a:ext cx="31623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272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272B"/>
                </a:solidFill>
                <a:latin typeface="PingFang SC"/>
                <a:ea typeface="PingFang SC"/>
                <a:cs typeface="PingFang SC"/>
              </a:rPr>
              <a:t>偏好效应不是单一脑区现象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0C9C56-99AA-43BA-9642-C75CC0711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14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8A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FFACA3-B2E8-4407-A4B3-E1E67AD59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429250"/>
            <a:ext cx="31623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272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272B"/>
                </a:solidFill>
                <a:latin typeface="PingFang SC"/>
                <a:ea typeface="PingFang SC"/>
                <a:cs typeface="PingFang SC"/>
              </a:rPr>
              <a:t>海马效应更晚，提示情境加工参与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ECD768-4644-4008-B2AC-75ABC3FF3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F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E6F72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0298366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CCA1DF-EC29-477B-A694-DC061590E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61DB2B-47E0-4668-BB80-DB93E7984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C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8EF777-3F51-4C25-B052-87CED3A99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6C7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26C75"/>
                </a:solidFill>
                <a:latin typeface="PingFang SC"/>
                <a:ea typeface="PingFang SC"/>
                <a:cs typeface="PingFang SC"/>
              </a:rPr>
              <a:t>研究二｜单神经元放电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EFD564-D50B-4966-B2AA-5938ED357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990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272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1272B"/>
                </a:solidFill>
                <a:latin typeface="PingFang SC"/>
                <a:ea typeface="PingFang SC"/>
                <a:cs typeface="PingFang SC"/>
              </a:rPr>
              <a:t>偏好相关放电呈现相反响应类型，并集中在早期与中期时间窗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B66F19-9E03-4223-A2B3-6C520DC89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d8b3af82fd4bbd"/>
          <a:stretch xmlns:a="http://schemas.openxmlformats.org/drawingml/2006/main"/>
        </p:blipFill>
        <p:spPr>
          <a:xfrm xmlns:a="http://schemas.openxmlformats.org/drawingml/2006/main">
            <a:off x="10890250" y="266700"/>
            <a:ext cx="469900" cy="3238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77C5B2-8DAA-4FB4-A419-452E4902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62075"/>
            <a:ext cx="68389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AD7D5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6d79f15fac4b74"/>
          <a:stretch xmlns:a="http://schemas.openxmlformats.org/drawingml/2006/main"/>
        </p:blipFill>
        <p:spPr>
          <a:xfrm xmlns:a="http://schemas.openxmlformats.org/drawingml/2006/main">
            <a:off x="1106936" y="1495425"/>
            <a:ext cx="5729978" cy="37528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555A4F-930A-4702-B674-C023DB1B0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05425"/>
            <a:ext cx="6496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E6F72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E6F72"/>
                </a:solidFill>
                <a:latin typeface="PingFang SC"/>
                <a:ea typeface="PingFang SC"/>
                <a:cs typeface="PingFang SC"/>
              </a:rPr>
              <a:t>核心结果图：喜欢/不喜欢条件下的 antagonistic clusters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B8CEE5-170F-4AC3-B855-23ABFF4A3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466850"/>
            <a:ext cx="285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E0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AB468C-BC7B-4265-9A4F-7FFC987C3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571625"/>
            <a:ext cx="2590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5E6F72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5E6F72"/>
                </a:solidFill>
                <a:latin typeface="PingFang SC"/>
                <a:ea typeface="PingFang SC"/>
                <a:cs typeface="PingFang SC"/>
              </a:rPr>
              <a:t>可分析单元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A7386F-E78F-4729-9E05-75A983238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762125"/>
            <a:ext cx="2590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65B3D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B65B3D"/>
                </a:solidFill>
                <a:latin typeface="PingFang SC"/>
                <a:ea typeface="PingFang SC"/>
                <a:cs typeface="PingFang SC"/>
              </a:rPr>
              <a:t>45 units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BC65D5-2557-4218-9F58-D71570A51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305050"/>
            <a:ext cx="285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E0D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A1E46D-842C-44EB-AC90-5EACE613C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09825"/>
            <a:ext cx="2590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5E6F72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5E6F72"/>
                </a:solidFill>
                <a:latin typeface="PingFang SC"/>
                <a:ea typeface="PingFang SC"/>
                <a:cs typeface="PingFang SC"/>
              </a:rPr>
              <a:t>聚类规模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DFEA52-2578-47BA-AE09-201B95854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00325"/>
            <a:ext cx="2590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6C75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26C75"/>
                </a:solidFill>
                <a:latin typeface="PingFang SC"/>
                <a:ea typeface="PingFang SC"/>
                <a:cs typeface="PingFang SC"/>
              </a:rPr>
              <a:t>n = 22 / 23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DED150-0B17-4F16-BA66-18EDAF4E9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43250"/>
            <a:ext cx="285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E0D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D00DE7-75B5-4DB1-BC61-C48D3EFE9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48025"/>
            <a:ext cx="2590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5E6F72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5E6F72"/>
                </a:solidFill>
                <a:latin typeface="PingFang SC"/>
                <a:ea typeface="PingFang SC"/>
                <a:cs typeface="PingFang SC"/>
              </a:rPr>
              <a:t>显著时间窗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F0B250-56DC-4BF9-946A-7772FDF75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38525"/>
            <a:ext cx="2590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65B3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B65B3D"/>
                </a:solidFill>
                <a:latin typeface="PingFang SC"/>
                <a:ea typeface="PingFang SC"/>
                <a:cs typeface="PingFang SC"/>
              </a:rPr>
              <a:t>0.20–0.70 s；1.25–1.65 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956A48-ED4F-4CD7-A61E-A2C1FCF64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2386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C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019B30-0BE7-4275-834F-E06EAC161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52900"/>
            <a:ext cx="3086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272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272B"/>
                </a:solidFill>
                <a:latin typeface="PingFang SC"/>
                <a:ea typeface="PingFang SC"/>
                <a:cs typeface="PingFang SC"/>
              </a:rPr>
              <a:t>喜欢条件放电较低，不喜欢条件较高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23ED08-3B14-424B-90CA-60B2438C5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562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C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10C983-1E0D-4CEE-B2BA-77308EA24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76750"/>
            <a:ext cx="3086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272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272B"/>
                </a:solidFill>
                <a:latin typeface="PingFang SC"/>
                <a:ea typeface="PingFang SC"/>
                <a:cs typeface="PingFang SC"/>
              </a:rPr>
              <a:t>效应主要集中于海马单元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29CDD3-11A9-431C-99FE-904DBEB2D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886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C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E22881-2573-4242-86E4-872367164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800600"/>
            <a:ext cx="3086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272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272B"/>
                </a:solidFill>
                <a:latin typeface="PingFang SC"/>
                <a:ea typeface="PingFang SC"/>
                <a:cs typeface="PingFang SC"/>
              </a:rPr>
              <a:t>与 LFP 结果共同支持偏好调制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0C33A6-DD31-48AF-B3D5-E27868133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F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E6F72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1745426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77B816-15B4-4C7D-85EF-DC1DCE109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F769B4-69B8-48FF-90AA-01642CA01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C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F4FA0F-5601-41BB-8F68-90E24580B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6C7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26C75"/>
                </a:solidFill>
                <a:latin typeface="PingFang SC"/>
                <a:ea typeface="PingFang SC"/>
                <a:cs typeface="PingFang SC"/>
              </a:rPr>
              <a:t>研究三｜刺激凸显性：场景切换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9CB233-0DF1-4349-91AE-3B32BA470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990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272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1272B"/>
                </a:solidFill>
                <a:latin typeface="PingFang SC"/>
                <a:ea typeface="PingFang SC"/>
                <a:cs typeface="PingFang SC"/>
              </a:rPr>
              <a:t>自然电影场景切换后，杏仁核-海马连接呈低频增强与方向性差异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A4B208-EC0F-4B78-BB43-D97D2058A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d4a87c47cc4103"/>
          <a:stretch xmlns:a="http://schemas.openxmlformats.org/drawingml/2006/main"/>
        </p:blipFill>
        <p:spPr>
          <a:xfrm xmlns:a="http://schemas.openxmlformats.org/drawingml/2006/main">
            <a:off x="10890250" y="266700"/>
            <a:ext cx="469900" cy="3238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00A973-430C-4E21-8515-8EA1774AC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14450"/>
            <a:ext cx="5048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AD7D5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01bff593744b27"/>
          <a:stretch xmlns:a="http://schemas.openxmlformats.org/drawingml/2006/main"/>
        </p:blipFill>
        <p:spPr>
          <a:xfrm xmlns:a="http://schemas.openxmlformats.org/drawingml/2006/main">
            <a:off x="1161622" y="1447800"/>
            <a:ext cx="3715607" cy="29718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220500-C105-4735-8973-77EA35326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4705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E6F72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E6F72"/>
                </a:solidFill>
                <a:latin typeface="PingFang SC"/>
                <a:ea typeface="PingFang SC"/>
                <a:cs typeface="PingFang SC"/>
              </a:rPr>
              <a:t>Coherence：场景切换锁定的 A-H 同步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6DB8BB-89B3-4F4F-BED9-B2C11DE1A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314450"/>
            <a:ext cx="5048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AD7D5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f10880c77e4331"/>
          <a:stretch xmlns:a="http://schemas.openxmlformats.org/drawingml/2006/main"/>
        </p:blipFill>
        <p:spPr>
          <a:xfrm xmlns:a="http://schemas.openxmlformats.org/drawingml/2006/main">
            <a:off x="5943600" y="1747559"/>
            <a:ext cx="4781550" cy="2372283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5E7FA3-C705-472C-962C-4CC56902D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476750"/>
            <a:ext cx="4705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E6F72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E6F72"/>
                </a:solidFill>
                <a:latin typeface="PingFang SC"/>
                <a:ea typeface="PingFang SC"/>
                <a:cs typeface="PingFang SC"/>
              </a:rPr>
              <a:t>sGC：H→A 与 A→H 方向性比较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FEC0C6-1762-466C-B786-F84A823D8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05400"/>
            <a:ext cx="314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E0D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B08EE0-BF2F-4DEA-BD23-0D8D2D1B0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0175"/>
            <a:ext cx="2876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5E6F72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5E6F72"/>
                </a:solidFill>
                <a:latin typeface="PingFang SC"/>
                <a:ea typeface="PingFang SC"/>
                <a:cs typeface="PingFang SC"/>
              </a:rPr>
              <a:t>Coherence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61405E-59D0-43CD-8721-447272955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00675"/>
            <a:ext cx="2876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6C7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6C75"/>
                </a:solidFill>
                <a:latin typeface="PingFang SC"/>
                <a:ea typeface="PingFang SC"/>
                <a:cs typeface="PingFang SC"/>
              </a:rPr>
              <a:t>约 0.34–0.49｜低频更强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7224C1-8434-4EA2-8311-B8B33EDE5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105400"/>
            <a:ext cx="314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E0D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8628B5-C4B5-40DA-B862-CF85875AC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210175"/>
            <a:ext cx="2876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5E6F72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5E6F72"/>
                </a:solidFill>
                <a:latin typeface="PingFang SC"/>
                <a:ea typeface="PingFang SC"/>
                <a:cs typeface="PingFang SC"/>
              </a:rPr>
              <a:t>sGC 均值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0081AA-E1D9-47B0-B537-1A7A77A41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400675"/>
            <a:ext cx="2876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65B3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B65B3D"/>
                </a:solidFill>
                <a:latin typeface="PingFang SC"/>
                <a:ea typeface="PingFang SC"/>
                <a:cs typeface="PingFang SC"/>
              </a:rPr>
              <a:t>H→A 0.584｜A→H 0.535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CF2620-802D-4030-9043-38D97C308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038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8A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90E86D-7247-460C-AD7D-998EBE9C9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53000"/>
            <a:ext cx="3257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272B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11272B"/>
                </a:solidFill>
                <a:latin typeface="PingFang SC"/>
                <a:ea typeface="PingFang SC"/>
                <a:cs typeface="PingFang SC"/>
              </a:rPr>
              <a:t>FDR 显著频段：9.6–13.2 Hz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615598-153F-4B75-8151-E3F717F84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343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8A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005279-C89B-47D5-B12E-5577E1B1B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257800"/>
            <a:ext cx="3257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272B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11272B"/>
                </a:solidFill>
                <a:latin typeface="PingFang SC"/>
                <a:ea typeface="PingFang SC"/>
                <a:cs typeface="PingFang SC"/>
              </a:rPr>
              <a:t>另见 17.6–20.0、43.6–44.8 Hz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863045-13ED-4009-A026-9AFA6B464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648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8A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A1CDB5-F237-496B-AE2D-A97606DE9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62600"/>
            <a:ext cx="3257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272B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11272B"/>
                </a:solidFill>
                <a:latin typeface="PingFang SC"/>
                <a:ea typeface="PingFang SC"/>
                <a:cs typeface="PingFang SC"/>
              </a:rPr>
              <a:t>H→A 信息驱动更强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9E91C9-E874-43AA-8A95-656F01281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F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E6F72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1500937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7E339D-214D-4DAB-832C-02AFBB767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B44270-43F5-4EB1-B240-E9D9F2D1D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C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465EE6-D80F-41C0-AA69-0A47166C0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6C7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26C75"/>
                </a:solidFill>
                <a:latin typeface="PingFang SC"/>
                <a:ea typeface="PingFang SC"/>
                <a:cs typeface="PingFang SC"/>
              </a:rPr>
              <a:t>研究三｜刺激凸显性：高唤醒片段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69793A-CD53-455F-BB00-BB866CB41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990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272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1272B"/>
                </a:solidFill>
                <a:latin typeface="PingFang SC"/>
                <a:ea typeface="PingFang SC"/>
                <a:cs typeface="PingFang SC"/>
              </a:rPr>
              <a:t>AI 标注的高唤醒窗口中，δ/α 频段方向性差异更突出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665CDD-7461-4042-BC7D-44951330F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70f282575346af"/>
          <a:stretch xmlns:a="http://schemas.openxmlformats.org/drawingml/2006/main"/>
        </p:blipFill>
        <p:spPr>
          <a:xfrm xmlns:a="http://schemas.openxmlformats.org/drawingml/2006/main">
            <a:off x="10890250" y="266700"/>
            <a:ext cx="469900" cy="3238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C7A6EE-9B1A-44AA-9222-19325EBD1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14450"/>
            <a:ext cx="47625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AD7D5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3d0de83acb49ac"/>
          <a:stretch xmlns:a="http://schemas.openxmlformats.org/drawingml/2006/main"/>
        </p:blipFill>
        <p:spPr>
          <a:xfrm xmlns:a="http://schemas.openxmlformats.org/drawingml/2006/main">
            <a:off x="609600" y="2077573"/>
            <a:ext cx="4495800" cy="1617004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E4F745-F0E2-4F69-AA0C-0D8F68BA7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0"/>
            <a:ext cx="441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E6F72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E6F72"/>
                </a:solidFill>
                <a:latin typeface="PingFang SC"/>
                <a:ea typeface="PingFang SC"/>
                <a:cs typeface="PingFang SC"/>
              </a:rPr>
              <a:t>高唤醒窗口与场景切换事件的时间关系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F145F2-6D41-4ACA-A099-C16B9ABD9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314450"/>
            <a:ext cx="5334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AD7D5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15057bf8d64884"/>
          <a:stretch xmlns:a="http://schemas.openxmlformats.org/drawingml/2006/main"/>
        </p:blipFill>
        <p:spPr>
          <a:xfrm xmlns:a="http://schemas.openxmlformats.org/drawingml/2006/main">
            <a:off x="5676900" y="1534795"/>
            <a:ext cx="5067300" cy="270256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337A87-6C36-4701-ACEA-84BF47B82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381500"/>
            <a:ext cx="4991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E6F72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E6F72"/>
                </a:solidFill>
                <a:latin typeface="PingFang SC"/>
                <a:ea typeface="PingFang SC"/>
                <a:cs typeface="PingFang SC"/>
              </a:rPr>
              <a:t>按正文统计数值重绘：高唤醒方向性 sGC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AE61C9-25B1-4F94-92BA-36EEA0BBF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29200"/>
            <a:ext cx="3905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E0D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77E2D5-2C6D-41C0-8FF0-7B53E8212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33975"/>
            <a:ext cx="3638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5E6F72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5E6F72"/>
                </a:solidFill>
                <a:latin typeface="PingFang SC"/>
                <a:ea typeface="PingFang SC"/>
                <a:cs typeface="PingFang SC"/>
              </a:rPr>
              <a:t>VLM 筛选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4C9510-9798-4C33-AD79-66EBAAC47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24475"/>
            <a:ext cx="3638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6C7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6C75"/>
                </a:solidFill>
                <a:latin typeface="PingFang SC"/>
                <a:ea typeface="PingFang SC"/>
                <a:cs typeface="PingFang SC"/>
              </a:rPr>
              <a:t>477 个 2 s 窗口 → 19 个高唤醒片段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1CA1F4-42EB-4A06-B875-8F996D80C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029200"/>
            <a:ext cx="285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E0D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23FFD3-C8C4-471D-84C1-C14D87C2A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133975"/>
            <a:ext cx="2590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5E6F72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5E6F72"/>
                </a:solidFill>
                <a:latin typeface="PingFang SC"/>
                <a:ea typeface="PingFang SC"/>
                <a:cs typeface="PingFang SC"/>
              </a:rPr>
              <a:t>总体 sGC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CA3A04-7CFB-4ABA-9F6A-E199E9721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324475"/>
            <a:ext cx="2590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65B3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B65B3D"/>
                </a:solidFill>
                <a:latin typeface="PingFang SC"/>
                <a:ea typeface="PingFang SC"/>
                <a:cs typeface="PingFang SC"/>
              </a:rPr>
              <a:t>H→A 1.501｜A→H 1.438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324259-3DDF-458B-89F6-854FF293D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019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8A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CEB49B-676F-44CC-83A7-492BFBF95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933950"/>
            <a:ext cx="3257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272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1272B"/>
                </a:solidFill>
                <a:latin typeface="PingFang SC"/>
                <a:ea typeface="PingFang SC"/>
                <a:cs typeface="PingFang SC"/>
              </a:rPr>
              <a:t>δ：2.406 &gt; 2.187，p = 0.011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D83955-7B77-4D72-9BD9-C3AB4C01C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343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8A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AD48DE-3D7D-462B-88EE-626C9CB39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257800"/>
            <a:ext cx="3257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272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1272B"/>
                </a:solidFill>
                <a:latin typeface="PingFang SC"/>
                <a:ea typeface="PingFang SC"/>
                <a:cs typeface="PingFang SC"/>
              </a:rPr>
              <a:t>α：1.917 &gt; 1.723，p = 0.003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926693-F1F5-49CD-B063-725781312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667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8A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996661-E504-41CB-A57A-AD2479F63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581650"/>
            <a:ext cx="3257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272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1272B"/>
                </a:solidFill>
                <a:latin typeface="PingFang SC"/>
                <a:ea typeface="PingFang SC"/>
                <a:cs typeface="PingFang SC"/>
              </a:rPr>
              <a:t>均为 H→A 高于 A→H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3DD704-3400-4A9D-BCA4-876F16D0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F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E6F72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9434813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7044E5-E77F-4B91-96DB-2638F20B1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1BABD1-07B1-44CE-9EC4-1A2AA02B4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C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4029C9-54A2-4EF6-8EAF-995F85782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6C7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26C75"/>
                </a:solidFill>
                <a:latin typeface="PingFang SC"/>
                <a:ea typeface="PingFang SC"/>
                <a:cs typeface="PingFang SC"/>
              </a:rPr>
              <a:t>研究三｜刺激凸显性：单元响应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FB29CD-5018-4D83-8638-BF3141C1E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990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272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1272B"/>
                </a:solidFill>
                <a:latin typeface="PingFang SC"/>
                <a:ea typeface="PingFang SC"/>
                <a:cs typeface="PingFang SC"/>
              </a:rPr>
              <a:t>场景切换后的放电变化提示海马相对领先，并伴随激活/抑制型响应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FD68A4-E679-4DE4-B031-C4B08FA23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53d274e67d498e"/>
          <a:stretch xmlns:a="http://schemas.openxmlformats.org/drawingml/2006/main"/>
        </p:blipFill>
        <p:spPr>
          <a:xfrm xmlns:a="http://schemas.openxmlformats.org/drawingml/2006/main">
            <a:off x="10890250" y="266700"/>
            <a:ext cx="469900" cy="3238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D07045-E967-46C3-8DE6-D5C63811E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71625"/>
            <a:ext cx="2333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E0D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D1800B-B76D-469F-BAAB-8848B6C80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76400"/>
            <a:ext cx="20669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5E6F72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5E6F72"/>
                </a:solidFill>
                <a:latin typeface="PingFang SC"/>
                <a:ea typeface="PingFang SC"/>
                <a:cs typeface="PingFang SC"/>
              </a:rPr>
              <a:t>A-H 中位滞后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7AE7D3-B18B-431E-A9BE-EFFB7FEC7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66900"/>
            <a:ext cx="20669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65B3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B65B3D"/>
                </a:solidFill>
                <a:latin typeface="PingFang SC"/>
                <a:ea typeface="PingFang SC"/>
                <a:cs typeface="PingFang SC"/>
              </a:rPr>
              <a:t>-35 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89875D-B150-4FCC-B34F-720D7C4C3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571625"/>
            <a:ext cx="2333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E0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5F5E7D-5310-426B-809F-60C253B94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676400"/>
            <a:ext cx="20669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5E6F72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5E6F72"/>
                </a:solidFill>
                <a:latin typeface="PingFang SC"/>
                <a:ea typeface="PingFang SC"/>
                <a:cs typeface="PingFang SC"/>
              </a:rPr>
              <a:t>IQR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FE7F59-E91E-41E5-9D3C-398D70FC6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866900"/>
            <a:ext cx="20669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6C7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26C75"/>
                </a:solidFill>
                <a:latin typeface="PingFang SC"/>
                <a:ea typeface="PingFang SC"/>
                <a:cs typeface="PingFang SC"/>
              </a:rPr>
              <a:t>-82.5–0 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636C56-B62F-4097-A0A5-30D0DD943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571625"/>
            <a:ext cx="2333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E0D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061916-1EA4-4903-A099-7154A329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76400"/>
            <a:ext cx="20669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5E6F72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5E6F72"/>
                </a:solidFill>
                <a:latin typeface="PingFang SC"/>
                <a:ea typeface="PingFang SC"/>
                <a:cs typeface="PingFang SC"/>
              </a:rPr>
              <a:t>海马领先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A6B8C5-9768-4E21-9E6F-04A8E8009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66900"/>
            <a:ext cx="20669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D8A52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6D8A52"/>
                </a:solidFill>
                <a:latin typeface="PingFang SC"/>
                <a:ea typeface="PingFang SC"/>
                <a:cs typeface="PingFang SC"/>
              </a:rPr>
              <a:t>16 / 27 runs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5D10BD-5A3F-4F1A-9699-92E38C37A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571625"/>
            <a:ext cx="2333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E0D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055006-0874-4A9A-9742-4E6C8D30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676400"/>
            <a:ext cx="20669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5E6F72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5E6F72"/>
                </a:solidFill>
                <a:latin typeface="PingFang SC"/>
                <a:ea typeface="PingFang SC"/>
                <a:cs typeface="PingFang SC"/>
              </a:rPr>
              <a:t>QC 后数据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80A852-72EC-4F04-A1A0-910536345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866900"/>
            <a:ext cx="20669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272B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1272B"/>
                </a:solidFill>
                <a:latin typeface="PingFang SC"/>
                <a:ea typeface="PingFang SC"/>
                <a:cs typeface="PingFang SC"/>
              </a:rPr>
              <a:t>27 runs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3FD944-E921-4391-BA80-BBE4A069C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429000"/>
            <a:ext cx="400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D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CBD1D0-E917-4F66-B292-EFB616A4A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429000"/>
            <a:ext cx="2571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C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1F3EAD-296C-455E-87F0-E7B443A6D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429000"/>
            <a:ext cx="400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2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D1A32C-F379-4EEE-ABDC-5629CFFA8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429000"/>
            <a:ext cx="2266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D352D2-0C9D-4BAF-AD56-EA5F81705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0"/>
            <a:ext cx="43338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E0D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F0C0D5-948E-4E98-8D8A-5AC451560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05275"/>
            <a:ext cx="40671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5E6F72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5E6F72"/>
                </a:solidFill>
                <a:latin typeface="PingFang SC"/>
                <a:ea typeface="PingFang SC"/>
                <a:cs typeface="PingFang SC"/>
              </a:rPr>
              <a:t>抑制型响应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4828A6-E95D-4042-8D03-EE2F3AB76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95775"/>
            <a:ext cx="40671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6C75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26C75"/>
                </a:solidFill>
                <a:latin typeface="PingFang SC"/>
                <a:ea typeface="PingFang SC"/>
                <a:cs typeface="PingFang SC"/>
              </a:rPr>
              <a:t>413 个 cluster｜Amy 270 / Hip 143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5EFBB2-6781-4DFA-AC6F-AA8B3F362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000500"/>
            <a:ext cx="43338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E0D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60D7E6-3A46-4AB8-A000-F36669C7E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105275"/>
            <a:ext cx="40671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5E6F72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5E6F72"/>
                </a:solidFill>
                <a:latin typeface="PingFang SC"/>
                <a:ea typeface="PingFang SC"/>
                <a:cs typeface="PingFang SC"/>
              </a:rPr>
              <a:t>激活型响应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B24B10-D31A-4C1A-8E7F-8DCE7064F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295775"/>
            <a:ext cx="40671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65B3D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B65B3D"/>
                </a:solidFill>
                <a:latin typeface="PingFang SC"/>
                <a:ea typeface="PingFang SC"/>
                <a:cs typeface="PingFang SC"/>
              </a:rPr>
              <a:t>290 个 cluster｜Amy 182 / Hip 108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B2EEDD-A31D-443A-93F4-98633D8FC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324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8A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5D3C18-7C73-43B7-943E-F647269F9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238750"/>
            <a:ext cx="8401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272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1272B"/>
                </a:solidFill>
                <a:latin typeface="PingFang SC"/>
                <a:ea typeface="PingFang SC"/>
                <a:cs typeface="PingFang SC"/>
              </a:rPr>
              <a:t>放电结果补充连接性分析：自然事件后，海马信息可能更早进入 A-H 系统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AFB82E-8C9D-464B-BA2D-F5B54E1D8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667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8A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F7A27D8-75AE-4379-A239-B5D992C48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581650"/>
            <a:ext cx="8401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272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1272B"/>
                </a:solidFill>
                <a:latin typeface="PingFang SC"/>
                <a:ea typeface="PingFang SC"/>
                <a:cs typeface="PingFang SC"/>
              </a:rPr>
              <a:t>激活与抑制并存，说明凸显性加工不是单向增强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25BFFFD-6F44-4479-AA99-A8ABF7C7C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F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E6F72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105020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C7ABCB-ABB5-4179-A3BF-7B7CE3399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0C8915-8086-4B39-8D52-00655E27C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C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DFE398-2DCE-4053-9E15-7EFE6163E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6C7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26C75"/>
                </a:solidFill>
                <a:latin typeface="PingFang SC"/>
                <a:ea typeface="PingFang SC"/>
                <a:cs typeface="PingFang SC"/>
              </a:rPr>
              <a:t>整合解释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BB838F-4FB9-4838-B14C-E58A4FC4E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990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272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1272B"/>
                </a:solidFill>
                <a:latin typeface="PingFang SC"/>
                <a:ea typeface="PingFang SC"/>
                <a:cs typeface="PingFang SC"/>
              </a:rPr>
              <a:t>三项研究共同指向：MTL 对短视频信息的加工是分层、动态、双通道的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A02081-E4D1-4716-A6D9-EB30C194D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4e7c33aaa7461d"/>
          <a:stretch xmlns:a="http://schemas.openxmlformats.org/drawingml/2006/main"/>
        </p:blipFill>
        <p:spPr>
          <a:xfrm xmlns:a="http://schemas.openxmlformats.org/drawingml/2006/main">
            <a:off x="10890250" y="266700"/>
            <a:ext cx="469900" cy="3238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546163-797D-4EC5-AC0F-1C6B5B421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19250"/>
            <a:ext cx="2952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65B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2197FB-CE8C-4C4A-8CBC-280C4C80E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1943100"/>
            <a:ext cx="238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65B3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B65B3D"/>
                </a:solidFill>
                <a:latin typeface="PingFang SC"/>
                <a:ea typeface="PingFang SC"/>
                <a:cs typeface="PingFang SC"/>
              </a:rPr>
              <a:t>情绪效价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95070F-E97C-4BF4-B88C-977195A14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57175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272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272B"/>
                </a:solidFill>
                <a:latin typeface="PingFang SC"/>
                <a:ea typeface="PingFang SC"/>
                <a:cs typeface="PingFang SC"/>
              </a:rPr>
              <a:t>杏仁核早期中低频响应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CE7ADF-2213-4A7E-A0B7-395CA116D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37185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F72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E6F72"/>
                </a:solidFill>
                <a:latin typeface="PingFang SC"/>
                <a:ea typeface="PingFang SC"/>
                <a:cs typeface="PingFang SC"/>
              </a:rPr>
              <a:t>可控情绪输入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74AC15-4E0D-4BA0-AFBC-548F0B195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619250"/>
            <a:ext cx="2952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26C7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711F63-7738-43D5-9AA8-9AA154174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1943100"/>
            <a:ext cx="238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6C75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26C75"/>
                </a:solidFill>
                <a:latin typeface="PingFang SC"/>
                <a:ea typeface="PingFang SC"/>
                <a:cs typeface="PingFang SC"/>
              </a:rPr>
              <a:t>主观偏好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B015BE-1B84-42E8-874A-EEC474357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57175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272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272B"/>
                </a:solidFill>
                <a:latin typeface="PingFang SC"/>
                <a:ea typeface="PingFang SC"/>
                <a:cs typeface="PingFang SC"/>
              </a:rPr>
              <a:t>A/H LFP 与海马放电差异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4B0589-1831-4870-BA4E-3DD533C2F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37185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F72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E6F72"/>
                </a:solidFill>
                <a:latin typeface="PingFang SC"/>
                <a:ea typeface="PingFang SC"/>
                <a:cs typeface="PingFang SC"/>
              </a:rPr>
              <a:t>个体价值评估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7B1628-40C6-480A-A137-5D071E723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1619250"/>
            <a:ext cx="2952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6D8A5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4937CA-B68A-4119-A2C3-E469A4293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943100"/>
            <a:ext cx="238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6D8A52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6D8A52"/>
                </a:solidFill>
                <a:latin typeface="PingFang SC"/>
                <a:ea typeface="PingFang SC"/>
                <a:cs typeface="PingFang SC"/>
              </a:rPr>
              <a:t>刺激凸显性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0FE82E-FFB5-4468-A9D1-703BBFAD1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57175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272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272B"/>
                </a:solidFill>
                <a:latin typeface="PingFang SC"/>
                <a:ea typeface="PingFang SC"/>
                <a:cs typeface="PingFang SC"/>
              </a:rPr>
              <a:t>A-H 连接与方向性变化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32A90C-E3DA-4757-BF18-18B0E29F3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37185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F72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E6F72"/>
                </a:solidFill>
                <a:latin typeface="PingFang SC"/>
                <a:ea typeface="PingFang SC"/>
                <a:cs typeface="PingFang SC"/>
              </a:rPr>
              <a:t>自然情境事件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391F82-2486-43BA-BA36-399D4582E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362450"/>
            <a:ext cx="7429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0187BD-6480-4E37-AB2B-89F122692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91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5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CF97CC-CE6A-4398-83FD-44DC598EE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905375"/>
            <a:ext cx="84486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272B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272B"/>
                </a:solidFill>
                <a:latin typeface="PingFang SC"/>
                <a:ea typeface="PingFang SC"/>
                <a:cs typeface="PingFang SC"/>
              </a:rPr>
              <a:t>杏仁核更敏感于情绪/显著性信号，海马更参与情境组织与偏好相关放电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837FDC-2D12-4126-A5D7-2F37D1B3C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72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5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E2FE42-6D14-433E-982A-C2CD210D7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286375"/>
            <a:ext cx="84486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272B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272B"/>
                </a:solidFill>
                <a:latin typeface="PingFang SC"/>
                <a:ea typeface="PingFang SC"/>
                <a:cs typeface="PingFang SC"/>
              </a:rPr>
              <a:t>短视频观看不是单一奖赏反应，而是情绪、偏好与事件结构共同塑造的动态过程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25B183-B22C-4A4E-BC8C-F2F7DD8A2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F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E6F72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6246779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73AD4D-5F8E-429C-96FC-5DFF58F64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53E35E-B147-4AA4-B6F4-BD8B10858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C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E1EA17-E87F-46A6-9605-2631EAC68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6C7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26C75"/>
                </a:solidFill>
                <a:latin typeface="PingFang SC"/>
                <a:ea typeface="PingFang SC"/>
                <a:cs typeface="PingFang SC"/>
              </a:rPr>
              <a:t>结论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9DFC1B-257E-4DBD-A3D1-50A23E247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990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272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1272B"/>
                </a:solidFill>
                <a:latin typeface="PingFang SC"/>
                <a:ea typeface="PingFang SC"/>
                <a:cs typeface="PingFang SC"/>
              </a:rPr>
              <a:t>本研究从颅内脑电层面刻画了短视频相关信息加工的关键环节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F1BE32-5214-42E0-9CFF-8AC82964B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1f3f0daa074d91"/>
          <a:stretch xmlns:a="http://schemas.openxmlformats.org/drawingml/2006/main"/>
        </p:blipFill>
        <p:spPr>
          <a:xfrm xmlns:a="http://schemas.openxmlformats.org/drawingml/2006/main">
            <a:off x="10890250" y="266700"/>
            <a:ext cx="469900" cy="3238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4292E4-14C4-47E1-8577-7B3163ECB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04950"/>
            <a:ext cx="476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26C7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FB7400-26F7-4667-AF82-11782A3F9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866900"/>
            <a:ext cx="342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C75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26C75"/>
                </a:solidFill>
                <a:latin typeface="PingFang SC"/>
                <a:ea typeface="PingFang SC"/>
                <a:cs typeface="PingFang SC"/>
              </a:rPr>
              <a:t>主要贡献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2709BF-AFA6-4952-873A-757366DCD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5622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5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64E66D-BF55-4C5A-B867-5DF3A3EA2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76500"/>
            <a:ext cx="3543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272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1272B"/>
                </a:solidFill>
                <a:latin typeface="PingFang SC"/>
                <a:ea typeface="PingFang SC"/>
                <a:cs typeface="PingFang SC"/>
              </a:rPr>
              <a:t>串联标准情绪刺激、真实短视频与自然电影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9A45DA-44CD-468F-80B8-275437CE2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71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5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B3CBC1-F6D9-4D41-8BCE-C4CABC586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886075"/>
            <a:ext cx="3543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272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1272B"/>
                </a:solidFill>
                <a:latin typeface="PingFang SC"/>
                <a:ea typeface="PingFang SC"/>
                <a:cs typeface="PingFang SC"/>
              </a:rPr>
              <a:t>同时使用 LFP、放电和连接性指标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5F27C2-C3DA-4FAE-91F0-D73D78B7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81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5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098E28-EE1E-4D58-8D44-E18B6C7E1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95650"/>
            <a:ext cx="3543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272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1272B"/>
                </a:solidFill>
                <a:latin typeface="PingFang SC"/>
                <a:ea typeface="PingFang SC"/>
                <a:cs typeface="PingFang SC"/>
              </a:rPr>
              <a:t>将刺激凸显性作为独立探索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D91F13-ECD7-4768-9E68-711927281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04950"/>
            <a:ext cx="4000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65B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E98086-31C0-473F-B72B-BDDD02D7A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86690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65B3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B65B3D"/>
                </a:solidFill>
                <a:latin typeface="PingFang SC"/>
                <a:ea typeface="PingFang SC"/>
                <a:cs typeface="PingFang SC"/>
              </a:rPr>
              <a:t>局限与展望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BFFFEF-4D72-46B7-BC23-EB655E631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5622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C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430A85-FAC0-4D1C-96D6-2D01CDDFA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76500"/>
            <a:ext cx="29718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272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1272B"/>
                </a:solidFill>
                <a:latin typeface="PingFang SC"/>
                <a:ea typeface="PingFang SC"/>
                <a:cs typeface="PingFang SC"/>
              </a:rPr>
              <a:t>样本量有限，部分分析仍偏探索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062935-B539-4B2C-BB69-B2520721B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971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C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6E546A-1C98-4D30-829B-5BC52983D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886075"/>
            <a:ext cx="29718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272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1272B"/>
                </a:solidFill>
                <a:latin typeface="PingFang SC"/>
                <a:ea typeface="PingFang SC"/>
                <a:cs typeface="PingFang SC"/>
              </a:rPr>
              <a:t>高唤醒标注仍需人工与行为检验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461434-98DF-4665-AC67-91884ADB5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381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C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EA9199-C15B-4863-91A9-EDD87D26F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295650"/>
            <a:ext cx="29718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272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1272B"/>
                </a:solidFill>
                <a:latin typeface="PingFang SC"/>
                <a:ea typeface="PingFang SC"/>
                <a:cs typeface="PingFang SC"/>
              </a:rPr>
              <a:t>后续可结合多模态特征与更大样本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48BFCE-D821-43B9-98CC-6DDCA906B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476875"/>
            <a:ext cx="600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1272B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272B"/>
                </a:solidFill>
                <a:latin typeface="PingFang SC"/>
                <a:ea typeface="PingFang SC"/>
                <a:cs typeface="PingFang SC"/>
              </a:rPr>
              <a:t>谢谢各位老师，请批评指正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A50B20-C6CF-4BCC-96B1-F67D3F2F4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F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E6F72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301577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2026-05-18T05:31:33.9470000Z</dcterms:created>
  <dcterms:modified xsi:type="dcterms:W3CDTF">2026-05-18T05:31:33.9470000Z</dcterms:modified>
</coreProperties>
</file>