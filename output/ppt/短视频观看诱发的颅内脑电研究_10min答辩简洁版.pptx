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d4e7c634644a0c" /><Relationship Type="http://schemas.openxmlformats.org/officeDocument/2006/relationships/extended-properties" Target="/docProps/app.xml" Id="R58e8bc543038492b" /><Relationship Type="http://schemas.openxmlformats.org/officeDocument/2006/relationships/officeDocument" Target="/ppt/presentation.xml" Id="Rf7a50969164942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5d8092bf1e4df2"/>
  </p:sldMasterIdLst>
  <p:notesMasterIdLst>
    <p:notesMasterId xmlns:r="http://schemas.openxmlformats.org/officeDocument/2006/relationships" r:id="Rda85dbc5d1604574"/>
  </p:notesMasterIdLst>
  <p:sldIdLst>
    <p:sldId xmlns:r="http://schemas.openxmlformats.org/officeDocument/2006/relationships" id="256" r:id="R8565d87adf8a432a"/>
    <p:sldId xmlns:r="http://schemas.openxmlformats.org/officeDocument/2006/relationships" id="257" r:id="R53038830bd8643d9"/>
    <p:sldId xmlns:r="http://schemas.openxmlformats.org/officeDocument/2006/relationships" id="258" r:id="R3cf4ba5eb0934d40"/>
    <p:sldId xmlns:r="http://schemas.openxmlformats.org/officeDocument/2006/relationships" id="259" r:id="R225dae8ee22343e7"/>
    <p:sldId xmlns:r="http://schemas.openxmlformats.org/officeDocument/2006/relationships" id="260" r:id="Rab19dd263f7d4937"/>
    <p:sldId xmlns:r="http://schemas.openxmlformats.org/officeDocument/2006/relationships" id="261" r:id="Rbf4b95dfd8234c25"/>
    <p:sldId xmlns:r="http://schemas.openxmlformats.org/officeDocument/2006/relationships" id="262" r:id="R2e38badacb944c96"/>
    <p:sldId xmlns:r="http://schemas.openxmlformats.org/officeDocument/2006/relationships" id="263" r:id="R33b64a3cd90d4783"/>
    <p:sldId xmlns:r="http://schemas.openxmlformats.org/officeDocument/2006/relationships" id="264" r:id="Re9d17494e721483d"/>
    <p:sldId xmlns:r="http://schemas.openxmlformats.org/officeDocument/2006/relationships" id="265" r:id="Rbeb0722490c040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d8092bf1e4df2" /><Relationship Type="http://schemas.openxmlformats.org/officeDocument/2006/relationships/theme" Target="/ppt/theme/theme1.xml" Id="Re1ad826db71042a7" /><Relationship Type="http://schemas.openxmlformats.org/officeDocument/2006/relationships/notesMaster" Target="/ppt/notesMasters/notesMaster1.xml" Id="Rda85dbc5d1604574" /><Relationship Type="http://schemas.openxmlformats.org/officeDocument/2006/relationships/presProps" Target="/ppt/presProps.xml" Id="R2731c46cd48f4a1c" /><Relationship Type="http://schemas.openxmlformats.org/officeDocument/2006/relationships/viewProps" Target="/ppt/viewProps.xml" Id="Rf4de295a62594979" /><Relationship Type="http://schemas.openxmlformats.org/officeDocument/2006/relationships/tableStyles" Target="/ppt/tableStyles.xml" Id="R24640fd32f884443" /><Relationship Type="http://schemas.openxmlformats.org/officeDocument/2006/relationships/slide" Target="/ppt/slides/slide1.xml" Id="R8565d87adf8a432a" /><Relationship Type="http://schemas.openxmlformats.org/officeDocument/2006/relationships/slide" Target="/ppt/slides/slide2.xml" Id="R53038830bd8643d9" /><Relationship Type="http://schemas.openxmlformats.org/officeDocument/2006/relationships/slide" Target="/ppt/slides/slide3.xml" Id="R3cf4ba5eb0934d40" /><Relationship Type="http://schemas.openxmlformats.org/officeDocument/2006/relationships/slide" Target="/ppt/slides/slide4.xml" Id="R225dae8ee22343e7" /><Relationship Type="http://schemas.openxmlformats.org/officeDocument/2006/relationships/slide" Target="/ppt/slides/slide5.xml" Id="Rab19dd263f7d4937" /><Relationship Type="http://schemas.openxmlformats.org/officeDocument/2006/relationships/slide" Target="/ppt/slides/slide6.xml" Id="Rbf4b95dfd8234c25" /><Relationship Type="http://schemas.openxmlformats.org/officeDocument/2006/relationships/slide" Target="/ppt/slides/slide7.xml" Id="R2e38badacb944c96" /><Relationship Type="http://schemas.openxmlformats.org/officeDocument/2006/relationships/slide" Target="/ppt/slides/slide8.xml" Id="R33b64a3cd90d4783" /><Relationship Type="http://schemas.openxmlformats.org/officeDocument/2006/relationships/slide" Target="/ppt/slides/slide9.xml" Id="Re9d17494e721483d" /><Relationship Type="http://schemas.openxmlformats.org/officeDocument/2006/relationships/slide" Target="/ppt/slides/slide10.xml" Id="Rbeb0722490c040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6463976d57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b3cfd9ab2d49bf" /><Relationship Type="http://schemas.openxmlformats.org/officeDocument/2006/relationships/notesMaster" Target="/ppt/notesMasters/notesMaster1.xml" Id="R3d89a382a79f43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626e27fdb24f23" /><Relationship Type="http://schemas.openxmlformats.org/officeDocument/2006/relationships/notesMaster" Target="/ppt/notesMasters/notesMaster1.xml" Id="Rcf7d4aa3ec6e4e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0aa09e9f6e4c7a" /><Relationship Type="http://schemas.openxmlformats.org/officeDocument/2006/relationships/notesMaster" Target="/ppt/notesMasters/notesMaster1.xml" Id="Ra14fb134e6894c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cb3fb6fa04fea" /><Relationship Type="http://schemas.openxmlformats.org/officeDocument/2006/relationships/notesMaster" Target="/ppt/notesMasters/notesMaster1.xml" Id="R8e64000105514d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981cea938644a8" /><Relationship Type="http://schemas.openxmlformats.org/officeDocument/2006/relationships/notesMaster" Target="/ppt/notesMasters/notesMaster1.xml" Id="R162b6640b2af42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dfc4dc67fb4df9" /><Relationship Type="http://schemas.openxmlformats.org/officeDocument/2006/relationships/notesMaster" Target="/ppt/notesMasters/notesMaster1.xml" Id="R401b45c6a81a49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479cf194f74762" /><Relationship Type="http://schemas.openxmlformats.org/officeDocument/2006/relationships/notesMaster" Target="/ppt/notesMasters/notesMaster1.xml" Id="Rd6f037dfd7464e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4352be9a044f85" /><Relationship Type="http://schemas.openxmlformats.org/officeDocument/2006/relationships/notesMaster" Target="/ppt/notesMasters/notesMaster1.xml" Id="R307da3cea23647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c3bc29955d42da" /><Relationship Type="http://schemas.openxmlformats.org/officeDocument/2006/relationships/notesMaster" Target="/ppt/notesMasters/notesMaster1.xml" Id="Rc58ffb6d858d43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a7e3ca8e6447f3" /><Relationship Type="http://schemas.openxmlformats.org/officeDocument/2006/relationships/notesMaster" Target="/ppt/notesMasters/notesMaster1.xml" Id="R1a4220857dad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f383f018a4d9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21d2f19b4524904" /><Relationship Type="http://schemas.openxmlformats.org/officeDocument/2006/relationships/slideLayout" Target="/ppt/slideLayouts/slideLayout2.xml" Id="R3d0796d96470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0796d96470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247e524c8b4307" /><Relationship Type="http://schemas.openxmlformats.org/officeDocument/2006/relationships/image" Target="/ppt/media/image.png" Id="R639b06db170a4ab3" /><Relationship Type="http://schemas.openxmlformats.org/officeDocument/2006/relationships/notesSlide" Target="/ppt/notesSlides/notesSlide1.xml" Id="R9429cc201af648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e4cb542a547bf" /><Relationship Type="http://schemas.openxmlformats.org/officeDocument/2006/relationships/image" Target="/ppt/media/image2.png" Id="R247f605711684b80" /><Relationship Type="http://schemas.openxmlformats.org/officeDocument/2006/relationships/notesSlide" Target="/ppt/notesSlides/notesSlide2.xml" Id="R945aa934ae2b4a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d2b659700480c" /><Relationship Type="http://schemas.openxmlformats.org/officeDocument/2006/relationships/image" Target="/ppt/media/image3.png" Id="R685f734efa214ce8" /><Relationship Type="http://schemas.openxmlformats.org/officeDocument/2006/relationships/notesSlide" Target="/ppt/notesSlides/notesSlide3.xml" Id="R216756775e4442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5a5190a3954a96" /><Relationship Type="http://schemas.openxmlformats.org/officeDocument/2006/relationships/image" Target="/ppt/media/image4.png" Id="R5edd7c839cb64b91" /><Relationship Type="http://schemas.openxmlformats.org/officeDocument/2006/relationships/notesSlide" Target="/ppt/notesSlides/notesSlide4.xml" Id="R415204b17ca34e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3a53ca4b5640d9" /><Relationship Type="http://schemas.openxmlformats.org/officeDocument/2006/relationships/image" Target="/ppt/media/image5.png" Id="R31c1e34e187d401b" /><Relationship Type="http://schemas.openxmlformats.org/officeDocument/2006/relationships/notesSlide" Target="/ppt/notesSlides/notesSlide5.xml" Id="R1ac8a06fcc5440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4e748099b4bc1" /><Relationship Type="http://schemas.openxmlformats.org/officeDocument/2006/relationships/image" Target="/ppt/media/image6.png" Id="R502893263ff34563" /><Relationship Type="http://schemas.openxmlformats.org/officeDocument/2006/relationships/notesSlide" Target="/ppt/notesSlides/notesSlide6.xml" Id="Rf09e5f33891a4d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cc75af6f9427d" /><Relationship Type="http://schemas.openxmlformats.org/officeDocument/2006/relationships/image" Target="/ppt/media/image7.png" Id="Rca8f88be793f4c82" /><Relationship Type="http://schemas.openxmlformats.org/officeDocument/2006/relationships/notesSlide" Target="/ppt/notesSlides/notesSlide7.xml" Id="R4ab8e3c8e6f34a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ae42d80e54856" /><Relationship Type="http://schemas.openxmlformats.org/officeDocument/2006/relationships/image" Target="/ppt/media/image8.png" Id="R9a9a467c40604f67" /><Relationship Type="http://schemas.openxmlformats.org/officeDocument/2006/relationships/notesSlide" Target="/ppt/notesSlides/notesSlide8.xml" Id="R2c08ae1a193c47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f457d19431439c" /><Relationship Type="http://schemas.openxmlformats.org/officeDocument/2006/relationships/image" Target="/ppt/media/image9.png" Id="R7eec4f2d70994859" /><Relationship Type="http://schemas.openxmlformats.org/officeDocument/2006/relationships/notesSlide" Target="/ppt/notesSlides/notesSlide9.xml" Id="R30a278a3deee47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ea86d98f4494a" /><Relationship Type="http://schemas.openxmlformats.org/officeDocument/2006/relationships/image" Target="/ppt/media/image10.png" Id="R9c319b78766d40b2" /><Relationship Type="http://schemas.openxmlformats.org/officeDocument/2006/relationships/notesSlide" Target="/ppt/notesSlides/notesSlide10.xml" Id="R893fd2d346a14a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777A9B-4488-4374-AC8A-2BC6D80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b06db170a4ab3"/>
          <a:stretch xmlns:a="http://schemas.openxmlformats.org/drawingml/2006/main"/>
        </p:blipFill>
        <p:spPr>
          <a:xfrm xmlns:a="http://schemas.openxmlformats.org/drawingml/2006/main">
            <a:off x="9903759" y="228600"/>
            <a:ext cx="995082" cy="68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12EE5-C17F-4D3E-B8EC-1A548024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- 本科毕业论文答辩 -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D8336-57ED-4318-8CB2-CBA745F7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12192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42381-4E63-452C-AFDC-053FAF3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933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短视频观看诱发的</a:t>
            </a:r>
          </a:p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颅内脑电研究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35F1E-2888-454A-9193-DDF9C7D1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心理与行为科学系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377E9-A267-4E20-A04A-E9985962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E5FDC-A3BB-40E8-AC62-6F5C91DD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482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汇报人    徐嘉晟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导师      胡玉正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日期      2026.5</a:t>
            </a:r>
          </a:p>
        </p:txBody>
      </p:sp>
    </p:spTree>
    <p:extLst>
      <p:ext uri="{BB962C8B-B14F-4D97-AF65-F5344CB8AC3E}">
        <p14:creationId xmlns:p14="http://schemas.microsoft.com/office/powerpoint/2010/main" val="15056329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3BC99-E53F-460E-9DAF-4BB48017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89966-8A49-4B69-9B3F-FF86964A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AFBB3-7629-473A-AD70-B9709658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B94FE-1BDD-4DF7-ABFF-99019A18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为什么研究短视频观看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AC4A3-3E49-4E1D-9B22-69AECC3A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F513E-2F9E-4737-B1A6-DB6B8A7F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研究背景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f605711684b80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7A055-C33F-4795-9315-57F20F2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10.74亿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A0E14-5CCA-440C-97CA-62C5D2CF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短视频用户规模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B707F-EF5A-4278-899A-567FBDE6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24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95.4%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EB9E8-9A1E-4EF8-AD2C-6FAA9F7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占网民整体比例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565B5-EFD7-4462-847C-702F6DBD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240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毫秒级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C455B-B569-423A-B674-70CB8A5E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00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iEEG时间分辨率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9392B-3899-416E-85D8-9383B69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533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47D9A-52A0-450E-949E-B8827DFD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BAC2B-516C-4048-A789-CE0695A8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核心缺口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5AF1C-4349-46B7-8AD3-78B8A96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838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已有研究多集中于问卷、行为或功能影像；短视频观看早期的深部脑区电生理证据仍不足。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EBA06-0DEE-453D-9381-72465688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533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EB534-3E29-46FE-9D38-382E9D3C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00B93-553A-40AF-A37B-F8D224A1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目标脑区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CA137-157D-453C-BF3E-191E6D44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杏仁核参与情绪显著性和价值评估，海马参与情境记忆和事件结构加工。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35416-F28C-4909-A07F-934635C3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35242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9CFE4-AAD2-4824-93F4-78CDF76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本研究聚焦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6B1EB-0148-4F79-A027-532153A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杏仁核—海马系统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5322F-FF62-4F4A-B94D-2E065C2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6325A-0780-45AD-926B-570DD64B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147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情绪效价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753FB-5F55-4E83-9201-85B3A2A9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DD261-19D2-40CC-9CC3-8D1A4DE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主观偏好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FD064-581F-4E0A-B3C7-BE59087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7FA84-84F8-4830-9CCF-B6BE29A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刺激凸显性</a:t>
            </a:r>
          </a:p>
        </p:txBody>
      </p:sp>
    </p:spTree>
    <p:extLst>
      <p:ext uri="{BB962C8B-B14F-4D97-AF65-F5344CB8AC3E}">
        <p14:creationId xmlns:p14="http://schemas.microsoft.com/office/powerpoint/2010/main" val="10624977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38C33-4047-499E-9934-49FF6922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99172-BFC4-4004-AE5A-4F3C6B6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B6840-DCB9-4220-B8A6-2104363C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76BA0-56CC-4016-AE6E-9A883E9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三个研究共同回答一个问题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672BD-4E4A-4ECA-9FDD-40A0ABB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27FCA-27FA-4E0E-9870-209FBC9F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研究框架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f734efa214ce8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47D64-016E-4F4C-914C-4881D68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杏仁核—海马系统如何在不同生态效度的刺激情境中，对情绪效价、主观偏好和刺激凸显性进行加工？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4B1A1-74D3-402C-96E1-EF98F40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09864-B6F1-4DCA-832C-0848A711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25E5D-8F74-41DF-9AF4-F2C29788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研究一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33B67-8730-433B-88FC-0B3BDBA1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情绪效价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5CFE2-956B-441E-8DC7-AB681AEE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标准图片</a:t>
            </a:r>
          </a:p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效价判断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0E7E9-07D2-4E3E-864A-7494596E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38D74-A76E-4E28-8C20-F96C1DFB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C4323-A8BB-458A-9D9C-26234778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4A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BBDA5-486C-4F90-96A0-CE3D0182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336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研究二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502EB-26C5-4697-A6E7-EB639D42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主观偏好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0E9DE-FBEF-4A29-ACD8-5516BACB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短视频</a:t>
            </a:r>
          </a:p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喜欢评分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0F682-8EA8-4BB1-BF00-E8E28F64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44132-3042-401E-AAF5-611286AB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49F66-47A5-4B3F-BF2C-E7C88E01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478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B255F-E158-4DCE-BE6B-B62907D0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4785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47857"/>
                </a:solidFill>
                <a:latin typeface="PingFang SC"/>
                <a:ea typeface="PingFang SC"/>
                <a:cs typeface="PingFang SC"/>
              </a:rPr>
              <a:t>研究三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7BD88-8E51-41F7-81A3-15C6A5AA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刺激凸显性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0D74E-B2F4-4A39-9BB9-E18FDF6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连续视频</a:t>
            </a:r>
          </a:p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场景/高唤醒事件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EB2C0-D5F2-403E-990A-1ECE1DF5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59133-A83F-46EC-9E44-F39B63B5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从可控静态图片，到真实短视频，再到公开连续自然视频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336AE-1678-41B1-92E9-3A0F7251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92C92-9CC6-4974-A398-B696BDE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0150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统一关注刺激/事件发生后 0-2 s 内的早期神经反应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C257A-EB64-4507-86FB-E462409D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14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B73ED-2658-4F1E-BDAA-AC2BF700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结合 LFP 时频功率、谱格兰杰因果性和 spike 放电率</a:t>
            </a:r>
          </a:p>
        </p:txBody>
      </p:sp>
    </p:spTree>
    <p:extLst>
      <p:ext uri="{BB962C8B-B14F-4D97-AF65-F5344CB8AC3E}">
        <p14:creationId xmlns:p14="http://schemas.microsoft.com/office/powerpoint/2010/main" val="1990660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6C3AA-58E2-40ED-BB34-A498AC2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B20AA-C8D8-4194-9E22-987A920F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F3B86-EF6F-4581-9466-CFB4BD19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4A4DA-5379-446D-B5BE-AEF15636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数据与分析口径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2D168-E7A3-4A45-9CBF-977958C5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0F813-D58C-4C72-82E8-3E2AEAAA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方法概览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d7c839cb64b91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EB89F-61ED-4C48-89D9-3DA2B3A6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38E17-F662-4463-A1CF-EE454E4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刺激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67431-0451-45CD-B742-F91C0E28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859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B9303-EFC2-4444-9C61-78801AB9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192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样本/数据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30816-36AA-4FE2-8F97-244DA87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859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E3107-A761-4B4C-98D6-56BA215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192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神经指标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3B422-200A-4FC7-8C7E-BBAF117D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69602-76B9-4BE7-82F9-CF90F9B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B0098-900C-47C4-A4B9-34EC70EE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7FB75-9883-4D06-8FE7-BD67A622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研究一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IAPS 120张图片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F9A9A-414D-4AD1-B5EF-C5EC6B6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研究一被试表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覆盖杏仁核/海马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526C4-DBDE-42DF-9EBB-770569E0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LFP 2-100 Hz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事件后0-2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B87D7-DC50-405F-8ED8-CA388A97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簇置换校正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EE1FC-BC23-4F92-91B2-E676131B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8A3AC-26CE-4F43-BA06-19C090FC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研究二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66段短视频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 s观看+评分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DF242-8506-4A9B-B620-F809A0F7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LFP: 3名被试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spike: 2名被试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118A5-3479-4E6F-BB39-3C76CB65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偏好条件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like vs dislike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108B6-0C1C-4C67-8C34-166E5A5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混合模型/FDR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B6CBB-04A5-477E-9B07-255934C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8BD21-6179-4604-BA00-D69F4093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研究三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Keles连续视频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场景切割+VLM高唤醒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C673B-A1A8-46E9-8AB0-799FB20A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16名被试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29段NWB, 27段入组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537FD-8805-4B2D-A622-A44562B8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相干性, sGC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IFR聚类/时滞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1DAC2-003A-4A4F-9293-812D59C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FDR/置换检验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A27C6-2AED-40EF-9D24-C88D3A8B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60E56-18DD-4AB3-B2E1-9858995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5DD1B-5B8B-4792-BFC9-C1DC4CC3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86450"/>
            <a:ext cx="834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答辩中只保留与结论直接相关的指标，详细预处理和公式留在论文正文。</a:t>
            </a:r>
          </a:p>
        </p:txBody>
      </p:sp>
    </p:spTree>
    <p:extLst>
      <p:ext uri="{BB962C8B-B14F-4D97-AF65-F5344CB8AC3E}">
        <p14:creationId xmlns:p14="http://schemas.microsoft.com/office/powerpoint/2010/main" val="13549814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98AD9-B261-4625-9217-5836FED5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94EF6-BF1C-4087-9267-FC6B739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6AED6-1127-45B2-A66E-E2F0773D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01A7-C4C4-457B-A02C-B539C44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研究一：杏仁核对情绪效价更敏感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2C088-C408-4808-B4DF-0CA24873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BC640-52B3-4173-BC5F-3AE3EA3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情绪效价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1e34e187d401b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014E6-3D4E-4E09-881F-022DE63F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标准图片效价判断提供了短视频研究的基线参照。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1906E-5B6A-4381-8F40-6A00AA02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95DF1-28D1-4323-8C9C-4BC64C1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关键时频窗口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2331E-5633-4182-B3AE-7C9C548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450-800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2579C-EDE2-4D4D-8582-13D094C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DAC69-10FD-4761-874C-321F130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1857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54F23-5DD5-477B-8FE4-05A3613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5.8-20.2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CED9D-9247-4918-AF4F-9DAC4816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5DDB6-A8AE-45B9-A17C-7AFD4C41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6668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68BC9-F9A1-47F7-A3DF-2EF09953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1650-1950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7A7EA-76F8-4A3B-ADB3-A1378AF3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719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B583A-7064-4781-8881-5BB10C8B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71900"/>
            <a:ext cx="2095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CDA7F-D0F8-4ABD-BAE6-61BF45E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2.0-4.1 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BE311-5680-42E9-BE47-2C8EA576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291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BFF09-F2EF-41C3-8CAB-72F52262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29100"/>
            <a:ext cx="107156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98F67-4681-4065-8B73-2FBA97E7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4000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9697C-A192-4AD9-88BE-3E5D4D58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结果概括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D93D5-2938-4BC1-9B4C-CA71A54E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杏仁核在正性/负性图片之间出现稳定的频段特异性差异；海马经校正后未形成同样稳定的效价效应。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BEAED-81D8-42EF-AD7D-D7DC121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2445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15A5A-3EB4-4ADC-B23D-227AF7FF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244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AE9706-5E5D-4EEE-8C39-0C093265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95900"/>
            <a:ext cx="680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答辩讲法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D71FC-9590-44E7-BEF9-4B9D8A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19750"/>
            <a:ext cx="674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静态图片主要调动杏仁核的效价敏感性，为后续比较短视频是否引入海马参与提供参照。</a:t>
            </a:r>
          </a:p>
        </p:txBody>
      </p:sp>
    </p:spTree>
    <p:extLst>
      <p:ext uri="{BB962C8B-B14F-4D97-AF65-F5344CB8AC3E}">
        <p14:creationId xmlns:p14="http://schemas.microsoft.com/office/powerpoint/2010/main" val="7238428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D33D2-4B8F-4EF0-9FC1-835171E9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A22B9-5D33-4EE8-8C39-C374B1E7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3E88E-30A3-48B1-A4A4-C7638CBA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92A06-B437-4D03-9750-7292F39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研究二：短视频偏好调动杏仁核和海马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FB4BC-EBFE-4CC4-83BC-3A7331DE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CB6AB-FD8C-4973-A083-6CC0758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主观偏好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893263ff34563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57263-B511-4A7D-811D-E9879AC3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668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4AB62-96E5-4097-B46A-A529160C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段短视频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5AF1A-5B2F-4D65-86B1-05009137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668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1-5分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36F4C-EDA7-4267-A9E9-4FF7617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喜欢/渴望评分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43D65-ED75-429E-801F-4B8AB95B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668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1A240-13CF-47A8-9E77-C37C99C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可分析放电单元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46588-DB6F-46A4-9F9D-392C0E3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343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7D05F-9FD0-47D4-A3EB-667C5BB4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LFP偏好效应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EA0E3-1E58-47A1-847B-54A7F71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杏仁核 450-1100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F1A0A-C8C0-4317-8A67-D80AA370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4D88B-5245-4611-B1D4-7649970D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1857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7AE67-EFA5-4A69-A6AD-8EF5902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4.9-24.2 Hz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961F5-2738-4EF0-9B18-AF4F9066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576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33094-CB3D-4E05-909C-5CD7D85F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57650"/>
            <a:ext cx="16668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DF6C9-0CD5-43D6-A374-BA56150B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海马 700-1200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F87FC-ECB0-4034-9832-5917641F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529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F49C3-7970-478A-A740-CB0B0829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52950"/>
            <a:ext cx="1524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0171E-4905-4B47-9805-15D38BFB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4343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BAC6A-BE98-4179-A4BA-87CF55E9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Spike补充证据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0A4B8-D1E8-494B-BB6F-65BE93D0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喜欢条件下部分单元IFR相对降低；不喜欢条件下事件后发放率升高或维持较高，主要来源于海马。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7566FC-98E2-4A43-AFE5-E05A10F1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CBC1F-96E7-4605-84B3-A3FB6A8F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12AF2-C66B-4018-845C-71B50F19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0"/>
            <a:ext cx="680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关键解释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92385-C1EC-4336-9746-2B2DEE9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48350"/>
            <a:ext cx="674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短视频偏好不是正性效价的同义词，更多涉及语义、节奏、兴趣和继续观看动机的整合。</a:t>
            </a:r>
          </a:p>
        </p:txBody>
      </p:sp>
    </p:spTree>
    <p:extLst>
      <p:ext uri="{BB962C8B-B14F-4D97-AF65-F5344CB8AC3E}">
        <p14:creationId xmlns:p14="http://schemas.microsoft.com/office/powerpoint/2010/main" val="17761026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84C14-5B9A-42A3-840F-8D4B64F7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E7281-2491-4FCF-BA22-784E9273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0C220-576C-43E1-AA35-09FB4899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C2AA6-E7A9-4D41-88E8-45C5DD2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研究三：连续视频中的凸显性信息加工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A6EA7-2217-4FA8-AE11-5716221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8B292-DBF9-4D07-A136-1A37F1B6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刺激凸显性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f88be793f4c82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55B94-5730-40D1-8F70-AFDC2DEB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4785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47857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BB688-7156-4C7E-88F7-DBF6FEA6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名公开数据集被试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7011C-54CA-4953-A850-7A014732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09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4785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47857"/>
                </a:solidFill>
                <a:latin typeface="PingFang SC"/>
                <a:ea typeface="PingFang SC"/>
                <a:cs typeface="PingFang SC"/>
              </a:rPr>
              <a:t>27/29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10F80-05C1-42CE-9706-B1485283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85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记录段进入组分析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B5D6E-29FD-4D65-9E2F-EE65FE40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097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4785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47857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4453A-BE92-473B-8B62-5CCCFAD7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859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个高唤醒片段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09B0C-C4AF-410C-8DD3-7ED7ADB3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381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0C1C8-D487-4496-9DAA-DF93C99C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场景切割锁定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DB18-95CD-4EE8-8554-1B1FD083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相干性 3.9-43.0 Hz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1A001-8BA0-4DD3-810B-E58ED812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004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BBF59-2496-4BD0-93AB-438392FF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00450"/>
            <a:ext cx="1905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9F179-27E3-4F3C-BB12-3C1C719F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H→A 平均 0.584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01A8E-1432-4DF3-8BE8-0F897B4D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30D20-E125-4802-9E4D-8AB06943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1714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11859-E796-438A-BFF7-BF5028AE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1257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A→H 平均 0.535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022E0-8370-41C3-9D1F-C32D4131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29A79-A86C-41A1-9971-645DA9E4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1571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68C77-21C0-4FB8-92B4-E73EAB3E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381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95C99-9C13-4703-8D2F-ABA28492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高唤醒片段探索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82FFA-3EA7-4702-BAEF-0D79C726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VLM扫描477个2 s候选窗口；δ和α频段表现出H→A方向优势，θ/β/γ未显示稳定方向性差异。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D5146-FFB1-4EE4-85AA-F219218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72100"/>
            <a:ext cx="7429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3D5B7-936A-4DDA-9AA0-616908A6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721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73A4DB-E107-416F-9BA7-54488F92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43550"/>
            <a:ext cx="6991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谨慎表述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43E5FB-450E-4760-A925-582FBAAF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67400"/>
            <a:ext cx="693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研究三是自然连续视频情境下的拓展性探索，不把结果表述为对前两项研究的简单验证。</a:t>
            </a:r>
          </a:p>
        </p:txBody>
      </p:sp>
    </p:spTree>
    <p:extLst>
      <p:ext uri="{BB962C8B-B14F-4D97-AF65-F5344CB8AC3E}">
        <p14:creationId xmlns:p14="http://schemas.microsoft.com/office/powerpoint/2010/main" val="15875919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1DBD86-ECC4-4EE6-ADC7-D1FF425C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D0C7D-C19F-41CB-95DA-4B67C81B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B41AE-F56F-42D2-96FC-CE333284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6E369-3AE0-4C0C-838B-956A2D2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综合解释：从效价到情境框架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4D3C-997E-4D73-99B0-CCF3C95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4E850-2619-4085-B88D-EB845243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综合讨论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a467c40604f67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E3AFD-D223-40A0-8C8A-065D0520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BE737-AFAC-4A1C-A09B-08BC097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3076D-3AA9-49D8-8C29-46E50B1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EC8D0-43BA-417B-986A-F3BBA563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384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情绪效价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3392D-4BCF-44C0-86E4-99CBB940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杏仁核快速区分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正负图片刺激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FBE7D-A612-4881-80F7-EBE7E671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384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4A8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4A8F"/>
                </a:solidFill>
                <a:latin typeface="PingFang SC"/>
                <a:ea typeface="PingFang SC"/>
                <a:cs typeface="PingFang SC"/>
              </a:rPr>
              <a:t>主观偏好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E037A-7410-4916-BAB6-1DF9AC97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短视频引入海马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情境/价值整合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D4C6A-CE33-4400-8F32-4A13752F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384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4785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47857"/>
                </a:solidFill>
                <a:latin typeface="PingFang SC"/>
                <a:ea typeface="PingFang SC"/>
                <a:cs typeface="PingFang SC"/>
              </a:rPr>
              <a:t>刺激凸显性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F1B53-D978-4612-A161-F2392856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连续事件中H→A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低频信息流更稳定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5FDCE-219F-4355-988E-EF860EBF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67952-AC8D-4D74-B8B6-91B00F9F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6B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6B2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AB496-303D-4341-86C6-593451F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D350C-F737-44E5-83B9-3D322549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6B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6B2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958C2-167F-4333-9C11-C9C9DAE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38700"/>
            <a:ext cx="7810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DB844-9DFC-4E50-B080-5AD12858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387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0FACD-1220-408A-8435-AA73BFA7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10150"/>
            <a:ext cx="737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核心模型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FB80F-6386-4E73-8F07-7CABE3A8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34000"/>
            <a:ext cx="731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短视频观看诱发的神经加工不能简单等同于静态图片效价判断，而是杏仁核的显著性/价值评估与海马的情境更新共同作用。</a:t>
            </a:r>
          </a:p>
        </p:txBody>
      </p:sp>
    </p:spTree>
    <p:extLst>
      <p:ext uri="{BB962C8B-B14F-4D97-AF65-F5344CB8AC3E}">
        <p14:creationId xmlns:p14="http://schemas.microsoft.com/office/powerpoint/2010/main" val="5651374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E9239-5B54-4D4E-BE48-CAAB6943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B397C-B1C3-4E48-9559-EA57CA5F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A1231-5DE0-4FD7-8495-5400644A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04E64-107D-4EF3-952F-C0F57AC7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贡献、限制与展望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4D352-1DCA-47B2-B9B6-BBD7374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D53F0-1695-426C-8184-89F723D3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c4f2d70994859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82C71-6A7A-4FCA-9353-AF483D86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4476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AD260-2C9A-4BB3-A431-EA16D3AC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主要贡献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4D9E2-19A0-4A7C-8F3E-9710B528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423D6-9975-4E2A-864D-F2A30759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329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提供短视频偏好加工的直接颅内电生理证据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40063-F83F-4AB1-A294-F2D642FD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8D381-53FA-46A8-A76E-C4E3EB3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329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区分静态效价、主观偏好和连续视频凸显性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B6BA2-93B4-4C2C-9C5E-D819DC5A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84F69-B69B-4024-AB89-17C70618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329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将LFP、sGC和spike结果整合到同一解释框架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CCC0C-D6A6-4338-BFF3-4CC571FD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4476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D41E0-AEF5-42BE-B907-803148AC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限制与后续方向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73352-7586-4AFE-A77F-A64C469C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42C97-8D59-4ABE-99B3-38BD40F7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329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临床iEEG样本量和脑区覆盖受植入方案限制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030EA-00E3-48BF-862E-ABD305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EC8E2-48B3-4F92-8100-BABC4D99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329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短视频偏好的内容因素仍需更精细标注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79CD6-5586-42DD-A183-9F6DC93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76266-A233-4823-9370-7F3E9C5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329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后续可结合更大样本、个体化推荐和长期使用指标</a:t>
            </a:r>
          </a:p>
        </p:txBody>
      </p:sp>
    </p:spTree>
    <p:extLst>
      <p:ext uri="{BB962C8B-B14F-4D97-AF65-F5344CB8AC3E}">
        <p14:creationId xmlns:p14="http://schemas.microsoft.com/office/powerpoint/2010/main" val="5061196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49517-CC40-42D0-880D-6B565CB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8FE25-FAA2-4C67-9404-189FD3FB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723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EE52B-923F-43D2-8CCE-D447516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DBA89-75E5-413A-B1F3-42FC5D29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50505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C3A79-824D-412F-88A5-41794C2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5800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7B6E0-21BD-4AF1-9B85-8EAC30D5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77A"/>
                </a:solidFill>
                <a:latin typeface="PingFang SC"/>
                <a:ea typeface="PingFang SC"/>
                <a:cs typeface="PingFang SC"/>
              </a:rPr>
              <a:t>Q&amp;A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19b78766d40b2"/>
          <a:stretch xmlns:a="http://schemas.openxmlformats.org/drawingml/2006/main"/>
        </p:blipFill>
        <p:spPr>
          <a:xfrm xmlns:a="http://schemas.openxmlformats.org/drawingml/2006/main">
            <a:off x="10202396" y="171450"/>
            <a:ext cx="912159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C9C85-5E64-442D-82D4-696566CB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914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6ACA-86CC-4DF8-BEE6-0D6A0D9B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762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短视频观看诱发的神经加工，是情绪价值评估、主观偏好形成、情境记忆整合与刺激凸显性加工的动态交互。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ED182-DD3B-4949-8797-C4294ADF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1384E-A1D2-4EF7-BCAF-7E98057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86300"/>
            <a:ext cx="786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杏仁核：对情绪效价和显著性信息更快速敏感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E9CEB-F433-4171-8726-A0D68115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837E6-7B9B-420B-A843-2E1F56CB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0"/>
            <a:ext cx="786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海马：在短视频偏好和连续事件加工中体现情境整合作用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C9BF9-B0A3-429D-B7E3-F24C46C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86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AB709-E90A-4935-A438-B5D25271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00700"/>
            <a:ext cx="786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二者通过频段特异活动、方向性信息流和拮抗单元群共同参与早期编码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77AC9-68C5-4FD2-91B6-CF1EF92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722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45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45A"/>
                </a:solidFill>
                <a:latin typeface="PingFang SC"/>
                <a:ea typeface="PingFang SC"/>
                <a:cs typeface="PingFang SC"/>
              </a:rPr>
              <a:t>谢谢，请各位老师批评指正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117697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2026-05-18T05:12:11.2620000Z</dcterms:created>
  <dcterms:modified xsi:type="dcterms:W3CDTF">2026-05-18T05:12:11.2620000Z</dcterms:modified>
</coreProperties>
</file>