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i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bookmarkIdSeed="3">
  <p:sldMasterIdLst>
    <p:sldMasterId id="2147483648" r:id="rId1"/>
  </p:sldMasterIdLst>
  <p:notesMasterIdLst>
    <p:notesMasterId r:id="rId31"/>
  </p:notesMasterIdLst>
  <p:handoutMasterIdLst>
    <p:handoutMasterId r:id="rId32"/>
  </p:handoutMasterIdLst>
  <p:sldIdLst>
    <p:sldId id="691" r:id="rId2"/>
    <p:sldId id="2286" r:id="rId3"/>
    <p:sldId id="2329" r:id="rId4"/>
    <p:sldId id="2273" r:id="rId5"/>
    <p:sldId id="2283" r:id="rId6"/>
    <p:sldId id="2312" r:id="rId7"/>
    <p:sldId id="2314" r:id="rId8"/>
    <p:sldId id="2315" r:id="rId9"/>
    <p:sldId id="2317" r:id="rId10"/>
    <p:sldId id="2316" r:id="rId11"/>
    <p:sldId id="2318" r:id="rId12"/>
    <p:sldId id="2319" r:id="rId13"/>
    <p:sldId id="2320" r:id="rId14"/>
    <p:sldId id="2322" r:id="rId15"/>
    <p:sldId id="2321" r:id="rId16"/>
    <p:sldId id="2327" r:id="rId17"/>
    <p:sldId id="2323" r:id="rId18"/>
    <p:sldId id="2325" r:id="rId19"/>
    <p:sldId id="2326" r:id="rId20"/>
    <p:sldId id="2309" r:id="rId21"/>
    <p:sldId id="2324" r:id="rId22"/>
    <p:sldId id="2287" r:id="rId23"/>
    <p:sldId id="2330" r:id="rId24"/>
    <p:sldId id="2331" r:id="rId25"/>
    <p:sldId id="2332" r:id="rId26"/>
    <p:sldId id="2333" r:id="rId27"/>
    <p:sldId id="2334" r:id="rId28"/>
    <p:sldId id="2335" r:id="rId29"/>
    <p:sldId id="2336" r:id="rId30"/>
  </p:sldIdLst>
  <p:sldSz cx="12192000" cy="6858000"/>
  <p:notesSz cx="6784975" cy="9918700"/>
  <p:custDataLst>
    <p:tags r:id="rId3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7469" userDrawn="1">
          <p15:clr>
            <a:srgbClr val="A4A3A4"/>
          </p15:clr>
        </p15:guide>
        <p15:guide id="3" orient="horz" pos="4201" userDrawn="1">
          <p15:clr>
            <a:srgbClr val="A4A3A4"/>
          </p15:clr>
        </p15:guide>
        <p15:guide id="4" pos="211"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en xp" initials="cx" lastIdx="1" clrIdx="0"/>
  <p:cmAuthor id="2" name="Fengxian WU" initials="F" lastIdx="2" clrIdx="1"/>
  <p:cmAuthor id="75" name="作者" initials="A" lastIdx="0" clrIdx="2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75B6"/>
    <a:srgbClr val="7F7F7F"/>
    <a:srgbClr val="0F3D8B"/>
    <a:srgbClr val="9B0000"/>
    <a:srgbClr val="C00000"/>
    <a:srgbClr val="FFBFBF"/>
    <a:srgbClr val="D7EAFE"/>
    <a:srgbClr val="FFFF00"/>
    <a:srgbClr val="D8D8D8"/>
    <a:srgbClr val="2038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814" autoAdjust="0"/>
    <p:restoredTop sz="81624" autoAdjust="0"/>
  </p:normalViewPr>
  <p:slideViewPr>
    <p:cSldViewPr snapToGrid="0" showGuides="1">
      <p:cViewPr varScale="1">
        <p:scale>
          <a:sx n="98" d="100"/>
          <a:sy n="98" d="100"/>
        </p:scale>
        <p:origin x="320" y="192"/>
      </p:cViewPr>
      <p:guideLst>
        <p:guide orient="horz" pos="2160"/>
        <p:guide pos="7469"/>
        <p:guide orient="horz" pos="4201"/>
        <p:guide pos="211"/>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60"/>
    </p:cViewPr>
  </p:sorterViewPr>
  <p:notesViewPr>
    <p:cSldViewPr snapToGrid="0">
      <p:cViewPr varScale="1">
        <p:scale>
          <a:sx n="120" d="100"/>
          <a:sy n="120" d="100"/>
        </p:scale>
        <p:origin x="1038" y="1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gs" Target="tags/tag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0156" cy="49765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43249" y="0"/>
            <a:ext cx="2940156" cy="497658"/>
          </a:xfrm>
          <a:prstGeom prst="rect">
            <a:avLst/>
          </a:prstGeom>
        </p:spPr>
        <p:txBody>
          <a:bodyPr vert="horz" lIns="91440" tIns="45720" rIns="91440" bIns="45720" rtlCol="0"/>
          <a:lstStyle>
            <a:lvl1pPr algn="r">
              <a:defRPr sz="1200"/>
            </a:lvl1pPr>
          </a:lstStyle>
          <a:p>
            <a:fld id="{3CC7F54C-37C4-4BF4-BFE3-C27AF4B991CA}" type="datetimeFigureOut">
              <a:rPr lang="zh-CN" altLang="en-US" smtClean="0"/>
              <a:t>2026/5/28</a:t>
            </a:fld>
            <a:endParaRPr lang="zh-CN" altLang="en-US"/>
          </a:p>
        </p:txBody>
      </p:sp>
      <p:sp>
        <p:nvSpPr>
          <p:cNvPr id="4" name="页脚占位符 3"/>
          <p:cNvSpPr>
            <a:spLocks noGrp="1"/>
          </p:cNvSpPr>
          <p:nvPr>
            <p:ph type="ftr" sz="quarter" idx="2"/>
          </p:nvPr>
        </p:nvSpPr>
        <p:spPr>
          <a:xfrm>
            <a:off x="0" y="9421044"/>
            <a:ext cx="2940156" cy="497656"/>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43249" y="9421044"/>
            <a:ext cx="2940156" cy="497656"/>
          </a:xfrm>
          <a:prstGeom prst="rect">
            <a:avLst/>
          </a:prstGeom>
        </p:spPr>
        <p:txBody>
          <a:bodyPr vert="horz" lIns="91440" tIns="45720" rIns="91440" bIns="45720" rtlCol="0" anchor="b"/>
          <a:lstStyle>
            <a:lvl1pPr algn="r">
              <a:defRPr sz="1200"/>
            </a:lvl1pPr>
          </a:lstStyle>
          <a:p>
            <a:fld id="{46B49DDB-6E2D-4EBF-BA11-33B598197443}"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0156" cy="49765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43249" y="0"/>
            <a:ext cx="2940156" cy="497658"/>
          </a:xfrm>
          <a:prstGeom prst="rect">
            <a:avLst/>
          </a:prstGeom>
        </p:spPr>
        <p:txBody>
          <a:bodyPr vert="horz" lIns="91440" tIns="45720" rIns="91440" bIns="45720" rtlCol="0"/>
          <a:lstStyle>
            <a:lvl1pPr algn="r">
              <a:defRPr sz="1200"/>
            </a:lvl1pPr>
          </a:lstStyle>
          <a:p>
            <a:fld id="{4E31F4A4-A522-43EE-BB05-ADEFB8783349}" type="datetimeFigureOut">
              <a:rPr lang="zh-CN" altLang="en-US" smtClean="0"/>
              <a:t>2026/5/28</a:t>
            </a:fld>
            <a:endParaRPr lang="zh-CN" altLang="en-US"/>
          </a:p>
        </p:txBody>
      </p:sp>
      <p:sp>
        <p:nvSpPr>
          <p:cNvPr id="4" name="幻灯片图像占位符 3"/>
          <p:cNvSpPr>
            <a:spLocks noGrp="1" noRot="1" noChangeAspect="1"/>
          </p:cNvSpPr>
          <p:nvPr>
            <p:ph type="sldImg" idx="2"/>
          </p:nvPr>
        </p:nvSpPr>
        <p:spPr>
          <a:xfrm>
            <a:off x="417513" y="1239838"/>
            <a:ext cx="5949950" cy="3348037"/>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8498" y="4773374"/>
            <a:ext cx="5427980" cy="3905488"/>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9421044"/>
            <a:ext cx="2940156" cy="497656"/>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43249" y="9421044"/>
            <a:ext cx="2940156" cy="497656"/>
          </a:xfrm>
          <a:prstGeom prst="rect">
            <a:avLst/>
          </a:prstGeom>
        </p:spPr>
        <p:txBody>
          <a:bodyPr vert="horz" lIns="91440" tIns="45720" rIns="91440" bIns="45720" rtlCol="0" anchor="b"/>
          <a:lstStyle>
            <a:lvl1pPr algn="r">
              <a:defRPr sz="1200"/>
            </a:lvl1pPr>
          </a:lstStyle>
          <a:p>
            <a:fld id="{AD80470A-4597-4319-87FD-3AB9665446A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E0E0E2-7263-44C4-AAA9-733DBA7BD205}"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chemeClr val="tx1"/>
                </a:solidFill>
                <a:latin typeface="FangSong_GB2312" panose="02010609030101010101" pitchFamily="49" charset="-122"/>
                <a:ea typeface="FangSong_GB2312" panose="02010609030101010101" pitchFamily="49" charset="-122"/>
              </a:rPr>
              <a:t>截至</a:t>
            </a:r>
            <a:r>
              <a:rPr lang="en-US" altLang="zh-CN" dirty="0">
                <a:solidFill>
                  <a:schemeClr val="tx1"/>
                </a:solidFill>
                <a:latin typeface="FangSong_GB2312" panose="02010609030101010101" pitchFamily="49" charset="-122"/>
                <a:ea typeface="FangSong_GB2312" panose="02010609030101010101" pitchFamily="49" charset="-122"/>
              </a:rPr>
              <a:t>2025</a:t>
            </a:r>
            <a:r>
              <a:rPr lang="zh-CN" altLang="en-US" dirty="0">
                <a:solidFill>
                  <a:schemeClr val="tx1"/>
                </a:solidFill>
                <a:latin typeface="FangSong_GB2312" panose="02010609030101010101" pitchFamily="49" charset="-122"/>
                <a:ea typeface="FangSong_GB2312" panose="02010609030101010101" pitchFamily="49" charset="-122"/>
              </a:rPr>
              <a:t>年</a:t>
            </a:r>
            <a:r>
              <a:rPr lang="en-US" altLang="zh-CN" dirty="0">
                <a:solidFill>
                  <a:schemeClr val="tx1"/>
                </a:solidFill>
                <a:latin typeface="FangSong_GB2312" panose="02010609030101010101" pitchFamily="49" charset="-122"/>
                <a:ea typeface="FangSong_GB2312" panose="02010609030101010101" pitchFamily="49" charset="-122"/>
              </a:rPr>
              <a:t>12</a:t>
            </a:r>
            <a:r>
              <a:rPr lang="zh-CN" altLang="en-US" dirty="0">
                <a:solidFill>
                  <a:schemeClr val="tx1"/>
                </a:solidFill>
                <a:latin typeface="FangSong_GB2312" panose="02010609030101010101" pitchFamily="49" charset="-122"/>
                <a:ea typeface="FangSong_GB2312" panose="02010609030101010101" pitchFamily="49" charset="-122"/>
              </a:rPr>
              <a:t>月，我国短视频用户规模达</a:t>
            </a:r>
            <a:r>
              <a:rPr lang="en-US" altLang="zh-CN" dirty="0">
                <a:solidFill>
                  <a:schemeClr val="tx1"/>
                </a:solidFill>
                <a:latin typeface="FangSong_GB2312" panose="02010609030101010101" pitchFamily="49" charset="-122"/>
                <a:ea typeface="FangSong_GB2312" panose="02010609030101010101" pitchFamily="49" charset="-122"/>
              </a:rPr>
              <a:t>10.74</a:t>
            </a:r>
            <a:r>
              <a:rPr lang="zh-CN" altLang="en-US" dirty="0">
                <a:solidFill>
                  <a:schemeClr val="tx1"/>
                </a:solidFill>
                <a:latin typeface="FangSong_GB2312" panose="02010609030101010101" pitchFamily="49" charset="-122"/>
                <a:ea typeface="FangSong_GB2312" panose="02010609030101010101" pitchFamily="49" charset="-122"/>
              </a:rPr>
              <a:t>亿，占网民整体</a:t>
            </a:r>
            <a:r>
              <a:rPr lang="en-US" altLang="zh-CN" dirty="0">
                <a:solidFill>
                  <a:schemeClr val="tx1"/>
                </a:solidFill>
                <a:latin typeface="FangSong_GB2312" panose="02010609030101010101" pitchFamily="49" charset="-122"/>
                <a:ea typeface="FangSong_GB2312" panose="02010609030101010101" pitchFamily="49" charset="-122"/>
              </a:rPr>
              <a:t>95.4%</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chemeClr val="tx1"/>
                </a:solidFill>
                <a:latin typeface="FangSong_GB2312" panose="02010609030101010101" pitchFamily="49" charset="-122"/>
                <a:ea typeface="FangSong_GB2312" panose="02010609030101010101" pitchFamily="49" charset="-122"/>
              </a:rPr>
              <a:t>短视频具有时长短、切换快、视听信息密集、反馈即时和个性化推荐等特征，容易形成“继续观看</a:t>
            </a:r>
            <a:r>
              <a:rPr lang="en-US" altLang="zh-CN" dirty="0">
                <a:solidFill>
                  <a:schemeClr val="tx1"/>
                </a:solidFill>
                <a:latin typeface="FangSong_GB2312" panose="02010609030101010101" pitchFamily="49" charset="-122"/>
                <a:ea typeface="FangSong_GB2312" panose="02010609030101010101" pitchFamily="49" charset="-122"/>
              </a:rPr>
              <a:t>—</a:t>
            </a:r>
            <a:r>
              <a:rPr lang="zh-CN" altLang="en-US" dirty="0">
                <a:solidFill>
                  <a:schemeClr val="tx1"/>
                </a:solidFill>
                <a:latin typeface="FangSong_GB2312" panose="02010609030101010101" pitchFamily="49" charset="-122"/>
                <a:ea typeface="FangSong_GB2312" panose="02010609030101010101" pitchFamily="49" charset="-122"/>
              </a:rPr>
              <a:t>再次推荐</a:t>
            </a:r>
            <a:r>
              <a:rPr lang="en-US" altLang="zh-CN" dirty="0">
                <a:solidFill>
                  <a:schemeClr val="tx1"/>
                </a:solidFill>
                <a:latin typeface="FangSong_GB2312" panose="02010609030101010101" pitchFamily="49" charset="-122"/>
                <a:ea typeface="FangSong_GB2312" panose="02010609030101010101" pitchFamily="49" charset="-122"/>
              </a:rPr>
              <a:t>—</a:t>
            </a:r>
            <a:r>
              <a:rPr lang="zh-CN" altLang="en-US" dirty="0">
                <a:solidFill>
                  <a:schemeClr val="tx1"/>
                </a:solidFill>
                <a:latin typeface="FangSong_GB2312" panose="02010609030101010101" pitchFamily="49" charset="-122"/>
                <a:ea typeface="FangSong_GB2312" panose="02010609030101010101" pitchFamily="49" charset="-122"/>
              </a:rPr>
              <a:t>继续观看”的循环</a:t>
            </a:r>
            <a:endParaRPr lang="en-US" altLang="zh-CN" b="1" dirty="0">
              <a:solidFill>
                <a:schemeClr val="tx1"/>
              </a:solidFill>
              <a:latin typeface="FangSong_GB2312" panose="02010609030101010101" pitchFamily="49" charset="-122"/>
              <a:ea typeface="FangSong_GB2312" panose="0201060903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chemeClr val="tx1"/>
                </a:solidFill>
                <a:latin typeface="FangSong_GB2312" panose="02010609030101010101" pitchFamily="49" charset="-122"/>
                <a:ea typeface="FangSong_GB2312" panose="02010609030101010101" pitchFamily="49" charset="-122"/>
              </a:rPr>
              <a:t>短视频观看同时包含情绪效价、主观偏好、奖赏期待、情境整合、情景凸显性等过程</a:t>
            </a:r>
            <a:endParaRPr lang="en-US" altLang="zh-CN" dirty="0">
              <a:solidFill>
                <a:schemeClr val="tx1"/>
              </a:solidFill>
              <a:latin typeface="FangSong_GB2312" panose="02010609030101010101" pitchFamily="49" charset="-122"/>
              <a:ea typeface="FangSong_GB2312" panose="0201060903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chemeClr val="tx1"/>
                </a:solidFill>
                <a:latin typeface="FangSong_GB2312" panose="02010609030101010101" pitchFamily="49" charset="-122"/>
                <a:ea typeface="FangSong_GB2312" panose="02010609030101010101" pitchFamily="49" charset="-122"/>
              </a:rPr>
              <a:t>杏仁核参与情绪意义、显著性和价值评估；海马参与情境记忆、事件结构和经验整合。二者的动态交互可能支持短视频观看中的偏好形成和持续观看动机</a:t>
            </a:r>
            <a:endParaRPr lang="en-US" altLang="zh-CN" dirty="0">
              <a:solidFill>
                <a:schemeClr val="tx1"/>
              </a:solidFill>
              <a:latin typeface="FangSong_GB2312" panose="02010609030101010101" pitchFamily="49" charset="-122"/>
              <a:ea typeface="FangSong_GB2312" panose="0201060903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AD80470A-4597-4319-87FD-3AB9665446AB}"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842B4-A2B0-2AA8-0429-51D86C90BA4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D57C869-72CE-39C1-FA71-818790E4482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51868D1-9825-C31D-17C0-55C651B8142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chemeClr val="tx1"/>
                </a:solidFill>
                <a:latin typeface="FangSong_GB2312" panose="02010609030101010101" pitchFamily="49" charset="-122"/>
                <a:ea typeface="FangSong_GB2312" panose="02010609030101010101" pitchFamily="49" charset="-122"/>
              </a:rPr>
              <a:t>截至</a:t>
            </a:r>
            <a:r>
              <a:rPr lang="en-US" altLang="zh-CN" dirty="0">
                <a:solidFill>
                  <a:schemeClr val="tx1"/>
                </a:solidFill>
                <a:latin typeface="FangSong_GB2312" panose="02010609030101010101" pitchFamily="49" charset="-122"/>
                <a:ea typeface="FangSong_GB2312" panose="02010609030101010101" pitchFamily="49" charset="-122"/>
              </a:rPr>
              <a:t>2025</a:t>
            </a:r>
            <a:r>
              <a:rPr lang="zh-CN" altLang="en-US" dirty="0">
                <a:solidFill>
                  <a:schemeClr val="tx1"/>
                </a:solidFill>
                <a:latin typeface="FangSong_GB2312" panose="02010609030101010101" pitchFamily="49" charset="-122"/>
                <a:ea typeface="FangSong_GB2312" panose="02010609030101010101" pitchFamily="49" charset="-122"/>
              </a:rPr>
              <a:t>年</a:t>
            </a:r>
            <a:r>
              <a:rPr lang="en-US" altLang="zh-CN" dirty="0">
                <a:solidFill>
                  <a:schemeClr val="tx1"/>
                </a:solidFill>
                <a:latin typeface="FangSong_GB2312" panose="02010609030101010101" pitchFamily="49" charset="-122"/>
                <a:ea typeface="FangSong_GB2312" panose="02010609030101010101" pitchFamily="49" charset="-122"/>
              </a:rPr>
              <a:t>12</a:t>
            </a:r>
            <a:r>
              <a:rPr lang="zh-CN" altLang="en-US" dirty="0">
                <a:solidFill>
                  <a:schemeClr val="tx1"/>
                </a:solidFill>
                <a:latin typeface="FangSong_GB2312" panose="02010609030101010101" pitchFamily="49" charset="-122"/>
                <a:ea typeface="FangSong_GB2312" panose="02010609030101010101" pitchFamily="49" charset="-122"/>
              </a:rPr>
              <a:t>月，我国短视频用户规模达</a:t>
            </a:r>
            <a:r>
              <a:rPr lang="en-US" altLang="zh-CN" dirty="0">
                <a:solidFill>
                  <a:schemeClr val="tx1"/>
                </a:solidFill>
                <a:latin typeface="FangSong_GB2312" panose="02010609030101010101" pitchFamily="49" charset="-122"/>
                <a:ea typeface="FangSong_GB2312" panose="02010609030101010101" pitchFamily="49" charset="-122"/>
              </a:rPr>
              <a:t>10.74</a:t>
            </a:r>
            <a:r>
              <a:rPr lang="zh-CN" altLang="en-US" dirty="0">
                <a:solidFill>
                  <a:schemeClr val="tx1"/>
                </a:solidFill>
                <a:latin typeface="FangSong_GB2312" panose="02010609030101010101" pitchFamily="49" charset="-122"/>
                <a:ea typeface="FangSong_GB2312" panose="02010609030101010101" pitchFamily="49" charset="-122"/>
              </a:rPr>
              <a:t>亿，占网民整体</a:t>
            </a:r>
            <a:r>
              <a:rPr lang="en-US" altLang="zh-CN" dirty="0">
                <a:solidFill>
                  <a:schemeClr val="tx1"/>
                </a:solidFill>
                <a:latin typeface="FangSong_GB2312" panose="02010609030101010101" pitchFamily="49" charset="-122"/>
                <a:ea typeface="FangSong_GB2312" panose="02010609030101010101" pitchFamily="49" charset="-122"/>
              </a:rPr>
              <a:t>95.4%</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chemeClr val="tx1"/>
                </a:solidFill>
                <a:latin typeface="FangSong_GB2312" panose="02010609030101010101" pitchFamily="49" charset="-122"/>
                <a:ea typeface="FangSong_GB2312" panose="02010609030101010101" pitchFamily="49" charset="-122"/>
              </a:rPr>
              <a:t>短视频具有时长短、切换快、视听信息密集、反馈即时和个性化推荐等特征，容易形成“继续观看</a:t>
            </a:r>
            <a:r>
              <a:rPr lang="en-US" altLang="zh-CN" dirty="0">
                <a:solidFill>
                  <a:schemeClr val="tx1"/>
                </a:solidFill>
                <a:latin typeface="FangSong_GB2312" panose="02010609030101010101" pitchFamily="49" charset="-122"/>
                <a:ea typeface="FangSong_GB2312" panose="02010609030101010101" pitchFamily="49" charset="-122"/>
              </a:rPr>
              <a:t>—</a:t>
            </a:r>
            <a:r>
              <a:rPr lang="zh-CN" altLang="en-US" dirty="0">
                <a:solidFill>
                  <a:schemeClr val="tx1"/>
                </a:solidFill>
                <a:latin typeface="FangSong_GB2312" panose="02010609030101010101" pitchFamily="49" charset="-122"/>
                <a:ea typeface="FangSong_GB2312" panose="02010609030101010101" pitchFamily="49" charset="-122"/>
              </a:rPr>
              <a:t>再次推荐</a:t>
            </a:r>
            <a:r>
              <a:rPr lang="en-US" altLang="zh-CN" dirty="0">
                <a:solidFill>
                  <a:schemeClr val="tx1"/>
                </a:solidFill>
                <a:latin typeface="FangSong_GB2312" panose="02010609030101010101" pitchFamily="49" charset="-122"/>
                <a:ea typeface="FangSong_GB2312" panose="02010609030101010101" pitchFamily="49" charset="-122"/>
              </a:rPr>
              <a:t>—</a:t>
            </a:r>
            <a:r>
              <a:rPr lang="zh-CN" altLang="en-US" dirty="0">
                <a:solidFill>
                  <a:schemeClr val="tx1"/>
                </a:solidFill>
                <a:latin typeface="FangSong_GB2312" panose="02010609030101010101" pitchFamily="49" charset="-122"/>
                <a:ea typeface="FangSong_GB2312" panose="02010609030101010101" pitchFamily="49" charset="-122"/>
              </a:rPr>
              <a:t>继续观看”的循环</a:t>
            </a:r>
            <a:endParaRPr lang="en-US" altLang="zh-CN" b="1" dirty="0">
              <a:solidFill>
                <a:schemeClr val="tx1"/>
              </a:solidFill>
              <a:latin typeface="FangSong_GB2312" panose="02010609030101010101" pitchFamily="49" charset="-122"/>
              <a:ea typeface="FangSong_GB2312" panose="0201060903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chemeClr val="tx1"/>
                </a:solidFill>
                <a:latin typeface="FangSong_GB2312" panose="02010609030101010101" pitchFamily="49" charset="-122"/>
                <a:ea typeface="FangSong_GB2312" panose="02010609030101010101" pitchFamily="49" charset="-122"/>
              </a:rPr>
              <a:t>短视频观看同时包含情绪效价、主观偏好、奖赏期待、情境整合、情景凸显性等过程</a:t>
            </a:r>
            <a:endParaRPr lang="en-US" altLang="zh-CN" dirty="0">
              <a:solidFill>
                <a:schemeClr val="tx1"/>
              </a:solidFill>
              <a:latin typeface="FangSong_GB2312" panose="02010609030101010101" pitchFamily="49" charset="-122"/>
              <a:ea typeface="FangSong_GB2312" panose="0201060903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chemeClr val="tx1"/>
                </a:solidFill>
                <a:latin typeface="FangSong_GB2312" panose="02010609030101010101" pitchFamily="49" charset="-122"/>
                <a:ea typeface="FangSong_GB2312" panose="02010609030101010101" pitchFamily="49" charset="-122"/>
              </a:rPr>
              <a:t>杏仁核参与情绪意义、显著性和价值评估；海马参与情境记忆、事件结构和经验整合。二者的动态交互可能支持短视频观看中的偏好形成和持续观看动机</a:t>
            </a:r>
            <a:endParaRPr lang="en-US" altLang="zh-CN" dirty="0">
              <a:solidFill>
                <a:schemeClr val="tx1"/>
              </a:solidFill>
              <a:latin typeface="FangSong_GB2312" panose="02010609030101010101" pitchFamily="49" charset="-122"/>
              <a:ea typeface="FangSong_GB2312" panose="0201060903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a:extLst>
              <a:ext uri="{FF2B5EF4-FFF2-40B4-BE49-F238E27FC236}">
                <a16:creationId xmlns:a16="http://schemas.microsoft.com/office/drawing/2014/main" id="{38132314-F873-703D-1B7B-965E2E06F630}"/>
              </a:ext>
            </a:extLst>
          </p:cNvPr>
          <p:cNvSpPr>
            <a:spLocks noGrp="1"/>
          </p:cNvSpPr>
          <p:nvPr>
            <p:ph type="sldNum" sz="quarter" idx="5"/>
          </p:nvPr>
        </p:nvSpPr>
        <p:spPr/>
        <p:txBody>
          <a:bodyPr/>
          <a:lstStyle/>
          <a:p>
            <a:fld id="{AD80470A-4597-4319-87FD-3AB9665446AB}" type="slidenum">
              <a:rPr lang="zh-CN" altLang="en-US" smtClean="0"/>
              <a:t>3</a:t>
            </a:fld>
            <a:endParaRPr lang="zh-CN" altLang="en-US"/>
          </a:p>
        </p:txBody>
      </p:sp>
    </p:spTree>
    <p:extLst>
      <p:ext uri="{BB962C8B-B14F-4D97-AF65-F5344CB8AC3E}">
        <p14:creationId xmlns:p14="http://schemas.microsoft.com/office/powerpoint/2010/main" val="2860115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D80470A-4597-4319-87FD-3AB9665446AB}"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85750" indent="-285750">
              <a:buFont typeface="Arial" panose="020B0604020202020204" pitchFamily="34" charset="0"/>
              <a:buChar char="•"/>
            </a:pPr>
            <a:r>
              <a:rPr lang="zh-CN" altLang="en-US" dirty="0">
                <a:solidFill>
                  <a:schemeClr val="tx1"/>
                </a:solidFill>
                <a:latin typeface="微软雅黑" panose="020B0503020204020204" pitchFamily="34" charset="-122"/>
                <a:ea typeface="微软雅黑" panose="020B0503020204020204" pitchFamily="34" charset="-122"/>
              </a:rPr>
              <a:t>标题</a:t>
            </a:r>
            <a:endParaRPr lang="en-US" altLang="zh-CN" dirty="0">
              <a:solidFill>
                <a:schemeClr val="tx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5"/>
          </p:nvPr>
        </p:nvSpPr>
        <p:spPr/>
        <p:txBody>
          <a:bodyPr/>
          <a:lstStyle/>
          <a:p>
            <a:fld id="{AD80470A-4597-4319-87FD-3AB9665446AB}"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51F4B-2C7B-BD10-2BD5-A8957C73BE4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1BBFB13-A8C4-4135-008E-5E9F4855FBF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D9CB687-C15F-25FC-8F59-BB14D8C527B6}"/>
              </a:ext>
            </a:extLst>
          </p:cNvPr>
          <p:cNvSpPr>
            <a:spLocks noGrp="1"/>
          </p:cNvSpPr>
          <p:nvPr>
            <p:ph type="body" idx="1"/>
          </p:nvPr>
        </p:nvSpPr>
        <p:spPr/>
        <p:txBody>
          <a:bodyPr/>
          <a:lstStyle/>
          <a:p>
            <a:pPr marL="285750" indent="-285750">
              <a:buFont typeface="Arial" panose="020B0604020202020204" pitchFamily="34" charset="0"/>
              <a:buChar char="•"/>
            </a:pPr>
            <a:endParaRPr lang="en-US" altLang="zh-CN" dirty="0">
              <a:solidFill>
                <a:schemeClr val="tx1"/>
              </a:solidFill>
              <a:latin typeface="微软雅黑" panose="020B0503020204020204" pitchFamily="34" charset="-122"/>
              <a:ea typeface="微软雅黑" panose="020B0503020204020204" pitchFamily="34" charset="-122"/>
            </a:endParaRPr>
          </a:p>
        </p:txBody>
      </p:sp>
      <p:sp>
        <p:nvSpPr>
          <p:cNvPr id="4" name="灯片编号占位符 3">
            <a:extLst>
              <a:ext uri="{FF2B5EF4-FFF2-40B4-BE49-F238E27FC236}">
                <a16:creationId xmlns:a16="http://schemas.microsoft.com/office/drawing/2014/main" id="{6F171433-BA60-1037-E135-344F82EC7AE0}"/>
              </a:ext>
            </a:extLst>
          </p:cNvPr>
          <p:cNvSpPr>
            <a:spLocks noGrp="1"/>
          </p:cNvSpPr>
          <p:nvPr>
            <p:ph type="sldNum" sz="quarter" idx="5"/>
          </p:nvPr>
        </p:nvSpPr>
        <p:spPr/>
        <p:txBody>
          <a:bodyPr/>
          <a:lstStyle/>
          <a:p>
            <a:fld id="{AD80470A-4597-4319-87FD-3AB9665446AB}" type="slidenum">
              <a:rPr lang="zh-CN" altLang="en-US" smtClean="0"/>
              <a:t>6</a:t>
            </a:fld>
            <a:endParaRPr lang="zh-CN" altLang="en-US"/>
          </a:p>
        </p:txBody>
      </p:sp>
    </p:spTree>
    <p:extLst>
      <p:ext uri="{BB962C8B-B14F-4D97-AF65-F5344CB8AC3E}">
        <p14:creationId xmlns:p14="http://schemas.microsoft.com/office/powerpoint/2010/main" val="8530055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53426-B24B-F0D6-73DD-A4AD671CE87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15E5982-9106-5375-785A-27AFDF09B8F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BEBC44F-070D-953E-DF46-4D082AAFA197}"/>
              </a:ext>
            </a:extLst>
          </p:cNvPr>
          <p:cNvSpPr>
            <a:spLocks noGrp="1"/>
          </p:cNvSpPr>
          <p:nvPr>
            <p:ph type="body" idx="1"/>
          </p:nvPr>
        </p:nvSpPr>
        <p:spPr/>
        <p:txBody>
          <a:bodyPr/>
          <a:lstStyle/>
          <a:p>
            <a:pPr marL="285750" indent="-285750">
              <a:buFont typeface="Arial" panose="020B0604020202020204" pitchFamily="34" charset="0"/>
              <a:buChar char="•"/>
            </a:pPr>
            <a:r>
              <a:rPr lang="en-US" altLang="zh-CN" dirty="0">
                <a:solidFill>
                  <a:schemeClr val="tx1"/>
                </a:solidFill>
                <a:latin typeface="微软雅黑" panose="020B0503020204020204" pitchFamily="34" charset="-122"/>
                <a:ea typeface="微软雅黑" panose="020B0503020204020204" pitchFamily="34" charset="-122"/>
              </a:rPr>
              <a:t>Call</a:t>
            </a:r>
            <a:r>
              <a:rPr lang="zh-CN" altLang="en-US" dirty="0">
                <a:solidFill>
                  <a:schemeClr val="tx1"/>
                </a:solidFill>
                <a:latin typeface="微软雅黑" panose="020B0503020204020204" pitchFamily="34" charset="-122"/>
                <a:ea typeface="微软雅黑" panose="020B0503020204020204" pitchFamily="34" charset="-122"/>
              </a:rPr>
              <a:t> </a:t>
            </a:r>
            <a:r>
              <a:rPr lang="en-US" altLang="zh-CN" dirty="0">
                <a:solidFill>
                  <a:schemeClr val="tx1"/>
                </a:solidFill>
                <a:latin typeface="微软雅黑" panose="020B0503020204020204" pitchFamily="34" charset="-122"/>
                <a:ea typeface="微软雅黑" panose="020B0503020204020204" pitchFamily="34" charset="-122"/>
              </a:rPr>
              <a:t>back</a:t>
            </a:r>
            <a:r>
              <a:rPr lang="zh-CN" altLang="en-US" dirty="0">
                <a:solidFill>
                  <a:schemeClr val="tx1"/>
                </a:solidFill>
                <a:latin typeface="微软雅黑" panose="020B0503020204020204" pitchFamily="34" charset="-122"/>
                <a:ea typeface="微软雅黑" panose="020B0503020204020204" pitchFamily="34" charset="-122"/>
              </a:rPr>
              <a:t>问题</a:t>
            </a:r>
            <a:endParaRPr lang="en-US" altLang="zh-CN" dirty="0">
              <a:solidFill>
                <a:schemeClr val="tx1"/>
              </a:solidFill>
              <a:latin typeface="微软雅黑" panose="020B0503020204020204" pitchFamily="34" charset="-122"/>
              <a:ea typeface="微软雅黑" panose="020B0503020204020204" pitchFamily="34" charset="-122"/>
            </a:endParaRPr>
          </a:p>
        </p:txBody>
      </p:sp>
      <p:sp>
        <p:nvSpPr>
          <p:cNvPr id="4" name="灯片编号占位符 3">
            <a:extLst>
              <a:ext uri="{FF2B5EF4-FFF2-40B4-BE49-F238E27FC236}">
                <a16:creationId xmlns:a16="http://schemas.microsoft.com/office/drawing/2014/main" id="{B262DBC6-F621-BE6C-AF25-5D8BAD382223}"/>
              </a:ext>
            </a:extLst>
          </p:cNvPr>
          <p:cNvSpPr>
            <a:spLocks noGrp="1"/>
          </p:cNvSpPr>
          <p:nvPr>
            <p:ph type="sldNum" sz="quarter" idx="5"/>
          </p:nvPr>
        </p:nvSpPr>
        <p:spPr/>
        <p:txBody>
          <a:bodyPr/>
          <a:lstStyle/>
          <a:p>
            <a:fld id="{AD80470A-4597-4319-87FD-3AB9665446AB}" type="slidenum">
              <a:rPr lang="zh-CN" altLang="en-US" smtClean="0"/>
              <a:t>7</a:t>
            </a:fld>
            <a:endParaRPr lang="zh-CN" altLang="en-US"/>
          </a:p>
        </p:txBody>
      </p:sp>
    </p:spTree>
    <p:extLst>
      <p:ext uri="{BB962C8B-B14F-4D97-AF65-F5344CB8AC3E}">
        <p14:creationId xmlns:p14="http://schemas.microsoft.com/office/powerpoint/2010/main" val="29682199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B1FB5-4E2B-D9BA-56BD-5A5418941D8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F7CA3DD-76C4-5808-4651-E6F24378B49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0C06AFF-5E4E-FD9F-CFE4-E30E995DC92A}"/>
              </a:ext>
            </a:extLst>
          </p:cNvPr>
          <p:cNvSpPr>
            <a:spLocks noGrp="1"/>
          </p:cNvSpPr>
          <p:nvPr>
            <p:ph type="body" idx="1"/>
          </p:nvPr>
        </p:nvSpPr>
        <p:spPr/>
        <p:txBody>
          <a:bodyPr/>
          <a:lstStyle/>
          <a:p>
            <a:pPr marL="285750" indent="-285750">
              <a:buFont typeface="Arial" panose="020B0604020202020204" pitchFamily="34" charset="0"/>
              <a:buChar char="•"/>
            </a:pPr>
            <a:endParaRPr lang="en-US" altLang="zh-CN" dirty="0">
              <a:solidFill>
                <a:schemeClr val="tx1"/>
              </a:solidFill>
              <a:latin typeface="微软雅黑" panose="020B0503020204020204" pitchFamily="34" charset="-122"/>
              <a:ea typeface="微软雅黑" panose="020B0503020204020204" pitchFamily="34" charset="-122"/>
            </a:endParaRPr>
          </a:p>
        </p:txBody>
      </p:sp>
      <p:sp>
        <p:nvSpPr>
          <p:cNvPr id="4" name="灯片编号占位符 3">
            <a:extLst>
              <a:ext uri="{FF2B5EF4-FFF2-40B4-BE49-F238E27FC236}">
                <a16:creationId xmlns:a16="http://schemas.microsoft.com/office/drawing/2014/main" id="{92E8AA40-D099-59EF-99EC-720A82E6603C}"/>
              </a:ext>
            </a:extLst>
          </p:cNvPr>
          <p:cNvSpPr>
            <a:spLocks noGrp="1"/>
          </p:cNvSpPr>
          <p:nvPr>
            <p:ph type="sldNum" sz="quarter" idx="5"/>
          </p:nvPr>
        </p:nvSpPr>
        <p:spPr/>
        <p:txBody>
          <a:bodyPr/>
          <a:lstStyle/>
          <a:p>
            <a:fld id="{AD80470A-4597-4319-87FD-3AB9665446AB}" type="slidenum">
              <a:rPr lang="zh-CN" altLang="en-US" smtClean="0"/>
              <a:t>8</a:t>
            </a:fld>
            <a:endParaRPr lang="zh-CN" altLang="en-US"/>
          </a:p>
        </p:txBody>
      </p:sp>
    </p:spTree>
    <p:extLst>
      <p:ext uri="{BB962C8B-B14F-4D97-AF65-F5344CB8AC3E}">
        <p14:creationId xmlns:p14="http://schemas.microsoft.com/office/powerpoint/2010/main" val="31103361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4F9E4-D57C-B0F3-7D0A-BCE9BB29864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06B02A0-7973-32E1-41C7-7E6E2B43A64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E0F04D3-06C3-024A-AFFD-E17BAD9FDA91}"/>
              </a:ext>
            </a:extLst>
          </p:cNvPr>
          <p:cNvSpPr>
            <a:spLocks noGrp="1"/>
          </p:cNvSpPr>
          <p:nvPr>
            <p:ph type="body" idx="1"/>
          </p:nvPr>
        </p:nvSpPr>
        <p:spPr/>
        <p:txBody>
          <a:bodyPr/>
          <a:lstStyle/>
          <a:p>
            <a:pPr marL="285750" indent="-285750">
              <a:buFont typeface="Arial" panose="020B0604020202020204" pitchFamily="34" charset="0"/>
              <a:buChar char="•"/>
            </a:pPr>
            <a:endParaRPr lang="en-US" altLang="zh-CN" dirty="0">
              <a:solidFill>
                <a:schemeClr val="tx1"/>
              </a:solidFill>
              <a:latin typeface="微软雅黑" panose="020B0503020204020204" pitchFamily="34" charset="-122"/>
              <a:ea typeface="微软雅黑" panose="020B0503020204020204" pitchFamily="34" charset="-122"/>
            </a:endParaRPr>
          </a:p>
        </p:txBody>
      </p:sp>
      <p:sp>
        <p:nvSpPr>
          <p:cNvPr id="4" name="灯片编号占位符 3">
            <a:extLst>
              <a:ext uri="{FF2B5EF4-FFF2-40B4-BE49-F238E27FC236}">
                <a16:creationId xmlns:a16="http://schemas.microsoft.com/office/drawing/2014/main" id="{FCAD5A13-5F02-871A-789C-1FF543F1C4AF}"/>
              </a:ext>
            </a:extLst>
          </p:cNvPr>
          <p:cNvSpPr>
            <a:spLocks noGrp="1"/>
          </p:cNvSpPr>
          <p:nvPr>
            <p:ph type="sldNum" sz="quarter" idx="5"/>
          </p:nvPr>
        </p:nvSpPr>
        <p:spPr/>
        <p:txBody>
          <a:bodyPr/>
          <a:lstStyle/>
          <a:p>
            <a:fld id="{AD80470A-4597-4319-87FD-3AB9665446AB}" type="slidenum">
              <a:rPr lang="zh-CN" altLang="en-US" smtClean="0"/>
              <a:t>9</a:t>
            </a:fld>
            <a:endParaRPr lang="zh-CN" altLang="en-US"/>
          </a:p>
        </p:txBody>
      </p:sp>
    </p:spTree>
    <p:extLst>
      <p:ext uri="{BB962C8B-B14F-4D97-AF65-F5344CB8AC3E}">
        <p14:creationId xmlns:p14="http://schemas.microsoft.com/office/powerpoint/2010/main" val="22632611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119CE-60B5-245C-A4FA-AE4DE1CEDA1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E8DDC26-ED4D-6D5E-687D-8028CC77FC6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C078AC0-B10D-EFFF-4E88-EF22F737E0D3}"/>
              </a:ext>
            </a:extLst>
          </p:cNvPr>
          <p:cNvSpPr>
            <a:spLocks noGrp="1"/>
          </p:cNvSpPr>
          <p:nvPr>
            <p:ph type="body" idx="1"/>
          </p:nvPr>
        </p:nvSpPr>
        <p:spPr/>
        <p:txBody>
          <a:bodyPr/>
          <a:lstStyle/>
          <a:p>
            <a:pPr marL="285750" indent="-285750">
              <a:buFont typeface="Arial" panose="020B0604020202020204" pitchFamily="34" charset="0"/>
              <a:buChar char="•"/>
            </a:pPr>
            <a:endParaRPr lang="en-US" altLang="zh-CN" dirty="0">
              <a:solidFill>
                <a:schemeClr val="tx1"/>
              </a:solidFill>
              <a:latin typeface="微软雅黑" panose="020B0503020204020204" pitchFamily="34" charset="-122"/>
              <a:ea typeface="微软雅黑" panose="020B0503020204020204" pitchFamily="34" charset="-122"/>
            </a:endParaRPr>
          </a:p>
        </p:txBody>
      </p:sp>
      <p:sp>
        <p:nvSpPr>
          <p:cNvPr id="4" name="灯片编号占位符 3">
            <a:extLst>
              <a:ext uri="{FF2B5EF4-FFF2-40B4-BE49-F238E27FC236}">
                <a16:creationId xmlns:a16="http://schemas.microsoft.com/office/drawing/2014/main" id="{291E640C-2CEF-5563-AA76-009976F50E45}"/>
              </a:ext>
            </a:extLst>
          </p:cNvPr>
          <p:cNvSpPr>
            <a:spLocks noGrp="1"/>
          </p:cNvSpPr>
          <p:nvPr>
            <p:ph type="sldNum" sz="quarter" idx="5"/>
          </p:nvPr>
        </p:nvSpPr>
        <p:spPr/>
        <p:txBody>
          <a:bodyPr/>
          <a:lstStyle/>
          <a:p>
            <a:fld id="{AD80470A-4597-4319-87FD-3AB9665446AB}" type="slidenum">
              <a:rPr lang="zh-CN" altLang="en-US" smtClean="0"/>
              <a:t>10</a:t>
            </a:fld>
            <a:endParaRPr lang="zh-CN" altLang="en-US"/>
          </a:p>
        </p:txBody>
      </p:sp>
    </p:spTree>
    <p:extLst>
      <p:ext uri="{BB962C8B-B14F-4D97-AF65-F5344CB8AC3E}">
        <p14:creationId xmlns:p14="http://schemas.microsoft.com/office/powerpoint/2010/main" val="33762146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5BECD-06BC-8478-F47D-E103C025557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C19ECB0-B389-6F20-D713-1499EF67A48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F81C5BA-19B1-C774-8FEB-EBEFDB4679CE}"/>
              </a:ext>
            </a:extLst>
          </p:cNvPr>
          <p:cNvSpPr>
            <a:spLocks noGrp="1"/>
          </p:cNvSpPr>
          <p:nvPr>
            <p:ph type="body" idx="1"/>
          </p:nvPr>
        </p:nvSpPr>
        <p:spPr/>
        <p: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kern="100" dirty="0" err="1">
                <a:latin typeface="Times New Roman" panose="02020603050405020304" pitchFamily="18" charset="0"/>
                <a:ea typeface="FangSong_GB2312" panose="02010609030101010101" pitchFamily="49" charset="-122"/>
              </a:rPr>
              <a:t>在不同偏好下</a:t>
            </a:r>
            <a:r>
              <a:rPr lang="zh-CN" altLang="en-US" kern="100" dirty="0">
                <a:latin typeface="Times New Roman" panose="02020603050405020304" pitchFamily="18" charset="0"/>
                <a:ea typeface="FangSong_GB2312" panose="02010609030101010101" pitchFamily="49" charset="-122"/>
              </a:rPr>
              <a:t>，</a:t>
            </a:r>
            <a:r>
              <a:rPr lang="en-US" sz="1200" kern="100" dirty="0">
                <a:effectLst/>
                <a:latin typeface="Times New Roman" panose="02020603050405020304" pitchFamily="18" charset="0"/>
                <a:ea typeface="FangSong_GB2312" panose="02010609030101010101" pitchFamily="49" charset="-122"/>
              </a:rPr>
              <a:t>Cluster 1</a:t>
            </a:r>
            <a:r>
              <a:rPr lang="zh-CN" altLang="en-US" sz="1200" kern="100" dirty="0">
                <a:effectLst/>
                <a:latin typeface="Times New Roman" panose="02020603050405020304" pitchFamily="18" charset="0"/>
                <a:ea typeface="FangSong_GB2312" panose="02010609030101010101" pitchFamily="49" charset="-122"/>
                <a:cs typeface="Times New Roman" panose="02020603050405020304" pitchFamily="18" charset="0"/>
              </a:rPr>
              <a:t>在事件后</a:t>
            </a:r>
            <a:r>
              <a:rPr lang="en-US" sz="1200" kern="100" dirty="0">
                <a:effectLst/>
                <a:latin typeface="Times New Roman" panose="02020603050405020304" pitchFamily="18" charset="0"/>
                <a:ea typeface="FangSong_GB2312" panose="02010609030101010101" pitchFamily="49" charset="-122"/>
              </a:rPr>
              <a:t>0.20-0.70 s</a:t>
            </a:r>
            <a:r>
              <a:rPr lang="zh-CN" altLang="en-US" sz="1200" kern="100" dirty="0">
                <a:effectLst/>
                <a:latin typeface="Times New Roman" panose="02020603050405020304" pitchFamily="18" charset="0"/>
                <a:ea typeface="FangSong_GB2312" panose="02010609030101010101" pitchFamily="49" charset="-122"/>
                <a:cs typeface="Times New Roman" panose="02020603050405020304" pitchFamily="18" charset="0"/>
              </a:rPr>
              <a:t>和</a:t>
            </a:r>
            <a:r>
              <a:rPr lang="en-US" sz="1200" kern="100" dirty="0">
                <a:effectLst/>
                <a:latin typeface="Times New Roman" panose="02020603050405020304" pitchFamily="18" charset="0"/>
                <a:ea typeface="FangSong_GB2312" panose="02010609030101010101" pitchFamily="49" charset="-122"/>
              </a:rPr>
              <a:t>1.25-1.65 s</a:t>
            </a:r>
            <a:r>
              <a:rPr lang="zh-CN" altLang="en-US" sz="1200" kern="100" dirty="0">
                <a:effectLst/>
                <a:latin typeface="Times New Roman" panose="02020603050405020304" pitchFamily="18" charset="0"/>
                <a:ea typeface="FangSong_GB2312" panose="02010609030101010101" pitchFamily="49" charset="-122"/>
                <a:cs typeface="Times New Roman" panose="02020603050405020304" pitchFamily="18" charset="0"/>
              </a:rPr>
              <a:t>出现显著差异，主要表现为喜欢条件下</a:t>
            </a:r>
            <a:r>
              <a:rPr lang="en-US" sz="1200" kern="100" dirty="0">
                <a:effectLst/>
                <a:latin typeface="Times New Roman" panose="02020603050405020304" pitchFamily="18" charset="0"/>
                <a:ea typeface="FangSong_GB2312" panose="02010609030101010101" pitchFamily="49" charset="-122"/>
              </a:rPr>
              <a:t>IFR</a:t>
            </a:r>
            <a:r>
              <a:rPr lang="zh-CN" altLang="en-US" sz="1200" kern="100" dirty="0">
                <a:effectLst/>
                <a:latin typeface="Times New Roman" panose="02020603050405020304" pitchFamily="18" charset="0"/>
                <a:ea typeface="FangSong_GB2312" panose="02010609030101010101" pitchFamily="49" charset="-122"/>
                <a:cs typeface="Times New Roman" panose="02020603050405020304" pitchFamily="18" charset="0"/>
              </a:rPr>
              <a:t>相对</a:t>
            </a:r>
            <a:r>
              <a:rPr lang="zh-CN" altLang="en-US" sz="1200" b="1" kern="100" dirty="0">
                <a:effectLst/>
                <a:latin typeface="Times New Roman" panose="02020603050405020304" pitchFamily="18" charset="0"/>
                <a:ea typeface="FangSong_GB2312" panose="02010609030101010101" pitchFamily="49" charset="-122"/>
                <a:cs typeface="Times New Roman" panose="02020603050405020304" pitchFamily="18" charset="0"/>
              </a:rPr>
              <a:t>降低</a:t>
            </a:r>
            <a:r>
              <a:rPr lang="zh-CN" altLang="en-US" sz="1200" kern="100" dirty="0">
                <a:effectLst/>
                <a:latin typeface="Times New Roman" panose="02020603050405020304" pitchFamily="18" charset="0"/>
                <a:ea typeface="FangSong_GB2312" panose="02010609030101010101" pitchFamily="49" charset="-122"/>
                <a:cs typeface="Times New Roman" panose="02020603050405020304" pitchFamily="18" charset="0"/>
              </a:rPr>
              <a:t>，而不喜欢条件下</a:t>
            </a:r>
            <a:r>
              <a:rPr lang="en-US" sz="1200" kern="100" dirty="0">
                <a:effectLst/>
                <a:latin typeface="Times New Roman" panose="02020603050405020304" pitchFamily="18" charset="0"/>
                <a:ea typeface="FangSong_GB2312" panose="02010609030101010101" pitchFamily="49" charset="-122"/>
              </a:rPr>
              <a:t>IFR</a:t>
            </a:r>
            <a:r>
              <a:rPr lang="zh-CN" altLang="en-US" sz="1200" b="1" kern="100" dirty="0">
                <a:effectLst/>
                <a:latin typeface="Times New Roman" panose="02020603050405020304" pitchFamily="18" charset="0"/>
                <a:ea typeface="FangSong_GB2312" panose="02010609030101010101" pitchFamily="49" charset="-122"/>
                <a:cs typeface="Times New Roman" panose="02020603050405020304" pitchFamily="18" charset="0"/>
              </a:rPr>
              <a:t>维持</a:t>
            </a:r>
            <a:r>
              <a:rPr lang="zh-CN" altLang="en-US" sz="1200" kern="100" dirty="0">
                <a:effectLst/>
                <a:latin typeface="Times New Roman" panose="02020603050405020304" pitchFamily="18" charset="0"/>
                <a:ea typeface="FangSong_GB2312" panose="02010609030101010101" pitchFamily="49" charset="-122"/>
                <a:cs typeface="Times New Roman" panose="02020603050405020304" pitchFamily="18" charset="0"/>
              </a:rPr>
              <a:t>在较高水平</a:t>
            </a:r>
            <a:r>
              <a:rPr lang="en-CN" dirty="0">
                <a:effectLst/>
              </a:rPr>
              <a:t> </a:t>
            </a:r>
            <a:endParaRPr lang="en-CN" dirty="0"/>
          </a:p>
          <a:p>
            <a:pPr marL="285750" indent="-285750">
              <a:buFont typeface="Arial" panose="020B0604020202020204" pitchFamily="34" charset="0"/>
              <a:buChar char="•"/>
            </a:pPr>
            <a:endParaRPr lang="en-US" altLang="zh-CN" dirty="0">
              <a:solidFill>
                <a:schemeClr val="tx1"/>
              </a:solidFill>
              <a:latin typeface="微软雅黑" panose="020B0503020204020204" pitchFamily="34" charset="-122"/>
              <a:ea typeface="微软雅黑" panose="020B0503020204020204" pitchFamily="34" charset="-122"/>
            </a:endParaRPr>
          </a:p>
        </p:txBody>
      </p:sp>
      <p:sp>
        <p:nvSpPr>
          <p:cNvPr id="4" name="灯片编号占位符 3">
            <a:extLst>
              <a:ext uri="{FF2B5EF4-FFF2-40B4-BE49-F238E27FC236}">
                <a16:creationId xmlns:a16="http://schemas.microsoft.com/office/drawing/2014/main" id="{D419F555-9F07-A786-865A-17CFF5CBAEB5}"/>
              </a:ext>
            </a:extLst>
          </p:cNvPr>
          <p:cNvSpPr>
            <a:spLocks noGrp="1"/>
          </p:cNvSpPr>
          <p:nvPr>
            <p:ph type="sldNum" sz="quarter" idx="5"/>
          </p:nvPr>
        </p:nvSpPr>
        <p:spPr/>
        <p:txBody>
          <a:bodyPr/>
          <a:lstStyle/>
          <a:p>
            <a:fld id="{AD80470A-4597-4319-87FD-3AB9665446AB}" type="slidenum">
              <a:rPr lang="zh-CN" altLang="en-US" smtClean="0"/>
              <a:t>11</a:t>
            </a:fld>
            <a:endParaRPr lang="zh-CN" altLang="en-US"/>
          </a:p>
        </p:txBody>
      </p:sp>
    </p:spTree>
    <p:extLst>
      <p:ext uri="{BB962C8B-B14F-4D97-AF65-F5344CB8AC3E}">
        <p14:creationId xmlns:p14="http://schemas.microsoft.com/office/powerpoint/2010/main" val="27149252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42A82-067F-1A6C-A75F-D3B2E2A82D6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E3338C5-7AD3-40B2-2139-6D41635D2EA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256936D-C46C-A162-7A37-92B0E9C9EAE5}"/>
              </a:ext>
            </a:extLst>
          </p:cNvPr>
          <p:cNvSpPr>
            <a:spLocks noGrp="1"/>
          </p:cNvSpPr>
          <p:nvPr>
            <p:ph type="body" idx="1"/>
          </p:nvPr>
        </p:nvSpPr>
        <p:spPr/>
        <p:txBody>
          <a:bodyPr/>
          <a:lstStyle/>
          <a:p>
            <a:pPr marL="285750" indent="-285750">
              <a:buFont typeface="Arial" panose="020B0604020202020204" pitchFamily="34" charset="0"/>
              <a:buChar char="•"/>
            </a:pPr>
            <a:r>
              <a:rPr lang="zh-CN" altLang="en-US" dirty="0">
                <a:solidFill>
                  <a:schemeClr val="tx1"/>
                </a:solidFill>
                <a:latin typeface="微软雅黑" panose="020B0503020204020204" pitchFamily="34" charset="-122"/>
                <a:ea typeface="微软雅黑" panose="020B0503020204020204" pitchFamily="34" charset="-122"/>
              </a:rPr>
              <a:t>参考文献；</a:t>
            </a:r>
            <a:r>
              <a:rPr lang="en-US" altLang="zh-CN" dirty="0" err="1">
                <a:solidFill>
                  <a:schemeClr val="tx1"/>
                </a:solidFill>
                <a:latin typeface="微软雅黑" panose="020B0503020204020204" pitchFamily="34" charset="-122"/>
                <a:ea typeface="微软雅黑" panose="020B0503020204020204" pitchFamily="34" charset="-122"/>
              </a:rPr>
              <a:t>vlm</a:t>
            </a:r>
            <a:r>
              <a:rPr lang="zh-CN" altLang="en-US" dirty="0">
                <a:solidFill>
                  <a:schemeClr val="tx1"/>
                </a:solidFill>
                <a:latin typeface="微软雅黑" panose="020B0503020204020204" pitchFamily="34" charset="-122"/>
                <a:ea typeface="微软雅黑" panose="020B0503020204020204" pitchFamily="34" charset="-122"/>
              </a:rPr>
              <a:t>方法拎出来</a:t>
            </a:r>
            <a:endParaRPr lang="en-US" altLang="zh-CN" dirty="0">
              <a:solidFill>
                <a:schemeClr val="tx1"/>
              </a:solidFill>
              <a:latin typeface="微软雅黑" panose="020B0503020204020204" pitchFamily="34" charset="-122"/>
              <a:ea typeface="微软雅黑" panose="020B0503020204020204" pitchFamily="34" charset="-122"/>
            </a:endParaRPr>
          </a:p>
        </p:txBody>
      </p:sp>
      <p:sp>
        <p:nvSpPr>
          <p:cNvPr id="4" name="灯片编号占位符 3">
            <a:extLst>
              <a:ext uri="{FF2B5EF4-FFF2-40B4-BE49-F238E27FC236}">
                <a16:creationId xmlns:a16="http://schemas.microsoft.com/office/drawing/2014/main" id="{DD9C0455-7289-DC0D-F01E-9A8B99108ED5}"/>
              </a:ext>
            </a:extLst>
          </p:cNvPr>
          <p:cNvSpPr>
            <a:spLocks noGrp="1"/>
          </p:cNvSpPr>
          <p:nvPr>
            <p:ph type="sldNum" sz="quarter" idx="5"/>
          </p:nvPr>
        </p:nvSpPr>
        <p:spPr/>
        <p:txBody>
          <a:bodyPr/>
          <a:lstStyle/>
          <a:p>
            <a:fld id="{AD80470A-4597-4319-87FD-3AB9665446AB}" type="slidenum">
              <a:rPr lang="zh-CN" altLang="en-US" smtClean="0"/>
              <a:t>12</a:t>
            </a:fld>
            <a:endParaRPr lang="zh-CN" altLang="en-US"/>
          </a:p>
        </p:txBody>
      </p:sp>
    </p:spTree>
    <p:extLst>
      <p:ext uri="{BB962C8B-B14F-4D97-AF65-F5344CB8AC3E}">
        <p14:creationId xmlns:p14="http://schemas.microsoft.com/office/powerpoint/2010/main" val="30924495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9C4CE-DE95-C108-8F71-DAEB3DF6659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B2E35AF-A137-5A7B-8E54-D68D09D6F39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161A06E-78F0-76A8-1C89-4FFE161F2875}"/>
              </a:ext>
            </a:extLst>
          </p:cNvPr>
          <p:cNvSpPr>
            <a:spLocks noGrp="1"/>
          </p:cNvSpPr>
          <p:nvPr>
            <p:ph type="body" idx="1"/>
          </p:nvPr>
        </p:nvSpPr>
        <p:spPr/>
        <p:txBody>
          <a:bodyPr/>
          <a:lstStyle/>
          <a:p>
            <a:pPr marL="285750" indent="-285750">
              <a:buFont typeface="Arial" panose="020B0604020202020204" pitchFamily="34" charset="0"/>
              <a:buChar char="•"/>
            </a:pPr>
            <a:endParaRPr lang="en-US" altLang="zh-CN" dirty="0">
              <a:solidFill>
                <a:schemeClr val="tx1"/>
              </a:solidFill>
              <a:latin typeface="微软雅黑" panose="020B0503020204020204" pitchFamily="34" charset="-122"/>
              <a:ea typeface="微软雅黑" panose="020B0503020204020204" pitchFamily="34" charset="-122"/>
            </a:endParaRPr>
          </a:p>
        </p:txBody>
      </p:sp>
      <p:sp>
        <p:nvSpPr>
          <p:cNvPr id="4" name="灯片编号占位符 3">
            <a:extLst>
              <a:ext uri="{FF2B5EF4-FFF2-40B4-BE49-F238E27FC236}">
                <a16:creationId xmlns:a16="http://schemas.microsoft.com/office/drawing/2014/main" id="{0779EF71-0CA4-486C-8C5D-260F7C78D47A}"/>
              </a:ext>
            </a:extLst>
          </p:cNvPr>
          <p:cNvSpPr>
            <a:spLocks noGrp="1"/>
          </p:cNvSpPr>
          <p:nvPr>
            <p:ph type="sldNum" sz="quarter" idx="5"/>
          </p:nvPr>
        </p:nvSpPr>
        <p:spPr/>
        <p:txBody>
          <a:bodyPr/>
          <a:lstStyle/>
          <a:p>
            <a:fld id="{AD80470A-4597-4319-87FD-3AB9665446AB}" type="slidenum">
              <a:rPr lang="zh-CN" altLang="en-US" smtClean="0"/>
              <a:t>13</a:t>
            </a:fld>
            <a:endParaRPr lang="zh-CN" altLang="en-US"/>
          </a:p>
        </p:txBody>
      </p:sp>
    </p:spTree>
    <p:extLst>
      <p:ext uri="{BB962C8B-B14F-4D97-AF65-F5344CB8AC3E}">
        <p14:creationId xmlns:p14="http://schemas.microsoft.com/office/powerpoint/2010/main" val="22507964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9FD40-2888-86D3-3F6F-290DABA2CE2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49183D4-0FD3-110F-C9B3-63D1EEE359D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7118153-C782-08F0-1957-0E80C159222E}"/>
              </a:ext>
            </a:extLst>
          </p:cNvPr>
          <p:cNvSpPr>
            <a:spLocks noGrp="1"/>
          </p:cNvSpPr>
          <p:nvPr>
            <p:ph type="body" idx="1"/>
          </p:nvPr>
        </p:nvSpPr>
        <p:spPr/>
        <p:txBody>
          <a:bodyPr/>
          <a:lstStyle/>
          <a:p>
            <a:pPr marL="285750" indent="-285750">
              <a:buFont typeface="Arial" panose="020B0604020202020204" pitchFamily="34" charset="0"/>
              <a:buChar char="•"/>
            </a:pPr>
            <a:r>
              <a:rPr lang="zh-CN" altLang="en-US" dirty="0">
                <a:solidFill>
                  <a:schemeClr val="tx1"/>
                </a:solidFill>
                <a:latin typeface="微软雅黑" panose="020B0503020204020204" pitchFamily="34" charset="-122"/>
                <a:ea typeface="微软雅黑" panose="020B0503020204020204" pitchFamily="34" charset="-122"/>
              </a:rPr>
              <a:t>最下面一个放另一页</a:t>
            </a:r>
            <a:endParaRPr lang="en-US" altLang="zh-CN" dirty="0">
              <a:solidFill>
                <a:schemeClr val="tx1"/>
              </a:solidFill>
              <a:latin typeface="微软雅黑" panose="020B0503020204020204" pitchFamily="34" charset="-122"/>
              <a:ea typeface="微软雅黑" panose="020B0503020204020204" pitchFamily="34" charset="-122"/>
            </a:endParaRPr>
          </a:p>
        </p:txBody>
      </p:sp>
      <p:sp>
        <p:nvSpPr>
          <p:cNvPr id="4" name="灯片编号占位符 3">
            <a:extLst>
              <a:ext uri="{FF2B5EF4-FFF2-40B4-BE49-F238E27FC236}">
                <a16:creationId xmlns:a16="http://schemas.microsoft.com/office/drawing/2014/main" id="{DEC34F4C-9A9F-DFE4-F330-485D92B5CCD0}"/>
              </a:ext>
            </a:extLst>
          </p:cNvPr>
          <p:cNvSpPr>
            <a:spLocks noGrp="1"/>
          </p:cNvSpPr>
          <p:nvPr>
            <p:ph type="sldNum" sz="quarter" idx="5"/>
          </p:nvPr>
        </p:nvSpPr>
        <p:spPr/>
        <p:txBody>
          <a:bodyPr/>
          <a:lstStyle/>
          <a:p>
            <a:fld id="{AD80470A-4597-4319-87FD-3AB9665446AB}" type="slidenum">
              <a:rPr lang="zh-CN" altLang="en-US" smtClean="0"/>
              <a:t>14</a:t>
            </a:fld>
            <a:endParaRPr lang="zh-CN" altLang="en-US"/>
          </a:p>
        </p:txBody>
      </p:sp>
    </p:spTree>
    <p:extLst>
      <p:ext uri="{BB962C8B-B14F-4D97-AF65-F5344CB8AC3E}">
        <p14:creationId xmlns:p14="http://schemas.microsoft.com/office/powerpoint/2010/main" val="5086882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2D5B3-7F89-064A-A7A2-DF2B0F8F47F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456A48C-8C32-8549-BDDB-7EC2A0E44F6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EF678A6-03E8-FFE9-90F0-4D1EB076EE61}"/>
              </a:ext>
            </a:extLst>
          </p:cNvPr>
          <p:cNvSpPr>
            <a:spLocks noGrp="1"/>
          </p:cNvSpPr>
          <p:nvPr>
            <p:ph type="body" idx="1"/>
          </p:nvPr>
        </p:nvSpPr>
        <p:spPr/>
        <p:txBody>
          <a:bodyPr/>
          <a:lstStyle/>
          <a:p>
            <a:pPr marL="285750" indent="-285750">
              <a:buFont typeface="Arial" panose="020B0604020202020204" pitchFamily="34" charset="0"/>
              <a:buChar char="•"/>
            </a:pPr>
            <a:endParaRPr lang="en-US" altLang="zh-CN" dirty="0">
              <a:solidFill>
                <a:schemeClr val="tx1"/>
              </a:solidFill>
              <a:latin typeface="微软雅黑" panose="020B0503020204020204" pitchFamily="34" charset="-122"/>
              <a:ea typeface="微软雅黑" panose="020B0503020204020204" pitchFamily="34" charset="-122"/>
            </a:endParaRPr>
          </a:p>
        </p:txBody>
      </p:sp>
      <p:sp>
        <p:nvSpPr>
          <p:cNvPr id="4" name="灯片编号占位符 3">
            <a:extLst>
              <a:ext uri="{FF2B5EF4-FFF2-40B4-BE49-F238E27FC236}">
                <a16:creationId xmlns:a16="http://schemas.microsoft.com/office/drawing/2014/main" id="{65BAB1A3-BA51-8136-CC27-13641B483BD6}"/>
              </a:ext>
            </a:extLst>
          </p:cNvPr>
          <p:cNvSpPr>
            <a:spLocks noGrp="1"/>
          </p:cNvSpPr>
          <p:nvPr>
            <p:ph type="sldNum" sz="quarter" idx="5"/>
          </p:nvPr>
        </p:nvSpPr>
        <p:spPr/>
        <p:txBody>
          <a:bodyPr/>
          <a:lstStyle/>
          <a:p>
            <a:fld id="{AD80470A-4597-4319-87FD-3AB9665446AB}" type="slidenum">
              <a:rPr lang="zh-CN" altLang="en-US" smtClean="0"/>
              <a:t>15</a:t>
            </a:fld>
            <a:endParaRPr lang="zh-CN" altLang="en-US"/>
          </a:p>
        </p:txBody>
      </p:sp>
    </p:spTree>
    <p:extLst>
      <p:ext uri="{BB962C8B-B14F-4D97-AF65-F5344CB8AC3E}">
        <p14:creationId xmlns:p14="http://schemas.microsoft.com/office/powerpoint/2010/main" val="20039524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E39A5-3E32-1C17-F986-68352A8A2D8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B590454-6D7D-09A0-77CF-FA2A6568DB2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8FCAF58-83AB-8E7B-746E-D3C24741F8BF}"/>
              </a:ext>
            </a:extLst>
          </p:cNvPr>
          <p:cNvSpPr>
            <a:spLocks noGrp="1"/>
          </p:cNvSpPr>
          <p:nvPr>
            <p:ph type="body" idx="1"/>
          </p:nvPr>
        </p:nvSpPr>
        <p:spPr/>
        <p:txBody>
          <a:bodyPr/>
          <a:lstStyle/>
          <a:p>
            <a:pPr marL="285750" indent="-285750">
              <a:buFont typeface="Arial" panose="020B0604020202020204" pitchFamily="34" charset="0"/>
              <a:buChar char="•"/>
            </a:pPr>
            <a:r>
              <a:rPr lang="zh-CN" altLang="en-US" dirty="0">
                <a:solidFill>
                  <a:schemeClr val="tx1"/>
                </a:solidFill>
                <a:latin typeface="微软雅黑" panose="020B0503020204020204" pitchFamily="34" charset="-122"/>
                <a:ea typeface="微软雅黑" panose="020B0503020204020204" pitchFamily="34" charset="-122"/>
              </a:rPr>
              <a:t>参考文献；</a:t>
            </a:r>
            <a:r>
              <a:rPr lang="en-US" altLang="zh-CN" dirty="0" err="1">
                <a:solidFill>
                  <a:schemeClr val="tx1"/>
                </a:solidFill>
                <a:latin typeface="微软雅黑" panose="020B0503020204020204" pitchFamily="34" charset="-122"/>
                <a:ea typeface="微软雅黑" panose="020B0503020204020204" pitchFamily="34" charset="-122"/>
              </a:rPr>
              <a:t>vlm</a:t>
            </a:r>
            <a:r>
              <a:rPr lang="zh-CN" altLang="en-US" dirty="0">
                <a:solidFill>
                  <a:schemeClr val="tx1"/>
                </a:solidFill>
                <a:latin typeface="微软雅黑" panose="020B0503020204020204" pitchFamily="34" charset="-122"/>
                <a:ea typeface="微软雅黑" panose="020B0503020204020204" pitchFamily="34" charset="-122"/>
              </a:rPr>
              <a:t>方法拎出来</a:t>
            </a:r>
            <a:endParaRPr lang="en-US" altLang="zh-CN" dirty="0">
              <a:solidFill>
                <a:schemeClr val="tx1"/>
              </a:solidFill>
              <a:latin typeface="微软雅黑" panose="020B0503020204020204" pitchFamily="34" charset="-122"/>
              <a:ea typeface="微软雅黑" panose="020B0503020204020204" pitchFamily="34" charset="-122"/>
            </a:endParaRPr>
          </a:p>
        </p:txBody>
      </p:sp>
      <p:sp>
        <p:nvSpPr>
          <p:cNvPr id="4" name="灯片编号占位符 3">
            <a:extLst>
              <a:ext uri="{FF2B5EF4-FFF2-40B4-BE49-F238E27FC236}">
                <a16:creationId xmlns:a16="http://schemas.microsoft.com/office/drawing/2014/main" id="{D72900BE-0E9D-21F7-FECD-377528425E39}"/>
              </a:ext>
            </a:extLst>
          </p:cNvPr>
          <p:cNvSpPr>
            <a:spLocks noGrp="1"/>
          </p:cNvSpPr>
          <p:nvPr>
            <p:ph type="sldNum" sz="quarter" idx="5"/>
          </p:nvPr>
        </p:nvSpPr>
        <p:spPr/>
        <p:txBody>
          <a:bodyPr/>
          <a:lstStyle/>
          <a:p>
            <a:fld id="{AD80470A-4597-4319-87FD-3AB9665446AB}" type="slidenum">
              <a:rPr lang="zh-CN" altLang="en-US" smtClean="0"/>
              <a:t>16</a:t>
            </a:fld>
            <a:endParaRPr lang="zh-CN" altLang="en-US"/>
          </a:p>
        </p:txBody>
      </p:sp>
    </p:spTree>
    <p:extLst>
      <p:ext uri="{BB962C8B-B14F-4D97-AF65-F5344CB8AC3E}">
        <p14:creationId xmlns:p14="http://schemas.microsoft.com/office/powerpoint/2010/main" val="41181440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5995C-4201-8CE3-FE0B-F9115C40CB4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12C9675-B3D5-D0E5-E91C-70A79CD70D0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0884671-8FCD-EABD-F8B3-925A5EBE7EDF}"/>
              </a:ext>
            </a:extLst>
          </p:cNvPr>
          <p:cNvSpPr>
            <a:spLocks noGrp="1"/>
          </p:cNvSpPr>
          <p:nvPr>
            <p:ph type="body" idx="1"/>
          </p:nvPr>
        </p:nvSpPr>
        <p:spPr/>
        <p:txBody>
          <a:bodyPr/>
          <a:lstStyle/>
          <a:p>
            <a:pPr marL="285750" indent="-285750">
              <a:buFont typeface="Arial" panose="020B0604020202020204" pitchFamily="34" charset="0"/>
              <a:buChar char="•"/>
            </a:pPr>
            <a:endParaRPr lang="en-US" altLang="zh-CN" dirty="0">
              <a:solidFill>
                <a:schemeClr val="tx1"/>
              </a:solidFill>
              <a:latin typeface="微软雅黑" panose="020B0503020204020204" pitchFamily="34" charset="-122"/>
              <a:ea typeface="微软雅黑" panose="020B0503020204020204" pitchFamily="34" charset="-122"/>
            </a:endParaRPr>
          </a:p>
        </p:txBody>
      </p:sp>
      <p:sp>
        <p:nvSpPr>
          <p:cNvPr id="4" name="灯片编号占位符 3">
            <a:extLst>
              <a:ext uri="{FF2B5EF4-FFF2-40B4-BE49-F238E27FC236}">
                <a16:creationId xmlns:a16="http://schemas.microsoft.com/office/drawing/2014/main" id="{A4F5F66C-7922-2D0B-6CDF-0C426ADAD77D}"/>
              </a:ext>
            </a:extLst>
          </p:cNvPr>
          <p:cNvSpPr>
            <a:spLocks noGrp="1"/>
          </p:cNvSpPr>
          <p:nvPr>
            <p:ph type="sldNum" sz="quarter" idx="5"/>
          </p:nvPr>
        </p:nvSpPr>
        <p:spPr/>
        <p:txBody>
          <a:bodyPr/>
          <a:lstStyle/>
          <a:p>
            <a:fld id="{AD80470A-4597-4319-87FD-3AB9665446AB}" type="slidenum">
              <a:rPr lang="zh-CN" altLang="en-US" smtClean="0"/>
              <a:t>17</a:t>
            </a:fld>
            <a:endParaRPr lang="zh-CN" altLang="en-US"/>
          </a:p>
        </p:txBody>
      </p:sp>
    </p:spTree>
    <p:extLst>
      <p:ext uri="{BB962C8B-B14F-4D97-AF65-F5344CB8AC3E}">
        <p14:creationId xmlns:p14="http://schemas.microsoft.com/office/powerpoint/2010/main" val="37552888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A7717-43FC-0A83-1DA4-B7AAF783629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7B1F258-E816-8485-D772-895334ECE33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E835FE6-30C2-1547-FE74-C71362B01AB6}"/>
              </a:ext>
            </a:extLst>
          </p:cNvPr>
          <p:cNvSpPr>
            <a:spLocks noGrp="1"/>
          </p:cNvSpPr>
          <p:nvPr>
            <p:ph type="body" idx="1"/>
          </p:nvPr>
        </p:nvSpPr>
        <p:spPr/>
        <p:txBody>
          <a:bodyPr/>
          <a:lstStyle/>
          <a:p>
            <a:r>
              <a:rPr lang="zh-CN" altLang="en-US" dirty="0"/>
              <a:t>放到前面讲</a:t>
            </a:r>
          </a:p>
        </p:txBody>
      </p:sp>
      <p:sp>
        <p:nvSpPr>
          <p:cNvPr id="4" name="灯片编号占位符 3">
            <a:extLst>
              <a:ext uri="{FF2B5EF4-FFF2-40B4-BE49-F238E27FC236}">
                <a16:creationId xmlns:a16="http://schemas.microsoft.com/office/drawing/2014/main" id="{07C3CA1C-03A5-131C-C309-65C918820FA9}"/>
              </a:ext>
            </a:extLst>
          </p:cNvPr>
          <p:cNvSpPr>
            <a:spLocks noGrp="1"/>
          </p:cNvSpPr>
          <p:nvPr>
            <p:ph type="sldNum" sz="quarter" idx="5"/>
          </p:nvPr>
        </p:nvSpPr>
        <p:spPr/>
        <p:txBody>
          <a:bodyPr/>
          <a:lstStyle/>
          <a:p>
            <a:fld id="{AD80470A-4597-4319-87FD-3AB9665446AB}" type="slidenum">
              <a:rPr lang="zh-CN" altLang="en-US" smtClean="0"/>
              <a:t>18</a:t>
            </a:fld>
            <a:endParaRPr lang="zh-CN" altLang="en-US"/>
          </a:p>
        </p:txBody>
      </p:sp>
    </p:spTree>
    <p:extLst>
      <p:ext uri="{BB962C8B-B14F-4D97-AF65-F5344CB8AC3E}">
        <p14:creationId xmlns:p14="http://schemas.microsoft.com/office/powerpoint/2010/main" val="8679370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2A4B1-76B8-67E1-9732-FAC71D416C7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D8DA3EA-837A-C366-231B-FC2869DE524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8A55309-4199-514F-DD38-25316882CE6D}"/>
              </a:ext>
            </a:extLst>
          </p:cNvPr>
          <p:cNvSpPr>
            <a:spLocks noGrp="1"/>
          </p:cNvSpPr>
          <p:nvPr>
            <p:ph type="body" idx="1"/>
          </p:nvPr>
        </p:nvSpPr>
        <p:spPr/>
        <p:txBody>
          <a:bodyPr/>
          <a:lstStyle/>
          <a:p>
            <a:r>
              <a:rPr lang="zh-CN" altLang="en-US" dirty="0"/>
              <a:t>删意义</a:t>
            </a:r>
          </a:p>
        </p:txBody>
      </p:sp>
      <p:sp>
        <p:nvSpPr>
          <p:cNvPr id="4" name="灯片编号占位符 3">
            <a:extLst>
              <a:ext uri="{FF2B5EF4-FFF2-40B4-BE49-F238E27FC236}">
                <a16:creationId xmlns:a16="http://schemas.microsoft.com/office/drawing/2014/main" id="{308206AB-1F9A-411E-BF6C-CCC13F3DA81B}"/>
              </a:ext>
            </a:extLst>
          </p:cNvPr>
          <p:cNvSpPr>
            <a:spLocks noGrp="1"/>
          </p:cNvSpPr>
          <p:nvPr>
            <p:ph type="sldNum" sz="quarter" idx="5"/>
          </p:nvPr>
        </p:nvSpPr>
        <p:spPr/>
        <p:txBody>
          <a:bodyPr/>
          <a:lstStyle/>
          <a:p>
            <a:fld id="{AD80470A-4597-4319-87FD-3AB9665446AB}" type="slidenum">
              <a:rPr lang="zh-CN" altLang="en-US" smtClean="0"/>
              <a:t>19</a:t>
            </a:fld>
            <a:endParaRPr lang="zh-CN" altLang="en-US"/>
          </a:p>
        </p:txBody>
      </p:sp>
    </p:spTree>
    <p:extLst>
      <p:ext uri="{BB962C8B-B14F-4D97-AF65-F5344CB8AC3E}">
        <p14:creationId xmlns:p14="http://schemas.microsoft.com/office/powerpoint/2010/main" val="32601912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1D5BC-F52C-7F4A-A506-857E9009189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BD7EFB8-FC39-8A98-06DF-7EEDFA829DE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6AA74C5-091F-A77D-FE9C-ABDC9E96DAF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0C04585-F66C-D599-D7A8-8C7F4F4502E9}"/>
              </a:ext>
            </a:extLst>
          </p:cNvPr>
          <p:cNvSpPr>
            <a:spLocks noGrp="1"/>
          </p:cNvSpPr>
          <p:nvPr>
            <p:ph type="sldNum" sz="quarter" idx="5"/>
          </p:nvPr>
        </p:nvSpPr>
        <p:spPr/>
        <p:txBody>
          <a:bodyPr/>
          <a:lstStyle/>
          <a:p>
            <a:fld id="{AD80470A-4597-4319-87FD-3AB9665446AB}" type="slidenum">
              <a:rPr lang="zh-CN" altLang="en-US" smtClean="0"/>
              <a:t>20</a:t>
            </a:fld>
            <a:endParaRPr lang="zh-CN" altLang="en-US"/>
          </a:p>
        </p:txBody>
      </p:sp>
    </p:spTree>
    <p:extLst>
      <p:ext uri="{BB962C8B-B14F-4D97-AF65-F5344CB8AC3E}">
        <p14:creationId xmlns:p14="http://schemas.microsoft.com/office/powerpoint/2010/main" val="100673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34DAB-4E89-EC3E-169D-7FC4067EB6F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5A3A214-7F0C-18BA-214C-487814FFDB4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CFAA338-91F0-535D-8B4F-0A076F32926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7122EB9-933F-93B2-45F8-03FF33ACCB48}"/>
              </a:ext>
            </a:extLst>
          </p:cNvPr>
          <p:cNvSpPr>
            <a:spLocks noGrp="1"/>
          </p:cNvSpPr>
          <p:nvPr>
            <p:ph type="sldNum" sz="quarter" idx="5"/>
          </p:nvPr>
        </p:nvSpPr>
        <p:spPr/>
        <p:txBody>
          <a:bodyPr/>
          <a:lstStyle/>
          <a:p>
            <a:fld id="{AD80470A-4597-4319-87FD-3AB9665446AB}" type="slidenum">
              <a:rPr lang="zh-CN" altLang="en-US" smtClean="0"/>
              <a:t>21</a:t>
            </a:fld>
            <a:endParaRPr lang="zh-CN" altLang="en-US"/>
          </a:p>
        </p:txBody>
      </p:sp>
    </p:spTree>
    <p:extLst>
      <p:ext uri="{BB962C8B-B14F-4D97-AF65-F5344CB8AC3E}">
        <p14:creationId xmlns:p14="http://schemas.microsoft.com/office/powerpoint/2010/main" val="18352763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D80470A-4597-4319-87FD-3AB9665446AB}"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0BE43-2A92-A348-D641-78F58453802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03D6B60-39E9-4884-7DB6-1C3ECB80C1D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0B17873-CFB1-4C65-9BF5-ABED4B9F36F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CEA87B4-9525-99CC-8590-28FC3899A352}"/>
              </a:ext>
            </a:extLst>
          </p:cNvPr>
          <p:cNvSpPr>
            <a:spLocks noGrp="1"/>
          </p:cNvSpPr>
          <p:nvPr>
            <p:ph type="sldNum" sz="quarter" idx="5"/>
          </p:nvPr>
        </p:nvSpPr>
        <p:spPr/>
        <p:txBody>
          <a:bodyPr/>
          <a:lstStyle/>
          <a:p>
            <a:fld id="{AD80470A-4597-4319-87FD-3AB9665446AB}" type="slidenum">
              <a:rPr lang="zh-CN" altLang="en-US" smtClean="0"/>
              <a:t>23</a:t>
            </a:fld>
            <a:endParaRPr lang="zh-CN" altLang="en-US"/>
          </a:p>
        </p:txBody>
      </p:sp>
    </p:spTree>
    <p:extLst>
      <p:ext uri="{BB962C8B-B14F-4D97-AF65-F5344CB8AC3E}">
        <p14:creationId xmlns:p14="http://schemas.microsoft.com/office/powerpoint/2010/main" val="3761740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88058-0568-44A6-D207-8F577BD77C2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B706A31-5240-73E4-8C85-FC461EFBF3E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7162BAE-9D14-4915-35CC-CF376E6155F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125032B-179B-ED02-F84F-5318148D3E18}"/>
              </a:ext>
            </a:extLst>
          </p:cNvPr>
          <p:cNvSpPr>
            <a:spLocks noGrp="1"/>
          </p:cNvSpPr>
          <p:nvPr>
            <p:ph type="sldNum" sz="quarter" idx="5"/>
          </p:nvPr>
        </p:nvSpPr>
        <p:spPr/>
        <p:txBody>
          <a:bodyPr/>
          <a:lstStyle/>
          <a:p>
            <a:fld id="{AD80470A-4597-4319-87FD-3AB9665446AB}" type="slidenum">
              <a:rPr lang="zh-CN" altLang="en-US" smtClean="0"/>
              <a:t>24</a:t>
            </a:fld>
            <a:endParaRPr lang="zh-CN" altLang="en-US"/>
          </a:p>
        </p:txBody>
      </p:sp>
    </p:spTree>
    <p:extLst>
      <p:ext uri="{BB962C8B-B14F-4D97-AF65-F5344CB8AC3E}">
        <p14:creationId xmlns:p14="http://schemas.microsoft.com/office/powerpoint/2010/main" val="36886316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F11BD-05FA-42A2-7A8A-1D17F25621E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3F7E097-E267-7E8E-F6AE-1251B962488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45FE88F-228E-C41C-92D0-D97D8806DF9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786B97D-EFFB-D0B3-56EE-222A4A2B6B31}"/>
              </a:ext>
            </a:extLst>
          </p:cNvPr>
          <p:cNvSpPr>
            <a:spLocks noGrp="1"/>
          </p:cNvSpPr>
          <p:nvPr>
            <p:ph type="sldNum" sz="quarter" idx="5"/>
          </p:nvPr>
        </p:nvSpPr>
        <p:spPr/>
        <p:txBody>
          <a:bodyPr/>
          <a:lstStyle/>
          <a:p>
            <a:fld id="{AD80470A-4597-4319-87FD-3AB9665446AB}" type="slidenum">
              <a:rPr lang="zh-CN" altLang="en-US" smtClean="0"/>
              <a:t>25</a:t>
            </a:fld>
            <a:endParaRPr lang="zh-CN" altLang="en-US"/>
          </a:p>
        </p:txBody>
      </p:sp>
    </p:spTree>
    <p:extLst>
      <p:ext uri="{BB962C8B-B14F-4D97-AF65-F5344CB8AC3E}">
        <p14:creationId xmlns:p14="http://schemas.microsoft.com/office/powerpoint/2010/main" val="34292567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65FBB-D698-4AA7-CB46-3272F45B740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6F272DF-8426-3F2C-AD0A-6580E79D87D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1FCDBFD-9738-E99F-D9D0-D35972940DA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7C3133B-CBF8-EBC7-EA75-3C260924E71A}"/>
              </a:ext>
            </a:extLst>
          </p:cNvPr>
          <p:cNvSpPr>
            <a:spLocks noGrp="1"/>
          </p:cNvSpPr>
          <p:nvPr>
            <p:ph type="sldNum" sz="quarter" idx="5"/>
          </p:nvPr>
        </p:nvSpPr>
        <p:spPr/>
        <p:txBody>
          <a:bodyPr/>
          <a:lstStyle/>
          <a:p>
            <a:fld id="{AD80470A-4597-4319-87FD-3AB9665446AB}" type="slidenum">
              <a:rPr lang="zh-CN" altLang="en-US" smtClean="0"/>
              <a:t>26</a:t>
            </a:fld>
            <a:endParaRPr lang="zh-CN" altLang="en-US"/>
          </a:p>
        </p:txBody>
      </p:sp>
    </p:spTree>
    <p:extLst>
      <p:ext uri="{BB962C8B-B14F-4D97-AF65-F5344CB8AC3E}">
        <p14:creationId xmlns:p14="http://schemas.microsoft.com/office/powerpoint/2010/main" val="34717838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740EB-B7B0-AAB5-C655-57AC65B5B69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4BAB7F2-744F-655F-CB28-43B48478254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45C9DC2-1BD6-E48D-D3B7-35EE6B7874B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5F0680C-BB0B-9DBE-7407-9D760B74AFD2}"/>
              </a:ext>
            </a:extLst>
          </p:cNvPr>
          <p:cNvSpPr>
            <a:spLocks noGrp="1"/>
          </p:cNvSpPr>
          <p:nvPr>
            <p:ph type="sldNum" sz="quarter" idx="5"/>
          </p:nvPr>
        </p:nvSpPr>
        <p:spPr/>
        <p:txBody>
          <a:bodyPr/>
          <a:lstStyle/>
          <a:p>
            <a:fld id="{AD80470A-4597-4319-87FD-3AB9665446AB}" type="slidenum">
              <a:rPr lang="zh-CN" altLang="en-US" smtClean="0"/>
              <a:t>27</a:t>
            </a:fld>
            <a:endParaRPr lang="zh-CN" altLang="en-US"/>
          </a:p>
        </p:txBody>
      </p:sp>
    </p:spTree>
    <p:extLst>
      <p:ext uri="{BB962C8B-B14F-4D97-AF65-F5344CB8AC3E}">
        <p14:creationId xmlns:p14="http://schemas.microsoft.com/office/powerpoint/2010/main" val="5831378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0175B-20ED-F66E-B28C-75CAE4FE3D9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B7004EF-61D7-63E0-02B4-4CC0A04834E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8C6E58B-3608-C111-3AA3-92F104FA0DD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7EFAA24-8F82-0146-055D-116500019D6C}"/>
              </a:ext>
            </a:extLst>
          </p:cNvPr>
          <p:cNvSpPr>
            <a:spLocks noGrp="1"/>
          </p:cNvSpPr>
          <p:nvPr>
            <p:ph type="sldNum" sz="quarter" idx="5"/>
          </p:nvPr>
        </p:nvSpPr>
        <p:spPr/>
        <p:txBody>
          <a:bodyPr/>
          <a:lstStyle/>
          <a:p>
            <a:fld id="{AD80470A-4597-4319-87FD-3AB9665446AB}" type="slidenum">
              <a:rPr lang="zh-CN" altLang="en-US" smtClean="0"/>
              <a:t>28</a:t>
            </a:fld>
            <a:endParaRPr lang="zh-CN" altLang="en-US"/>
          </a:p>
        </p:txBody>
      </p:sp>
    </p:spTree>
    <p:extLst>
      <p:ext uri="{BB962C8B-B14F-4D97-AF65-F5344CB8AC3E}">
        <p14:creationId xmlns:p14="http://schemas.microsoft.com/office/powerpoint/2010/main" val="32349185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FFE44-00FE-BBA9-222F-864EAFB2698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EB47E2F-93C0-01A0-3F99-C4ADDF3A3FC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A1372CF-DF5C-791F-DD51-A579CC17CDD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A95BE61-0270-4D5B-2E98-264E98D5E0F4}"/>
              </a:ext>
            </a:extLst>
          </p:cNvPr>
          <p:cNvSpPr>
            <a:spLocks noGrp="1"/>
          </p:cNvSpPr>
          <p:nvPr>
            <p:ph type="sldNum" sz="quarter" idx="5"/>
          </p:nvPr>
        </p:nvSpPr>
        <p:spPr/>
        <p:txBody>
          <a:bodyPr/>
          <a:lstStyle/>
          <a:p>
            <a:fld id="{AD80470A-4597-4319-87FD-3AB9665446AB}" type="slidenum">
              <a:rPr lang="zh-CN" altLang="en-US" smtClean="0"/>
              <a:t>29</a:t>
            </a:fld>
            <a:endParaRPr lang="zh-CN" altLang="en-US"/>
          </a:p>
        </p:txBody>
      </p:sp>
    </p:spTree>
    <p:extLst>
      <p:ext uri="{BB962C8B-B14F-4D97-AF65-F5344CB8AC3E}">
        <p14:creationId xmlns:p14="http://schemas.microsoft.com/office/powerpoint/2010/main" val="6387580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7AA5570-5C36-4F12-A1EB-4155A99A166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7AA5570-5C36-4F12-A1EB-4155A99A166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97AA5570-5C36-4F12-A1EB-4155A99A166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97AA5570-5C36-4F12-A1EB-4155A99A166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7AA5570-5C36-4F12-A1EB-4155A99A166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7AA5570-5C36-4F12-A1EB-4155A99A166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97AA5570-5C36-4F12-A1EB-4155A99A166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7AA5570-5C36-4F12-A1EB-4155A99A166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212725" y="2302510"/>
            <a:ext cx="10515600" cy="1325563"/>
          </a:xfrm>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7AA5570-5C36-4F12-A1EB-4155A99A1666}" type="slidenum">
              <a:rPr lang="zh-CN" altLang="en-US" smtClean="0"/>
              <a:t>‹#›</a:t>
            </a:fld>
            <a:endParaRPr lang="zh-CN" altLang="en-US" dirty="0"/>
          </a:p>
        </p:txBody>
      </p:sp>
      <p:pic>
        <p:nvPicPr>
          <p:cNvPr id="7" name="图片 6"/>
          <p:cNvPicPr>
            <a:picLocks noChangeAspect="1"/>
          </p:cNvPicPr>
          <p:nvPr userDrawn="1"/>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9352751" y="21511"/>
            <a:ext cx="1323062" cy="1052625"/>
          </a:xfrm>
          <a:prstGeom prst="rect">
            <a:avLst/>
          </a:prstGeom>
        </p:spPr>
      </p:pic>
      <p:pic>
        <p:nvPicPr>
          <p:cNvPr id="9" name="图片 8"/>
          <p:cNvPicPr>
            <a:picLocks noChangeAspect="1"/>
          </p:cNvPicPr>
          <p:nvPr userDrawn="1"/>
        </p:nvPicPr>
        <p:blipFill rotWithShape="1">
          <a:blip r:embed="rId4"/>
          <a:srcRect l="13275" t="7950" r="12114" b="51019"/>
          <a:stretch>
            <a:fillRect/>
          </a:stretch>
        </p:blipFill>
        <p:spPr>
          <a:xfrm>
            <a:off x="10367812" y="205325"/>
            <a:ext cx="1678137" cy="636038"/>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目录板式">
    <p:spTree>
      <p:nvGrpSpPr>
        <p:cNvPr id="1" name=""/>
        <p:cNvGrpSpPr/>
        <p:nvPr/>
      </p:nvGrpSpPr>
      <p:grpSpPr>
        <a:xfrm>
          <a:off x="0" y="0"/>
          <a:ext cx="0" cy="0"/>
          <a:chOff x="0" y="0"/>
          <a:chExt cx="0" cy="0"/>
        </a:xfrm>
      </p:grpSpPr>
      <p:sp>
        <p:nvSpPr>
          <p:cNvPr id="2" name="矩形 1"/>
          <p:cNvSpPr/>
          <p:nvPr userDrawn="1"/>
        </p:nvSpPr>
        <p:spPr>
          <a:xfrm>
            <a:off x="341160" y="190525"/>
            <a:ext cx="720000" cy="72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latin typeface="微软雅黑" panose="020B0503020204020204" pitchFamily="34" charset="-122"/>
              <a:ea typeface="微软雅黑" panose="020B0503020204020204" pitchFamily="34" charset="-122"/>
            </a:endParaRPr>
          </a:p>
        </p:txBody>
      </p:sp>
      <p:cxnSp>
        <p:nvCxnSpPr>
          <p:cNvPr id="22" name="直接连接符 21"/>
          <p:cNvCxnSpPr/>
          <p:nvPr userDrawn="1"/>
        </p:nvCxnSpPr>
        <p:spPr>
          <a:xfrm>
            <a:off x="2008912" y="568053"/>
            <a:ext cx="74798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4" name="图片 3"/>
          <p:cNvPicPr>
            <a:picLocks noChangeAspect="1"/>
          </p:cNvPicPr>
          <p:nvPr userDrawn="1"/>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9352751" y="21511"/>
            <a:ext cx="1323062" cy="1052625"/>
          </a:xfrm>
          <a:prstGeom prst="rect">
            <a:avLst/>
          </a:prstGeom>
        </p:spPr>
      </p:pic>
      <p:pic>
        <p:nvPicPr>
          <p:cNvPr id="5" name="图片 4"/>
          <p:cNvPicPr>
            <a:picLocks noChangeAspect="1"/>
          </p:cNvPicPr>
          <p:nvPr userDrawn="1"/>
        </p:nvPicPr>
        <p:blipFill rotWithShape="1">
          <a:blip r:embed="rId4"/>
          <a:srcRect l="13275" t="7950" r="12114" b="51019"/>
          <a:stretch>
            <a:fillRect/>
          </a:stretch>
        </p:blipFill>
        <p:spPr>
          <a:xfrm>
            <a:off x="10367812" y="205325"/>
            <a:ext cx="1678137" cy="636038"/>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9302750" y="6356350"/>
            <a:ext cx="2743200" cy="365125"/>
          </a:xfrm>
          <a:prstGeom prst="rect">
            <a:avLst/>
          </a:prstGeom>
        </p:spPr>
        <p:txBody>
          <a:bodyPr vert="horz" lIns="91440" tIns="45720" rIns="91440" bIns="45720" rtlCol="0" anchor="ctr"/>
          <a:lstStyle>
            <a:lvl1pPr algn="r">
              <a:defRPr sz="1600" baseline="0">
                <a:solidFill>
                  <a:schemeClr val="tx1">
                    <a:tint val="75000"/>
                  </a:schemeClr>
                </a:solidFill>
                <a:latin typeface="Times New Roman" panose="02020603050405020304" pitchFamily="18" charset="0"/>
                <a:cs typeface="Times New Roman" panose="02020603050405020304" pitchFamily="18" charset="0"/>
              </a:defRPr>
            </a:lvl1pPr>
          </a:lstStyle>
          <a:p>
            <a:fld id="{97AA5570-5C36-4F12-A1EB-4155A99A1666}"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0.xml"/><Relationship Id="rId1" Type="http://schemas.openxmlformats.org/officeDocument/2006/relationships/tags" Target="../tags/tag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0.xml"/><Relationship Id="rId1" Type="http://schemas.openxmlformats.org/officeDocument/2006/relationships/tags" Target="../tags/tag3.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10.xml"/><Relationship Id="rId5" Type="http://schemas.openxmlformats.org/officeDocument/2006/relationships/image" Target="../media/image8.jpg"/><Relationship Id="rId4" Type="http://schemas.openxmlformats.org/officeDocument/2006/relationships/image" Target="../media/image7.jpg"/></Relationships>
</file>

<file path=ppt/slides/_rels/slide6.xml.rels><?xml version="1.0" encoding="UTF-8" standalone="yes"?>
<Relationships xmlns="http://schemas.openxmlformats.org/package/2006/relationships"><Relationship Id="rId3" Type="http://schemas.openxmlformats.org/officeDocument/2006/relationships/image" Target="../media/image9.tif"/><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0.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tif"/></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0.xml"/><Relationship Id="rId6" Type="http://schemas.openxmlformats.org/officeDocument/2006/relationships/image" Target="../media/image7.jpg"/><Relationship Id="rId5" Type="http://schemas.openxmlformats.org/officeDocument/2006/relationships/image" Target="../media/image15.png"/><Relationship Id="rId4" Type="http://schemas.openxmlformats.org/officeDocument/2006/relationships/image" Target="../media/image6.jpg"/></Relationships>
</file>

<file path=ppt/slides/_rels/slide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8.xml"/><Relationship Id="rId1" Type="http://schemas.openxmlformats.org/officeDocument/2006/relationships/slideLayout" Target="../slideLayouts/slideLayout10.xml"/><Relationship Id="rId5" Type="http://schemas.openxmlformats.org/officeDocument/2006/relationships/image" Target="../media/image17.png"/><Relationship Id="rId4" Type="http://schemas.openxmlformats.org/officeDocument/2006/relationships/image" Target="../media/image17.jpe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0.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0.xml"/><Relationship Id="rId4" Type="http://schemas.openxmlformats.org/officeDocument/2006/relationships/image" Target="../media/image230.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0.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10.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10.xml"/><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10.xml"/><Relationship Id="rId6" Type="http://schemas.openxmlformats.org/officeDocument/2006/relationships/image" Target="../media/image32.png"/><Relationship Id="rId5" Type="http://schemas.openxmlformats.org/officeDocument/2006/relationships/image" Target="../media/image24.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20.xml"/><Relationship Id="rId1" Type="http://schemas.openxmlformats.org/officeDocument/2006/relationships/slideLayout" Target="../slideLayouts/slideLayout10.xml"/><Relationship Id="rId5" Type="http://schemas.openxmlformats.org/officeDocument/2006/relationships/image" Target="../media/image37.emf"/><Relationship Id="rId4" Type="http://schemas.openxmlformats.org/officeDocument/2006/relationships/image" Target="../media/image36.emf"/></Relationships>
</file>

<file path=ppt/slides/_rels/slide21.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21.xml"/><Relationship Id="rId1" Type="http://schemas.openxmlformats.org/officeDocument/2006/relationships/slideLayout" Target="../slideLayouts/slideLayout10.xml"/><Relationship Id="rId5" Type="http://schemas.openxmlformats.org/officeDocument/2006/relationships/image" Target="../media/image40.emf"/><Relationship Id="rId4" Type="http://schemas.openxmlformats.org/officeDocument/2006/relationships/image" Target="../media/image39.emf"/></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2.xml"/><Relationship Id="rId1" Type="http://schemas.openxmlformats.org/officeDocument/2006/relationships/slideLayout" Target="../slideLayouts/slideLayout9.xml"/><Relationship Id="rId4" Type="http://schemas.openxmlformats.org/officeDocument/2006/relationships/image" Target="../media/image42.png"/></Relationships>
</file>

<file path=ppt/slides/_rels/slide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3.xml"/><Relationship Id="rId1" Type="http://schemas.openxmlformats.org/officeDocument/2006/relationships/slideLayout" Target="../slideLayouts/slideLayout10.xml"/><Relationship Id="rId4" Type="http://schemas.openxmlformats.org/officeDocument/2006/relationships/image" Target="../media/image44.png"/></Relationships>
</file>

<file path=ppt/slides/_rels/slide2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5.xml"/><Relationship Id="rId1" Type="http://schemas.openxmlformats.org/officeDocument/2006/relationships/slideLayout" Target="../slideLayouts/slideLayout10.xml"/><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7.xml"/><Relationship Id="rId1" Type="http://schemas.openxmlformats.org/officeDocument/2006/relationships/slideLayout" Target="../slideLayouts/slideLayout10.xml"/><Relationship Id="rId4" Type="http://schemas.openxmlformats.org/officeDocument/2006/relationships/image" Target="../media/image49.png"/></Relationships>
</file>

<file path=ppt/slides/_rels/slide2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9.xml"/><Relationship Id="rId1" Type="http://schemas.openxmlformats.org/officeDocument/2006/relationships/slideLayout" Target="../slideLayouts/slideLayout10.xml"/><Relationship Id="rId5" Type="http://schemas.openxmlformats.org/officeDocument/2006/relationships/image" Target="../media/image53.png"/><Relationship Id="rId4" Type="http://schemas.openxmlformats.org/officeDocument/2006/relationships/image" Target="../media/image5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 y="1847849"/>
            <a:ext cx="12192000" cy="26674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algn="ctr">
              <a:spcBef>
                <a:spcPts val="0"/>
              </a:spcBef>
              <a:spcAft>
                <a:spcPts val="0"/>
              </a:spcAft>
            </a:pPr>
            <a:endParaRPr lang="zh-CN" altLang="zh-CN" sz="4000" dirty="0">
              <a:solidFill>
                <a:schemeClr val="bg2"/>
              </a:solidFill>
              <a:effectLst/>
              <a:latin typeface="微软雅黑" panose="020B0503020204020204" pitchFamily="34" charset="-122"/>
              <a:ea typeface="微软雅黑" panose="020B0503020204020204" pitchFamily="34" charset="-122"/>
            </a:endParaRPr>
          </a:p>
        </p:txBody>
      </p:sp>
      <p:sp>
        <p:nvSpPr>
          <p:cNvPr id="8" name="文本框 7"/>
          <p:cNvSpPr txBox="1"/>
          <p:nvPr/>
        </p:nvSpPr>
        <p:spPr>
          <a:xfrm>
            <a:off x="0" y="222276"/>
            <a:ext cx="6450227" cy="581057"/>
          </a:xfrm>
          <a:prstGeom prst="rect">
            <a:avLst/>
          </a:prstGeom>
          <a:noFill/>
        </p:spPr>
        <p:txBody>
          <a:bodyPr wrap="square" rtlCol="0">
            <a:spAutoFit/>
          </a:bodyPr>
          <a:lstStyle/>
          <a:p>
            <a:pPr>
              <a:lnSpc>
                <a:spcPct val="150000"/>
              </a:lnSpc>
            </a:pPr>
            <a:r>
              <a:rPr lang="en-US" altLang="zh-CN" sz="2400" dirty="0">
                <a:effectLst/>
                <a:latin typeface="FangSong_GB2312" panose="02010609030101010101" pitchFamily="49" charset="-122"/>
                <a:ea typeface="FangSong_GB2312" panose="02010609030101010101" pitchFamily="49" charset="-122"/>
                <a:cs typeface="Times New Roman" panose="02020603050405020304" pitchFamily="18" charset="0"/>
              </a:rPr>
              <a:t>  - </a:t>
            </a:r>
            <a:r>
              <a:rPr lang="zh-CN" altLang="en-US" sz="2400" dirty="0">
                <a:effectLst/>
                <a:latin typeface="FangSong_GB2312" panose="02010609030101010101" pitchFamily="49" charset="-122"/>
                <a:ea typeface="FangSong_GB2312" panose="02010609030101010101" pitchFamily="49" charset="-122"/>
                <a:cs typeface="Times New Roman" panose="02020603050405020304" pitchFamily="18" charset="0"/>
              </a:rPr>
              <a:t>毕业论文答辩 </a:t>
            </a:r>
            <a:r>
              <a:rPr lang="en-US" altLang="zh-CN" sz="2400" dirty="0">
                <a:effectLst/>
                <a:latin typeface="FangSong_GB2312" panose="02010609030101010101" pitchFamily="49" charset="-122"/>
                <a:ea typeface="FangSong_GB2312" panose="02010609030101010101" pitchFamily="49" charset="-122"/>
                <a:cs typeface="Times New Roman" panose="02020603050405020304" pitchFamily="18" charset="0"/>
              </a:rPr>
              <a:t>- </a:t>
            </a:r>
            <a:endParaRPr lang="zh-CN" altLang="en-US" sz="2400" dirty="0">
              <a:latin typeface="FangSong_GB2312" panose="02010609030101010101" pitchFamily="49" charset="-122"/>
              <a:ea typeface="FangSong_GB2312" panose="02010609030101010101" pitchFamily="49" charset="-122"/>
            </a:endParaRPr>
          </a:p>
        </p:txBody>
      </p:sp>
      <p:sp>
        <p:nvSpPr>
          <p:cNvPr id="9" name="文本框 8"/>
          <p:cNvSpPr txBox="1"/>
          <p:nvPr/>
        </p:nvSpPr>
        <p:spPr>
          <a:xfrm>
            <a:off x="532180" y="2346194"/>
            <a:ext cx="11127634" cy="1292662"/>
          </a:xfrm>
          <a:prstGeom prst="rect">
            <a:avLst/>
          </a:prstGeom>
          <a:noFill/>
        </p:spPr>
        <p:txBody>
          <a:bodyPr wrap="square" rtlCol="0">
            <a:spAutoFit/>
          </a:bodyPr>
          <a:lstStyle/>
          <a:p>
            <a:pPr algn="ctr"/>
            <a:r>
              <a:rPr lang="zh-CN" altLang="en-US" sz="5400" b="1" dirty="0">
                <a:solidFill>
                  <a:schemeClr val="bg1"/>
                </a:solidFill>
                <a:latin typeface="FangSong_GB2312" panose="02010609030101010101" pitchFamily="49" charset="-122"/>
                <a:ea typeface="FangSong_GB2312" panose="02010609030101010101" pitchFamily="49" charset="-122"/>
              </a:rPr>
              <a:t>短视频观看诱发的颅内脑电研究</a:t>
            </a:r>
            <a:br>
              <a:rPr lang="en-US" altLang="zh-CN" sz="2400" b="1" dirty="0">
                <a:solidFill>
                  <a:schemeClr val="bg1"/>
                </a:solidFill>
                <a:latin typeface="FangSong_GB2312" panose="02010609030101010101" pitchFamily="49" charset="-122"/>
                <a:ea typeface="FangSong_GB2312" panose="02010609030101010101" pitchFamily="49" charset="-122"/>
              </a:rPr>
            </a:br>
            <a:endParaRPr lang="zh-CN" altLang="en-US" sz="2400" b="1" dirty="0">
              <a:solidFill>
                <a:schemeClr val="bg1"/>
              </a:solidFill>
              <a:latin typeface="FangSong_GB2312" panose="02010609030101010101" pitchFamily="49" charset="-122"/>
              <a:ea typeface="FangSong_GB2312" panose="02010609030101010101" pitchFamily="49" charset="-122"/>
            </a:endParaRPr>
          </a:p>
        </p:txBody>
      </p:sp>
      <p:graphicFrame>
        <p:nvGraphicFramePr>
          <p:cNvPr id="10" name="表格 2"/>
          <p:cNvGraphicFramePr>
            <a:graphicFrameLocks noGrp="1"/>
          </p:cNvGraphicFramePr>
          <p:nvPr>
            <p:extLst>
              <p:ext uri="{D42A27DB-BD31-4B8C-83A1-F6EECF244321}">
                <p14:modId xmlns:p14="http://schemas.microsoft.com/office/powerpoint/2010/main" val="679815590"/>
              </p:ext>
            </p:extLst>
          </p:nvPr>
        </p:nvGraphicFramePr>
        <p:xfrm>
          <a:off x="4108610" y="4811666"/>
          <a:ext cx="4683234" cy="1663065"/>
        </p:xfrm>
        <a:graphic>
          <a:graphicData uri="http://schemas.openxmlformats.org/drawingml/2006/table">
            <a:tbl>
              <a:tblPr firstRow="1" bandRow="1">
                <a:tableStyleId>{2D5ABB26-0587-4C30-8999-92F81FD0307C}</a:tableStyleId>
              </a:tblPr>
              <a:tblGrid>
                <a:gridCol w="1618531">
                  <a:extLst>
                    <a:ext uri="{9D8B030D-6E8A-4147-A177-3AD203B41FA5}">
                      <a16:colId xmlns:a16="http://schemas.microsoft.com/office/drawing/2014/main" val="20000"/>
                    </a:ext>
                  </a:extLst>
                </a:gridCol>
                <a:gridCol w="334254">
                  <a:extLst>
                    <a:ext uri="{9D8B030D-6E8A-4147-A177-3AD203B41FA5}">
                      <a16:colId xmlns:a16="http://schemas.microsoft.com/office/drawing/2014/main" val="20001"/>
                    </a:ext>
                  </a:extLst>
                </a:gridCol>
                <a:gridCol w="2730449">
                  <a:extLst>
                    <a:ext uri="{9D8B030D-6E8A-4147-A177-3AD203B41FA5}">
                      <a16:colId xmlns:a16="http://schemas.microsoft.com/office/drawing/2014/main" val="20002"/>
                    </a:ext>
                  </a:extLst>
                </a:gridCol>
              </a:tblGrid>
              <a:tr h="370840">
                <a:tc>
                  <a:txBody>
                    <a:bodyPr/>
                    <a:lstStyle/>
                    <a:p>
                      <a:pPr marL="0" algn="dist" defTabSz="457200" rtl="0" eaLnBrk="1" latinLnBrk="0" hangingPunct="1">
                        <a:lnSpc>
                          <a:spcPct val="150000"/>
                        </a:lnSpc>
                      </a:pPr>
                      <a:r>
                        <a:rPr lang="zh-CN" altLang="en-US" sz="2400" kern="1200" dirty="0">
                          <a:solidFill>
                            <a:schemeClr val="tx1"/>
                          </a:solidFill>
                          <a:latin typeface="FangSong_GB2312" panose="02010609030101010101" pitchFamily="49" charset="-122"/>
                          <a:ea typeface="FangSong_GB2312" panose="02010609030101010101" pitchFamily="49" charset="-122"/>
                          <a:cs typeface="+mn-cs"/>
                        </a:rPr>
                        <a:t>汇报人</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457200" rtl="0" eaLnBrk="1" latinLnBrk="0" hangingPunct="1">
                        <a:lnSpc>
                          <a:spcPct val="150000"/>
                        </a:lnSpc>
                      </a:pPr>
                      <a:r>
                        <a:rPr lang="zh-CN" altLang="en-US" sz="2400" kern="1200" dirty="0">
                          <a:solidFill>
                            <a:schemeClr val="tx1"/>
                          </a:solidFill>
                          <a:latin typeface="FangSong_GB2312" panose="02010609030101010101" pitchFamily="49" charset="-122"/>
                          <a:ea typeface="FangSong_GB2312" panose="02010609030101010101" pitchFamily="49" charset="-122"/>
                          <a:cs typeface="+mn-cs"/>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457200" rtl="0" eaLnBrk="1" latinLnBrk="0" hangingPunct="1">
                        <a:lnSpc>
                          <a:spcPct val="150000"/>
                        </a:lnSpc>
                      </a:pPr>
                      <a:r>
                        <a:rPr lang="zh-CN" altLang="en-US" sz="2400" kern="1200" dirty="0">
                          <a:solidFill>
                            <a:schemeClr val="tx1"/>
                          </a:solidFill>
                          <a:latin typeface="FangSong_GB2312" panose="02010609030101010101" pitchFamily="49" charset="-122"/>
                          <a:ea typeface="FangSong_GB2312" panose="02010609030101010101" pitchFamily="49" charset="-122"/>
                          <a:cs typeface="+mn-cs"/>
                        </a:rPr>
                        <a:t>徐嘉晟</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70840">
                <a:tc>
                  <a:txBody>
                    <a:bodyPr/>
                    <a:lstStyle/>
                    <a:p>
                      <a:pPr marL="0" algn="dist" defTabSz="457200" rtl="0" eaLnBrk="1" latinLnBrk="0" hangingPunct="1">
                        <a:lnSpc>
                          <a:spcPct val="150000"/>
                        </a:lnSpc>
                      </a:pPr>
                      <a:r>
                        <a:rPr lang="zh-CN" altLang="en-US" sz="2400" kern="1200" dirty="0">
                          <a:solidFill>
                            <a:schemeClr val="tx1"/>
                          </a:solidFill>
                          <a:latin typeface="FangSong_GB2312" panose="02010609030101010101" pitchFamily="49" charset="-122"/>
                          <a:ea typeface="FangSong_GB2312" panose="02010609030101010101" pitchFamily="49" charset="-122"/>
                          <a:cs typeface="+mn-cs"/>
                        </a:rPr>
                        <a:t>导师</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457200" rtl="0" eaLnBrk="1" latinLnBrk="0" hangingPunct="1">
                        <a:lnSpc>
                          <a:spcPct val="150000"/>
                        </a:lnSpc>
                      </a:pPr>
                      <a:r>
                        <a:rPr lang="zh-CN" altLang="en-US" sz="2400" kern="1200" dirty="0">
                          <a:solidFill>
                            <a:schemeClr val="tx1"/>
                          </a:solidFill>
                          <a:latin typeface="FangSong_GB2312" panose="02010609030101010101" pitchFamily="49" charset="-122"/>
                          <a:ea typeface="FangSong_GB2312" panose="02010609030101010101" pitchFamily="49" charset="-122"/>
                          <a:cs typeface="+mn-cs"/>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457200" rtl="0" eaLnBrk="1" latinLnBrk="0" hangingPunct="1">
                        <a:lnSpc>
                          <a:spcPct val="150000"/>
                        </a:lnSpc>
                      </a:pPr>
                      <a:r>
                        <a:rPr lang="zh-CN" altLang="en-US" sz="2400" kern="1200" dirty="0">
                          <a:solidFill>
                            <a:schemeClr val="tx1"/>
                          </a:solidFill>
                          <a:latin typeface="FangSong_GB2312" panose="02010609030101010101" pitchFamily="49" charset="-122"/>
                          <a:ea typeface="FangSong_GB2312" panose="02010609030101010101" pitchFamily="49" charset="-122"/>
                          <a:cs typeface="+mn-cs"/>
                        </a:rPr>
                        <a:t>胡玉正</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94623">
                <a:tc>
                  <a:txBody>
                    <a:bodyPr/>
                    <a:lstStyle/>
                    <a:p>
                      <a:pPr marL="0" algn="dist" defTabSz="457200" rtl="0" eaLnBrk="1" latinLnBrk="0" hangingPunct="1">
                        <a:lnSpc>
                          <a:spcPct val="150000"/>
                        </a:lnSpc>
                      </a:pPr>
                      <a:r>
                        <a:rPr lang="zh-CN" altLang="en-US" sz="2400" kern="1200" dirty="0">
                          <a:solidFill>
                            <a:schemeClr val="tx1"/>
                          </a:solidFill>
                          <a:latin typeface="FangSong_GB2312" panose="02010609030101010101" pitchFamily="49" charset="-122"/>
                          <a:ea typeface="FangSong_GB2312" panose="02010609030101010101" pitchFamily="49" charset="-122"/>
                          <a:cs typeface="+mn-cs"/>
                        </a:rPr>
                        <a:t>日期</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457200" rtl="0" eaLnBrk="1" latinLnBrk="0" hangingPunct="1">
                        <a:lnSpc>
                          <a:spcPct val="150000"/>
                        </a:lnSpc>
                      </a:pPr>
                      <a:r>
                        <a:rPr lang="zh-CN" altLang="en-US" sz="2400" kern="1200" dirty="0">
                          <a:solidFill>
                            <a:schemeClr val="tx1"/>
                          </a:solidFill>
                          <a:latin typeface="FangSong_GB2312" panose="02010609030101010101" pitchFamily="49" charset="-122"/>
                          <a:ea typeface="FangSong_GB2312" panose="02010609030101010101" pitchFamily="49" charset="-122"/>
                          <a:cs typeface="+mn-cs"/>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457200" rtl="0" eaLnBrk="1" latinLnBrk="0" hangingPunct="1">
                        <a:lnSpc>
                          <a:spcPct val="150000"/>
                        </a:lnSpc>
                      </a:pPr>
                      <a:r>
                        <a:rPr lang="en-US" altLang="zh-CN" sz="2400" kern="1200" dirty="0">
                          <a:solidFill>
                            <a:schemeClr val="tx1"/>
                          </a:solidFill>
                          <a:latin typeface="FangSong_GB2312" panose="02010609030101010101" pitchFamily="49" charset="-122"/>
                          <a:ea typeface="FangSong_GB2312" panose="02010609030101010101" pitchFamily="49" charset="-122"/>
                          <a:cs typeface="+mn-cs"/>
                        </a:rPr>
                        <a:t>2026.05.29</a:t>
                      </a:r>
                      <a:endParaRPr lang="zh-CN" altLang="en-US" sz="2400" kern="1200" dirty="0">
                        <a:solidFill>
                          <a:schemeClr val="tx1"/>
                        </a:solidFill>
                        <a:latin typeface="FangSong_GB2312" panose="02010609030101010101" pitchFamily="49" charset="-122"/>
                        <a:ea typeface="FangSong_GB2312" panose="02010609030101010101" pitchFamily="49" charset="-122"/>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
        <p:nvSpPr>
          <p:cNvPr id="4" name="文本框 3"/>
          <p:cNvSpPr txBox="1"/>
          <p:nvPr/>
        </p:nvSpPr>
        <p:spPr>
          <a:xfrm>
            <a:off x="4068827" y="3638856"/>
            <a:ext cx="3615709" cy="461665"/>
          </a:xfrm>
          <a:prstGeom prst="rect">
            <a:avLst/>
          </a:prstGeom>
          <a:noFill/>
        </p:spPr>
        <p:txBody>
          <a:bodyPr wrap="square" rtlCol="0">
            <a:spAutoFit/>
          </a:bodyPr>
          <a:lstStyle/>
          <a:p>
            <a:pPr algn="ctr"/>
            <a:r>
              <a:rPr lang="zh-CN" altLang="en-US" sz="2400" b="1" spc="300" dirty="0">
                <a:solidFill>
                  <a:schemeClr val="bg1"/>
                </a:solidFill>
                <a:latin typeface="FangSong_GB2312" panose="02010609030101010101" pitchFamily="49" charset="-122"/>
                <a:ea typeface="FangSong_GB2312" panose="02010609030101010101" pitchFamily="49" charset="-122"/>
              </a:rPr>
              <a:t>心理与行为科学系</a:t>
            </a:r>
            <a:endParaRPr lang="en-US" altLang="zh-CN" sz="2400" b="1" spc="300" dirty="0">
              <a:solidFill>
                <a:schemeClr val="bg1"/>
              </a:solidFill>
              <a:latin typeface="FangSong_GB2312" panose="02010609030101010101" pitchFamily="49" charset="-122"/>
              <a:ea typeface="FangSong_GB2312" panose="0201060903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p14:dur="10" advTm="21352"/>
    </mc:Choice>
    <mc:Fallback xmlns="">
      <p:transition advTm="2135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274289" y="375435"/>
            <a:ext cx="2259521" cy="400110"/>
          </a:xfrm>
          <a:prstGeom prst="rect">
            <a:avLst/>
          </a:prstGeom>
          <a:solidFill>
            <a:schemeClr val="bg1"/>
          </a:solidFill>
        </p:spPr>
        <p:txBody>
          <a:bodyPr wrap="square" rtlCol="0">
            <a:spAutoFit/>
          </a:bodyPr>
          <a:lstStyle/>
          <a:p>
            <a:pPr defTabSz="914400"/>
            <a:r>
              <a:rPr lang="zh-CN" altLang="en-US" sz="2000" b="1" spc="300" dirty="0">
                <a:latin typeface="FangSong_GB2312" panose="02010609030101010101" pitchFamily="49" charset="-122"/>
                <a:ea typeface="FangSong_GB2312" panose="02010609030101010101" pitchFamily="49" charset="-122"/>
              </a:rPr>
              <a:t>研究背景与框架</a:t>
            </a:r>
          </a:p>
        </p:txBody>
      </p:sp>
      <p:sp>
        <p:nvSpPr>
          <p:cNvPr id="363" name="文本框 362"/>
          <p:cNvSpPr txBox="1"/>
          <p:nvPr/>
        </p:nvSpPr>
        <p:spPr>
          <a:xfrm>
            <a:off x="358346" y="288442"/>
            <a:ext cx="720000" cy="523220"/>
          </a:xfrm>
          <a:prstGeom prst="rect">
            <a:avLst/>
          </a:prstGeom>
          <a:noFill/>
        </p:spPr>
        <p:txBody>
          <a:bodyPr wrap="square" rtlCol="0">
            <a:spAutoFit/>
          </a:bodyPr>
          <a:lstStyle/>
          <a:p>
            <a:pPr algn="ctr"/>
            <a:r>
              <a:rPr lang="en-US" altLang="zh-CN"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01</a:t>
            </a:r>
            <a:endParaRPr lang="zh-CN" altLang="en-US"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2" name="Picture 1">
            <a:extLst>
              <a:ext uri="{FF2B5EF4-FFF2-40B4-BE49-F238E27FC236}">
                <a16:creationId xmlns:a16="http://schemas.microsoft.com/office/drawing/2014/main" id="{DE132F1E-4779-51EA-BD85-09D6DE4E181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967641" y="3015227"/>
            <a:ext cx="5828475" cy="3842773"/>
          </a:xfrm>
          <a:prstGeom prst="rect">
            <a:avLst/>
          </a:prstGeom>
        </p:spPr>
      </p:pic>
      <p:sp>
        <p:nvSpPr>
          <p:cNvPr id="7" name="Rectangle 6">
            <a:extLst>
              <a:ext uri="{FF2B5EF4-FFF2-40B4-BE49-F238E27FC236}">
                <a16:creationId xmlns:a16="http://schemas.microsoft.com/office/drawing/2014/main" id="{4A7DBA8A-AC1F-A171-7707-9EC771207EF7}"/>
              </a:ext>
            </a:extLst>
          </p:cNvPr>
          <p:cNvSpPr>
            <a:spLocks noGrp="1"/>
          </p:cNvSpPr>
          <p:nvPr/>
        </p:nvSpPr>
        <p:spPr>
          <a:xfrm>
            <a:off x="1483295" y="1064031"/>
            <a:ext cx="209550" cy="63180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11111"/>
                </a:solidFill>
                <a:latin typeface="Arial"/>
                <a:ea typeface="Arial"/>
                <a:cs typeface="Arial"/>
              </a:defRPr>
            </a:pPr>
            <a:r>
              <a:rPr b="0">
                <a:solidFill>
                  <a:srgbClr val="111111"/>
                </a:solidFill>
                <a:latin typeface="Arial"/>
                <a:ea typeface="Arial"/>
                <a:cs typeface="Arial"/>
              </a:rPr>
              <a:t>➢</a:t>
            </a:r>
          </a:p>
        </p:txBody>
      </p:sp>
      <p:sp>
        <p:nvSpPr>
          <p:cNvPr id="11" name="Rectangle 10">
            <a:extLst>
              <a:ext uri="{FF2B5EF4-FFF2-40B4-BE49-F238E27FC236}">
                <a16:creationId xmlns:a16="http://schemas.microsoft.com/office/drawing/2014/main" id="{B945E0D6-F4F2-2E23-CED9-8145052056A3}"/>
              </a:ext>
            </a:extLst>
          </p:cNvPr>
          <p:cNvSpPr>
            <a:spLocks noGrp="1"/>
          </p:cNvSpPr>
          <p:nvPr/>
        </p:nvSpPr>
        <p:spPr>
          <a:xfrm>
            <a:off x="1749995" y="1073557"/>
            <a:ext cx="9315450" cy="78975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0">
                <a:solidFill>
                  <a:srgbClr val="111111"/>
                </a:solidFill>
                <a:latin typeface="Songti SC"/>
                <a:ea typeface="Songti SC"/>
                <a:cs typeface="Songti SC"/>
              </a:defRPr>
            </a:pPr>
            <a:r>
              <a:rPr sz="1600" b="0" dirty="0" err="1">
                <a:solidFill>
                  <a:srgbClr val="111111"/>
                </a:solidFill>
                <a:latin typeface="FangSong_GB2312" panose="02010609030101010101" pitchFamily="49" charset="-122"/>
                <a:ea typeface="FangSong_GB2312" panose="02010609030101010101" pitchFamily="49" charset="-122"/>
                <a:cs typeface="Songti SC"/>
              </a:rPr>
              <a:t>短视频已成为高普及、高时长占用的日常媒介情境</a:t>
            </a:r>
            <a:endParaRPr sz="1600" b="0" dirty="0">
              <a:solidFill>
                <a:srgbClr val="111111"/>
              </a:solidFill>
              <a:latin typeface="FangSong_GB2312" panose="02010609030101010101" pitchFamily="49" charset="-122"/>
              <a:ea typeface="FangSong_GB2312" panose="02010609030101010101" pitchFamily="49" charset="-122"/>
              <a:cs typeface="Songti SC"/>
            </a:endParaRPr>
          </a:p>
        </p:txBody>
      </p:sp>
      <p:sp>
        <p:nvSpPr>
          <p:cNvPr id="12" name="Rectangle 11">
            <a:extLst>
              <a:ext uri="{FF2B5EF4-FFF2-40B4-BE49-F238E27FC236}">
                <a16:creationId xmlns:a16="http://schemas.microsoft.com/office/drawing/2014/main" id="{28CED5AB-2685-07DA-5E60-E50F158F458D}"/>
              </a:ext>
            </a:extLst>
          </p:cNvPr>
          <p:cNvSpPr>
            <a:spLocks noGrp="1"/>
          </p:cNvSpPr>
          <p:nvPr/>
        </p:nvSpPr>
        <p:spPr>
          <a:xfrm>
            <a:off x="1769045" y="1340256"/>
            <a:ext cx="9296400" cy="379083"/>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0">
                <a:solidFill>
                  <a:srgbClr val="5F6673"/>
                </a:solidFill>
                <a:latin typeface="Aptos"/>
                <a:ea typeface="Aptos"/>
                <a:cs typeface="Aptos"/>
              </a:defRPr>
            </a:pPr>
            <a:r>
              <a:rPr sz="800" b="0" dirty="0">
                <a:solidFill>
                  <a:srgbClr val="5F6673"/>
                </a:solidFill>
                <a:latin typeface="Times New Roman" panose="02020603050405020304" pitchFamily="18" charset="0"/>
                <a:ea typeface="FangSong_GB2312" panose="02010609030101010101" pitchFamily="49" charset="-122"/>
                <a:cs typeface="Aptos"/>
              </a:rPr>
              <a:t>中国互联网络信息中心，2026；《</a:t>
            </a:r>
            <a:r>
              <a:rPr sz="800" b="0" dirty="0" err="1">
                <a:solidFill>
                  <a:srgbClr val="5F6673"/>
                </a:solidFill>
                <a:latin typeface="Times New Roman" panose="02020603050405020304" pitchFamily="18" charset="0"/>
                <a:ea typeface="FangSong_GB2312" panose="02010609030101010101" pitchFamily="49" charset="-122"/>
                <a:cs typeface="Aptos"/>
              </a:rPr>
              <a:t>中国网络视听发展研究报告</a:t>
            </a:r>
            <a:r>
              <a:rPr sz="800" b="0" dirty="0">
                <a:solidFill>
                  <a:srgbClr val="5F6673"/>
                </a:solidFill>
                <a:latin typeface="Times New Roman" panose="02020603050405020304" pitchFamily="18" charset="0"/>
                <a:ea typeface="FangSong_GB2312" panose="02010609030101010101" pitchFamily="49" charset="-122"/>
                <a:cs typeface="Aptos"/>
              </a:rPr>
              <a:t>》，2026</a:t>
            </a:r>
          </a:p>
        </p:txBody>
      </p:sp>
      <p:sp>
        <p:nvSpPr>
          <p:cNvPr id="13" name="Rectangle 12">
            <a:extLst>
              <a:ext uri="{FF2B5EF4-FFF2-40B4-BE49-F238E27FC236}">
                <a16:creationId xmlns:a16="http://schemas.microsoft.com/office/drawing/2014/main" id="{74FB17C6-E172-0487-AD54-79096610164B}"/>
              </a:ext>
            </a:extLst>
          </p:cNvPr>
          <p:cNvSpPr>
            <a:spLocks noGrp="1"/>
          </p:cNvSpPr>
          <p:nvPr/>
        </p:nvSpPr>
        <p:spPr>
          <a:xfrm>
            <a:off x="1483295" y="1612672"/>
            <a:ext cx="209550" cy="63180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11111"/>
                </a:solidFill>
                <a:latin typeface="Arial"/>
                <a:ea typeface="Arial"/>
                <a:cs typeface="Arial"/>
              </a:defRPr>
            </a:pPr>
            <a:r>
              <a:rPr b="0">
                <a:solidFill>
                  <a:srgbClr val="111111"/>
                </a:solidFill>
                <a:latin typeface="Arial"/>
                <a:ea typeface="Arial"/>
                <a:cs typeface="Arial"/>
              </a:rPr>
              <a:t>➢</a:t>
            </a:r>
          </a:p>
        </p:txBody>
      </p:sp>
      <p:sp>
        <p:nvSpPr>
          <p:cNvPr id="14" name="Rectangle 13">
            <a:extLst>
              <a:ext uri="{FF2B5EF4-FFF2-40B4-BE49-F238E27FC236}">
                <a16:creationId xmlns:a16="http://schemas.microsoft.com/office/drawing/2014/main" id="{420BCA7B-38AC-4F6B-ABAD-29F4B64F51F6}"/>
              </a:ext>
            </a:extLst>
          </p:cNvPr>
          <p:cNvSpPr>
            <a:spLocks noGrp="1"/>
          </p:cNvSpPr>
          <p:nvPr/>
        </p:nvSpPr>
        <p:spPr>
          <a:xfrm>
            <a:off x="1749995" y="1622198"/>
            <a:ext cx="9315450" cy="78975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0">
                <a:solidFill>
                  <a:srgbClr val="111111"/>
                </a:solidFill>
                <a:latin typeface="Songti SC"/>
                <a:ea typeface="Songti SC"/>
                <a:cs typeface="Songti SC"/>
              </a:defRPr>
            </a:pPr>
            <a:r>
              <a:rPr sz="1600" b="0" dirty="0" err="1">
                <a:solidFill>
                  <a:srgbClr val="111111"/>
                </a:solidFill>
                <a:latin typeface="FangSong_GB2312" panose="02010609030101010101" pitchFamily="49" charset="-122"/>
                <a:ea typeface="FangSong_GB2312" panose="02010609030101010101" pitchFamily="49" charset="-122"/>
                <a:cs typeface="Songti SC"/>
              </a:rPr>
              <a:t>个性化推荐、即时反馈与低操作成本，使短视频观看具有持续强化特征</a:t>
            </a:r>
            <a:r>
              <a:rPr sz="1600" b="0" dirty="0">
                <a:solidFill>
                  <a:srgbClr val="111111"/>
                </a:solidFill>
                <a:latin typeface="FangSong_GB2312" panose="02010609030101010101" pitchFamily="49" charset="-122"/>
                <a:ea typeface="FangSong_GB2312" panose="02010609030101010101" pitchFamily="49" charset="-122"/>
                <a:cs typeface="Songti SC"/>
              </a:rPr>
              <a:t>。</a:t>
            </a:r>
          </a:p>
        </p:txBody>
      </p:sp>
      <p:sp>
        <p:nvSpPr>
          <p:cNvPr id="17" name="Rectangle 16">
            <a:extLst>
              <a:ext uri="{FF2B5EF4-FFF2-40B4-BE49-F238E27FC236}">
                <a16:creationId xmlns:a16="http://schemas.microsoft.com/office/drawing/2014/main" id="{D30E4ABB-D493-6E64-2301-AC0238D8DB78}"/>
              </a:ext>
            </a:extLst>
          </p:cNvPr>
          <p:cNvSpPr>
            <a:spLocks noGrp="1"/>
          </p:cNvSpPr>
          <p:nvPr/>
        </p:nvSpPr>
        <p:spPr>
          <a:xfrm>
            <a:off x="1769045" y="1888897"/>
            <a:ext cx="9296400" cy="379083"/>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0">
                <a:solidFill>
                  <a:srgbClr val="5F6673"/>
                </a:solidFill>
                <a:latin typeface="Aptos"/>
                <a:ea typeface="Aptos"/>
                <a:cs typeface="Aptos"/>
              </a:defRPr>
            </a:pPr>
            <a:r>
              <a:rPr sz="800" b="0" dirty="0">
                <a:solidFill>
                  <a:srgbClr val="5F6673"/>
                </a:solidFill>
                <a:latin typeface="Times New Roman" panose="02020603050405020304" pitchFamily="18" charset="0"/>
                <a:ea typeface="Aptos"/>
                <a:cs typeface="Aptos"/>
              </a:rPr>
              <a:t>Su et al., 2021; Hasan et al., 2018; Ferster &amp; Skinner, 1957</a:t>
            </a:r>
          </a:p>
        </p:txBody>
      </p:sp>
      <p:sp>
        <p:nvSpPr>
          <p:cNvPr id="18" name="Rectangle 17">
            <a:extLst>
              <a:ext uri="{FF2B5EF4-FFF2-40B4-BE49-F238E27FC236}">
                <a16:creationId xmlns:a16="http://schemas.microsoft.com/office/drawing/2014/main" id="{0E15F3C6-F63F-9E37-3BF5-304808154270}"/>
              </a:ext>
            </a:extLst>
          </p:cNvPr>
          <p:cNvSpPr>
            <a:spLocks noGrp="1"/>
          </p:cNvSpPr>
          <p:nvPr/>
        </p:nvSpPr>
        <p:spPr>
          <a:xfrm>
            <a:off x="1483295" y="2161313"/>
            <a:ext cx="209550" cy="63180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11111"/>
                </a:solidFill>
                <a:latin typeface="Arial"/>
                <a:ea typeface="Arial"/>
                <a:cs typeface="Arial"/>
              </a:defRPr>
            </a:pPr>
            <a:r>
              <a:rPr b="0" dirty="0">
                <a:solidFill>
                  <a:srgbClr val="111111"/>
                </a:solidFill>
                <a:latin typeface="Arial"/>
                <a:ea typeface="Arial"/>
                <a:cs typeface="Arial"/>
              </a:rPr>
              <a:t>➢</a:t>
            </a:r>
          </a:p>
        </p:txBody>
      </p:sp>
      <p:sp>
        <p:nvSpPr>
          <p:cNvPr id="19" name="Rectangle 18">
            <a:extLst>
              <a:ext uri="{FF2B5EF4-FFF2-40B4-BE49-F238E27FC236}">
                <a16:creationId xmlns:a16="http://schemas.microsoft.com/office/drawing/2014/main" id="{A8235AC0-F92D-1C0B-947A-275FDC78D810}"/>
              </a:ext>
            </a:extLst>
          </p:cNvPr>
          <p:cNvSpPr>
            <a:spLocks noGrp="1"/>
          </p:cNvSpPr>
          <p:nvPr/>
        </p:nvSpPr>
        <p:spPr>
          <a:xfrm>
            <a:off x="1749995" y="2170839"/>
            <a:ext cx="9315450" cy="379083"/>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0">
                <a:solidFill>
                  <a:srgbClr val="111111"/>
                </a:solidFill>
                <a:latin typeface="Songti SC"/>
                <a:ea typeface="Songti SC"/>
                <a:cs typeface="Songti SC"/>
              </a:defRPr>
            </a:pPr>
            <a:r>
              <a:rPr sz="1600" b="0" dirty="0" err="1">
                <a:latin typeface="FangSong_GB2312" panose="02010609030101010101" pitchFamily="49" charset="-122"/>
                <a:ea typeface="FangSong_GB2312" panose="02010609030101010101" pitchFamily="49" charset="-122"/>
                <a:cs typeface="Songti SC"/>
              </a:rPr>
              <a:t>杏仁核</a:t>
            </a:r>
            <a:r>
              <a:rPr lang="en-US" altLang="zh-CN" sz="1600" b="0" dirty="0">
                <a:latin typeface="FangSong_GB2312" panose="02010609030101010101" pitchFamily="49" charset="-122"/>
                <a:ea typeface="FangSong_GB2312" panose="02010609030101010101" pitchFamily="49" charset="-122"/>
                <a:cs typeface="Songti SC"/>
              </a:rPr>
              <a:t>—</a:t>
            </a:r>
            <a:r>
              <a:rPr sz="1600" b="0" dirty="0" err="1">
                <a:latin typeface="FangSong_GB2312" panose="02010609030101010101" pitchFamily="49" charset="-122"/>
                <a:ea typeface="FangSong_GB2312" panose="02010609030101010101" pitchFamily="49" charset="-122"/>
                <a:cs typeface="Songti SC"/>
              </a:rPr>
              <a:t>海马系统可能参与情绪效价</a:t>
            </a:r>
            <a:r>
              <a:rPr sz="1600" b="0" dirty="0" err="1">
                <a:solidFill>
                  <a:srgbClr val="111111"/>
                </a:solidFill>
                <a:latin typeface="FangSong_GB2312" panose="02010609030101010101" pitchFamily="49" charset="-122"/>
                <a:ea typeface="FangSong_GB2312" panose="02010609030101010101" pitchFamily="49" charset="-122"/>
                <a:cs typeface="Songti SC"/>
              </a:rPr>
              <a:t>、主观偏好与凸显性信息的整合加工</a:t>
            </a:r>
            <a:r>
              <a:rPr sz="1600" b="0" dirty="0">
                <a:solidFill>
                  <a:srgbClr val="111111"/>
                </a:solidFill>
                <a:latin typeface="FangSong_GB2312" panose="02010609030101010101" pitchFamily="49" charset="-122"/>
                <a:ea typeface="FangSong_GB2312" panose="02010609030101010101" pitchFamily="49" charset="-122"/>
                <a:cs typeface="Songti SC"/>
              </a:rPr>
              <a:t>。</a:t>
            </a:r>
          </a:p>
        </p:txBody>
      </p:sp>
      <p:sp>
        <p:nvSpPr>
          <p:cNvPr id="20" name="Rectangle 19">
            <a:extLst>
              <a:ext uri="{FF2B5EF4-FFF2-40B4-BE49-F238E27FC236}">
                <a16:creationId xmlns:a16="http://schemas.microsoft.com/office/drawing/2014/main" id="{77C399DD-1FF1-99E9-742D-063E287A6DBB}"/>
              </a:ext>
            </a:extLst>
          </p:cNvPr>
          <p:cNvSpPr>
            <a:spLocks noGrp="1"/>
          </p:cNvSpPr>
          <p:nvPr/>
        </p:nvSpPr>
        <p:spPr>
          <a:xfrm>
            <a:off x="1769045" y="2437538"/>
            <a:ext cx="9296400" cy="379083"/>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0">
                <a:solidFill>
                  <a:srgbClr val="5F6673"/>
                </a:solidFill>
                <a:latin typeface="Aptos"/>
                <a:ea typeface="Aptos"/>
                <a:cs typeface="Aptos"/>
              </a:defRPr>
            </a:pPr>
            <a:r>
              <a:rPr sz="800" b="0" dirty="0">
                <a:solidFill>
                  <a:srgbClr val="5F6673"/>
                </a:solidFill>
                <a:latin typeface="Times New Roman" panose="02020603050405020304" pitchFamily="18" charset="0"/>
                <a:ea typeface="Aptos"/>
                <a:cs typeface="Times New Roman" panose="02020603050405020304" pitchFamily="18" charset="0"/>
              </a:rPr>
              <a:t>Pessoa &amp; Adolphs, 2010; Hyman et al., 2006; Zheng et al., 2017</a:t>
            </a:r>
          </a:p>
        </p:txBody>
      </p:sp>
      <p:sp>
        <p:nvSpPr>
          <p:cNvPr id="10" name="矩形: 圆角 291">
            <a:extLst>
              <a:ext uri="{FF2B5EF4-FFF2-40B4-BE49-F238E27FC236}">
                <a16:creationId xmlns:a16="http://schemas.microsoft.com/office/drawing/2014/main" id="{77154AF0-C31F-5BC6-6CD3-DF148A6E1605}"/>
              </a:ext>
            </a:extLst>
          </p:cNvPr>
          <p:cNvSpPr/>
          <p:nvPr/>
        </p:nvSpPr>
        <p:spPr>
          <a:xfrm>
            <a:off x="718346" y="2997212"/>
            <a:ext cx="4679933" cy="3185200"/>
          </a:xfrm>
          <a:prstGeom prst="roundRect">
            <a:avLst>
              <a:gd name="adj" fmla="val 5160"/>
            </a:avLst>
          </a:prstGeom>
          <a:noFill/>
          <a:ln w="19050">
            <a:solidFill>
              <a:schemeClr val="accent1">
                <a:alpha val="8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9" name="TextBox 8">
            <a:extLst>
              <a:ext uri="{FF2B5EF4-FFF2-40B4-BE49-F238E27FC236}">
                <a16:creationId xmlns:a16="http://schemas.microsoft.com/office/drawing/2014/main" id="{538C5309-D37D-10DD-28F6-37D783BD2F59}"/>
              </a:ext>
            </a:extLst>
          </p:cNvPr>
          <p:cNvSpPr txBox="1"/>
          <p:nvPr/>
        </p:nvSpPr>
        <p:spPr>
          <a:xfrm>
            <a:off x="1172111" y="2766379"/>
            <a:ext cx="1652694" cy="461665"/>
          </a:xfrm>
          <a:prstGeom prst="rect">
            <a:avLst/>
          </a:prstGeom>
          <a:solidFill>
            <a:schemeClr val="accent5">
              <a:lumMod val="20000"/>
              <a:lumOff val="80000"/>
            </a:schemeClr>
          </a:solidFill>
        </p:spPr>
        <p:txBody>
          <a:bodyPr wrap="square">
            <a:spAutoFit/>
          </a:bodyPr>
          <a:lstStyle/>
          <a:p>
            <a:pPr algn="ctr"/>
            <a:r>
              <a:rPr lang="zh-CN" altLang="en-US" sz="2400" b="1" dirty="0">
                <a:latin typeface="FangSong_GB2312" panose="02010609030101010101" pitchFamily="49" charset="-122"/>
                <a:ea typeface="FangSong_GB2312" panose="02010609030101010101" pitchFamily="49" charset="-122"/>
              </a:rPr>
              <a:t>核心问题</a:t>
            </a:r>
            <a:endParaRPr lang="zh-CN" altLang="en-US" sz="2000" b="1" dirty="0">
              <a:latin typeface="FangSong_GB2312" panose="02010609030101010101" pitchFamily="49" charset="-122"/>
              <a:ea typeface="FangSong_GB2312" panose="02010609030101010101" pitchFamily="49" charset="-122"/>
            </a:endParaRPr>
          </a:p>
        </p:txBody>
      </p:sp>
      <p:sp>
        <p:nvSpPr>
          <p:cNvPr id="16" name="TextBox 15">
            <a:extLst>
              <a:ext uri="{FF2B5EF4-FFF2-40B4-BE49-F238E27FC236}">
                <a16:creationId xmlns:a16="http://schemas.microsoft.com/office/drawing/2014/main" id="{7509B17B-89E5-E956-FD8C-8571D2489816}"/>
              </a:ext>
            </a:extLst>
          </p:cNvPr>
          <p:cNvSpPr txBox="1"/>
          <p:nvPr/>
        </p:nvSpPr>
        <p:spPr>
          <a:xfrm>
            <a:off x="769810" y="4176924"/>
            <a:ext cx="2411407" cy="707886"/>
          </a:xfrm>
          <a:prstGeom prst="rect">
            <a:avLst/>
          </a:prstGeom>
          <a:noFill/>
        </p:spPr>
        <p:txBody>
          <a:bodyPr wrap="square">
            <a:spAutoFit/>
          </a:bodyPr>
          <a:lstStyle/>
          <a:p>
            <a:pPr algn="ctr"/>
            <a:r>
              <a:rPr lang="zh-CN" altLang="en-US" sz="2000" dirty="0">
                <a:solidFill>
                  <a:srgbClr val="2E75B6"/>
                </a:solidFill>
                <a:latin typeface="FangSong_GB2312" panose="02010609030101010101" pitchFamily="49" charset="-122"/>
                <a:ea typeface="FangSong_GB2312" panose="02010609030101010101" pitchFamily="49" charset="-122"/>
              </a:rPr>
              <a:t>杏仁核</a:t>
            </a:r>
            <a:r>
              <a:rPr lang="en-US" altLang="zh-CN" sz="2000" dirty="0">
                <a:solidFill>
                  <a:srgbClr val="2E75B6"/>
                </a:solidFill>
                <a:latin typeface="FangSong_GB2312" panose="02010609030101010101" pitchFamily="49" charset="-122"/>
                <a:ea typeface="FangSong_GB2312" panose="02010609030101010101" pitchFamily="49" charset="-122"/>
              </a:rPr>
              <a:t>—</a:t>
            </a:r>
            <a:r>
              <a:rPr lang="zh-CN" altLang="en-US" sz="2000" dirty="0">
                <a:solidFill>
                  <a:srgbClr val="2E75B6"/>
                </a:solidFill>
                <a:latin typeface="FangSong_GB2312" panose="02010609030101010101" pitchFamily="49" charset="-122"/>
                <a:ea typeface="FangSong_GB2312" panose="02010609030101010101" pitchFamily="49" charset="-122"/>
              </a:rPr>
              <a:t>海马</a:t>
            </a:r>
            <a:r>
              <a:rPr lang="zh-CN" altLang="en-US" sz="2000" dirty="0">
                <a:latin typeface="FangSong_GB2312" panose="02010609030101010101" pitchFamily="49" charset="-122"/>
                <a:ea typeface="FangSong_GB2312" panose="02010609030101010101" pitchFamily="49" charset="-122"/>
              </a:rPr>
              <a:t>系统</a:t>
            </a:r>
            <a:endParaRPr lang="en-US" altLang="zh-CN" sz="2000" dirty="0">
              <a:latin typeface="FangSong_GB2312" panose="02010609030101010101" pitchFamily="49" charset="-122"/>
              <a:ea typeface="FangSong_GB2312" panose="02010609030101010101" pitchFamily="49" charset="-122"/>
            </a:endParaRPr>
          </a:p>
          <a:p>
            <a:pPr algn="ctr"/>
            <a:r>
              <a:rPr lang="zh-CN" altLang="en-US" sz="2000" dirty="0">
                <a:latin typeface="FangSong_GB2312" panose="02010609030101010101" pitchFamily="49" charset="-122"/>
                <a:ea typeface="FangSong_GB2312" panose="02010609030101010101" pitchFamily="49" charset="-122"/>
              </a:rPr>
              <a:t>如何加工</a:t>
            </a:r>
            <a:endParaRPr lang="en-US" altLang="zh-CN" sz="2000" dirty="0">
              <a:latin typeface="FangSong_GB2312" panose="02010609030101010101" pitchFamily="49" charset="-122"/>
              <a:ea typeface="FangSong_GB2312" panose="02010609030101010101" pitchFamily="49" charset="-122"/>
            </a:endParaRPr>
          </a:p>
        </p:txBody>
      </p:sp>
      <p:sp>
        <p:nvSpPr>
          <p:cNvPr id="23" name="Left Brace 22">
            <a:extLst>
              <a:ext uri="{FF2B5EF4-FFF2-40B4-BE49-F238E27FC236}">
                <a16:creationId xmlns:a16="http://schemas.microsoft.com/office/drawing/2014/main" id="{37F4BAAE-A74B-DD20-92E3-3D0BA3A5FE13}"/>
              </a:ext>
            </a:extLst>
          </p:cNvPr>
          <p:cNvSpPr/>
          <p:nvPr/>
        </p:nvSpPr>
        <p:spPr>
          <a:xfrm>
            <a:off x="3181217" y="3302657"/>
            <a:ext cx="691200" cy="2614817"/>
          </a:xfrm>
          <a:prstGeom prst="leftBrace">
            <a:avLst>
              <a:gd name="adj1" fmla="val 0"/>
              <a:gd name="adj2" fmla="val 47003"/>
            </a:avLst>
          </a:prstGeom>
          <a:ln w="31750">
            <a:solidFill>
              <a:srgbClr val="7F7F7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p:grpSp>
        <p:nvGrpSpPr>
          <p:cNvPr id="6" name="Group 5">
            <a:extLst>
              <a:ext uri="{FF2B5EF4-FFF2-40B4-BE49-F238E27FC236}">
                <a16:creationId xmlns:a16="http://schemas.microsoft.com/office/drawing/2014/main" id="{8D0C5931-319E-7ED1-F86B-C112EC189F0D}"/>
              </a:ext>
            </a:extLst>
          </p:cNvPr>
          <p:cNvGrpSpPr/>
          <p:nvPr/>
        </p:nvGrpSpPr>
        <p:grpSpPr>
          <a:xfrm>
            <a:off x="3872417" y="3116184"/>
            <a:ext cx="1652694" cy="2924796"/>
            <a:chOff x="5635907" y="3116184"/>
            <a:chExt cx="1652694" cy="2924796"/>
          </a:xfrm>
        </p:grpSpPr>
        <p:sp>
          <p:nvSpPr>
            <p:cNvPr id="22" name="TextBox 21">
              <a:extLst>
                <a:ext uri="{FF2B5EF4-FFF2-40B4-BE49-F238E27FC236}">
                  <a16:creationId xmlns:a16="http://schemas.microsoft.com/office/drawing/2014/main" id="{DCAE975B-ECF6-7F1B-AF93-FB644D2CD6C1}"/>
                </a:ext>
              </a:extLst>
            </p:cNvPr>
            <p:cNvSpPr txBox="1"/>
            <p:nvPr/>
          </p:nvSpPr>
          <p:spPr>
            <a:xfrm>
              <a:off x="5635907" y="3116184"/>
              <a:ext cx="1652694" cy="369332"/>
            </a:xfrm>
            <a:prstGeom prst="rect">
              <a:avLst/>
            </a:prstGeom>
            <a:noFill/>
          </p:spPr>
          <p:txBody>
            <a:bodyPr wrap="square" anchor="ctr">
              <a:spAutoFit/>
            </a:bodyPr>
            <a:lstStyle/>
            <a:p>
              <a:r>
                <a:rPr lang="zh-CN" altLang="en-US" sz="1800" dirty="0">
                  <a:latin typeface="FangSong_GB2312" panose="02010609030101010101" pitchFamily="49" charset="-122"/>
                  <a:ea typeface="FangSong_GB2312" panose="02010609030101010101" pitchFamily="49" charset="-122"/>
                </a:rPr>
                <a:t>情绪效价？</a:t>
              </a:r>
              <a:endParaRPr lang="en-US" altLang="zh-CN" sz="1800" dirty="0">
                <a:latin typeface="FangSong_GB2312" panose="02010609030101010101" pitchFamily="49" charset="-122"/>
                <a:ea typeface="FangSong_GB2312" panose="02010609030101010101" pitchFamily="49" charset="-122"/>
              </a:endParaRPr>
            </a:p>
          </p:txBody>
        </p:sp>
        <p:sp>
          <p:nvSpPr>
            <p:cNvPr id="4" name="TextBox 3">
              <a:extLst>
                <a:ext uri="{FF2B5EF4-FFF2-40B4-BE49-F238E27FC236}">
                  <a16:creationId xmlns:a16="http://schemas.microsoft.com/office/drawing/2014/main" id="{4A389615-2CE1-5E3E-D4F6-E284706B11EC}"/>
                </a:ext>
              </a:extLst>
            </p:cNvPr>
            <p:cNvSpPr txBox="1"/>
            <p:nvPr/>
          </p:nvSpPr>
          <p:spPr>
            <a:xfrm>
              <a:off x="5635907" y="4314796"/>
              <a:ext cx="1652694" cy="369332"/>
            </a:xfrm>
            <a:prstGeom prst="rect">
              <a:avLst/>
            </a:prstGeom>
            <a:noFill/>
          </p:spPr>
          <p:txBody>
            <a:bodyPr wrap="square" anchor="ctr">
              <a:spAutoFit/>
            </a:bodyPr>
            <a:lstStyle/>
            <a:p>
              <a:r>
                <a:rPr lang="zh-CN" altLang="en-US" dirty="0">
                  <a:latin typeface="FangSong_GB2312" panose="02010609030101010101" pitchFamily="49" charset="-122"/>
                  <a:ea typeface="FangSong_GB2312" panose="02010609030101010101" pitchFamily="49" charset="-122"/>
                </a:rPr>
                <a:t>主观偏好</a:t>
              </a:r>
              <a:r>
                <a:rPr lang="zh-CN" altLang="en-US" sz="1800" dirty="0">
                  <a:latin typeface="FangSong_GB2312" panose="02010609030101010101" pitchFamily="49" charset="-122"/>
                  <a:ea typeface="FangSong_GB2312" panose="02010609030101010101" pitchFamily="49" charset="-122"/>
                </a:rPr>
                <a:t>？</a:t>
              </a:r>
              <a:endParaRPr lang="en-US" altLang="zh-CN" sz="1800" dirty="0">
                <a:latin typeface="FangSong_GB2312" panose="02010609030101010101" pitchFamily="49" charset="-122"/>
                <a:ea typeface="FangSong_GB2312" panose="02010609030101010101" pitchFamily="49" charset="-122"/>
              </a:endParaRPr>
            </a:p>
          </p:txBody>
        </p:sp>
        <p:sp>
          <p:nvSpPr>
            <p:cNvPr id="5" name="TextBox 4">
              <a:extLst>
                <a:ext uri="{FF2B5EF4-FFF2-40B4-BE49-F238E27FC236}">
                  <a16:creationId xmlns:a16="http://schemas.microsoft.com/office/drawing/2014/main" id="{1BF1B07E-B3CF-6E84-B1BC-99440DC27502}"/>
                </a:ext>
              </a:extLst>
            </p:cNvPr>
            <p:cNvSpPr txBox="1"/>
            <p:nvPr/>
          </p:nvSpPr>
          <p:spPr>
            <a:xfrm>
              <a:off x="5635907" y="5671648"/>
              <a:ext cx="1652694" cy="369332"/>
            </a:xfrm>
            <a:prstGeom prst="rect">
              <a:avLst/>
            </a:prstGeom>
            <a:noFill/>
          </p:spPr>
          <p:txBody>
            <a:bodyPr wrap="square" anchor="ctr">
              <a:spAutoFit/>
            </a:bodyPr>
            <a:lstStyle/>
            <a:p>
              <a:r>
                <a:rPr lang="zh-CN" altLang="en-US" dirty="0">
                  <a:latin typeface="FangSong_GB2312" panose="02010609030101010101" pitchFamily="49" charset="-122"/>
                  <a:ea typeface="FangSong_GB2312" panose="02010609030101010101" pitchFamily="49" charset="-122"/>
                </a:rPr>
                <a:t>刺激凸显性</a:t>
              </a:r>
              <a:r>
                <a:rPr lang="zh-CN" altLang="en-US" sz="1800" dirty="0">
                  <a:latin typeface="FangSong_GB2312" panose="02010609030101010101" pitchFamily="49" charset="-122"/>
                  <a:ea typeface="FangSong_GB2312" panose="02010609030101010101" pitchFamily="49" charset="-122"/>
                </a:rPr>
                <a:t>？</a:t>
              </a:r>
              <a:endParaRPr lang="en-US" altLang="zh-CN" sz="1800" dirty="0">
                <a:latin typeface="FangSong_GB2312" panose="02010609030101010101" pitchFamily="49" charset="-122"/>
                <a:ea typeface="FangSong_GB2312" panose="02010609030101010101" pitchFamily="49" charset="-122"/>
              </a:endParaRPr>
            </a:p>
          </p:txBody>
        </p:sp>
      </p:grpSp>
      <p:cxnSp>
        <p:nvCxnSpPr>
          <p:cNvPr id="15" name="Straight Arrow Connector 14">
            <a:extLst>
              <a:ext uri="{FF2B5EF4-FFF2-40B4-BE49-F238E27FC236}">
                <a16:creationId xmlns:a16="http://schemas.microsoft.com/office/drawing/2014/main" id="{252D17F3-BB07-645F-469B-E6FF07C92DF4}"/>
              </a:ext>
            </a:extLst>
          </p:cNvPr>
          <p:cNvCxnSpPr/>
          <p:nvPr/>
        </p:nvCxnSpPr>
        <p:spPr>
          <a:xfrm>
            <a:off x="5094514" y="3300850"/>
            <a:ext cx="1001486" cy="0"/>
          </a:xfrm>
          <a:prstGeom prst="straightConnector1">
            <a:avLst/>
          </a:prstGeom>
          <a:ln w="31750">
            <a:solidFill>
              <a:srgbClr val="2E75B6"/>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1CEF5187-6C08-7FEC-D44B-86693CEC26EE}"/>
              </a:ext>
            </a:extLst>
          </p:cNvPr>
          <p:cNvCxnSpPr/>
          <p:nvPr/>
        </p:nvCxnSpPr>
        <p:spPr>
          <a:xfrm>
            <a:off x="5094514" y="4522460"/>
            <a:ext cx="1001486" cy="0"/>
          </a:xfrm>
          <a:prstGeom prst="straightConnector1">
            <a:avLst/>
          </a:prstGeom>
          <a:ln w="31750">
            <a:solidFill>
              <a:srgbClr val="2E75B6"/>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02D51A7-2083-932E-8940-17C082103FD5}"/>
              </a:ext>
            </a:extLst>
          </p:cNvPr>
          <p:cNvCxnSpPr>
            <a:cxnSpLocks/>
          </p:cNvCxnSpPr>
          <p:nvPr/>
        </p:nvCxnSpPr>
        <p:spPr>
          <a:xfrm>
            <a:off x="5290457" y="5815483"/>
            <a:ext cx="805543" cy="0"/>
          </a:xfrm>
          <a:prstGeom prst="straightConnector1">
            <a:avLst/>
          </a:prstGeom>
          <a:ln w="31750">
            <a:solidFill>
              <a:srgbClr val="2E75B6"/>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mc:AlternateContent xmlns:mc="http://schemas.openxmlformats.org/markup-compatibility/2006" xmlns:p14="http://schemas.microsoft.com/office/powerpoint/2010/main">
    <mc:Choice Requires="p14">
      <p:transition p14:dur="0" advTm="50443"/>
    </mc:Choice>
    <mc:Fallback xmlns="">
      <p:transition advTm="50443"/>
    </mc:Fallback>
  </mc:AlternateContent>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9DA43BD-451F-B52F-7166-DE63009BA629}"/>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2F7C0C42-A56B-A2A7-786F-A6954C9B752C}"/>
              </a:ext>
            </a:extLst>
          </p:cNvPr>
          <p:cNvGrpSpPr/>
          <p:nvPr/>
        </p:nvGrpSpPr>
        <p:grpSpPr>
          <a:xfrm>
            <a:off x="7563394" y="3074570"/>
            <a:ext cx="3388406" cy="3208902"/>
            <a:chOff x="5392635" y="2066054"/>
            <a:chExt cx="4140159" cy="4236312"/>
          </a:xfrm>
        </p:grpSpPr>
        <p:pic>
          <p:nvPicPr>
            <p:cNvPr id="4" name="Picture 3">
              <a:extLst>
                <a:ext uri="{FF2B5EF4-FFF2-40B4-BE49-F238E27FC236}">
                  <a16:creationId xmlns:a16="http://schemas.microsoft.com/office/drawing/2014/main" id="{25C057B9-9077-B744-76B8-43653A3C3C7D}"/>
                </a:ext>
              </a:extLst>
            </p:cNvPr>
            <p:cNvPicPr>
              <a:picLocks noChangeAspect="1"/>
            </p:cNvPicPr>
            <p:nvPr/>
          </p:nvPicPr>
          <p:blipFill>
            <a:blip r:embed="rId4"/>
            <a:srcRect t="11742" r="35061"/>
            <a:stretch>
              <a:fillRect/>
            </a:stretch>
          </p:blipFill>
          <p:spPr>
            <a:xfrm>
              <a:off x="5392635" y="2390504"/>
              <a:ext cx="4140159" cy="3911862"/>
            </a:xfrm>
            <a:prstGeom prst="rect">
              <a:avLst/>
            </a:prstGeom>
          </p:spPr>
        </p:pic>
        <p:pic>
          <p:nvPicPr>
            <p:cNvPr id="5" name="Picture 4">
              <a:extLst>
                <a:ext uri="{FF2B5EF4-FFF2-40B4-BE49-F238E27FC236}">
                  <a16:creationId xmlns:a16="http://schemas.microsoft.com/office/drawing/2014/main" id="{2C92503B-8C1D-E917-AB85-6B26F30631AE}"/>
                </a:ext>
              </a:extLst>
            </p:cNvPr>
            <p:cNvPicPr>
              <a:picLocks noChangeAspect="1"/>
            </p:cNvPicPr>
            <p:nvPr/>
          </p:nvPicPr>
          <p:blipFill>
            <a:blip r:embed="rId4"/>
            <a:srcRect l="23740" t="3310" r="22783" b="89369"/>
            <a:stretch>
              <a:fillRect/>
            </a:stretch>
          </p:blipFill>
          <p:spPr>
            <a:xfrm>
              <a:off x="5758011" y="2066054"/>
              <a:ext cx="3409406" cy="324450"/>
            </a:xfrm>
            <a:prstGeom prst="rect">
              <a:avLst/>
            </a:prstGeom>
          </p:spPr>
        </p:pic>
      </p:grpSp>
      <p:sp>
        <p:nvSpPr>
          <p:cNvPr id="3" name="文本框 2">
            <a:extLst>
              <a:ext uri="{FF2B5EF4-FFF2-40B4-BE49-F238E27FC236}">
                <a16:creationId xmlns:a16="http://schemas.microsoft.com/office/drawing/2014/main" id="{34CEDE6B-337A-B6EB-B284-71E467C51C73}"/>
              </a:ext>
            </a:extLst>
          </p:cNvPr>
          <p:cNvSpPr txBox="1"/>
          <p:nvPr/>
        </p:nvSpPr>
        <p:spPr>
          <a:xfrm>
            <a:off x="1136822" y="297442"/>
            <a:ext cx="1774845" cy="523220"/>
          </a:xfrm>
          <a:prstGeom prst="rect">
            <a:avLst/>
          </a:prstGeom>
          <a:solidFill>
            <a:schemeClr val="bg1"/>
          </a:solidFill>
        </p:spPr>
        <p:txBody>
          <a:bodyPr wrap="none" rtlCol="0">
            <a:spAutoFit/>
          </a:bodyPr>
          <a:lstStyle/>
          <a:p>
            <a:pPr defTabSz="914400"/>
            <a:r>
              <a:rPr lang="zh-CN" altLang="en-US" sz="2800" b="1" spc="300" dirty="0">
                <a:latin typeface="FangSong_GB2312" panose="02010609030101010101" pitchFamily="49" charset="-122"/>
                <a:ea typeface="FangSong_GB2312" panose="02010609030101010101" pitchFamily="49" charset="-122"/>
              </a:rPr>
              <a:t>研究背景</a:t>
            </a:r>
          </a:p>
        </p:txBody>
      </p:sp>
      <p:sp>
        <p:nvSpPr>
          <p:cNvPr id="292" name="矩形: 圆角 291">
            <a:extLst>
              <a:ext uri="{FF2B5EF4-FFF2-40B4-BE49-F238E27FC236}">
                <a16:creationId xmlns:a16="http://schemas.microsoft.com/office/drawing/2014/main" id="{68F0CBEF-3978-F08E-D0B9-C69F91A47605}"/>
              </a:ext>
            </a:extLst>
          </p:cNvPr>
          <p:cNvSpPr/>
          <p:nvPr/>
        </p:nvSpPr>
        <p:spPr>
          <a:xfrm>
            <a:off x="7523733" y="3011859"/>
            <a:ext cx="3523208" cy="3310563"/>
          </a:xfrm>
          <a:prstGeom prst="roundRect">
            <a:avLst>
              <a:gd name="adj" fmla="val 5160"/>
            </a:avLst>
          </a:prstGeom>
          <a:noFill/>
          <a:ln w="19050">
            <a:solidFill>
              <a:schemeClr val="accent1">
                <a:alpha val="8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360" name="矩形: 圆角 359">
            <a:extLst>
              <a:ext uri="{FF2B5EF4-FFF2-40B4-BE49-F238E27FC236}">
                <a16:creationId xmlns:a16="http://schemas.microsoft.com/office/drawing/2014/main" id="{78CEA536-2E4E-E9A3-A4DC-D7D152AE748B}"/>
              </a:ext>
            </a:extLst>
          </p:cNvPr>
          <p:cNvSpPr/>
          <p:nvPr/>
        </p:nvSpPr>
        <p:spPr>
          <a:xfrm>
            <a:off x="1186393" y="1099401"/>
            <a:ext cx="9860548" cy="1672907"/>
          </a:xfrm>
          <a:prstGeom prst="roundRect">
            <a:avLst>
              <a:gd name="adj" fmla="val 1988"/>
            </a:avLst>
          </a:prstGeom>
          <a:solidFill>
            <a:schemeClr val="accent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0" rIns="0" bIns="0" rtlCol="0" anchor="ctr"/>
          <a:lstStyle/>
          <a:p>
            <a:pPr marL="285750" indent="-285750">
              <a:lnSpc>
                <a:spcPct val="125000"/>
              </a:lnSpc>
              <a:buClr>
                <a:srgbClr val="9B0000"/>
              </a:buClr>
              <a:buFont typeface="Arial" panose="020B0604020202020204" pitchFamily="34" charset="0"/>
              <a:buChar char="•"/>
            </a:pPr>
            <a:r>
              <a:rPr lang="zh-CN" altLang="en-US" b="1" dirty="0">
                <a:solidFill>
                  <a:schemeClr val="tx1"/>
                </a:solidFill>
                <a:latin typeface="FangSong_GB2312" panose="02010609030101010101" pitchFamily="49" charset="-122"/>
                <a:ea typeface="FangSong_GB2312" panose="02010609030101010101" pitchFamily="49" charset="-122"/>
              </a:rPr>
              <a:t>短视频已成为高普及、高时长占用的日常媒介情境</a:t>
            </a:r>
            <a:endParaRPr lang="en-US" altLang="zh-CN" b="1" dirty="0">
              <a:solidFill>
                <a:schemeClr val="tx1"/>
              </a:solidFill>
              <a:latin typeface="FangSong_GB2312" panose="02010609030101010101" pitchFamily="49" charset="-122"/>
              <a:ea typeface="FangSong_GB2312" panose="02010609030101010101" pitchFamily="49" charset="-122"/>
            </a:endParaRPr>
          </a:p>
          <a:p>
            <a:pPr marL="285750" indent="-285750">
              <a:lnSpc>
                <a:spcPct val="125000"/>
              </a:lnSpc>
              <a:buClr>
                <a:srgbClr val="9B0000"/>
              </a:buClr>
              <a:buFont typeface="Arial" panose="020B0604020202020204" pitchFamily="34" charset="0"/>
              <a:buChar char="•"/>
            </a:pPr>
            <a:r>
              <a:rPr lang="zh-CN" altLang="en-US" b="1" dirty="0">
                <a:solidFill>
                  <a:schemeClr val="tx1"/>
                </a:solidFill>
                <a:latin typeface="FangSong_GB2312" panose="02010609030101010101" pitchFamily="49" charset="-122"/>
                <a:ea typeface="FangSong_GB2312" panose="02010609030101010101" pitchFamily="49" charset="-122"/>
              </a:rPr>
              <a:t>短视频具有持续吸引力</a:t>
            </a:r>
            <a:endParaRPr lang="en-US" altLang="zh-CN" dirty="0">
              <a:solidFill>
                <a:schemeClr val="tx1"/>
              </a:solidFill>
              <a:latin typeface="FangSong_GB2312" panose="02010609030101010101" pitchFamily="49" charset="-122"/>
              <a:ea typeface="FangSong_GB2312" panose="02010609030101010101" pitchFamily="49" charset="-122"/>
            </a:endParaRPr>
          </a:p>
          <a:p>
            <a:pPr marL="285750" indent="-285750">
              <a:lnSpc>
                <a:spcPct val="125000"/>
              </a:lnSpc>
              <a:buClr>
                <a:srgbClr val="9B0000"/>
              </a:buClr>
              <a:buFont typeface="Arial" panose="020B0604020202020204" pitchFamily="34" charset="0"/>
              <a:buChar char="•"/>
            </a:pPr>
            <a:r>
              <a:rPr lang="zh-CN" altLang="en-US" b="1" dirty="0">
                <a:solidFill>
                  <a:schemeClr val="tx1"/>
                </a:solidFill>
                <a:latin typeface="FangSong_GB2312" panose="02010609030101010101" pitchFamily="49" charset="-122"/>
                <a:ea typeface="FangSong_GB2312" panose="02010609030101010101" pitchFamily="49" charset="-122"/>
              </a:rPr>
              <a:t>短视频加工涉及多重心理过程</a:t>
            </a:r>
            <a:endParaRPr lang="en-US" altLang="zh-CN" b="1" dirty="0">
              <a:solidFill>
                <a:schemeClr val="tx1"/>
              </a:solidFill>
              <a:latin typeface="FangSong_GB2312" panose="02010609030101010101" pitchFamily="49" charset="-122"/>
              <a:ea typeface="FangSong_GB2312" panose="02010609030101010101" pitchFamily="49" charset="-122"/>
            </a:endParaRPr>
          </a:p>
          <a:p>
            <a:pPr marL="285750" indent="-285750">
              <a:lnSpc>
                <a:spcPct val="125000"/>
              </a:lnSpc>
              <a:buClr>
                <a:srgbClr val="9B0000"/>
              </a:buClr>
              <a:buFont typeface="Arial" panose="020B0604020202020204" pitchFamily="34" charset="0"/>
              <a:buChar char="•"/>
            </a:pPr>
            <a:r>
              <a:rPr lang="zh-CN" altLang="en-US" b="1" dirty="0">
                <a:solidFill>
                  <a:schemeClr val="tx1"/>
                </a:solidFill>
                <a:latin typeface="FangSong_GB2312" panose="02010609030101010101" pitchFamily="49" charset="-122"/>
                <a:ea typeface="FangSong_GB2312" panose="02010609030101010101" pitchFamily="49" charset="-122"/>
              </a:rPr>
              <a:t>杏仁核</a:t>
            </a:r>
            <a:r>
              <a:rPr lang="en-US" altLang="zh-CN" b="1" dirty="0">
                <a:solidFill>
                  <a:schemeClr val="tx1"/>
                </a:solidFill>
                <a:latin typeface="FangSong_GB2312" panose="02010609030101010101" pitchFamily="49" charset="-122"/>
                <a:ea typeface="FangSong_GB2312" panose="02010609030101010101" pitchFamily="49" charset="-122"/>
              </a:rPr>
              <a:t>—</a:t>
            </a:r>
            <a:r>
              <a:rPr lang="zh-CN" altLang="en-US" b="1" dirty="0">
                <a:solidFill>
                  <a:schemeClr val="tx1"/>
                </a:solidFill>
                <a:latin typeface="FangSong_GB2312" panose="02010609030101010101" pitchFamily="49" charset="-122"/>
                <a:ea typeface="FangSong_GB2312" panose="02010609030101010101" pitchFamily="49" charset="-122"/>
              </a:rPr>
              <a:t>海马系统是关键神经基础</a:t>
            </a:r>
            <a:endParaRPr lang="en-US" altLang="zh-CN" dirty="0">
              <a:solidFill>
                <a:schemeClr val="tx1"/>
              </a:solidFill>
              <a:latin typeface="FangSong_GB2312" panose="02010609030101010101" pitchFamily="49" charset="-122"/>
              <a:ea typeface="FangSong_GB2312" panose="02010609030101010101" pitchFamily="49" charset="-122"/>
            </a:endParaRPr>
          </a:p>
        </p:txBody>
      </p:sp>
      <p:sp>
        <p:nvSpPr>
          <p:cNvPr id="363" name="文本框 362">
            <a:extLst>
              <a:ext uri="{FF2B5EF4-FFF2-40B4-BE49-F238E27FC236}">
                <a16:creationId xmlns:a16="http://schemas.microsoft.com/office/drawing/2014/main" id="{DE7EE816-E5F0-0BA3-3F99-73FE6FA8504A}"/>
              </a:ext>
            </a:extLst>
          </p:cNvPr>
          <p:cNvSpPr txBox="1"/>
          <p:nvPr/>
        </p:nvSpPr>
        <p:spPr>
          <a:xfrm>
            <a:off x="358346" y="288442"/>
            <a:ext cx="720000" cy="523220"/>
          </a:xfrm>
          <a:prstGeom prst="rect">
            <a:avLst/>
          </a:prstGeom>
          <a:noFill/>
        </p:spPr>
        <p:txBody>
          <a:bodyPr wrap="square" rtlCol="0">
            <a:spAutoFit/>
          </a:bodyPr>
          <a:lstStyle/>
          <a:p>
            <a:pPr algn="ctr"/>
            <a:r>
              <a:rPr lang="en-US" altLang="zh-CN"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01</a:t>
            </a:r>
            <a:endParaRPr lang="zh-CN" altLang="en-US"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文本框 349">
            <a:extLst>
              <a:ext uri="{FF2B5EF4-FFF2-40B4-BE49-F238E27FC236}">
                <a16:creationId xmlns:a16="http://schemas.microsoft.com/office/drawing/2014/main" id="{2763328C-4C3C-B635-B7A2-BB063F6D0AF9}"/>
              </a:ext>
            </a:extLst>
          </p:cNvPr>
          <p:cNvSpPr txBox="1"/>
          <p:nvPr/>
        </p:nvSpPr>
        <p:spPr>
          <a:xfrm>
            <a:off x="9860469" y="6098805"/>
            <a:ext cx="1187454" cy="184666"/>
          </a:xfrm>
          <a:prstGeom prst="rect">
            <a:avLst/>
          </a:prstGeom>
          <a:noFill/>
        </p:spPr>
        <p:txBody>
          <a:bodyPr wrap="square" lIns="0" tIns="0" rIns="0" bIns="0" rtlCol="0">
            <a:spAutoFit/>
          </a:bodyPr>
          <a:lstStyle/>
          <a:p>
            <a:r>
              <a:rPr lang="en-US" altLang="zh-CN" sz="1200" b="1" i="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Costa et al., 2022</a:t>
            </a:r>
          </a:p>
        </p:txBody>
      </p:sp>
      <p:sp>
        <p:nvSpPr>
          <p:cNvPr id="15" name="矩形: 圆角 291">
            <a:extLst>
              <a:ext uri="{FF2B5EF4-FFF2-40B4-BE49-F238E27FC236}">
                <a16:creationId xmlns:a16="http://schemas.microsoft.com/office/drawing/2014/main" id="{CD992D14-40CF-9F02-D8D1-66A973C9CEB7}"/>
              </a:ext>
            </a:extLst>
          </p:cNvPr>
          <p:cNvSpPr/>
          <p:nvPr/>
        </p:nvSpPr>
        <p:spPr>
          <a:xfrm>
            <a:off x="1186392" y="3011859"/>
            <a:ext cx="6242199" cy="3310563"/>
          </a:xfrm>
          <a:prstGeom prst="roundRect">
            <a:avLst>
              <a:gd name="adj" fmla="val 5160"/>
            </a:avLst>
          </a:prstGeom>
          <a:noFill/>
          <a:ln w="19050">
            <a:solidFill>
              <a:schemeClr val="accent1">
                <a:alpha val="8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6" name="文本框 349">
            <a:extLst>
              <a:ext uri="{FF2B5EF4-FFF2-40B4-BE49-F238E27FC236}">
                <a16:creationId xmlns:a16="http://schemas.microsoft.com/office/drawing/2014/main" id="{A537D37D-31CA-4445-37AA-890B326162E6}"/>
              </a:ext>
            </a:extLst>
          </p:cNvPr>
          <p:cNvSpPr txBox="1"/>
          <p:nvPr/>
        </p:nvSpPr>
        <p:spPr>
          <a:xfrm>
            <a:off x="6407848" y="6098805"/>
            <a:ext cx="989832" cy="184666"/>
          </a:xfrm>
          <a:prstGeom prst="rect">
            <a:avLst/>
          </a:prstGeom>
          <a:noFill/>
        </p:spPr>
        <p:txBody>
          <a:bodyPr wrap="square" lIns="0" tIns="0" rIns="0" bIns="0" rtlCol="0">
            <a:spAutoFit/>
          </a:bodyPr>
          <a:lstStyle/>
          <a:p>
            <a:r>
              <a:rPr lang="en-US" altLang="zh-CN" sz="1200" b="1" i="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Su</a:t>
            </a:r>
            <a:r>
              <a:rPr lang="zh-CN" altLang="en-US" sz="1200" b="1" i="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200" b="1" i="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et</a:t>
            </a:r>
            <a:r>
              <a:rPr lang="zh-CN" altLang="en-US" sz="1200" b="1" i="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200" b="1" i="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al., 2021</a:t>
            </a:r>
          </a:p>
        </p:txBody>
      </p:sp>
      <p:pic>
        <p:nvPicPr>
          <p:cNvPr id="8" name="Picture 7">
            <a:extLst>
              <a:ext uri="{FF2B5EF4-FFF2-40B4-BE49-F238E27FC236}">
                <a16:creationId xmlns:a16="http://schemas.microsoft.com/office/drawing/2014/main" id="{8BB36B5E-A930-A0A5-0E56-F4CA800ECC32}"/>
              </a:ext>
            </a:extLst>
          </p:cNvPr>
          <p:cNvPicPr>
            <a:picLocks noChangeAspect="1"/>
          </p:cNvPicPr>
          <p:nvPr/>
        </p:nvPicPr>
        <p:blipFill>
          <a:blip r:embed="rId5"/>
          <a:srcRect t="65148"/>
          <a:stretch>
            <a:fillRect/>
          </a:stretch>
        </p:blipFill>
        <p:spPr>
          <a:xfrm>
            <a:off x="1317163" y="3100694"/>
            <a:ext cx="5059775" cy="3152530"/>
          </a:xfrm>
          <a:prstGeom prst="rect">
            <a:avLst/>
          </a:prstGeom>
        </p:spPr>
      </p:pic>
      <p:sp>
        <p:nvSpPr>
          <p:cNvPr id="10" name="文本框 349">
            <a:extLst>
              <a:ext uri="{FF2B5EF4-FFF2-40B4-BE49-F238E27FC236}">
                <a16:creationId xmlns:a16="http://schemas.microsoft.com/office/drawing/2014/main" id="{82ABC3F3-2328-51AB-B186-428A29F1C5B9}"/>
              </a:ext>
            </a:extLst>
          </p:cNvPr>
          <p:cNvSpPr txBox="1"/>
          <p:nvPr/>
        </p:nvSpPr>
        <p:spPr>
          <a:xfrm>
            <a:off x="6458996" y="4170960"/>
            <a:ext cx="1009256" cy="1261884"/>
          </a:xfrm>
          <a:prstGeom prst="rect">
            <a:avLst/>
          </a:prstGeom>
          <a:noFill/>
        </p:spPr>
        <p:txBody>
          <a:bodyPr wrap="square" lIns="0" tIns="0" rIns="0" bIns="0" rtlCol="0">
            <a:spAutoFit/>
          </a:bodyPr>
          <a:lstStyle/>
          <a:p>
            <a:r>
              <a:rPr lang="en-US" altLang="zh-CN" sz="1600" b="1" dirty="0">
                <a:latin typeface="Times New Roman" panose="02020603050405020304" pitchFamily="18" charset="0"/>
                <a:ea typeface="FangSong_GB2312" panose="02010609030101010101" pitchFamily="49" charset="-122"/>
                <a:cs typeface="Times New Roman" panose="02020603050405020304" pitchFamily="18" charset="0"/>
              </a:rPr>
              <a:t>PV</a:t>
            </a:r>
            <a:r>
              <a:rPr lang="zh-CN" altLang="en-US" sz="1600" b="1" dirty="0">
                <a:latin typeface="Times New Roman" panose="02020603050405020304" pitchFamily="18" charset="0"/>
                <a:ea typeface="FangSong_GB2312" panose="02010609030101010101" pitchFamily="49" charset="-122"/>
                <a:cs typeface="Times New Roman" panose="02020603050405020304" pitchFamily="18" charset="0"/>
              </a:rPr>
              <a:t>：</a:t>
            </a:r>
            <a:endParaRPr lang="en-US" altLang="zh-CN" sz="1600" b="1" dirty="0">
              <a:latin typeface="Times New Roman" panose="02020603050405020304" pitchFamily="18" charset="0"/>
              <a:ea typeface="FangSong_GB2312" panose="02010609030101010101" pitchFamily="49" charset="-122"/>
              <a:cs typeface="Times New Roman" panose="02020603050405020304" pitchFamily="18" charset="0"/>
            </a:endParaRPr>
          </a:p>
          <a:p>
            <a:r>
              <a:rPr lang="zh-CN" altLang="en-US" sz="1600" b="1" dirty="0">
                <a:latin typeface="Times New Roman" panose="02020603050405020304" pitchFamily="18" charset="0"/>
                <a:ea typeface="FangSong_GB2312" panose="02010609030101010101" pitchFamily="49" charset="-122"/>
                <a:cs typeface="Times New Roman" panose="02020603050405020304" pitchFamily="18" charset="0"/>
              </a:rPr>
              <a:t>个性推荐</a:t>
            </a:r>
            <a:endParaRPr lang="en-US" altLang="zh-CN" sz="1600" b="1" dirty="0">
              <a:latin typeface="Times New Roman" panose="02020603050405020304" pitchFamily="18" charset="0"/>
              <a:ea typeface="FangSong_GB2312" panose="02010609030101010101" pitchFamily="49" charset="-122"/>
              <a:cs typeface="Times New Roman" panose="02020603050405020304" pitchFamily="18" charset="0"/>
            </a:endParaRPr>
          </a:p>
          <a:p>
            <a:endParaRPr lang="en-US" altLang="zh-CN" sz="1600" b="1" dirty="0">
              <a:latin typeface="Times New Roman" panose="02020603050405020304" pitchFamily="18" charset="0"/>
              <a:ea typeface="FangSong_GB2312" panose="02010609030101010101" pitchFamily="49" charset="-122"/>
              <a:cs typeface="Times New Roman" panose="02020603050405020304" pitchFamily="18" charset="0"/>
            </a:endParaRPr>
          </a:p>
          <a:p>
            <a:r>
              <a:rPr lang="en-US" altLang="zh-CN" sz="1600" b="1" dirty="0">
                <a:latin typeface="Times New Roman" panose="02020603050405020304" pitchFamily="18" charset="0"/>
                <a:ea typeface="FangSong_GB2312" panose="02010609030101010101" pitchFamily="49" charset="-122"/>
                <a:cs typeface="Times New Roman" panose="02020603050405020304" pitchFamily="18" charset="0"/>
              </a:rPr>
              <a:t>GV</a:t>
            </a:r>
            <a:r>
              <a:rPr lang="zh-CN" altLang="en-US" sz="1600" b="1" dirty="0">
                <a:latin typeface="Times New Roman" panose="02020603050405020304" pitchFamily="18" charset="0"/>
                <a:ea typeface="FangSong_GB2312" panose="02010609030101010101" pitchFamily="49" charset="-122"/>
                <a:cs typeface="Times New Roman" panose="02020603050405020304" pitchFamily="18" charset="0"/>
              </a:rPr>
              <a:t>：</a:t>
            </a:r>
            <a:endParaRPr lang="en-US" altLang="zh-CN" sz="1600" b="1" dirty="0">
              <a:latin typeface="Times New Roman" panose="02020603050405020304" pitchFamily="18" charset="0"/>
              <a:ea typeface="FangSong_GB2312" panose="02010609030101010101" pitchFamily="49" charset="-122"/>
              <a:cs typeface="Times New Roman" panose="02020603050405020304" pitchFamily="18" charset="0"/>
            </a:endParaRPr>
          </a:p>
          <a:p>
            <a:r>
              <a:rPr lang="zh-CN" altLang="en-US" sz="1600" b="1" dirty="0">
                <a:latin typeface="Times New Roman" panose="02020603050405020304" pitchFamily="18" charset="0"/>
                <a:ea typeface="FangSong_GB2312" panose="02010609030101010101" pitchFamily="49" charset="-122"/>
                <a:cs typeface="Times New Roman" panose="02020603050405020304" pitchFamily="18" charset="0"/>
              </a:rPr>
              <a:t>固定视频</a:t>
            </a:r>
            <a:endParaRPr lang="en-US" altLang="zh-CN" sz="1600" b="1" dirty="0">
              <a:latin typeface="Times New Roman" panose="02020603050405020304" pitchFamily="18" charset="0"/>
              <a:ea typeface="FangSong_GB2312" panose="02010609030101010101" pitchFamily="49"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3129735811"/>
      </p:ext>
    </p:extLst>
  </p:cSld>
  <p:clrMapOvr>
    <a:masterClrMapping/>
  </p:clrMapOvr>
  <mc:AlternateContent xmlns:mc="http://schemas.openxmlformats.org/markup-compatibility/2006" xmlns:p14="http://schemas.microsoft.com/office/powerpoint/2010/main">
    <mc:Choice Requires="p14">
      <p:transition p14:dur="0" advTm="50443"/>
    </mc:Choice>
    <mc:Fallback xmlns="">
      <p:transition advTm="50443"/>
    </mc:Fallback>
  </mc:AlternateContent>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0" name="矩形: 圆角 29"/>
          <p:cNvSpPr/>
          <p:nvPr/>
        </p:nvSpPr>
        <p:spPr>
          <a:xfrm>
            <a:off x="656047" y="1213370"/>
            <a:ext cx="11133617" cy="1699171"/>
          </a:xfrm>
          <a:prstGeom prst="roundRect">
            <a:avLst>
              <a:gd name="adj" fmla="val 11956"/>
            </a:avLst>
          </a:prstGeom>
          <a:solidFill>
            <a:schemeClr val="bg1"/>
          </a:solidFill>
          <a:ln w="12700">
            <a:solidFill>
              <a:schemeClr val="bg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defTabSz="2400300">
              <a:spcBef>
                <a:spcPct val="0"/>
              </a:spcBef>
              <a:spcAft>
                <a:spcPct val="35000"/>
              </a:spcAft>
              <a:buFont typeface="Wingdings" pitchFamily="2" charset="2"/>
              <a:buChar char="Ø"/>
            </a:pPr>
            <a:r>
              <a:rPr lang="zh-CN" altLang="en-US" dirty="0">
                <a:solidFill>
                  <a:schemeClr val="tx1"/>
                </a:solidFill>
                <a:latin typeface="FangSong_GB2312" panose="02010609030101010101" pitchFamily="49" charset="-122"/>
                <a:ea typeface="FangSong_GB2312" panose="02010609030101010101" pitchFamily="49" charset="-122"/>
              </a:rPr>
              <a:t>杏仁核</a:t>
            </a:r>
            <a:r>
              <a:rPr lang="en-US" altLang="zh-CN" dirty="0">
                <a:solidFill>
                  <a:schemeClr val="tx1"/>
                </a:solidFill>
                <a:latin typeface="FangSong_GB2312" panose="02010609030101010101" pitchFamily="49" charset="-122"/>
                <a:ea typeface="FangSong_GB2312" panose="02010609030101010101" pitchFamily="49" charset="-122"/>
              </a:rPr>
              <a:t>—</a:t>
            </a:r>
            <a:r>
              <a:rPr lang="zh-CN" altLang="en-US" dirty="0">
                <a:solidFill>
                  <a:schemeClr val="tx1"/>
                </a:solidFill>
                <a:latin typeface="FangSong_GB2312" panose="02010609030101010101" pitchFamily="49" charset="-122"/>
                <a:ea typeface="FangSong_GB2312" panose="02010609030101010101" pitchFamily="49" charset="-122"/>
              </a:rPr>
              <a:t>海马系统是否能够区分静态图片诱发的不同情绪效价，并表现出频段特异性的局部场电位活动？</a:t>
            </a:r>
            <a:endParaRPr lang="en-US" altLang="zh-CN" dirty="0">
              <a:solidFill>
                <a:schemeClr val="tx1"/>
              </a:solidFill>
              <a:latin typeface="FangSong_GB2312" panose="02010609030101010101" pitchFamily="49" charset="-122"/>
              <a:ea typeface="FangSong_GB2312" panose="02010609030101010101" pitchFamily="49" charset="-122"/>
            </a:endParaRPr>
          </a:p>
          <a:p>
            <a:pPr marL="285750" indent="-285750" defTabSz="2400300">
              <a:spcBef>
                <a:spcPct val="0"/>
              </a:spcBef>
              <a:spcAft>
                <a:spcPct val="35000"/>
              </a:spcAft>
              <a:buFont typeface="Wingdings" pitchFamily="2" charset="2"/>
              <a:buChar char="Ø"/>
            </a:pPr>
            <a:r>
              <a:rPr lang="zh-CN" altLang="en-US" dirty="0">
                <a:solidFill>
                  <a:schemeClr val="tx1"/>
                </a:solidFill>
                <a:latin typeface="FangSong_GB2312" panose="02010609030101010101" pitchFamily="49" charset="-122"/>
                <a:ea typeface="FangSong_GB2312" panose="02010609030101010101" pitchFamily="49" charset="-122"/>
              </a:rPr>
              <a:t>杏仁核和海马的神经活动是否能够区分短视频观看条件下的主观偏好？</a:t>
            </a:r>
            <a:endParaRPr lang="en-US" altLang="zh-CN" dirty="0">
              <a:solidFill>
                <a:schemeClr val="tx1"/>
              </a:solidFill>
              <a:latin typeface="FangSong_GB2312" panose="02010609030101010101" pitchFamily="49" charset="-122"/>
              <a:ea typeface="FangSong_GB2312" panose="02010609030101010101" pitchFamily="49" charset="-122"/>
            </a:endParaRPr>
          </a:p>
          <a:p>
            <a:pPr marL="285750" indent="-285750" defTabSz="2400300">
              <a:spcBef>
                <a:spcPct val="0"/>
              </a:spcBef>
              <a:spcAft>
                <a:spcPct val="35000"/>
              </a:spcAft>
              <a:buFont typeface="Wingdings" pitchFamily="2" charset="2"/>
              <a:buChar char="Ø"/>
            </a:pPr>
            <a:r>
              <a:rPr lang="zh-CN" altLang="en-US" dirty="0">
                <a:solidFill>
                  <a:schemeClr val="tx1"/>
                </a:solidFill>
                <a:latin typeface="FangSong_GB2312" panose="02010609030101010101" pitchFamily="49" charset="-122"/>
                <a:ea typeface="FangSong_GB2312" panose="02010609030101010101" pitchFamily="49" charset="-122"/>
              </a:rPr>
              <a:t>杏仁核</a:t>
            </a:r>
            <a:r>
              <a:rPr lang="en-US" altLang="zh-CN" dirty="0">
                <a:solidFill>
                  <a:schemeClr val="tx1"/>
                </a:solidFill>
                <a:latin typeface="FangSong_GB2312" panose="02010609030101010101" pitchFamily="49" charset="-122"/>
                <a:ea typeface="FangSong_GB2312" panose="02010609030101010101" pitchFamily="49" charset="-122"/>
              </a:rPr>
              <a:t>—</a:t>
            </a:r>
            <a:r>
              <a:rPr lang="zh-CN" altLang="en-US" dirty="0">
                <a:solidFill>
                  <a:schemeClr val="tx1"/>
                </a:solidFill>
                <a:latin typeface="FangSong_GB2312" panose="02010609030101010101" pitchFamily="49" charset="-122"/>
                <a:ea typeface="FangSong_GB2312" panose="02010609030101010101" pitchFamily="49" charset="-122"/>
              </a:rPr>
              <a:t>海马系统是否会对场景切割、高唤醒片段等凸显性信息表现出功能连接、方向性信息流和事件相关放电变化？</a:t>
            </a:r>
            <a:endParaRPr lang="zh-CN" altLang="en-US" b="1" dirty="0">
              <a:solidFill>
                <a:schemeClr val="tx1"/>
              </a:solidFill>
              <a:latin typeface="FangSong_GB2312" panose="02010609030101010101" pitchFamily="49" charset="-122"/>
              <a:ea typeface="FangSong_GB2312" panose="02010609030101010101" pitchFamily="49" charset="-122"/>
            </a:endParaRPr>
          </a:p>
        </p:txBody>
      </p:sp>
      <p:sp>
        <p:nvSpPr>
          <p:cNvPr id="47" name="矩形 46"/>
          <p:cNvSpPr/>
          <p:nvPr/>
        </p:nvSpPr>
        <p:spPr>
          <a:xfrm>
            <a:off x="1173882" y="957664"/>
            <a:ext cx="1133073" cy="353242"/>
          </a:xfrm>
          <a:prstGeom prst="rect">
            <a:avLst/>
          </a:prstGeom>
          <a:solidFill>
            <a:schemeClr val="accent1"/>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5000"/>
              </a:lnSpc>
            </a:pPr>
            <a:r>
              <a:rPr lang="zh-CN" altLang="en-US" sz="1600" b="1" dirty="0">
                <a:solidFill>
                  <a:schemeClr val="bg1"/>
                </a:solidFill>
                <a:latin typeface="FangSong_GB2312" panose="02010609030101010101" pitchFamily="49" charset="-122"/>
                <a:ea typeface="FangSong_GB2312" panose="02010609030101010101" pitchFamily="49" charset="-122"/>
              </a:rPr>
              <a:t>研究问题</a:t>
            </a:r>
            <a:endParaRPr lang="zh-CN" altLang="en-US" sz="1200" dirty="0">
              <a:solidFill>
                <a:schemeClr val="bg1"/>
              </a:solidFill>
              <a:latin typeface="FangSong_GB2312" panose="02010609030101010101" pitchFamily="49" charset="-122"/>
              <a:ea typeface="FangSong_GB2312" panose="02010609030101010101" pitchFamily="49" charset="-122"/>
            </a:endParaRPr>
          </a:p>
        </p:txBody>
      </p:sp>
      <p:sp>
        <p:nvSpPr>
          <p:cNvPr id="27" name="文本框 26"/>
          <p:cNvSpPr txBox="1"/>
          <p:nvPr/>
        </p:nvSpPr>
        <p:spPr>
          <a:xfrm>
            <a:off x="1136822" y="297442"/>
            <a:ext cx="1774845" cy="523220"/>
          </a:xfrm>
          <a:prstGeom prst="rect">
            <a:avLst/>
          </a:prstGeom>
          <a:solidFill>
            <a:schemeClr val="bg1"/>
          </a:solidFill>
        </p:spPr>
        <p:txBody>
          <a:bodyPr wrap="none" rtlCol="0">
            <a:spAutoFit/>
          </a:bodyPr>
          <a:lstStyle/>
          <a:p>
            <a:pPr defTabSz="914400"/>
            <a:r>
              <a:rPr lang="zh-CN" altLang="en-US" sz="2800" b="1" spc="300" dirty="0">
                <a:latin typeface="FangSong_GB2312" panose="02010609030101010101" pitchFamily="49" charset="-122"/>
                <a:ea typeface="FangSong_GB2312" panose="02010609030101010101" pitchFamily="49" charset="-122"/>
              </a:rPr>
              <a:t>研究框架</a:t>
            </a:r>
          </a:p>
        </p:txBody>
      </p:sp>
      <p:sp>
        <p:nvSpPr>
          <p:cNvPr id="3" name="文本框 2"/>
          <p:cNvSpPr txBox="1"/>
          <p:nvPr/>
        </p:nvSpPr>
        <p:spPr>
          <a:xfrm>
            <a:off x="358346" y="288442"/>
            <a:ext cx="720000" cy="523220"/>
          </a:xfrm>
          <a:prstGeom prst="rect">
            <a:avLst/>
          </a:prstGeom>
          <a:noFill/>
        </p:spPr>
        <p:txBody>
          <a:bodyPr wrap="square" rtlCol="0">
            <a:spAutoFit/>
          </a:bodyPr>
          <a:lstStyle/>
          <a:p>
            <a:pPr algn="ctr"/>
            <a:r>
              <a:rPr lang="en-US" altLang="zh-CN"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02</a:t>
            </a:r>
            <a:endParaRPr lang="zh-CN" altLang="en-US"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2" name="Picture 1">
            <a:extLst>
              <a:ext uri="{FF2B5EF4-FFF2-40B4-BE49-F238E27FC236}">
                <a16:creationId xmlns:a16="http://schemas.microsoft.com/office/drawing/2014/main" id="{AED94F74-638B-EAAD-5AE5-7D7203B14AB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81762" y="3015227"/>
            <a:ext cx="5828475" cy="384277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24342"/>
    </mc:Choice>
    <mc:Fallback xmlns="">
      <p:transition spd="slow" advTm="24342"/>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1205170" y="495788"/>
            <a:ext cx="2225348" cy="207664"/>
          </a:xfrm>
          <a:prstGeom prst="rect">
            <a:avLst/>
          </a:prstGeom>
          <a:solidFill>
            <a:schemeClr val="bg1"/>
          </a:solid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defRPr/>
            </a:pPr>
            <a:endParaRPr kumimoji="0" lang="zh-CN" altLang="en-US" sz="1400" b="1" i="0" u="none" strike="noStrike" kern="1200" cap="none" spc="300" normalizeH="0" noProof="0" dirty="0">
              <a:ln>
                <a:noFill/>
              </a:ln>
              <a:solidFill>
                <a:prstClr val="black"/>
              </a:solidFill>
              <a:effectLst/>
              <a:uLnTx/>
              <a:uFillTx/>
              <a:latin typeface="FangSong_GB2312" panose="02010609030101010101" pitchFamily="49" charset="-122"/>
              <a:ea typeface="FangSong_GB2312" panose="02010609030101010101" pitchFamily="49" charset="-122"/>
            </a:endParaRPr>
          </a:p>
        </p:txBody>
      </p:sp>
      <p:sp>
        <p:nvSpPr>
          <p:cNvPr id="19" name="文本框 18"/>
          <p:cNvSpPr txBox="1"/>
          <p:nvPr/>
        </p:nvSpPr>
        <p:spPr>
          <a:xfrm>
            <a:off x="358346" y="288442"/>
            <a:ext cx="720000" cy="523220"/>
          </a:xfrm>
          <a:prstGeom prst="rect">
            <a:avLst/>
          </a:prstGeom>
          <a:noFill/>
        </p:spPr>
        <p:txBody>
          <a:bodyPr wrap="square" rtlCol="0">
            <a:spAutoFit/>
          </a:bodyPr>
          <a:lstStyle/>
          <a:p>
            <a:pPr algn="ctr"/>
            <a:r>
              <a:rPr lang="en-US" altLang="zh-CN"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02</a:t>
            </a:r>
            <a:endParaRPr lang="zh-CN" altLang="en-US"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89" name="文本框 47">
            <a:extLst>
              <a:ext uri="{FF2B5EF4-FFF2-40B4-BE49-F238E27FC236}">
                <a16:creationId xmlns:a16="http://schemas.microsoft.com/office/drawing/2014/main" id="{0CF1107C-2C95-F3DC-F8E5-019BFCF2B37D}"/>
              </a:ext>
            </a:extLst>
          </p:cNvPr>
          <p:cNvSpPr txBox="1"/>
          <p:nvPr/>
        </p:nvSpPr>
        <p:spPr>
          <a:xfrm>
            <a:off x="218009" y="3612434"/>
            <a:ext cx="11755977" cy="1492716"/>
          </a:xfrm>
          <a:prstGeom prst="rect">
            <a:avLst/>
          </a:prstGeom>
          <a:noFill/>
        </p:spPr>
        <p:txBody>
          <a:bodyPr wrap="square">
            <a:spAutoFit/>
          </a:bodyPr>
          <a:lstStyle/>
          <a:p>
            <a:r>
              <a:rPr lang="zh-CN" altLang="en-US" sz="1500" b="1" dirty="0">
                <a:latin typeface="Times New Roman" panose="02020603050405020304" pitchFamily="18" charset="0"/>
                <a:ea typeface="FangSong_GB2312" panose="02010609030101010101" pitchFamily="49" charset="-122"/>
                <a:cs typeface="Microsoft GothicNeo" panose="020B0500000101010101" pitchFamily="34" charset="-127"/>
              </a:rPr>
              <a:t>指导语：</a:t>
            </a:r>
            <a:endParaRPr lang="en-US" altLang="zh-CN" sz="1500" b="1" dirty="0">
              <a:latin typeface="Times New Roman" panose="02020603050405020304" pitchFamily="18" charset="0"/>
              <a:ea typeface="FangSong_GB2312" panose="02010609030101010101" pitchFamily="49" charset="-122"/>
              <a:cs typeface="Microsoft GothicNeo" panose="020B0500000101010101" pitchFamily="34" charset="-127"/>
            </a:endParaRPr>
          </a:p>
          <a:p>
            <a:pPr indent="457200"/>
            <a:r>
              <a:rPr lang="zh-CN" altLang="en-US" sz="1500" dirty="0">
                <a:latin typeface="Times New Roman" panose="02020603050405020304" pitchFamily="18" charset="0"/>
                <a:ea typeface="FangSong_GB2312" panose="02010609030101010101" pitchFamily="49" charset="-122"/>
                <a:cs typeface="Microsoft GothicNeo" panose="020B0500000101010101" pitchFamily="34" charset="-127"/>
              </a:rPr>
              <a:t>在该任务中，您会看到一系列场景图片。图片呈现后，请您根据自己的真实感受，做出按键反应。请尽量</a:t>
            </a:r>
            <a:r>
              <a:rPr lang="zh-CN" altLang="en-US" sz="1500" b="1" dirty="0">
                <a:latin typeface="Times New Roman" panose="02020603050405020304" pitchFamily="18" charset="0"/>
                <a:ea typeface="FangSong_GB2312" panose="02010609030101010101" pitchFamily="49" charset="-122"/>
                <a:cs typeface="Microsoft GothicNeo" panose="020B0500000101010101" pitchFamily="34" charset="-127"/>
              </a:rPr>
              <a:t>准确</a:t>
            </a:r>
            <a:r>
              <a:rPr lang="zh-CN" altLang="en-US" sz="1500" dirty="0">
                <a:latin typeface="Times New Roman" panose="02020603050405020304" pitchFamily="18" charset="0"/>
                <a:ea typeface="FangSong_GB2312" panose="02010609030101010101" pitchFamily="49" charset="-122"/>
                <a:cs typeface="Microsoft GothicNeo" panose="020B0500000101010101" pitchFamily="34" charset="-127"/>
              </a:rPr>
              <a:t>地反应，不必追求速度。</a:t>
            </a:r>
          </a:p>
          <a:p>
            <a:pPr indent="457200"/>
            <a:r>
              <a:rPr lang="zh-CN" altLang="en-US" sz="1500" dirty="0">
                <a:latin typeface="Times New Roman" panose="02020603050405020304" pitchFamily="18" charset="0"/>
                <a:ea typeface="FangSong_GB2312" panose="02010609030101010101" pitchFamily="49" charset="-122"/>
                <a:cs typeface="Microsoft GothicNeo" panose="020B0500000101010101" pitchFamily="34" charset="-127"/>
              </a:rPr>
              <a:t>如果您看到图片后产生了难过、厌恶、不安、愤怒等消极的情绪，按“</a:t>
            </a:r>
            <a:r>
              <a:rPr lang="en-US" altLang="zh-CN" sz="1500" dirty="0">
                <a:latin typeface="Times New Roman" panose="02020603050405020304" pitchFamily="18" charset="0"/>
                <a:ea typeface="FangSong_GB2312" panose="02010609030101010101" pitchFamily="49" charset="-122"/>
                <a:cs typeface="Microsoft GothicNeo" panose="020B0500000101010101" pitchFamily="34" charset="-127"/>
              </a:rPr>
              <a:t>1</a:t>
            </a:r>
            <a:r>
              <a:rPr lang="zh-CN" altLang="en-US" sz="1500" dirty="0">
                <a:latin typeface="Times New Roman" panose="02020603050405020304" pitchFamily="18" charset="0"/>
                <a:ea typeface="FangSong_GB2312" panose="02010609030101010101" pitchFamily="49" charset="-122"/>
                <a:cs typeface="Microsoft GothicNeo" panose="020B0500000101010101" pitchFamily="34" charset="-127"/>
              </a:rPr>
              <a:t>”键；</a:t>
            </a:r>
          </a:p>
          <a:p>
            <a:pPr indent="457200"/>
            <a:r>
              <a:rPr lang="zh-CN" altLang="en-US" sz="1500" dirty="0">
                <a:latin typeface="Times New Roman" panose="02020603050405020304" pitchFamily="18" charset="0"/>
                <a:ea typeface="FangSong_GB2312" panose="02010609030101010101" pitchFamily="49" charset="-122"/>
                <a:cs typeface="Microsoft GothicNeo" panose="020B0500000101010101" pitchFamily="34" charset="-127"/>
              </a:rPr>
              <a:t>如果图片没有使您产生明确的情绪变化，按“</a:t>
            </a:r>
            <a:r>
              <a:rPr lang="en-US" altLang="zh-CN" sz="1500" dirty="0">
                <a:latin typeface="Times New Roman" panose="02020603050405020304" pitchFamily="18" charset="0"/>
                <a:ea typeface="FangSong_GB2312" panose="02010609030101010101" pitchFamily="49" charset="-122"/>
                <a:cs typeface="Microsoft GothicNeo" panose="020B0500000101010101" pitchFamily="34" charset="-127"/>
              </a:rPr>
              <a:t>2</a:t>
            </a:r>
            <a:r>
              <a:rPr lang="zh-CN" altLang="en-US" sz="1500" dirty="0">
                <a:latin typeface="Times New Roman" panose="02020603050405020304" pitchFamily="18" charset="0"/>
                <a:ea typeface="FangSong_GB2312" panose="02010609030101010101" pitchFamily="49" charset="-122"/>
                <a:cs typeface="Microsoft GothicNeo" panose="020B0500000101010101" pitchFamily="34" charset="-127"/>
              </a:rPr>
              <a:t>”键；</a:t>
            </a:r>
          </a:p>
          <a:p>
            <a:pPr indent="457200"/>
            <a:r>
              <a:rPr lang="zh-CN" altLang="en-US" sz="1500" dirty="0">
                <a:latin typeface="Times New Roman" panose="02020603050405020304" pitchFamily="18" charset="0"/>
                <a:ea typeface="FangSong_GB2312" panose="02010609030101010101" pitchFamily="49" charset="-122"/>
                <a:cs typeface="Microsoft GothicNeo" panose="020B0500000101010101" pitchFamily="34" charset="-127"/>
              </a:rPr>
              <a:t>如果您看到图片后产生了愉悦、轻松、满足、开心等积极的情绪，按 “</a:t>
            </a:r>
            <a:r>
              <a:rPr lang="en-US" altLang="zh-CN" sz="1500" dirty="0">
                <a:latin typeface="Times New Roman" panose="02020603050405020304" pitchFamily="18" charset="0"/>
                <a:ea typeface="FangSong_GB2312" panose="02010609030101010101" pitchFamily="49" charset="-122"/>
                <a:cs typeface="Microsoft GothicNeo" panose="020B0500000101010101" pitchFamily="34" charset="-127"/>
              </a:rPr>
              <a:t>3</a:t>
            </a:r>
            <a:r>
              <a:rPr lang="zh-CN" altLang="en-US" sz="1500" dirty="0">
                <a:latin typeface="Times New Roman" panose="02020603050405020304" pitchFamily="18" charset="0"/>
                <a:ea typeface="FangSong_GB2312" panose="02010609030101010101" pitchFamily="49" charset="-122"/>
                <a:cs typeface="Microsoft GothicNeo" panose="020B0500000101010101" pitchFamily="34" charset="-127"/>
              </a:rPr>
              <a:t>”键。</a:t>
            </a:r>
          </a:p>
          <a:p>
            <a:pPr indent="457200"/>
            <a:endParaRPr lang="zh-CN" altLang="en-US" sz="1600" dirty="0">
              <a:latin typeface="Microsoft YaHei UI" panose="020B0503020204020204" pitchFamily="34" charset="-122"/>
              <a:ea typeface="Microsoft YaHei UI" panose="020B0503020204020204" pitchFamily="34" charset="-122"/>
              <a:cs typeface="Microsoft GothicNeo" panose="020B0500000101010101" pitchFamily="34" charset="-127"/>
            </a:endParaRPr>
          </a:p>
        </p:txBody>
      </p:sp>
      <p:sp>
        <p:nvSpPr>
          <p:cNvPr id="613" name="文本框 1053">
            <a:extLst>
              <a:ext uri="{FF2B5EF4-FFF2-40B4-BE49-F238E27FC236}">
                <a16:creationId xmlns:a16="http://schemas.microsoft.com/office/drawing/2014/main" id="{6C638AE8-151F-BBA6-5627-4E53C599E188}"/>
              </a:ext>
            </a:extLst>
          </p:cNvPr>
          <p:cNvSpPr txBox="1"/>
          <p:nvPr/>
        </p:nvSpPr>
        <p:spPr>
          <a:xfrm>
            <a:off x="310072" y="3348253"/>
            <a:ext cx="1881686" cy="246221"/>
          </a:xfrm>
          <a:prstGeom prst="rect">
            <a:avLst/>
          </a:prstGeom>
          <a:solidFill>
            <a:schemeClr val="bg1"/>
          </a:solidFill>
        </p:spPr>
        <p:txBody>
          <a:bodyPr wrap="square" lIns="0" tIns="0" rIns="0" bIns="0" rtlCol="0">
            <a:spAutoFit/>
          </a:bodyPr>
          <a:lstStyle/>
          <a:p>
            <a:r>
              <a:rPr lang="zh-CN" altLang="en-US" sz="1600" b="1" dirty="0">
                <a:latin typeface="FangSong_GB2312" panose="02010609030101010101" pitchFamily="49" charset="-122"/>
                <a:ea typeface="FangSong_GB2312" panose="02010609030101010101" pitchFamily="49" charset="-122"/>
                <a:cs typeface="Times New Roman" panose="02020603050405020304" pitchFamily="18" charset="0"/>
              </a:rPr>
              <a:t>情境判别范式</a:t>
            </a:r>
          </a:p>
        </p:txBody>
      </p:sp>
      <p:sp>
        <p:nvSpPr>
          <p:cNvPr id="649" name="文本框 78">
            <a:extLst>
              <a:ext uri="{FF2B5EF4-FFF2-40B4-BE49-F238E27FC236}">
                <a16:creationId xmlns:a16="http://schemas.microsoft.com/office/drawing/2014/main" id="{0D1C3571-EDBD-AE79-4EB2-B300601BEE8A}"/>
              </a:ext>
            </a:extLst>
          </p:cNvPr>
          <p:cNvSpPr txBox="1"/>
          <p:nvPr/>
        </p:nvSpPr>
        <p:spPr>
          <a:xfrm>
            <a:off x="5185622" y="6364082"/>
            <a:ext cx="1338493" cy="338554"/>
          </a:xfrm>
          <a:prstGeom prst="rect">
            <a:avLst/>
          </a:prstGeom>
          <a:noFill/>
        </p:spPr>
        <p:txBody>
          <a:bodyPr wrap="square">
            <a:spAutoFit/>
          </a:bodyPr>
          <a:lstStyle/>
          <a:p>
            <a:pPr algn="ctr"/>
            <a:r>
              <a:rPr lang="en-US" altLang="zh-CN" sz="1600" dirty="0">
                <a:latin typeface="Times New Roman" panose="02020603050405020304" pitchFamily="18" charset="0"/>
                <a:cs typeface="Times New Roman" panose="02020603050405020304" pitchFamily="18" charset="0"/>
              </a:rPr>
              <a:t>120</a:t>
            </a:r>
            <a:r>
              <a:rPr lang="zh-CN" altLang="en-US" sz="1600" dirty="0">
                <a:latin typeface="Times New Roman" panose="02020603050405020304" pitchFamily="18" charset="0"/>
                <a:cs typeface="Times New Roman" panose="02020603050405020304" pitchFamily="18" charset="0"/>
              </a:rPr>
              <a:t>张图片</a:t>
            </a:r>
            <a:endParaRPr lang="en-US" altLang="zh-CN" sz="1600" dirty="0">
              <a:latin typeface="Microsoft YaHei UI" panose="020B0503020204020204" pitchFamily="34" charset="-122"/>
              <a:ea typeface="Microsoft YaHei UI" panose="020B0503020204020204" pitchFamily="34" charset="-122"/>
              <a:cs typeface="Microsoft GothicNeo" panose="020B0500000101010101" pitchFamily="34" charset="-127"/>
            </a:endParaRPr>
          </a:p>
        </p:txBody>
      </p:sp>
      <p:sp>
        <p:nvSpPr>
          <p:cNvPr id="682" name="矩形 6">
            <a:extLst>
              <a:ext uri="{FF2B5EF4-FFF2-40B4-BE49-F238E27FC236}">
                <a16:creationId xmlns:a16="http://schemas.microsoft.com/office/drawing/2014/main" id="{E7F5200F-76DF-D650-8E28-61263210143A}"/>
              </a:ext>
            </a:extLst>
          </p:cNvPr>
          <p:cNvSpPr/>
          <p:nvPr/>
        </p:nvSpPr>
        <p:spPr>
          <a:xfrm>
            <a:off x="1919822" y="5051207"/>
            <a:ext cx="1220227" cy="97333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微软雅黑" panose="020B0503020204020204" pitchFamily="34" charset="-122"/>
                <a:ea typeface="微软雅黑" panose="020B0503020204020204" pitchFamily="34" charset="-122"/>
              </a:rPr>
              <a:t>+</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684" name="文本框 8">
            <a:extLst>
              <a:ext uri="{FF2B5EF4-FFF2-40B4-BE49-F238E27FC236}">
                <a16:creationId xmlns:a16="http://schemas.microsoft.com/office/drawing/2014/main" id="{411332EA-9CF6-B359-3C0A-B8E47CEF8632}"/>
              </a:ext>
            </a:extLst>
          </p:cNvPr>
          <p:cNvSpPr txBox="1"/>
          <p:nvPr/>
        </p:nvSpPr>
        <p:spPr>
          <a:xfrm>
            <a:off x="10173897" y="5439908"/>
            <a:ext cx="677904" cy="253916"/>
          </a:xfrm>
          <a:prstGeom prst="rect">
            <a:avLst/>
          </a:prstGeom>
          <a:noFill/>
        </p:spPr>
        <p:txBody>
          <a:bodyPr wrap="square" rtlCol="0">
            <a:spAutoFit/>
          </a:bodyPr>
          <a:lstStyle/>
          <a:p>
            <a:r>
              <a:rPr lang="en-US" altLang="zh-CN" sz="1050" b="1" dirty="0">
                <a:latin typeface="微软雅黑" panose="020B0503020204020204" pitchFamily="34" charset="-122"/>
                <a:ea typeface="微软雅黑" panose="020B0503020204020204" pitchFamily="34" charset="-122"/>
              </a:rPr>
              <a:t>……</a:t>
            </a:r>
            <a:endParaRPr lang="zh-CN" altLang="en-US" sz="1050" b="1" dirty="0">
              <a:latin typeface="微软雅黑" panose="020B0503020204020204" pitchFamily="34" charset="-122"/>
              <a:ea typeface="微软雅黑" panose="020B0503020204020204" pitchFamily="34" charset="-122"/>
            </a:endParaRPr>
          </a:p>
        </p:txBody>
      </p:sp>
      <p:sp>
        <p:nvSpPr>
          <p:cNvPr id="685" name="文本框 10">
            <a:extLst>
              <a:ext uri="{FF2B5EF4-FFF2-40B4-BE49-F238E27FC236}">
                <a16:creationId xmlns:a16="http://schemas.microsoft.com/office/drawing/2014/main" id="{B79A7B28-506F-38EA-F5FB-9DB530D0ECFE}"/>
              </a:ext>
            </a:extLst>
          </p:cNvPr>
          <p:cNvSpPr txBox="1"/>
          <p:nvPr/>
        </p:nvSpPr>
        <p:spPr>
          <a:xfrm>
            <a:off x="723112" y="6023658"/>
            <a:ext cx="513981" cy="338554"/>
          </a:xfrm>
          <a:prstGeom prst="rect">
            <a:avLst/>
          </a:prstGeom>
          <a:noFill/>
        </p:spPr>
        <p:txBody>
          <a:bodyPr wrap="square" rtlCol="0">
            <a:spAutoFit/>
          </a:bodyPr>
          <a:lstStyle/>
          <a:p>
            <a:r>
              <a:rPr lang="en-US" altLang="zh-CN" sz="1600" dirty="0">
                <a:latin typeface="Times New Roman" panose="02020603050405020304" pitchFamily="18" charset="0"/>
                <a:cs typeface="Times New Roman" panose="02020603050405020304" pitchFamily="18" charset="0"/>
              </a:rPr>
              <a:t>5s</a:t>
            </a:r>
            <a:endParaRPr lang="zh-CN" altLang="en-US" sz="1600" dirty="0">
              <a:latin typeface="Times New Roman" panose="02020603050405020304" pitchFamily="18" charset="0"/>
              <a:cs typeface="Times New Roman" panose="02020603050405020304" pitchFamily="18" charset="0"/>
            </a:endParaRPr>
          </a:p>
        </p:txBody>
      </p:sp>
      <p:sp>
        <p:nvSpPr>
          <p:cNvPr id="686" name="文本框 11">
            <a:extLst>
              <a:ext uri="{FF2B5EF4-FFF2-40B4-BE49-F238E27FC236}">
                <a16:creationId xmlns:a16="http://schemas.microsoft.com/office/drawing/2014/main" id="{E743F3DD-6033-995D-DC74-0819CB636585}"/>
              </a:ext>
            </a:extLst>
          </p:cNvPr>
          <p:cNvSpPr txBox="1"/>
          <p:nvPr/>
        </p:nvSpPr>
        <p:spPr>
          <a:xfrm>
            <a:off x="3752092" y="6023658"/>
            <a:ext cx="431257" cy="338554"/>
          </a:xfrm>
          <a:prstGeom prst="rect">
            <a:avLst/>
          </a:prstGeom>
          <a:noFill/>
        </p:spPr>
        <p:txBody>
          <a:bodyPr wrap="square" rtlCol="0">
            <a:spAutoFit/>
          </a:bodyPr>
          <a:lstStyle/>
          <a:p>
            <a:r>
              <a:rPr lang="en-US" altLang="zh-CN" sz="1600" dirty="0">
                <a:latin typeface="Times New Roman" panose="02020603050405020304" pitchFamily="18" charset="0"/>
                <a:cs typeface="Times New Roman" panose="02020603050405020304" pitchFamily="18" charset="0"/>
              </a:rPr>
              <a:t>2s</a:t>
            </a:r>
            <a:endParaRPr lang="zh-CN" altLang="en-US" sz="1600" dirty="0">
              <a:latin typeface="Times New Roman" panose="02020603050405020304" pitchFamily="18" charset="0"/>
              <a:cs typeface="Times New Roman" panose="02020603050405020304" pitchFamily="18" charset="0"/>
            </a:endParaRPr>
          </a:p>
        </p:txBody>
      </p:sp>
      <p:sp>
        <p:nvSpPr>
          <p:cNvPr id="694" name="文本框 19">
            <a:extLst>
              <a:ext uri="{FF2B5EF4-FFF2-40B4-BE49-F238E27FC236}">
                <a16:creationId xmlns:a16="http://schemas.microsoft.com/office/drawing/2014/main" id="{41CBA0BC-1FB8-9E53-1C44-0D4830AD2752}"/>
              </a:ext>
            </a:extLst>
          </p:cNvPr>
          <p:cNvSpPr txBox="1"/>
          <p:nvPr/>
        </p:nvSpPr>
        <p:spPr>
          <a:xfrm>
            <a:off x="2233078" y="6023658"/>
            <a:ext cx="953195" cy="338554"/>
          </a:xfrm>
          <a:prstGeom prst="rect">
            <a:avLst/>
          </a:prstGeom>
          <a:noFill/>
        </p:spPr>
        <p:txBody>
          <a:bodyPr wrap="square" rtlCol="0">
            <a:spAutoFit/>
          </a:bodyPr>
          <a:lstStyle/>
          <a:p>
            <a:r>
              <a:rPr lang="en-US" altLang="zh-CN" sz="1600" dirty="0">
                <a:latin typeface="Times New Roman" panose="02020603050405020304" pitchFamily="18" charset="0"/>
                <a:cs typeface="Times New Roman" panose="02020603050405020304" pitchFamily="18" charset="0"/>
              </a:rPr>
              <a:t>1~4s</a:t>
            </a:r>
            <a:endParaRPr lang="zh-CN" altLang="en-US" sz="1600" dirty="0">
              <a:latin typeface="Times New Roman" panose="02020603050405020304" pitchFamily="18" charset="0"/>
              <a:cs typeface="Times New Roman" panose="02020603050405020304" pitchFamily="18" charset="0"/>
            </a:endParaRPr>
          </a:p>
        </p:txBody>
      </p:sp>
      <p:sp>
        <p:nvSpPr>
          <p:cNvPr id="698" name="矩形 27">
            <a:extLst>
              <a:ext uri="{FF2B5EF4-FFF2-40B4-BE49-F238E27FC236}">
                <a16:creationId xmlns:a16="http://schemas.microsoft.com/office/drawing/2014/main" id="{736258CF-16FC-8F3E-B641-DFBC442A6481}"/>
              </a:ext>
            </a:extLst>
          </p:cNvPr>
          <p:cNvSpPr/>
          <p:nvPr/>
        </p:nvSpPr>
        <p:spPr>
          <a:xfrm>
            <a:off x="246076" y="5051207"/>
            <a:ext cx="1355808" cy="9733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指导语</a:t>
            </a:r>
          </a:p>
        </p:txBody>
      </p:sp>
      <p:sp>
        <p:nvSpPr>
          <p:cNvPr id="699" name="矩形 28">
            <a:extLst>
              <a:ext uri="{FF2B5EF4-FFF2-40B4-BE49-F238E27FC236}">
                <a16:creationId xmlns:a16="http://schemas.microsoft.com/office/drawing/2014/main" id="{979BD1FF-F0E2-05A9-E9CD-742FC189AB21}"/>
              </a:ext>
            </a:extLst>
          </p:cNvPr>
          <p:cNvSpPr/>
          <p:nvPr/>
        </p:nvSpPr>
        <p:spPr>
          <a:xfrm>
            <a:off x="10662305" y="5051207"/>
            <a:ext cx="1355808" cy="9733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结束</a:t>
            </a:r>
          </a:p>
        </p:txBody>
      </p:sp>
      <p:sp>
        <p:nvSpPr>
          <p:cNvPr id="706" name="矩形 75">
            <a:extLst>
              <a:ext uri="{FF2B5EF4-FFF2-40B4-BE49-F238E27FC236}">
                <a16:creationId xmlns:a16="http://schemas.microsoft.com/office/drawing/2014/main" id="{CEB3F87D-AC94-E749-0A91-904FF22F1307}"/>
              </a:ext>
            </a:extLst>
          </p:cNvPr>
          <p:cNvSpPr/>
          <p:nvPr/>
        </p:nvSpPr>
        <p:spPr>
          <a:xfrm>
            <a:off x="1788293" y="4913927"/>
            <a:ext cx="8385604" cy="1448285"/>
          </a:xfrm>
          <a:prstGeom prst="rect">
            <a:avLst/>
          </a:prstGeom>
          <a:noFill/>
          <a:ln w="19050">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07" name="矩形 6">
            <a:extLst>
              <a:ext uri="{FF2B5EF4-FFF2-40B4-BE49-F238E27FC236}">
                <a16:creationId xmlns:a16="http://schemas.microsoft.com/office/drawing/2014/main" id="{50673D17-EDA1-CA21-B449-DBFA413D72D6}"/>
              </a:ext>
            </a:extLst>
          </p:cNvPr>
          <p:cNvSpPr/>
          <p:nvPr/>
        </p:nvSpPr>
        <p:spPr>
          <a:xfrm>
            <a:off x="3320042" y="5051207"/>
            <a:ext cx="1220227" cy="97333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bg1"/>
              </a:solidFill>
              <a:latin typeface="微软雅黑" panose="020B0503020204020204" pitchFamily="34" charset="-122"/>
              <a:ea typeface="微软雅黑" panose="020B0503020204020204" pitchFamily="34" charset="-122"/>
            </a:endParaRPr>
          </a:p>
        </p:txBody>
      </p:sp>
      <p:pic>
        <p:nvPicPr>
          <p:cNvPr id="708" name="Picture 707" descr="A puppy in a cup&#10;&#10;Description automatically generated">
            <a:extLst>
              <a:ext uri="{FF2B5EF4-FFF2-40B4-BE49-F238E27FC236}">
                <a16:creationId xmlns:a16="http://schemas.microsoft.com/office/drawing/2014/main" id="{2CA6EAC0-3687-2610-E25E-A9476D71D581}"/>
              </a:ext>
            </a:extLst>
          </p:cNvPr>
          <p:cNvPicPr>
            <a:picLocks noChangeAspect="1"/>
          </p:cNvPicPr>
          <p:nvPr/>
        </p:nvPicPr>
        <p:blipFill>
          <a:blip r:embed="rId3"/>
          <a:stretch>
            <a:fillRect/>
          </a:stretch>
        </p:blipFill>
        <p:spPr>
          <a:xfrm>
            <a:off x="3430517" y="5123110"/>
            <a:ext cx="999275" cy="799419"/>
          </a:xfrm>
          <a:prstGeom prst="rect">
            <a:avLst/>
          </a:prstGeom>
        </p:spPr>
      </p:pic>
      <p:sp>
        <p:nvSpPr>
          <p:cNvPr id="709" name="矩形 6">
            <a:extLst>
              <a:ext uri="{FF2B5EF4-FFF2-40B4-BE49-F238E27FC236}">
                <a16:creationId xmlns:a16="http://schemas.microsoft.com/office/drawing/2014/main" id="{99647F76-F83B-160D-6935-1C16FB4B3969}"/>
              </a:ext>
            </a:extLst>
          </p:cNvPr>
          <p:cNvSpPr/>
          <p:nvPr/>
        </p:nvSpPr>
        <p:spPr>
          <a:xfrm>
            <a:off x="4671757" y="5051207"/>
            <a:ext cx="1220227" cy="97333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微软雅黑" panose="020B0503020204020204" pitchFamily="34" charset="-122"/>
                <a:ea typeface="微软雅黑" panose="020B0503020204020204" pitchFamily="34" charset="-122"/>
              </a:rPr>
              <a:t>+</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710" name="文本框 11">
            <a:extLst>
              <a:ext uri="{FF2B5EF4-FFF2-40B4-BE49-F238E27FC236}">
                <a16:creationId xmlns:a16="http://schemas.microsoft.com/office/drawing/2014/main" id="{1349F3BA-0399-CED8-AA94-8D20B1F2264D}"/>
              </a:ext>
            </a:extLst>
          </p:cNvPr>
          <p:cNvSpPr txBox="1"/>
          <p:nvPr/>
        </p:nvSpPr>
        <p:spPr>
          <a:xfrm>
            <a:off x="6517795" y="6016935"/>
            <a:ext cx="635439" cy="338554"/>
          </a:xfrm>
          <a:prstGeom prst="rect">
            <a:avLst/>
          </a:prstGeom>
          <a:noFill/>
        </p:spPr>
        <p:txBody>
          <a:bodyPr wrap="square" rtlCol="0">
            <a:spAutoFit/>
          </a:bodyPr>
          <a:lstStyle/>
          <a:p>
            <a:r>
              <a:rPr lang="en-US" altLang="zh-CN" sz="1600" dirty="0">
                <a:latin typeface="Times New Roman" panose="02020603050405020304" pitchFamily="18" charset="0"/>
                <a:cs typeface="Times New Roman" panose="02020603050405020304" pitchFamily="18" charset="0"/>
              </a:rPr>
              <a:t>2s</a:t>
            </a:r>
            <a:endParaRPr lang="zh-CN" altLang="en-US" sz="1600" dirty="0">
              <a:latin typeface="Times New Roman" panose="02020603050405020304" pitchFamily="18" charset="0"/>
              <a:cs typeface="Times New Roman" panose="02020603050405020304" pitchFamily="18" charset="0"/>
            </a:endParaRPr>
          </a:p>
        </p:txBody>
      </p:sp>
      <p:sp>
        <p:nvSpPr>
          <p:cNvPr id="711" name="文本框 19">
            <a:extLst>
              <a:ext uri="{FF2B5EF4-FFF2-40B4-BE49-F238E27FC236}">
                <a16:creationId xmlns:a16="http://schemas.microsoft.com/office/drawing/2014/main" id="{952A29A8-51C3-73EE-3EBB-6AC1D0EE1130}"/>
              </a:ext>
            </a:extLst>
          </p:cNvPr>
          <p:cNvSpPr txBox="1"/>
          <p:nvPr/>
        </p:nvSpPr>
        <p:spPr>
          <a:xfrm>
            <a:off x="4994798" y="6023658"/>
            <a:ext cx="953195" cy="338554"/>
          </a:xfrm>
          <a:prstGeom prst="rect">
            <a:avLst/>
          </a:prstGeom>
          <a:noFill/>
        </p:spPr>
        <p:txBody>
          <a:bodyPr wrap="square" rtlCol="0">
            <a:spAutoFit/>
          </a:bodyPr>
          <a:lstStyle/>
          <a:p>
            <a:r>
              <a:rPr lang="en-US" altLang="zh-CN" sz="1600" dirty="0">
                <a:latin typeface="Times New Roman" panose="02020603050405020304" pitchFamily="18" charset="0"/>
                <a:cs typeface="Times New Roman" panose="02020603050405020304" pitchFamily="18" charset="0"/>
              </a:rPr>
              <a:t>1~4s</a:t>
            </a:r>
            <a:endParaRPr lang="zh-CN" altLang="en-US" sz="1600" dirty="0">
              <a:latin typeface="Times New Roman" panose="02020603050405020304" pitchFamily="18" charset="0"/>
              <a:cs typeface="Times New Roman" panose="02020603050405020304" pitchFamily="18" charset="0"/>
            </a:endParaRPr>
          </a:p>
        </p:txBody>
      </p:sp>
      <p:sp>
        <p:nvSpPr>
          <p:cNvPr id="712" name="矩形 6">
            <a:extLst>
              <a:ext uri="{FF2B5EF4-FFF2-40B4-BE49-F238E27FC236}">
                <a16:creationId xmlns:a16="http://schemas.microsoft.com/office/drawing/2014/main" id="{22AB9CCA-21A9-0070-E307-21D4029513A2}"/>
              </a:ext>
            </a:extLst>
          </p:cNvPr>
          <p:cNvSpPr/>
          <p:nvPr/>
        </p:nvSpPr>
        <p:spPr>
          <a:xfrm>
            <a:off x="6071977" y="5051207"/>
            <a:ext cx="1220227" cy="97333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714" name="矩形 6">
            <a:extLst>
              <a:ext uri="{FF2B5EF4-FFF2-40B4-BE49-F238E27FC236}">
                <a16:creationId xmlns:a16="http://schemas.microsoft.com/office/drawing/2014/main" id="{5AFC7202-1CEF-FBAC-464F-B031F1F94A9F}"/>
              </a:ext>
            </a:extLst>
          </p:cNvPr>
          <p:cNvSpPr/>
          <p:nvPr/>
        </p:nvSpPr>
        <p:spPr>
          <a:xfrm>
            <a:off x="7405585" y="5051207"/>
            <a:ext cx="1220227" cy="97333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微软雅黑" panose="020B0503020204020204" pitchFamily="34" charset="-122"/>
                <a:ea typeface="微软雅黑" panose="020B0503020204020204" pitchFamily="34" charset="-122"/>
              </a:rPr>
              <a:t>+</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715" name="文本框 11">
            <a:extLst>
              <a:ext uri="{FF2B5EF4-FFF2-40B4-BE49-F238E27FC236}">
                <a16:creationId xmlns:a16="http://schemas.microsoft.com/office/drawing/2014/main" id="{7AD4E4E5-28D5-8303-3D8F-73E3FD9A5EAE}"/>
              </a:ext>
            </a:extLst>
          </p:cNvPr>
          <p:cNvSpPr txBox="1"/>
          <p:nvPr/>
        </p:nvSpPr>
        <p:spPr>
          <a:xfrm>
            <a:off x="9256393" y="6025437"/>
            <a:ext cx="635439" cy="338554"/>
          </a:xfrm>
          <a:prstGeom prst="rect">
            <a:avLst/>
          </a:prstGeom>
          <a:noFill/>
        </p:spPr>
        <p:txBody>
          <a:bodyPr wrap="square" rtlCol="0">
            <a:spAutoFit/>
          </a:bodyPr>
          <a:lstStyle/>
          <a:p>
            <a:r>
              <a:rPr lang="en-US" altLang="zh-CN" sz="1600" dirty="0">
                <a:latin typeface="Times New Roman" panose="02020603050405020304" pitchFamily="18" charset="0"/>
                <a:cs typeface="Times New Roman" panose="02020603050405020304" pitchFamily="18" charset="0"/>
              </a:rPr>
              <a:t>2s</a:t>
            </a:r>
            <a:endParaRPr lang="zh-CN" altLang="en-US" sz="1600" dirty="0">
              <a:latin typeface="Times New Roman" panose="02020603050405020304" pitchFamily="18" charset="0"/>
              <a:cs typeface="Times New Roman" panose="02020603050405020304" pitchFamily="18" charset="0"/>
            </a:endParaRPr>
          </a:p>
        </p:txBody>
      </p:sp>
      <p:sp>
        <p:nvSpPr>
          <p:cNvPr id="716" name="文本框 19">
            <a:extLst>
              <a:ext uri="{FF2B5EF4-FFF2-40B4-BE49-F238E27FC236}">
                <a16:creationId xmlns:a16="http://schemas.microsoft.com/office/drawing/2014/main" id="{8B33C72D-225F-BF2C-13C3-35035619C9F8}"/>
              </a:ext>
            </a:extLst>
          </p:cNvPr>
          <p:cNvSpPr txBox="1"/>
          <p:nvPr/>
        </p:nvSpPr>
        <p:spPr>
          <a:xfrm>
            <a:off x="7743925" y="6016935"/>
            <a:ext cx="953195" cy="338554"/>
          </a:xfrm>
          <a:prstGeom prst="rect">
            <a:avLst/>
          </a:prstGeom>
          <a:noFill/>
        </p:spPr>
        <p:txBody>
          <a:bodyPr wrap="square" rtlCol="0">
            <a:spAutoFit/>
          </a:bodyPr>
          <a:lstStyle/>
          <a:p>
            <a:r>
              <a:rPr lang="en-US" altLang="zh-CN" sz="1600" dirty="0">
                <a:latin typeface="Times New Roman" panose="02020603050405020304" pitchFamily="18" charset="0"/>
                <a:cs typeface="Times New Roman" panose="02020603050405020304" pitchFamily="18" charset="0"/>
              </a:rPr>
              <a:t>1~4s</a:t>
            </a:r>
            <a:endParaRPr lang="zh-CN" altLang="en-US" sz="1600" dirty="0">
              <a:latin typeface="Times New Roman" panose="02020603050405020304" pitchFamily="18" charset="0"/>
              <a:cs typeface="Times New Roman" panose="02020603050405020304" pitchFamily="18" charset="0"/>
            </a:endParaRPr>
          </a:p>
        </p:txBody>
      </p:sp>
      <p:sp>
        <p:nvSpPr>
          <p:cNvPr id="717" name="矩形 6">
            <a:extLst>
              <a:ext uri="{FF2B5EF4-FFF2-40B4-BE49-F238E27FC236}">
                <a16:creationId xmlns:a16="http://schemas.microsoft.com/office/drawing/2014/main" id="{528E681C-F964-F893-5ED2-9E024C0DF925}"/>
              </a:ext>
            </a:extLst>
          </p:cNvPr>
          <p:cNvSpPr/>
          <p:nvPr/>
        </p:nvSpPr>
        <p:spPr>
          <a:xfrm>
            <a:off x="8805805" y="5051207"/>
            <a:ext cx="1220227" cy="97333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bg1"/>
              </a:solidFill>
              <a:latin typeface="微软雅黑" panose="020B0503020204020204" pitchFamily="34" charset="-122"/>
              <a:ea typeface="微软雅黑" panose="020B0503020204020204" pitchFamily="34" charset="-122"/>
            </a:endParaRPr>
          </a:p>
        </p:txBody>
      </p:sp>
      <p:pic>
        <p:nvPicPr>
          <p:cNvPr id="720" name="Picture 719" descr="A shopping cart in the middle of a pile of garbage&#10;&#10;Description automatically generated">
            <a:extLst>
              <a:ext uri="{FF2B5EF4-FFF2-40B4-BE49-F238E27FC236}">
                <a16:creationId xmlns:a16="http://schemas.microsoft.com/office/drawing/2014/main" id="{1A3ECFD7-B136-4F96-84D7-806F1972E44C}"/>
              </a:ext>
            </a:extLst>
          </p:cNvPr>
          <p:cNvPicPr>
            <a:picLocks noChangeAspect="1"/>
          </p:cNvPicPr>
          <p:nvPr/>
        </p:nvPicPr>
        <p:blipFill>
          <a:blip r:embed="rId4"/>
          <a:stretch>
            <a:fillRect/>
          </a:stretch>
        </p:blipFill>
        <p:spPr>
          <a:xfrm>
            <a:off x="6185127" y="5129335"/>
            <a:ext cx="990685" cy="792548"/>
          </a:xfrm>
          <a:prstGeom prst="rect">
            <a:avLst/>
          </a:prstGeom>
        </p:spPr>
      </p:pic>
      <p:pic>
        <p:nvPicPr>
          <p:cNvPr id="722" name="Picture 721" descr="A yellow lined paper on a table&#10;&#10;Description automatically generated">
            <a:extLst>
              <a:ext uri="{FF2B5EF4-FFF2-40B4-BE49-F238E27FC236}">
                <a16:creationId xmlns:a16="http://schemas.microsoft.com/office/drawing/2014/main" id="{FEF48CD9-2554-72E7-D3D4-2C603AECAE96}"/>
              </a:ext>
            </a:extLst>
          </p:cNvPr>
          <p:cNvPicPr>
            <a:picLocks noChangeAspect="1"/>
          </p:cNvPicPr>
          <p:nvPr/>
        </p:nvPicPr>
        <p:blipFill>
          <a:blip r:embed="rId5"/>
          <a:stretch>
            <a:fillRect/>
          </a:stretch>
        </p:blipFill>
        <p:spPr>
          <a:xfrm>
            <a:off x="8931307" y="5133554"/>
            <a:ext cx="985411" cy="788329"/>
          </a:xfrm>
          <a:prstGeom prst="rect">
            <a:avLst/>
          </a:prstGeom>
        </p:spPr>
      </p:pic>
      <p:sp>
        <p:nvSpPr>
          <p:cNvPr id="3" name="TextBox 2">
            <a:extLst>
              <a:ext uri="{FF2B5EF4-FFF2-40B4-BE49-F238E27FC236}">
                <a16:creationId xmlns:a16="http://schemas.microsoft.com/office/drawing/2014/main" id="{5226B5A9-0326-DEC3-35EC-A17FA05A02C9}"/>
              </a:ext>
            </a:extLst>
          </p:cNvPr>
          <p:cNvSpPr txBox="1"/>
          <p:nvPr/>
        </p:nvSpPr>
        <p:spPr>
          <a:xfrm>
            <a:off x="1215059" y="354359"/>
            <a:ext cx="2537033" cy="400110"/>
          </a:xfrm>
          <a:prstGeom prst="rect">
            <a:avLst/>
          </a:prstGeom>
          <a:noFill/>
        </p:spPr>
        <p:txBody>
          <a:bodyPr wrap="square">
            <a:spAutoFit/>
          </a:bodyPr>
          <a:lstStyle/>
          <a:p>
            <a:r>
              <a:rPr lang="zh-CN" altLang="en-US" sz="2000" b="1" dirty="0">
                <a:solidFill>
                  <a:schemeClr val="tx1"/>
                </a:solidFill>
                <a:latin typeface="FangSong_GB2312" panose="02010609030101010101" pitchFamily="49" charset="-122"/>
                <a:ea typeface="FangSong_GB2312" panose="02010609030101010101" pitchFamily="49" charset="-122"/>
              </a:rPr>
              <a:t>研究一：</a:t>
            </a:r>
            <a:r>
              <a:rPr lang="zh-CN" altLang="en-CN" sz="2000" b="1" dirty="0">
                <a:solidFill>
                  <a:schemeClr val="tx1"/>
                </a:solidFill>
                <a:latin typeface="FangSong_GB2312" panose="02010609030101010101" pitchFamily="49" charset="-122"/>
                <a:ea typeface="FangSong_GB2312" panose="02010609030101010101" pitchFamily="49" charset="-122"/>
              </a:rPr>
              <a:t>情绪</a:t>
            </a:r>
            <a:r>
              <a:rPr lang="zh-CN" altLang="en-US" sz="2000" b="1" dirty="0">
                <a:solidFill>
                  <a:schemeClr val="tx1"/>
                </a:solidFill>
                <a:latin typeface="FangSong_GB2312" panose="02010609030101010101" pitchFamily="49" charset="-122"/>
                <a:ea typeface="FangSong_GB2312" panose="02010609030101010101" pitchFamily="49" charset="-122"/>
              </a:rPr>
              <a:t>效价</a:t>
            </a:r>
          </a:p>
        </p:txBody>
      </p:sp>
      <p:graphicFrame>
        <p:nvGraphicFramePr>
          <p:cNvPr id="4" name="Table 3">
            <a:extLst>
              <a:ext uri="{FF2B5EF4-FFF2-40B4-BE49-F238E27FC236}">
                <a16:creationId xmlns:a16="http://schemas.microsoft.com/office/drawing/2014/main" id="{91B8E11D-A9AE-3CBF-0A84-51431FF455E2}"/>
              </a:ext>
            </a:extLst>
          </p:cNvPr>
          <p:cNvGraphicFramePr>
            <a:graphicFrameLocks noGrp="1"/>
          </p:cNvGraphicFramePr>
          <p:nvPr>
            <p:extLst>
              <p:ext uri="{D42A27DB-BD31-4B8C-83A1-F6EECF244321}">
                <p14:modId xmlns:p14="http://schemas.microsoft.com/office/powerpoint/2010/main" val="524938517"/>
              </p:ext>
            </p:extLst>
          </p:nvPr>
        </p:nvGraphicFramePr>
        <p:xfrm>
          <a:off x="478815" y="1338411"/>
          <a:ext cx="11234367" cy="1766580"/>
        </p:xfrm>
        <a:graphic>
          <a:graphicData uri="http://schemas.openxmlformats.org/drawingml/2006/table">
            <a:tbl>
              <a:tblPr firstRow="1" firstCol="1" bandRow="1">
                <a:tableStyleId>{5C22544A-7EE6-4342-B048-85BDC9FD1C3A}</a:tableStyleId>
              </a:tblPr>
              <a:tblGrid>
                <a:gridCol w="1235853">
                  <a:extLst>
                    <a:ext uri="{9D8B030D-6E8A-4147-A177-3AD203B41FA5}">
                      <a16:colId xmlns:a16="http://schemas.microsoft.com/office/drawing/2014/main" val="2829208495"/>
                    </a:ext>
                  </a:extLst>
                </a:gridCol>
                <a:gridCol w="807086">
                  <a:extLst>
                    <a:ext uri="{9D8B030D-6E8A-4147-A177-3AD203B41FA5}">
                      <a16:colId xmlns:a16="http://schemas.microsoft.com/office/drawing/2014/main" val="892803318"/>
                    </a:ext>
                  </a:extLst>
                </a:gridCol>
                <a:gridCol w="851525">
                  <a:extLst>
                    <a:ext uri="{9D8B030D-6E8A-4147-A177-3AD203B41FA5}">
                      <a16:colId xmlns:a16="http://schemas.microsoft.com/office/drawing/2014/main" val="2973600868"/>
                    </a:ext>
                  </a:extLst>
                </a:gridCol>
                <a:gridCol w="1495274">
                  <a:extLst>
                    <a:ext uri="{9D8B030D-6E8A-4147-A177-3AD203B41FA5}">
                      <a16:colId xmlns:a16="http://schemas.microsoft.com/office/drawing/2014/main" val="213030318"/>
                    </a:ext>
                  </a:extLst>
                </a:gridCol>
                <a:gridCol w="1058101">
                  <a:extLst>
                    <a:ext uri="{9D8B030D-6E8A-4147-A177-3AD203B41FA5}">
                      <a16:colId xmlns:a16="http://schemas.microsoft.com/office/drawing/2014/main" val="2361337935"/>
                    </a:ext>
                  </a:extLst>
                </a:gridCol>
                <a:gridCol w="2187063">
                  <a:extLst>
                    <a:ext uri="{9D8B030D-6E8A-4147-A177-3AD203B41FA5}">
                      <a16:colId xmlns:a16="http://schemas.microsoft.com/office/drawing/2014/main" val="4245811407"/>
                    </a:ext>
                  </a:extLst>
                </a:gridCol>
                <a:gridCol w="3599465">
                  <a:extLst>
                    <a:ext uri="{9D8B030D-6E8A-4147-A177-3AD203B41FA5}">
                      <a16:colId xmlns:a16="http://schemas.microsoft.com/office/drawing/2014/main" val="380029042"/>
                    </a:ext>
                  </a:extLst>
                </a:gridCol>
              </a:tblGrid>
              <a:tr h="176658">
                <a:tc>
                  <a:txBody>
                    <a:bodyPr/>
                    <a:lstStyle/>
                    <a:p>
                      <a:pPr algn="ctr">
                        <a:buNone/>
                      </a:pPr>
                      <a:r>
                        <a:rPr lang="zh-CN" sz="1000" kern="100" baseline="0">
                          <a:effectLst/>
                          <a:latin typeface="Times New Roman" panose="02020603050405020304" pitchFamily="18" charset="0"/>
                          <a:ea typeface="FangSong_GB2312" panose="02010609030101010101" pitchFamily="49" charset="-122"/>
                        </a:rPr>
                        <a:t>被试</a:t>
                      </a:r>
                      <a:endParaRPr lang="en-CN" sz="1000" kern="100" baseline="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zh-CN" sz="1000" kern="100" baseline="0">
                          <a:effectLst/>
                          <a:latin typeface="Times New Roman" panose="02020603050405020304" pitchFamily="18" charset="0"/>
                          <a:ea typeface="FangSong_GB2312" panose="02010609030101010101" pitchFamily="49" charset="-122"/>
                        </a:rPr>
                        <a:t>年龄</a:t>
                      </a:r>
                      <a:endParaRPr lang="en-CN" sz="1000" kern="100" baseline="0">
                        <a:effectLst/>
                        <a:latin typeface="Times New Roman" panose="02020603050405020304" pitchFamily="18" charset="0"/>
                        <a:ea typeface="FangSong_GB2312" panose="02010609030101010101" pitchFamily="49" charset="-122"/>
                      </a:endParaRPr>
                    </a:p>
                  </a:txBody>
                  <a:tcPr marL="66915" marR="66915" marT="0" marB="0"/>
                </a:tc>
                <a:tc>
                  <a:txBody>
                    <a:bodyPr/>
                    <a:lstStyle/>
                    <a:p>
                      <a:pPr algn="ctr">
                        <a:buNone/>
                      </a:pPr>
                      <a:r>
                        <a:rPr lang="zh-CN" sz="1000" kern="100" baseline="0">
                          <a:effectLst/>
                          <a:latin typeface="Times New Roman" panose="02020603050405020304" pitchFamily="18" charset="0"/>
                          <a:ea typeface="FangSong_GB2312" panose="02010609030101010101" pitchFamily="49" charset="-122"/>
                        </a:rPr>
                        <a:t>性别</a:t>
                      </a:r>
                      <a:endParaRPr lang="en-CN" sz="1000" kern="100" baseline="0">
                        <a:effectLst/>
                        <a:latin typeface="Times New Roman" panose="02020603050405020304" pitchFamily="18" charset="0"/>
                        <a:ea typeface="FangSong_GB2312" panose="02010609030101010101" pitchFamily="49" charset="-122"/>
                      </a:endParaRPr>
                    </a:p>
                  </a:txBody>
                  <a:tcPr marL="66915" marR="66915" marT="0" marB="0"/>
                </a:tc>
                <a:tc>
                  <a:txBody>
                    <a:bodyPr/>
                    <a:lstStyle/>
                    <a:p>
                      <a:pPr algn="ctr">
                        <a:buNone/>
                      </a:pPr>
                      <a:r>
                        <a:rPr lang="zh-CN" sz="1000" kern="100" baseline="0">
                          <a:effectLst/>
                          <a:latin typeface="Times New Roman" panose="02020603050405020304" pitchFamily="18" charset="0"/>
                          <a:ea typeface="FangSong_GB2312" panose="02010609030101010101" pitchFamily="49" charset="-122"/>
                        </a:rPr>
                        <a:t>临床诊断</a:t>
                      </a:r>
                      <a:endParaRPr lang="en-CN" sz="1000" kern="100" baseline="0">
                        <a:effectLst/>
                        <a:latin typeface="Times New Roman" panose="02020603050405020304" pitchFamily="18" charset="0"/>
                        <a:ea typeface="FangSong_GB2312" panose="02010609030101010101" pitchFamily="49" charset="-122"/>
                      </a:endParaRPr>
                    </a:p>
                  </a:txBody>
                  <a:tcPr marL="66915" marR="66915" marT="0" marB="0"/>
                </a:tc>
                <a:tc>
                  <a:txBody>
                    <a:bodyPr/>
                    <a:lstStyle/>
                    <a:p>
                      <a:pPr algn="ctr">
                        <a:buNone/>
                      </a:pPr>
                      <a:r>
                        <a:rPr lang="zh-CN" sz="1000" kern="100" baseline="0">
                          <a:effectLst/>
                          <a:latin typeface="Times New Roman" panose="02020603050405020304" pitchFamily="18" charset="0"/>
                          <a:ea typeface="FangSong_GB2312" panose="02010609030101010101" pitchFamily="49" charset="-122"/>
                        </a:rPr>
                        <a:t>侧别</a:t>
                      </a:r>
                      <a:endParaRPr lang="en-CN" sz="1000" kern="100" baseline="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zh-CN" sz="1000" kern="100" baseline="0">
                          <a:effectLst/>
                          <a:latin typeface="Times New Roman" panose="02020603050405020304" pitchFamily="18" charset="0"/>
                          <a:ea typeface="FangSong_GB2312" panose="02010609030101010101" pitchFamily="49" charset="-122"/>
                        </a:rPr>
                        <a:t>杏仁核电极</a:t>
                      </a:r>
                      <a:endParaRPr lang="en-CN" sz="1000" kern="100" baseline="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zh-CN" sz="1000" kern="100" baseline="0" dirty="0">
                          <a:effectLst/>
                          <a:latin typeface="Times New Roman" panose="02020603050405020304" pitchFamily="18" charset="0"/>
                          <a:ea typeface="FangSong_GB2312" panose="02010609030101010101" pitchFamily="49" charset="-122"/>
                        </a:rPr>
                        <a:t>海马电极</a:t>
                      </a:r>
                      <a:endParaRPr lang="en-CN" sz="1000" kern="100" baseline="0" dirty="0">
                        <a:effectLst/>
                        <a:latin typeface="Times New Roman" panose="02020603050405020304" pitchFamily="18" charset="0"/>
                        <a:ea typeface="FangSong_GB2312" panose="02010609030101010101" pitchFamily="49" charset="-122"/>
                      </a:endParaRPr>
                    </a:p>
                  </a:txBody>
                  <a:tcPr marL="66915" marR="66915" marT="0" marB="0" anchor="ctr"/>
                </a:tc>
                <a:extLst>
                  <a:ext uri="{0D108BD9-81ED-4DB2-BD59-A6C34878D82A}">
                    <a16:rowId xmlns:a16="http://schemas.microsoft.com/office/drawing/2014/main" val="2398972356"/>
                  </a:ext>
                </a:extLst>
              </a:tr>
              <a:tr h="176658">
                <a:tc>
                  <a:txBody>
                    <a:bodyPr/>
                    <a:lstStyle/>
                    <a:p>
                      <a:pPr algn="ctr">
                        <a:buNone/>
                      </a:pPr>
                      <a:r>
                        <a:rPr lang="en-US" sz="1000" kern="100" baseline="0" dirty="0">
                          <a:effectLst/>
                          <a:latin typeface="Times New Roman" panose="02020603050405020304" pitchFamily="18" charset="0"/>
                          <a:ea typeface="FangSong_GB2312" panose="02010609030101010101" pitchFamily="49" charset="-122"/>
                        </a:rPr>
                        <a:t>Sub001</a:t>
                      </a:r>
                      <a:endParaRPr lang="en-CN" sz="1000" kern="100" baseline="0" dirty="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en-US" sz="1000" kern="100" baseline="0">
                          <a:effectLst/>
                          <a:latin typeface="Times New Roman" panose="02020603050405020304" pitchFamily="18" charset="0"/>
                          <a:ea typeface="FangSong_GB2312" panose="02010609030101010101" pitchFamily="49" charset="-122"/>
                        </a:rPr>
                        <a:t>37</a:t>
                      </a:r>
                      <a:endParaRPr lang="en-CN" sz="1000" kern="100" baseline="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zh-CN" sz="1000" kern="100" baseline="0">
                          <a:effectLst/>
                          <a:latin typeface="Times New Roman" panose="02020603050405020304" pitchFamily="18" charset="0"/>
                          <a:ea typeface="FangSong_GB2312" panose="02010609030101010101" pitchFamily="49" charset="-122"/>
                        </a:rPr>
                        <a:t>男</a:t>
                      </a:r>
                      <a:endParaRPr lang="en-CN" sz="1000" kern="100" baseline="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zh-CN" sz="1000" kern="100" baseline="0" dirty="0">
                          <a:effectLst/>
                          <a:latin typeface="Times New Roman" panose="02020603050405020304" pitchFamily="18" charset="0"/>
                          <a:ea typeface="FangSong_GB2312" panose="02010609030101010101" pitchFamily="49" charset="-122"/>
                        </a:rPr>
                        <a:t>难治性癫痫</a:t>
                      </a:r>
                      <a:endParaRPr lang="en-CN" sz="1000" kern="100" baseline="0" dirty="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zh-CN" sz="1000" kern="100" baseline="0">
                          <a:effectLst/>
                          <a:latin typeface="Times New Roman" panose="02020603050405020304" pitchFamily="18" charset="0"/>
                          <a:ea typeface="FangSong_GB2312" panose="02010609030101010101" pitchFamily="49" charset="-122"/>
                        </a:rPr>
                        <a:t>右侧</a:t>
                      </a:r>
                      <a:endParaRPr lang="en-CN" sz="1000" kern="100" baseline="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en-US" sz="1000" kern="100" baseline="0">
                          <a:effectLst/>
                          <a:latin typeface="Times New Roman" panose="02020603050405020304" pitchFamily="18" charset="0"/>
                          <a:ea typeface="FangSong_GB2312" panose="02010609030101010101" pitchFamily="49" charset="-122"/>
                        </a:rPr>
                        <a:t>Amicro2</a:t>
                      </a:r>
                      <a:endParaRPr lang="en-CN" sz="1000" kern="100" baseline="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en-US" sz="1000" kern="100" baseline="0">
                          <a:effectLst/>
                          <a:latin typeface="Times New Roman" panose="02020603050405020304" pitchFamily="18" charset="0"/>
                          <a:ea typeface="FangSong_GB2312" panose="02010609030101010101" pitchFamily="49" charset="-122"/>
                        </a:rPr>
                        <a:t>Amicro1</a:t>
                      </a:r>
                      <a:r>
                        <a:rPr lang="zh-CN" sz="1000" kern="100" baseline="0">
                          <a:effectLst/>
                          <a:latin typeface="Times New Roman" panose="02020603050405020304" pitchFamily="18" charset="0"/>
                          <a:ea typeface="FangSong_GB2312" panose="02010609030101010101" pitchFamily="49" charset="-122"/>
                        </a:rPr>
                        <a:t>、</a:t>
                      </a:r>
                      <a:r>
                        <a:rPr lang="en-US" sz="1000" kern="100" baseline="0">
                          <a:effectLst/>
                          <a:latin typeface="Times New Roman" panose="02020603050405020304" pitchFamily="18" charset="0"/>
                          <a:ea typeface="FangSong_GB2312" panose="02010609030101010101" pitchFamily="49" charset="-122"/>
                        </a:rPr>
                        <a:t>Bmicro1</a:t>
                      </a:r>
                      <a:r>
                        <a:rPr lang="zh-CN" sz="1000" kern="100" baseline="0">
                          <a:effectLst/>
                          <a:latin typeface="Times New Roman" panose="02020603050405020304" pitchFamily="18" charset="0"/>
                          <a:ea typeface="FangSong_GB2312" panose="02010609030101010101" pitchFamily="49" charset="-122"/>
                        </a:rPr>
                        <a:t>、</a:t>
                      </a:r>
                      <a:r>
                        <a:rPr lang="en-US" sz="1000" kern="100" baseline="0">
                          <a:effectLst/>
                          <a:latin typeface="Times New Roman" panose="02020603050405020304" pitchFamily="18" charset="0"/>
                          <a:ea typeface="FangSong_GB2312" panose="02010609030101010101" pitchFamily="49" charset="-122"/>
                        </a:rPr>
                        <a:t>C1</a:t>
                      </a:r>
                      <a:r>
                        <a:rPr lang="zh-CN" sz="1000" kern="100" baseline="0">
                          <a:effectLst/>
                          <a:latin typeface="Times New Roman" panose="02020603050405020304" pitchFamily="18" charset="0"/>
                          <a:ea typeface="FangSong_GB2312" panose="02010609030101010101" pitchFamily="49" charset="-122"/>
                        </a:rPr>
                        <a:t>、</a:t>
                      </a:r>
                      <a:r>
                        <a:rPr lang="en-US" sz="1000" kern="100" baseline="0">
                          <a:effectLst/>
                          <a:latin typeface="Times New Roman" panose="02020603050405020304" pitchFamily="18" charset="0"/>
                          <a:ea typeface="FangSong_GB2312" panose="02010609030101010101" pitchFamily="49" charset="-122"/>
                        </a:rPr>
                        <a:t>C2</a:t>
                      </a:r>
                      <a:r>
                        <a:rPr lang="zh-CN" sz="1000" kern="100" baseline="0">
                          <a:effectLst/>
                          <a:latin typeface="Times New Roman" panose="02020603050405020304" pitchFamily="18" charset="0"/>
                          <a:ea typeface="FangSong_GB2312" panose="02010609030101010101" pitchFamily="49" charset="-122"/>
                        </a:rPr>
                        <a:t>、</a:t>
                      </a:r>
                      <a:r>
                        <a:rPr lang="en-US" sz="1000" kern="100" baseline="0">
                          <a:effectLst/>
                          <a:latin typeface="Times New Roman" panose="02020603050405020304" pitchFamily="18" charset="0"/>
                          <a:ea typeface="FangSong_GB2312" panose="02010609030101010101" pitchFamily="49" charset="-122"/>
                        </a:rPr>
                        <a:t>C3</a:t>
                      </a:r>
                      <a:endParaRPr lang="en-CN" sz="1000" kern="100" baseline="0">
                        <a:effectLst/>
                        <a:latin typeface="Times New Roman" panose="02020603050405020304" pitchFamily="18" charset="0"/>
                        <a:ea typeface="FangSong_GB2312" panose="02010609030101010101" pitchFamily="49" charset="-122"/>
                      </a:endParaRPr>
                    </a:p>
                  </a:txBody>
                  <a:tcPr marL="66915" marR="66915" marT="0" marB="0" anchor="ctr"/>
                </a:tc>
                <a:extLst>
                  <a:ext uri="{0D108BD9-81ED-4DB2-BD59-A6C34878D82A}">
                    <a16:rowId xmlns:a16="http://schemas.microsoft.com/office/drawing/2014/main" val="595670390"/>
                  </a:ext>
                </a:extLst>
              </a:tr>
              <a:tr h="176658">
                <a:tc>
                  <a:txBody>
                    <a:bodyPr/>
                    <a:lstStyle/>
                    <a:p>
                      <a:pPr algn="ctr">
                        <a:buNone/>
                      </a:pPr>
                      <a:r>
                        <a:rPr lang="en-US" sz="1000" kern="100" baseline="0" dirty="0">
                          <a:effectLst/>
                          <a:latin typeface="Times New Roman" panose="02020603050405020304" pitchFamily="18" charset="0"/>
                          <a:ea typeface="FangSong_GB2312" panose="02010609030101010101" pitchFamily="49" charset="-122"/>
                        </a:rPr>
                        <a:t>Sub004</a:t>
                      </a:r>
                      <a:endParaRPr lang="en-CN" sz="1000" kern="100" baseline="0" dirty="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en-US" sz="1000" kern="100" baseline="0">
                          <a:effectLst/>
                          <a:latin typeface="Times New Roman" panose="02020603050405020304" pitchFamily="18" charset="0"/>
                          <a:ea typeface="FangSong_GB2312" panose="02010609030101010101" pitchFamily="49" charset="-122"/>
                        </a:rPr>
                        <a:t>19</a:t>
                      </a:r>
                      <a:endParaRPr lang="en-CN" sz="1000" kern="100" baseline="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zh-CN" sz="1000" kern="100" baseline="0">
                          <a:effectLst/>
                          <a:latin typeface="Times New Roman" panose="02020603050405020304" pitchFamily="18" charset="0"/>
                          <a:ea typeface="FangSong_GB2312" panose="02010609030101010101" pitchFamily="49" charset="-122"/>
                        </a:rPr>
                        <a:t>男</a:t>
                      </a:r>
                      <a:endParaRPr lang="en-CN" sz="1000" kern="100" baseline="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zh-CN" sz="1000" kern="100" baseline="0">
                          <a:effectLst/>
                          <a:latin typeface="Times New Roman" panose="02020603050405020304" pitchFamily="18" charset="0"/>
                          <a:ea typeface="FangSong_GB2312" panose="02010609030101010101" pitchFamily="49" charset="-122"/>
                        </a:rPr>
                        <a:t>难治性癫痫</a:t>
                      </a:r>
                      <a:endParaRPr lang="en-CN" sz="1000" kern="100" baseline="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zh-CN" sz="1000" kern="100" baseline="0">
                          <a:effectLst/>
                          <a:latin typeface="Times New Roman" panose="02020603050405020304" pitchFamily="18" charset="0"/>
                          <a:ea typeface="FangSong_GB2312" panose="02010609030101010101" pitchFamily="49" charset="-122"/>
                        </a:rPr>
                        <a:t>右侧</a:t>
                      </a:r>
                      <a:endParaRPr lang="en-CN" sz="1000" kern="100" baseline="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en-US" sz="1000" kern="100" baseline="0">
                          <a:effectLst/>
                          <a:latin typeface="Times New Roman" panose="02020603050405020304" pitchFamily="18" charset="0"/>
                          <a:ea typeface="FangSong_GB2312" panose="02010609030101010101" pitchFamily="49" charset="-122"/>
                        </a:rPr>
                        <a:t>A1</a:t>
                      </a:r>
                      <a:r>
                        <a:rPr lang="zh-CN" sz="1000" kern="100" baseline="0">
                          <a:effectLst/>
                          <a:latin typeface="Times New Roman" panose="02020603050405020304" pitchFamily="18" charset="0"/>
                          <a:ea typeface="FangSong_GB2312" panose="02010609030101010101" pitchFamily="49" charset="-122"/>
                        </a:rPr>
                        <a:t>、</a:t>
                      </a:r>
                      <a:r>
                        <a:rPr lang="en-US" sz="1000" kern="100" baseline="0">
                          <a:effectLst/>
                          <a:latin typeface="Times New Roman" panose="02020603050405020304" pitchFamily="18" charset="0"/>
                          <a:ea typeface="FangSong_GB2312" panose="02010609030101010101" pitchFamily="49" charset="-122"/>
                        </a:rPr>
                        <a:t>A2</a:t>
                      </a:r>
                      <a:r>
                        <a:rPr lang="zh-CN" sz="1000" kern="100" baseline="0">
                          <a:effectLst/>
                          <a:latin typeface="Times New Roman" panose="02020603050405020304" pitchFamily="18" charset="0"/>
                          <a:ea typeface="FangSong_GB2312" panose="02010609030101010101" pitchFamily="49" charset="-122"/>
                        </a:rPr>
                        <a:t>、</a:t>
                      </a:r>
                      <a:r>
                        <a:rPr lang="en-US" sz="1000" kern="100" baseline="0">
                          <a:effectLst/>
                          <a:latin typeface="Times New Roman" panose="02020603050405020304" pitchFamily="18" charset="0"/>
                          <a:ea typeface="FangSong_GB2312" panose="02010609030101010101" pitchFamily="49" charset="-122"/>
                        </a:rPr>
                        <a:t>A3</a:t>
                      </a:r>
                      <a:r>
                        <a:rPr lang="zh-CN" sz="1000" kern="100" baseline="0">
                          <a:effectLst/>
                          <a:latin typeface="Times New Roman" panose="02020603050405020304" pitchFamily="18" charset="0"/>
                          <a:ea typeface="FangSong_GB2312" panose="02010609030101010101" pitchFamily="49" charset="-122"/>
                        </a:rPr>
                        <a:t>、</a:t>
                      </a:r>
                      <a:r>
                        <a:rPr lang="en-US" sz="1000" kern="100" baseline="0">
                          <a:effectLst/>
                          <a:latin typeface="Times New Roman" panose="02020603050405020304" pitchFamily="18" charset="0"/>
                          <a:ea typeface="FangSong_GB2312" panose="02010609030101010101" pitchFamily="49" charset="-122"/>
                        </a:rPr>
                        <a:t>A4</a:t>
                      </a:r>
                      <a:r>
                        <a:rPr lang="zh-CN" sz="1000" kern="100" baseline="0">
                          <a:effectLst/>
                          <a:latin typeface="Times New Roman" panose="02020603050405020304" pitchFamily="18" charset="0"/>
                          <a:ea typeface="FangSong_GB2312" panose="02010609030101010101" pitchFamily="49" charset="-122"/>
                        </a:rPr>
                        <a:t>、</a:t>
                      </a:r>
                      <a:r>
                        <a:rPr lang="en-US" sz="1000" kern="100" baseline="0">
                          <a:effectLst/>
                          <a:latin typeface="Times New Roman" panose="02020603050405020304" pitchFamily="18" charset="0"/>
                          <a:ea typeface="FangSong_GB2312" panose="02010609030101010101" pitchFamily="49" charset="-122"/>
                        </a:rPr>
                        <a:t>A5</a:t>
                      </a:r>
                      <a:endParaRPr lang="en-CN" sz="1000" kern="100" baseline="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en-US" sz="1000" kern="100" baseline="0" dirty="0">
                          <a:effectLst/>
                          <a:latin typeface="Times New Roman" panose="02020603050405020304" pitchFamily="18" charset="0"/>
                          <a:ea typeface="FangSong_GB2312" panose="02010609030101010101" pitchFamily="49" charset="-122"/>
                        </a:rPr>
                        <a:t>B1</a:t>
                      </a:r>
                      <a:r>
                        <a:rPr lang="zh-CN" sz="1000" kern="100" baseline="0" dirty="0">
                          <a:effectLst/>
                          <a:latin typeface="Times New Roman" panose="02020603050405020304" pitchFamily="18" charset="0"/>
                          <a:ea typeface="FangSong_GB2312" panose="02010609030101010101" pitchFamily="49" charset="-122"/>
                        </a:rPr>
                        <a:t>、</a:t>
                      </a:r>
                      <a:r>
                        <a:rPr lang="en-US" sz="1000" kern="100" baseline="0" dirty="0">
                          <a:effectLst/>
                          <a:latin typeface="Times New Roman" panose="02020603050405020304" pitchFamily="18" charset="0"/>
                          <a:ea typeface="FangSong_GB2312" panose="02010609030101010101" pitchFamily="49" charset="-122"/>
                        </a:rPr>
                        <a:t>B2</a:t>
                      </a:r>
                      <a:r>
                        <a:rPr lang="zh-CN" sz="1000" kern="100" baseline="0" dirty="0">
                          <a:effectLst/>
                          <a:latin typeface="Times New Roman" panose="02020603050405020304" pitchFamily="18" charset="0"/>
                          <a:ea typeface="FangSong_GB2312" panose="02010609030101010101" pitchFamily="49" charset="-122"/>
                        </a:rPr>
                        <a:t>、</a:t>
                      </a:r>
                      <a:r>
                        <a:rPr lang="en-US" sz="1000" kern="100" baseline="0" dirty="0">
                          <a:effectLst/>
                          <a:latin typeface="Times New Roman" panose="02020603050405020304" pitchFamily="18" charset="0"/>
                          <a:ea typeface="FangSong_GB2312" panose="02010609030101010101" pitchFamily="49" charset="-122"/>
                        </a:rPr>
                        <a:t>B3</a:t>
                      </a:r>
                      <a:r>
                        <a:rPr lang="zh-CN" sz="1000" kern="100" baseline="0" dirty="0">
                          <a:effectLst/>
                          <a:latin typeface="Times New Roman" panose="02020603050405020304" pitchFamily="18" charset="0"/>
                          <a:ea typeface="FangSong_GB2312" panose="02010609030101010101" pitchFamily="49" charset="-122"/>
                        </a:rPr>
                        <a:t>、</a:t>
                      </a:r>
                      <a:r>
                        <a:rPr lang="en-US" sz="1000" kern="100" baseline="0" dirty="0">
                          <a:effectLst/>
                          <a:latin typeface="Times New Roman" panose="02020603050405020304" pitchFamily="18" charset="0"/>
                          <a:ea typeface="FangSong_GB2312" panose="02010609030101010101" pitchFamily="49" charset="-122"/>
                        </a:rPr>
                        <a:t>B4</a:t>
                      </a:r>
                      <a:r>
                        <a:rPr lang="zh-CN" sz="1000" kern="100" baseline="0" dirty="0">
                          <a:effectLst/>
                          <a:latin typeface="Times New Roman" panose="02020603050405020304" pitchFamily="18" charset="0"/>
                          <a:ea typeface="FangSong_GB2312" panose="02010609030101010101" pitchFamily="49" charset="-122"/>
                        </a:rPr>
                        <a:t>、</a:t>
                      </a:r>
                      <a:r>
                        <a:rPr lang="en-US" sz="1000" kern="100" baseline="0" dirty="0">
                          <a:effectLst/>
                          <a:latin typeface="Times New Roman" panose="02020603050405020304" pitchFamily="18" charset="0"/>
                          <a:ea typeface="FangSong_GB2312" panose="02010609030101010101" pitchFamily="49" charset="-122"/>
                        </a:rPr>
                        <a:t>C2</a:t>
                      </a:r>
                      <a:r>
                        <a:rPr lang="zh-CN" sz="1000" kern="100" baseline="0" dirty="0">
                          <a:effectLst/>
                          <a:latin typeface="Times New Roman" panose="02020603050405020304" pitchFamily="18" charset="0"/>
                          <a:ea typeface="FangSong_GB2312" panose="02010609030101010101" pitchFamily="49" charset="-122"/>
                        </a:rPr>
                        <a:t>、</a:t>
                      </a:r>
                      <a:r>
                        <a:rPr lang="en-US" sz="1000" kern="100" baseline="0" dirty="0">
                          <a:effectLst/>
                          <a:latin typeface="Times New Roman" panose="02020603050405020304" pitchFamily="18" charset="0"/>
                          <a:ea typeface="FangSong_GB2312" panose="02010609030101010101" pitchFamily="49" charset="-122"/>
                        </a:rPr>
                        <a:t>C3</a:t>
                      </a:r>
                      <a:r>
                        <a:rPr lang="zh-CN" sz="1000" kern="100" baseline="0" dirty="0">
                          <a:effectLst/>
                          <a:latin typeface="Times New Roman" panose="02020603050405020304" pitchFamily="18" charset="0"/>
                          <a:ea typeface="FangSong_GB2312" panose="02010609030101010101" pitchFamily="49" charset="-122"/>
                        </a:rPr>
                        <a:t>、</a:t>
                      </a:r>
                      <a:r>
                        <a:rPr lang="en-US" sz="1000" kern="100" baseline="0" dirty="0">
                          <a:effectLst/>
                          <a:latin typeface="Times New Roman" panose="02020603050405020304" pitchFamily="18" charset="0"/>
                          <a:ea typeface="FangSong_GB2312" panose="02010609030101010101" pitchFamily="49" charset="-122"/>
                        </a:rPr>
                        <a:t>C4</a:t>
                      </a:r>
                      <a:endParaRPr lang="en-CN" sz="1000" kern="100" baseline="0" dirty="0">
                        <a:effectLst/>
                        <a:latin typeface="Times New Roman" panose="02020603050405020304" pitchFamily="18" charset="0"/>
                        <a:ea typeface="FangSong_GB2312" panose="02010609030101010101" pitchFamily="49" charset="-122"/>
                      </a:endParaRPr>
                    </a:p>
                  </a:txBody>
                  <a:tcPr marL="66915" marR="66915" marT="0" marB="0" anchor="ctr"/>
                </a:tc>
                <a:extLst>
                  <a:ext uri="{0D108BD9-81ED-4DB2-BD59-A6C34878D82A}">
                    <a16:rowId xmlns:a16="http://schemas.microsoft.com/office/drawing/2014/main" val="1529752338"/>
                  </a:ext>
                </a:extLst>
              </a:tr>
              <a:tr h="706632">
                <a:tc>
                  <a:txBody>
                    <a:bodyPr/>
                    <a:lstStyle/>
                    <a:p>
                      <a:pPr algn="ctr">
                        <a:buNone/>
                      </a:pPr>
                      <a:r>
                        <a:rPr lang="en-US" sz="1000" kern="100" baseline="0" dirty="0">
                          <a:effectLst/>
                          <a:latin typeface="Times New Roman" panose="02020603050405020304" pitchFamily="18" charset="0"/>
                          <a:ea typeface="FangSong_GB2312" panose="02010609030101010101" pitchFamily="49" charset="-122"/>
                        </a:rPr>
                        <a:t>Sub005</a:t>
                      </a:r>
                      <a:endParaRPr lang="en-CN" sz="1000" kern="100" baseline="0" dirty="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en-US" sz="1000" kern="100" baseline="0">
                          <a:effectLst/>
                          <a:latin typeface="Times New Roman" panose="02020603050405020304" pitchFamily="18" charset="0"/>
                          <a:ea typeface="FangSong_GB2312" panose="02010609030101010101" pitchFamily="49" charset="-122"/>
                        </a:rPr>
                        <a:t>30</a:t>
                      </a:r>
                      <a:endParaRPr lang="en-CN" sz="1000" kern="100" baseline="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zh-CN" sz="1000" kern="100" baseline="0" dirty="0">
                          <a:effectLst/>
                          <a:latin typeface="Times New Roman" panose="02020603050405020304" pitchFamily="18" charset="0"/>
                          <a:ea typeface="FangSong_GB2312" panose="02010609030101010101" pitchFamily="49" charset="-122"/>
                        </a:rPr>
                        <a:t>女</a:t>
                      </a:r>
                      <a:endParaRPr lang="en-CN" sz="1000" kern="100" baseline="0" dirty="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zh-CN" sz="1000" kern="100" baseline="0" dirty="0">
                          <a:effectLst/>
                          <a:latin typeface="Times New Roman" panose="02020603050405020304" pitchFamily="18" charset="0"/>
                          <a:ea typeface="FangSong_GB2312" panose="02010609030101010101" pitchFamily="49" charset="-122"/>
                        </a:rPr>
                        <a:t>抑郁</a:t>
                      </a:r>
                      <a:r>
                        <a:rPr lang="zh-CN" altLang="en-US" sz="1000" kern="100" baseline="0" dirty="0">
                          <a:effectLst/>
                          <a:latin typeface="Times New Roman" panose="02020603050405020304" pitchFamily="18" charset="0"/>
                          <a:ea typeface="FangSong_GB2312" panose="02010609030101010101" pitchFamily="49" charset="-122"/>
                        </a:rPr>
                        <a:t>症</a:t>
                      </a:r>
                      <a:endParaRPr lang="en-CN" sz="1000" kern="100" baseline="0" dirty="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zh-CN" sz="1000" kern="100" baseline="0">
                          <a:effectLst/>
                          <a:latin typeface="Times New Roman" panose="02020603050405020304" pitchFamily="18" charset="0"/>
                          <a:ea typeface="FangSong_GB2312" panose="02010609030101010101" pitchFamily="49" charset="-122"/>
                        </a:rPr>
                        <a:t>左侧、右侧</a:t>
                      </a:r>
                      <a:endParaRPr lang="en-CN" sz="1000" kern="100" baseline="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en-US" sz="1000" kern="100" baseline="0" dirty="0">
                          <a:effectLst/>
                          <a:latin typeface="Times New Roman" panose="02020603050405020304" pitchFamily="18" charset="0"/>
                          <a:ea typeface="FangSong_GB2312" panose="02010609030101010101" pitchFamily="49" charset="-122"/>
                        </a:rPr>
                        <a:t>R-Amyg-MMa1</a:t>
                      </a:r>
                      <a:r>
                        <a:rPr lang="zh-CN" sz="1000" kern="100" baseline="0" dirty="0">
                          <a:effectLst/>
                          <a:latin typeface="Times New Roman" panose="02020603050405020304" pitchFamily="18" charset="0"/>
                          <a:ea typeface="FangSong_GB2312" panose="02010609030101010101" pitchFamily="49" charset="-122"/>
                        </a:rPr>
                        <a:t>、</a:t>
                      </a:r>
                      <a:r>
                        <a:rPr lang="en-US" sz="1000" kern="100" baseline="0" dirty="0">
                          <a:effectLst/>
                          <a:latin typeface="Times New Roman" panose="02020603050405020304" pitchFamily="18" charset="0"/>
                          <a:ea typeface="FangSong_GB2312" panose="02010609030101010101" pitchFamily="49" charset="-122"/>
                        </a:rPr>
                        <a:t>R-Amyg-MMa2</a:t>
                      </a:r>
                      <a:r>
                        <a:rPr lang="zh-CN" sz="1000" kern="100" baseline="0" dirty="0">
                          <a:effectLst/>
                          <a:latin typeface="Times New Roman" panose="02020603050405020304" pitchFamily="18" charset="0"/>
                          <a:ea typeface="FangSong_GB2312" panose="02010609030101010101" pitchFamily="49" charset="-122"/>
                        </a:rPr>
                        <a:t>、</a:t>
                      </a:r>
                      <a:endParaRPr lang="en-CN" sz="1000" kern="100" baseline="0" dirty="0">
                        <a:effectLst/>
                        <a:latin typeface="Times New Roman" panose="02020603050405020304" pitchFamily="18" charset="0"/>
                        <a:ea typeface="FangSong_GB2312" panose="02010609030101010101" pitchFamily="49" charset="-122"/>
                      </a:endParaRPr>
                    </a:p>
                    <a:p>
                      <a:pPr algn="ctr">
                        <a:buNone/>
                      </a:pPr>
                      <a:r>
                        <a:rPr lang="en-US" sz="1000" kern="100" baseline="0" dirty="0">
                          <a:effectLst/>
                          <a:latin typeface="Times New Roman" panose="02020603050405020304" pitchFamily="18" charset="0"/>
                          <a:ea typeface="FangSong_GB2312" panose="02010609030101010101" pitchFamily="49" charset="-122"/>
                        </a:rPr>
                        <a:t>R-Amyg-MMa3</a:t>
                      </a:r>
                      <a:r>
                        <a:rPr lang="zh-CN" sz="1000" kern="100" baseline="0" dirty="0">
                          <a:effectLst/>
                          <a:latin typeface="Times New Roman" panose="02020603050405020304" pitchFamily="18" charset="0"/>
                          <a:ea typeface="FangSong_GB2312" panose="02010609030101010101" pitchFamily="49" charset="-122"/>
                        </a:rPr>
                        <a:t>、</a:t>
                      </a:r>
                      <a:r>
                        <a:rPr lang="en-US" sz="1000" kern="100" baseline="0" dirty="0">
                          <a:effectLst/>
                          <a:latin typeface="Times New Roman" panose="02020603050405020304" pitchFamily="18" charset="0"/>
                          <a:ea typeface="FangSong_GB2312" panose="02010609030101010101" pitchFamily="49" charset="-122"/>
                        </a:rPr>
                        <a:t>L-Amyg-MMa1</a:t>
                      </a:r>
                      <a:r>
                        <a:rPr lang="zh-CN" sz="1000" kern="100" baseline="0" dirty="0">
                          <a:effectLst/>
                          <a:latin typeface="Times New Roman" panose="02020603050405020304" pitchFamily="18" charset="0"/>
                          <a:ea typeface="FangSong_GB2312" panose="02010609030101010101" pitchFamily="49" charset="-122"/>
                        </a:rPr>
                        <a:t>、</a:t>
                      </a:r>
                      <a:endParaRPr lang="en-CN" sz="1000" kern="100" baseline="0" dirty="0">
                        <a:effectLst/>
                        <a:latin typeface="Times New Roman" panose="02020603050405020304" pitchFamily="18" charset="0"/>
                        <a:ea typeface="FangSong_GB2312" panose="02010609030101010101" pitchFamily="49" charset="-122"/>
                      </a:endParaRPr>
                    </a:p>
                    <a:p>
                      <a:pPr algn="ctr">
                        <a:buNone/>
                      </a:pPr>
                      <a:r>
                        <a:rPr lang="en-US" sz="1000" kern="100" baseline="0" dirty="0">
                          <a:effectLst/>
                          <a:latin typeface="Times New Roman" panose="02020603050405020304" pitchFamily="18" charset="0"/>
                          <a:ea typeface="FangSong_GB2312" panose="02010609030101010101" pitchFamily="49" charset="-122"/>
                        </a:rPr>
                        <a:t>L-Amyg-MMa2</a:t>
                      </a:r>
                      <a:r>
                        <a:rPr lang="zh-CN" sz="1000" kern="100" baseline="0" dirty="0">
                          <a:effectLst/>
                          <a:latin typeface="Times New Roman" panose="02020603050405020304" pitchFamily="18" charset="0"/>
                          <a:ea typeface="FangSong_GB2312" panose="02010609030101010101" pitchFamily="49" charset="-122"/>
                        </a:rPr>
                        <a:t>、</a:t>
                      </a:r>
                      <a:r>
                        <a:rPr lang="en-US" sz="1000" kern="100" baseline="0" dirty="0">
                          <a:effectLst/>
                          <a:latin typeface="Times New Roman" panose="02020603050405020304" pitchFamily="18" charset="0"/>
                          <a:ea typeface="FangSong_GB2312" panose="02010609030101010101" pitchFamily="49" charset="-122"/>
                        </a:rPr>
                        <a:t>L-Amyg-MMa3</a:t>
                      </a:r>
                      <a:r>
                        <a:rPr lang="zh-CN" sz="1000" kern="100" baseline="0" dirty="0">
                          <a:effectLst/>
                          <a:latin typeface="Times New Roman" panose="02020603050405020304" pitchFamily="18" charset="0"/>
                          <a:ea typeface="FangSong_GB2312" panose="02010609030101010101" pitchFamily="49" charset="-122"/>
                        </a:rPr>
                        <a:t>、</a:t>
                      </a:r>
                      <a:endParaRPr lang="en-CN" sz="1000" kern="100" baseline="0" dirty="0">
                        <a:effectLst/>
                        <a:latin typeface="Times New Roman" panose="02020603050405020304" pitchFamily="18" charset="0"/>
                        <a:ea typeface="FangSong_GB2312" panose="02010609030101010101" pitchFamily="49" charset="-122"/>
                      </a:endParaRPr>
                    </a:p>
                    <a:p>
                      <a:pPr algn="ctr">
                        <a:buNone/>
                      </a:pPr>
                      <a:r>
                        <a:rPr lang="en-US" sz="1000" kern="100" baseline="0" dirty="0">
                          <a:effectLst/>
                          <a:latin typeface="Times New Roman" panose="02020603050405020304" pitchFamily="18" charset="0"/>
                          <a:ea typeface="FangSong_GB2312" panose="02010609030101010101" pitchFamily="49" charset="-122"/>
                        </a:rPr>
                        <a:t>L-Amyg-MMa4</a:t>
                      </a:r>
                      <a:endParaRPr lang="en-CN" sz="1000" kern="100" baseline="0" dirty="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en-US" sz="1000" kern="100" baseline="0" dirty="0">
                          <a:effectLst/>
                          <a:latin typeface="Times New Roman" panose="02020603050405020304" pitchFamily="18" charset="0"/>
                          <a:ea typeface="FangSong_GB2312" panose="02010609030101010101" pitchFamily="49" charset="-122"/>
                        </a:rPr>
                        <a:t>R-hipp-BF1</a:t>
                      </a:r>
                      <a:r>
                        <a:rPr lang="zh-CN" sz="1000" kern="100" baseline="0" dirty="0">
                          <a:effectLst/>
                          <a:latin typeface="Times New Roman" panose="02020603050405020304" pitchFamily="18" charset="0"/>
                          <a:ea typeface="FangSong_GB2312" panose="02010609030101010101" pitchFamily="49" charset="-122"/>
                        </a:rPr>
                        <a:t>、</a:t>
                      </a:r>
                      <a:r>
                        <a:rPr lang="en-US" sz="1000" kern="100" baseline="0" dirty="0">
                          <a:effectLst/>
                          <a:latin typeface="Times New Roman" panose="02020603050405020304" pitchFamily="18" charset="0"/>
                          <a:ea typeface="FangSong_GB2312" panose="02010609030101010101" pitchFamily="49" charset="-122"/>
                        </a:rPr>
                        <a:t>R-hipp-BF2</a:t>
                      </a:r>
                      <a:r>
                        <a:rPr lang="zh-CN" sz="1000" kern="100" baseline="0" dirty="0">
                          <a:effectLst/>
                          <a:latin typeface="Times New Roman" panose="02020603050405020304" pitchFamily="18" charset="0"/>
                          <a:ea typeface="FangSong_GB2312" panose="02010609030101010101" pitchFamily="49" charset="-122"/>
                        </a:rPr>
                        <a:t>、</a:t>
                      </a:r>
                      <a:r>
                        <a:rPr lang="en-US" sz="1000" kern="100" baseline="0" dirty="0">
                          <a:effectLst/>
                          <a:latin typeface="Times New Roman" panose="02020603050405020304" pitchFamily="18" charset="0"/>
                          <a:ea typeface="FangSong_GB2312" panose="02010609030101010101" pitchFamily="49" charset="-122"/>
                        </a:rPr>
                        <a:t>L-Hip-BF1</a:t>
                      </a:r>
                      <a:r>
                        <a:rPr lang="zh-CN" sz="1000" kern="100" baseline="0" dirty="0">
                          <a:effectLst/>
                          <a:latin typeface="Times New Roman" panose="02020603050405020304" pitchFamily="18" charset="0"/>
                          <a:ea typeface="FangSong_GB2312" panose="02010609030101010101" pitchFamily="49" charset="-122"/>
                        </a:rPr>
                        <a:t>、</a:t>
                      </a:r>
                      <a:r>
                        <a:rPr lang="en-US" sz="1000" kern="100" baseline="0" dirty="0">
                          <a:effectLst/>
                          <a:latin typeface="Times New Roman" panose="02020603050405020304" pitchFamily="18" charset="0"/>
                          <a:ea typeface="FangSong_GB2312" panose="02010609030101010101" pitchFamily="49" charset="-122"/>
                        </a:rPr>
                        <a:t>L-Hip-BF2</a:t>
                      </a:r>
                      <a:endParaRPr lang="en-CN" sz="1000" kern="100" baseline="0" dirty="0">
                        <a:effectLst/>
                        <a:latin typeface="Times New Roman" panose="02020603050405020304" pitchFamily="18" charset="0"/>
                        <a:ea typeface="FangSong_GB2312" panose="02010609030101010101" pitchFamily="49" charset="-122"/>
                      </a:endParaRPr>
                    </a:p>
                  </a:txBody>
                  <a:tcPr marL="66915" marR="66915" marT="0" marB="0" anchor="ctr"/>
                </a:tc>
                <a:extLst>
                  <a:ext uri="{0D108BD9-81ED-4DB2-BD59-A6C34878D82A}">
                    <a16:rowId xmlns:a16="http://schemas.microsoft.com/office/drawing/2014/main" val="140284747"/>
                  </a:ext>
                </a:extLst>
              </a:tr>
              <a:tr h="529974">
                <a:tc>
                  <a:txBody>
                    <a:bodyPr/>
                    <a:lstStyle/>
                    <a:p>
                      <a:pPr algn="ctr">
                        <a:buNone/>
                      </a:pPr>
                      <a:r>
                        <a:rPr lang="en-US" sz="1000" kern="100" baseline="0" dirty="0">
                          <a:effectLst/>
                          <a:latin typeface="Times New Roman" panose="02020603050405020304" pitchFamily="18" charset="0"/>
                          <a:ea typeface="FangSong_GB2312" panose="02010609030101010101" pitchFamily="49" charset="-122"/>
                        </a:rPr>
                        <a:t>Sub008</a:t>
                      </a:r>
                      <a:endParaRPr lang="en-CN" sz="1000" kern="100" baseline="0" dirty="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en-US" sz="1000" kern="100" baseline="0" dirty="0">
                          <a:effectLst/>
                          <a:latin typeface="Times New Roman" panose="02020603050405020304" pitchFamily="18" charset="0"/>
                          <a:ea typeface="FangSong_GB2312" panose="02010609030101010101" pitchFamily="49" charset="-122"/>
                        </a:rPr>
                        <a:t>33</a:t>
                      </a:r>
                      <a:endParaRPr lang="en-CN" sz="1000" kern="100" baseline="0" dirty="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zh-CN" sz="1000" kern="100" baseline="0">
                          <a:effectLst/>
                          <a:latin typeface="Times New Roman" panose="02020603050405020304" pitchFamily="18" charset="0"/>
                          <a:ea typeface="FangSong_GB2312" panose="02010609030101010101" pitchFamily="49" charset="-122"/>
                        </a:rPr>
                        <a:t>女</a:t>
                      </a:r>
                      <a:endParaRPr lang="en-CN" sz="1000" kern="100" baseline="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zh-CN" sz="1000" kern="100" baseline="0">
                          <a:effectLst/>
                          <a:latin typeface="Times New Roman" panose="02020603050405020304" pitchFamily="18" charset="0"/>
                          <a:ea typeface="FangSong_GB2312" panose="02010609030101010101" pitchFamily="49" charset="-122"/>
                        </a:rPr>
                        <a:t>难治性癫痫</a:t>
                      </a:r>
                      <a:endParaRPr lang="en-CN" sz="1000" kern="100" baseline="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zh-CN" sz="1000" kern="100" baseline="0">
                          <a:effectLst/>
                          <a:latin typeface="Times New Roman" panose="02020603050405020304" pitchFamily="18" charset="0"/>
                          <a:ea typeface="FangSong_GB2312" panose="02010609030101010101" pitchFamily="49" charset="-122"/>
                        </a:rPr>
                        <a:t>左侧</a:t>
                      </a:r>
                      <a:endParaRPr lang="en-CN" sz="1000" kern="100" baseline="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en-US" sz="1000" kern="100" baseline="0" dirty="0">
                          <a:effectLst/>
                          <a:latin typeface="Times New Roman" panose="02020603050405020304" pitchFamily="18" charset="0"/>
                          <a:ea typeface="FangSong_GB2312" panose="02010609030101010101" pitchFamily="49" charset="-122"/>
                        </a:rPr>
                        <a:t>A-Amy-mTL1</a:t>
                      </a:r>
                      <a:r>
                        <a:rPr lang="zh-CN" sz="1000" kern="100" baseline="0" dirty="0">
                          <a:effectLst/>
                          <a:latin typeface="Times New Roman" panose="02020603050405020304" pitchFamily="18" charset="0"/>
                          <a:ea typeface="FangSong_GB2312" panose="02010609030101010101" pitchFamily="49" charset="-122"/>
                        </a:rPr>
                        <a:t>、</a:t>
                      </a:r>
                      <a:r>
                        <a:rPr lang="en-US" sz="1000" kern="100" baseline="0" dirty="0">
                          <a:effectLst/>
                          <a:latin typeface="Times New Roman" panose="02020603050405020304" pitchFamily="18" charset="0"/>
                          <a:ea typeface="FangSong_GB2312" panose="02010609030101010101" pitchFamily="49" charset="-122"/>
                        </a:rPr>
                        <a:t>A-Amy-mTL2</a:t>
                      </a:r>
                      <a:r>
                        <a:rPr lang="zh-CN" sz="1000" kern="100" baseline="0" dirty="0">
                          <a:effectLst/>
                          <a:latin typeface="Times New Roman" panose="02020603050405020304" pitchFamily="18" charset="0"/>
                          <a:ea typeface="FangSong_GB2312" panose="02010609030101010101" pitchFamily="49" charset="-122"/>
                        </a:rPr>
                        <a:t>、</a:t>
                      </a:r>
                      <a:endParaRPr lang="en-CN" sz="1000" kern="100" baseline="0" dirty="0">
                        <a:effectLst/>
                        <a:latin typeface="Times New Roman" panose="02020603050405020304" pitchFamily="18" charset="0"/>
                        <a:ea typeface="FangSong_GB2312" panose="02010609030101010101" pitchFamily="49" charset="-122"/>
                      </a:endParaRPr>
                    </a:p>
                    <a:p>
                      <a:pPr algn="ctr">
                        <a:buNone/>
                      </a:pPr>
                      <a:r>
                        <a:rPr lang="en-US" sz="1000" kern="100" baseline="0" dirty="0">
                          <a:effectLst/>
                          <a:latin typeface="Times New Roman" panose="02020603050405020304" pitchFamily="18" charset="0"/>
                          <a:ea typeface="FangSong_GB2312" panose="02010609030101010101" pitchFamily="49" charset="-122"/>
                        </a:rPr>
                        <a:t>A-Amy-mTL3</a:t>
                      </a:r>
                      <a:r>
                        <a:rPr lang="zh-CN" sz="1000" kern="100" baseline="0" dirty="0">
                          <a:effectLst/>
                          <a:latin typeface="Times New Roman" panose="02020603050405020304" pitchFamily="18" charset="0"/>
                          <a:ea typeface="FangSong_GB2312" panose="02010609030101010101" pitchFamily="49" charset="-122"/>
                        </a:rPr>
                        <a:t>、</a:t>
                      </a:r>
                      <a:r>
                        <a:rPr lang="en-US" sz="1000" kern="100" baseline="0" dirty="0">
                          <a:effectLst/>
                          <a:latin typeface="Times New Roman" panose="02020603050405020304" pitchFamily="18" charset="0"/>
                          <a:ea typeface="FangSong_GB2312" panose="02010609030101010101" pitchFamily="49" charset="-122"/>
                        </a:rPr>
                        <a:t>A-Amy-mTL4</a:t>
                      </a:r>
                      <a:r>
                        <a:rPr lang="zh-CN" sz="1000" kern="100" baseline="0" dirty="0">
                          <a:effectLst/>
                          <a:latin typeface="Times New Roman" panose="02020603050405020304" pitchFamily="18" charset="0"/>
                          <a:ea typeface="FangSong_GB2312" panose="02010609030101010101" pitchFamily="49" charset="-122"/>
                        </a:rPr>
                        <a:t>、</a:t>
                      </a:r>
                      <a:endParaRPr lang="en-CN" sz="1000" kern="100" baseline="0" dirty="0">
                        <a:effectLst/>
                        <a:latin typeface="Times New Roman" panose="02020603050405020304" pitchFamily="18" charset="0"/>
                        <a:ea typeface="FangSong_GB2312" panose="02010609030101010101" pitchFamily="49" charset="-122"/>
                      </a:endParaRPr>
                    </a:p>
                    <a:p>
                      <a:pPr algn="ctr">
                        <a:buNone/>
                      </a:pPr>
                      <a:r>
                        <a:rPr lang="en-US" sz="1000" kern="100" baseline="0" dirty="0">
                          <a:effectLst/>
                          <a:latin typeface="Times New Roman" panose="02020603050405020304" pitchFamily="18" charset="0"/>
                          <a:ea typeface="FangSong_GB2312" panose="02010609030101010101" pitchFamily="49" charset="-122"/>
                        </a:rPr>
                        <a:t>A-Amy-mTL5</a:t>
                      </a:r>
                      <a:endParaRPr lang="en-CN" sz="1000" kern="100" baseline="0" dirty="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en-US" sz="1000" kern="100" baseline="0" dirty="0">
                          <a:effectLst/>
                          <a:latin typeface="Times New Roman" panose="02020603050405020304" pitchFamily="18" charset="0"/>
                          <a:ea typeface="FangSong_GB2312" panose="02010609030101010101" pitchFamily="49" charset="-122"/>
                        </a:rPr>
                        <a:t>B-aHippo1</a:t>
                      </a:r>
                      <a:r>
                        <a:rPr lang="zh-CN" sz="1000" kern="100" baseline="0" dirty="0">
                          <a:effectLst/>
                          <a:latin typeface="Times New Roman" panose="02020603050405020304" pitchFamily="18" charset="0"/>
                          <a:ea typeface="FangSong_GB2312" panose="02010609030101010101" pitchFamily="49" charset="-122"/>
                        </a:rPr>
                        <a:t>、</a:t>
                      </a:r>
                      <a:r>
                        <a:rPr lang="en-US" sz="1000" kern="100" baseline="0" dirty="0">
                          <a:effectLst/>
                          <a:latin typeface="Times New Roman" panose="02020603050405020304" pitchFamily="18" charset="0"/>
                          <a:ea typeface="FangSong_GB2312" panose="02010609030101010101" pitchFamily="49" charset="-122"/>
                        </a:rPr>
                        <a:t>B-aHippo2</a:t>
                      </a:r>
                      <a:r>
                        <a:rPr lang="zh-CN" sz="1000" kern="100" baseline="0" dirty="0">
                          <a:effectLst/>
                          <a:latin typeface="Times New Roman" panose="02020603050405020304" pitchFamily="18" charset="0"/>
                          <a:ea typeface="FangSong_GB2312" panose="02010609030101010101" pitchFamily="49" charset="-122"/>
                        </a:rPr>
                        <a:t>、</a:t>
                      </a:r>
                      <a:r>
                        <a:rPr lang="en-US" sz="1000" kern="100" baseline="0" dirty="0">
                          <a:effectLst/>
                          <a:latin typeface="Times New Roman" panose="02020603050405020304" pitchFamily="18" charset="0"/>
                          <a:ea typeface="FangSong_GB2312" panose="02010609030101010101" pitchFamily="49" charset="-122"/>
                        </a:rPr>
                        <a:t>C-cHippo1</a:t>
                      </a:r>
                      <a:r>
                        <a:rPr lang="zh-CN" sz="1000" kern="100" baseline="0" dirty="0">
                          <a:effectLst/>
                          <a:latin typeface="Times New Roman" panose="02020603050405020304" pitchFamily="18" charset="0"/>
                          <a:ea typeface="FangSong_GB2312" panose="02010609030101010101" pitchFamily="49" charset="-122"/>
                        </a:rPr>
                        <a:t>、</a:t>
                      </a:r>
                      <a:r>
                        <a:rPr lang="en-US" sz="1000" kern="100" baseline="0" dirty="0">
                          <a:effectLst/>
                          <a:latin typeface="Times New Roman" panose="02020603050405020304" pitchFamily="18" charset="0"/>
                          <a:ea typeface="FangSong_GB2312" panose="02010609030101010101" pitchFamily="49" charset="-122"/>
                        </a:rPr>
                        <a:t>C-cHippo2</a:t>
                      </a:r>
                      <a:r>
                        <a:rPr lang="zh-CN" sz="1000" kern="100" baseline="0" dirty="0">
                          <a:effectLst/>
                          <a:latin typeface="Times New Roman" panose="02020603050405020304" pitchFamily="18" charset="0"/>
                          <a:ea typeface="FangSong_GB2312" panose="02010609030101010101" pitchFamily="49" charset="-122"/>
                        </a:rPr>
                        <a:t>、</a:t>
                      </a:r>
                      <a:r>
                        <a:rPr lang="en-US" sz="1000" kern="100" baseline="0" dirty="0">
                          <a:effectLst/>
                          <a:latin typeface="Times New Roman" panose="02020603050405020304" pitchFamily="18" charset="0"/>
                          <a:ea typeface="FangSong_GB2312" panose="02010609030101010101" pitchFamily="49" charset="-122"/>
                        </a:rPr>
                        <a:t>C-cHippo3</a:t>
                      </a:r>
                      <a:endParaRPr lang="en-CN" sz="1000" kern="100" baseline="0" dirty="0">
                        <a:effectLst/>
                        <a:latin typeface="Times New Roman" panose="02020603050405020304" pitchFamily="18" charset="0"/>
                        <a:ea typeface="FangSong_GB2312" panose="02010609030101010101" pitchFamily="49" charset="-122"/>
                      </a:endParaRPr>
                    </a:p>
                  </a:txBody>
                  <a:tcPr marL="66915" marR="66915" marT="0" marB="0" anchor="ctr"/>
                </a:tc>
                <a:extLst>
                  <a:ext uri="{0D108BD9-81ED-4DB2-BD59-A6C34878D82A}">
                    <a16:rowId xmlns:a16="http://schemas.microsoft.com/office/drawing/2014/main" val="769100617"/>
                  </a:ext>
                </a:extLst>
              </a:tr>
            </a:tbl>
          </a:graphicData>
        </a:graphic>
      </p:graphicFrame>
      <p:sp>
        <p:nvSpPr>
          <p:cNvPr id="5" name="文本框 1053">
            <a:extLst>
              <a:ext uri="{FF2B5EF4-FFF2-40B4-BE49-F238E27FC236}">
                <a16:creationId xmlns:a16="http://schemas.microsoft.com/office/drawing/2014/main" id="{A8449C82-F332-5055-F992-D3E6C00BA4A8}"/>
              </a:ext>
            </a:extLst>
          </p:cNvPr>
          <p:cNvSpPr txBox="1"/>
          <p:nvPr/>
        </p:nvSpPr>
        <p:spPr>
          <a:xfrm>
            <a:off x="358346" y="1003715"/>
            <a:ext cx="1881686" cy="246221"/>
          </a:xfrm>
          <a:prstGeom prst="rect">
            <a:avLst/>
          </a:prstGeom>
          <a:solidFill>
            <a:schemeClr val="bg1"/>
          </a:solidFill>
        </p:spPr>
        <p:txBody>
          <a:bodyPr wrap="square" lIns="0" tIns="0" rIns="0" bIns="0" rtlCol="0">
            <a:spAutoFit/>
          </a:bodyPr>
          <a:lstStyle/>
          <a:p>
            <a:r>
              <a:rPr lang="zh-CN" altLang="en-US" sz="1600" b="1" dirty="0">
                <a:latin typeface="FangSong_GB2312" panose="02010609030101010101" pitchFamily="49" charset="-122"/>
                <a:ea typeface="FangSong_GB2312" panose="02010609030101010101" pitchFamily="49" charset="-122"/>
                <a:cs typeface="Times New Roman" panose="02020603050405020304" pitchFamily="18" charset="0"/>
              </a:rPr>
              <a:t>研究一纳入被试</a:t>
            </a:r>
          </a:p>
        </p:txBody>
      </p:sp>
    </p:spTree>
  </p:cSld>
  <p:clrMapOvr>
    <a:masterClrMapping/>
  </p:clrMapOvr>
  <mc:AlternateContent xmlns:mc="http://schemas.openxmlformats.org/markup-compatibility/2006" xmlns:p14="http://schemas.microsoft.com/office/powerpoint/2010/main">
    <mc:Choice Requires="p14">
      <p:transition spd="slow" p14:dur="2000" advTm="66649"/>
    </mc:Choice>
    <mc:Fallback xmlns="">
      <p:transition spd="slow" advTm="6664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8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4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9" grpId="0"/>
      <p:bldP spid="649" grpId="0"/>
      <p:bldP spid="70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45FBF-2A78-B2A7-747B-F09E8C086EBD}"/>
            </a:ext>
          </a:extLst>
        </p:cNvPr>
        <p:cNvGrpSpPr/>
        <p:nvPr/>
      </p:nvGrpSpPr>
      <p:grpSpPr>
        <a:xfrm>
          <a:off x="0" y="0"/>
          <a:ext cx="0" cy="0"/>
          <a:chOff x="0" y="0"/>
          <a:chExt cx="0" cy="0"/>
        </a:xfrm>
      </p:grpSpPr>
      <p:sp>
        <p:nvSpPr>
          <p:cNvPr id="17" name="文本框 16">
            <a:extLst>
              <a:ext uri="{FF2B5EF4-FFF2-40B4-BE49-F238E27FC236}">
                <a16:creationId xmlns:a16="http://schemas.microsoft.com/office/drawing/2014/main" id="{1E860C8D-C34F-7A4F-844B-F0C75938AD4D}"/>
              </a:ext>
            </a:extLst>
          </p:cNvPr>
          <p:cNvSpPr txBox="1"/>
          <p:nvPr/>
        </p:nvSpPr>
        <p:spPr>
          <a:xfrm>
            <a:off x="1205169" y="395675"/>
            <a:ext cx="2015821" cy="307777"/>
          </a:xfrm>
          <a:prstGeom prst="rect">
            <a:avLst/>
          </a:prstGeom>
          <a:solidFill>
            <a:schemeClr val="bg1"/>
          </a:solid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defRPr/>
            </a:pPr>
            <a:endParaRPr kumimoji="0" lang="zh-CN" altLang="en-US" sz="1400" b="1" i="0" u="none" strike="noStrike" kern="1200" cap="none" spc="300" normalizeH="0" noProof="0" dirty="0">
              <a:ln>
                <a:noFill/>
              </a:ln>
              <a:solidFill>
                <a:prstClr val="black"/>
              </a:solidFill>
              <a:effectLst/>
              <a:uLnTx/>
              <a:uFillTx/>
              <a:latin typeface="FangSong_GB2312" panose="02010609030101010101" pitchFamily="49" charset="-122"/>
              <a:ea typeface="FangSong_GB2312" panose="02010609030101010101" pitchFamily="49" charset="-122"/>
            </a:endParaRPr>
          </a:p>
        </p:txBody>
      </p:sp>
      <p:sp>
        <p:nvSpPr>
          <p:cNvPr id="19" name="文本框 18">
            <a:extLst>
              <a:ext uri="{FF2B5EF4-FFF2-40B4-BE49-F238E27FC236}">
                <a16:creationId xmlns:a16="http://schemas.microsoft.com/office/drawing/2014/main" id="{9D970F8F-9B98-DFBE-70F0-FF414D108809}"/>
              </a:ext>
            </a:extLst>
          </p:cNvPr>
          <p:cNvSpPr txBox="1"/>
          <p:nvPr/>
        </p:nvSpPr>
        <p:spPr>
          <a:xfrm>
            <a:off x="358346" y="288442"/>
            <a:ext cx="720000" cy="523220"/>
          </a:xfrm>
          <a:prstGeom prst="rect">
            <a:avLst/>
          </a:prstGeom>
          <a:noFill/>
        </p:spPr>
        <p:txBody>
          <a:bodyPr wrap="square" rtlCol="0">
            <a:spAutoFit/>
          </a:bodyPr>
          <a:lstStyle/>
          <a:p>
            <a:pPr algn="ctr"/>
            <a:r>
              <a:rPr lang="en-US" altLang="zh-CN"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02</a:t>
            </a:r>
            <a:endParaRPr lang="zh-CN" altLang="en-US"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TextBox 2">
            <a:extLst>
              <a:ext uri="{FF2B5EF4-FFF2-40B4-BE49-F238E27FC236}">
                <a16:creationId xmlns:a16="http://schemas.microsoft.com/office/drawing/2014/main" id="{BC7515BE-ABE4-BA77-5291-005D6829F2EA}"/>
              </a:ext>
            </a:extLst>
          </p:cNvPr>
          <p:cNvSpPr txBox="1"/>
          <p:nvPr/>
        </p:nvSpPr>
        <p:spPr>
          <a:xfrm>
            <a:off x="1215059" y="354359"/>
            <a:ext cx="2015821" cy="400110"/>
          </a:xfrm>
          <a:prstGeom prst="rect">
            <a:avLst/>
          </a:prstGeom>
          <a:noFill/>
        </p:spPr>
        <p:txBody>
          <a:bodyPr wrap="square">
            <a:spAutoFit/>
          </a:bodyPr>
          <a:lstStyle/>
          <a:p>
            <a:r>
              <a:rPr lang="zh-CN" altLang="en-US" sz="2000" b="1" dirty="0">
                <a:solidFill>
                  <a:schemeClr val="tx1"/>
                </a:solidFill>
                <a:latin typeface="FangSong_GB2312" panose="02010609030101010101" pitchFamily="49" charset="-122"/>
                <a:ea typeface="FangSong_GB2312" panose="02010609030101010101" pitchFamily="49" charset="-122"/>
              </a:rPr>
              <a:t>研究一</a:t>
            </a:r>
            <a:r>
              <a:rPr lang="zh-CN" altLang="en-US" sz="2000" b="1" dirty="0">
                <a:latin typeface="FangSong_GB2312" panose="02010609030101010101" pitchFamily="49" charset="-122"/>
                <a:ea typeface="FangSong_GB2312" panose="02010609030101010101" pitchFamily="49" charset="-122"/>
              </a:rPr>
              <a:t>数据处理</a:t>
            </a:r>
            <a:endParaRPr lang="zh-CN" altLang="en-US" sz="2000" b="1" dirty="0">
              <a:solidFill>
                <a:schemeClr val="tx1"/>
              </a:solidFill>
              <a:latin typeface="FangSong_GB2312" panose="02010609030101010101" pitchFamily="49" charset="-122"/>
              <a:ea typeface="FangSong_GB2312" panose="02010609030101010101" pitchFamily="49" charset="-122"/>
            </a:endParaRPr>
          </a:p>
        </p:txBody>
      </p:sp>
      <p:sp>
        <p:nvSpPr>
          <p:cNvPr id="2" name="文本框 15">
            <a:extLst>
              <a:ext uri="{FF2B5EF4-FFF2-40B4-BE49-F238E27FC236}">
                <a16:creationId xmlns:a16="http://schemas.microsoft.com/office/drawing/2014/main" id="{018C3691-45EA-F50B-ECB8-8D823A568FC7}"/>
              </a:ext>
            </a:extLst>
          </p:cNvPr>
          <p:cNvSpPr txBox="1"/>
          <p:nvPr/>
        </p:nvSpPr>
        <p:spPr>
          <a:xfrm>
            <a:off x="358346" y="914170"/>
            <a:ext cx="1717137" cy="400110"/>
          </a:xfrm>
          <a:prstGeom prst="rect">
            <a:avLst/>
          </a:prstGeom>
          <a:solidFill>
            <a:schemeClr val="bg1"/>
          </a:solidFill>
        </p:spPr>
        <p:txBody>
          <a:bodyPr wrap="none" rtlCol="0">
            <a:spAutoFit/>
          </a:bodyPr>
          <a:lstStyle/>
          <a:p>
            <a:pPr marL="342900" indent="-342900" defTabSz="914400">
              <a:buFont typeface="Wingdings" pitchFamily="2" charset="2"/>
              <a:buChar char="Ø"/>
            </a:pPr>
            <a:r>
              <a:rPr lang="zh-CN" altLang="en-US" sz="2000" b="1" spc="300" dirty="0">
                <a:latin typeface="FangSong_GB2312" panose="02010609030101010101" pitchFamily="49" charset="-122"/>
                <a:ea typeface="FangSong_GB2312" panose="02010609030101010101" pitchFamily="49" charset="-122"/>
              </a:rPr>
              <a:t>电极重建</a:t>
            </a:r>
          </a:p>
        </p:txBody>
      </p:sp>
      <p:sp>
        <p:nvSpPr>
          <p:cNvPr id="4" name="文本框 15">
            <a:extLst>
              <a:ext uri="{FF2B5EF4-FFF2-40B4-BE49-F238E27FC236}">
                <a16:creationId xmlns:a16="http://schemas.microsoft.com/office/drawing/2014/main" id="{E642BE31-2B4B-94E8-F334-6D72F94131F6}"/>
              </a:ext>
            </a:extLst>
          </p:cNvPr>
          <p:cNvSpPr txBox="1"/>
          <p:nvPr/>
        </p:nvSpPr>
        <p:spPr>
          <a:xfrm>
            <a:off x="358346" y="3108383"/>
            <a:ext cx="2021707" cy="400110"/>
          </a:xfrm>
          <a:prstGeom prst="rect">
            <a:avLst/>
          </a:prstGeom>
          <a:solidFill>
            <a:schemeClr val="bg1"/>
          </a:solidFill>
        </p:spPr>
        <p:txBody>
          <a:bodyPr wrap="none" rtlCol="0">
            <a:spAutoFit/>
          </a:bodyPr>
          <a:lstStyle/>
          <a:p>
            <a:pPr marL="342900" indent="-342900" defTabSz="914400">
              <a:buFont typeface="Wingdings" pitchFamily="2" charset="2"/>
              <a:buChar char="Ø"/>
            </a:pPr>
            <a:r>
              <a:rPr lang="en-US" altLang="zh-CN" sz="2000" b="1" spc="300" dirty="0">
                <a:latin typeface="Times New Roman" panose="02020603050405020304" pitchFamily="18" charset="0"/>
                <a:ea typeface="FangSong_GB2312" panose="02010609030101010101" pitchFamily="49" charset="-122"/>
                <a:cs typeface="Times New Roman" panose="02020603050405020304" pitchFamily="18" charset="0"/>
              </a:rPr>
              <a:t>LFP</a:t>
            </a:r>
            <a:r>
              <a:rPr lang="zh-CN" altLang="en-US" sz="2000" b="1" spc="300" dirty="0">
                <a:latin typeface="FangSong_GB2312" panose="02010609030101010101" pitchFamily="49" charset="-122"/>
                <a:ea typeface="FangSong_GB2312" panose="02010609030101010101" pitchFamily="49" charset="-122"/>
              </a:rPr>
              <a:t>预处理</a:t>
            </a:r>
          </a:p>
        </p:txBody>
      </p:sp>
      <p:pic>
        <p:nvPicPr>
          <p:cNvPr id="5" name="Picture 4">
            <a:extLst>
              <a:ext uri="{FF2B5EF4-FFF2-40B4-BE49-F238E27FC236}">
                <a16:creationId xmlns:a16="http://schemas.microsoft.com/office/drawing/2014/main" id="{F8E289BB-E2F0-0A71-DB90-EA24667F3D8F}"/>
              </a:ext>
            </a:extLst>
          </p:cNvPr>
          <p:cNvPicPr>
            <a:picLocks noChangeAspect="1"/>
          </p:cNvPicPr>
          <p:nvPr/>
        </p:nvPicPr>
        <p:blipFill>
          <a:blip r:embed="rId3"/>
          <a:stretch>
            <a:fillRect/>
          </a:stretch>
        </p:blipFill>
        <p:spPr>
          <a:xfrm>
            <a:off x="7667622" y="1112635"/>
            <a:ext cx="2009083" cy="1506812"/>
          </a:xfrm>
          <a:prstGeom prst="rect">
            <a:avLst/>
          </a:prstGeom>
        </p:spPr>
      </p:pic>
      <p:pic>
        <p:nvPicPr>
          <p:cNvPr id="6" name="Picture 5">
            <a:extLst>
              <a:ext uri="{FF2B5EF4-FFF2-40B4-BE49-F238E27FC236}">
                <a16:creationId xmlns:a16="http://schemas.microsoft.com/office/drawing/2014/main" id="{E08D7ACB-45A0-F4CC-CAA5-1BB6ED26374F}"/>
              </a:ext>
            </a:extLst>
          </p:cNvPr>
          <p:cNvPicPr>
            <a:picLocks noChangeAspect="1"/>
          </p:cNvPicPr>
          <p:nvPr/>
        </p:nvPicPr>
        <p:blipFill>
          <a:blip r:embed="rId4"/>
          <a:stretch>
            <a:fillRect/>
          </a:stretch>
        </p:blipFill>
        <p:spPr>
          <a:xfrm>
            <a:off x="9676705" y="1112635"/>
            <a:ext cx="2187761" cy="1521891"/>
          </a:xfrm>
          <a:prstGeom prst="rect">
            <a:avLst/>
          </a:prstGeom>
        </p:spPr>
      </p:pic>
      <p:sp>
        <p:nvSpPr>
          <p:cNvPr id="7" name="文本框 47">
            <a:extLst>
              <a:ext uri="{FF2B5EF4-FFF2-40B4-BE49-F238E27FC236}">
                <a16:creationId xmlns:a16="http://schemas.microsoft.com/office/drawing/2014/main" id="{6990245C-CA2A-FC47-C4F7-49FE0D47B11A}"/>
              </a:ext>
            </a:extLst>
          </p:cNvPr>
          <p:cNvSpPr txBox="1"/>
          <p:nvPr/>
        </p:nvSpPr>
        <p:spPr>
          <a:xfrm>
            <a:off x="699722" y="1228326"/>
            <a:ext cx="5737654" cy="1892249"/>
          </a:xfrm>
          <a:prstGeom prst="rect">
            <a:avLst/>
          </a:prstGeom>
          <a:noFill/>
        </p:spPr>
        <p:txBody>
          <a:bodyPr wrap="square">
            <a:spAutoFit/>
          </a:bodyPr>
          <a:lstStyle/>
          <a:p>
            <a:pPr>
              <a:lnSpc>
                <a:spcPct val="150000"/>
              </a:lnSpc>
            </a:pP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1.</a:t>
            </a:r>
            <a:r>
              <a:rPr lang="zh-CN" altLang="en-CN" sz="1600" dirty="0">
                <a:latin typeface="Times New Roman" panose="02020603050405020304" pitchFamily="18" charset="0"/>
                <a:ea typeface="FangSong_GB2312" panose="02010609030101010101" pitchFamily="49" charset="-122"/>
                <a:cs typeface="Microsoft GothicNeo" panose="020B0500000101010101" pitchFamily="34" charset="-127"/>
              </a:rPr>
              <a:t>术后</a:t>
            </a: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CT/MRI</a:t>
            </a:r>
            <a:r>
              <a:rPr lang="zh-CN" altLang="en-US" sz="1600" b="1" dirty="0">
                <a:latin typeface="Times New Roman" panose="02020603050405020304" pitchFamily="18" charset="0"/>
                <a:ea typeface="FangSong_GB2312" panose="02010609030101010101" pitchFamily="49" charset="-122"/>
                <a:cs typeface="Microsoft GothicNeo" panose="020B0500000101010101" pitchFamily="34" charset="-127"/>
              </a:rPr>
              <a:t>造影</a:t>
            </a:r>
            <a:endParaRPr lang="en-US" altLang="zh-CN" sz="1600" b="1" dirty="0">
              <a:latin typeface="Times New Roman" panose="02020603050405020304" pitchFamily="18" charset="0"/>
              <a:ea typeface="FangSong_GB2312" panose="02010609030101010101" pitchFamily="49" charset="-122"/>
              <a:cs typeface="Microsoft GothicNeo" panose="020B0500000101010101" pitchFamily="34" charset="-127"/>
            </a:endParaRPr>
          </a:p>
          <a:p>
            <a:pPr>
              <a:lnSpc>
                <a:spcPct val="150000"/>
              </a:lnSpc>
            </a:pP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2.</a:t>
            </a:r>
            <a:r>
              <a:rPr lang="zh-CN" altLang="en-US" sz="1600" b="1" dirty="0">
                <a:latin typeface="Times New Roman" panose="02020603050405020304" pitchFamily="18" charset="0"/>
                <a:ea typeface="FangSong_GB2312" panose="02010609030101010101" pitchFamily="49" charset="-122"/>
                <a:cs typeface="Microsoft GothicNeo" panose="020B0500000101010101" pitchFamily="34" charset="-127"/>
              </a:rPr>
              <a:t>配准</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并叠加到原始解剖空间中</a:t>
            </a:r>
            <a:endPar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endParaRPr>
          </a:p>
          <a:p>
            <a:pPr>
              <a:lnSpc>
                <a:spcPct val="150000"/>
              </a:lnSpc>
            </a:pP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3.</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识别电极轴上的每个</a:t>
            </a:r>
            <a:r>
              <a:rPr lang="zh-CN" altLang="en-CN" sz="1600" dirty="0">
                <a:latin typeface="Times New Roman" panose="02020603050405020304" pitchFamily="18" charset="0"/>
                <a:ea typeface="FangSong_GB2312" panose="02010609030101010101" pitchFamily="49" charset="-122"/>
                <a:cs typeface="Microsoft GothicNeo" panose="020B0500000101010101" pitchFamily="34" charset="-127"/>
              </a:rPr>
              <a:t>宏电极</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和微电极位点</a:t>
            </a:r>
            <a:endPar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endParaRPr>
          </a:p>
          <a:p>
            <a:pPr>
              <a:lnSpc>
                <a:spcPct val="150000"/>
              </a:lnSpc>
            </a:pP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4.</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将原始空间映射到</a:t>
            </a:r>
            <a:r>
              <a:rPr lang="en-US" altLang="zh-CN" sz="1600" b="1" dirty="0">
                <a:latin typeface="Times New Roman" panose="02020603050405020304" pitchFamily="18" charset="0"/>
                <a:ea typeface="FangSong_GB2312" panose="02010609030101010101" pitchFamily="49" charset="-122"/>
                <a:cs typeface="Microsoft GothicNeo" panose="020B0500000101010101" pitchFamily="34" charset="-127"/>
              </a:rPr>
              <a:t>MNI</a:t>
            </a:r>
            <a:r>
              <a:rPr lang="zh-CN" altLang="en-US" sz="1600" b="1" dirty="0">
                <a:latin typeface="Times New Roman" panose="02020603050405020304" pitchFamily="18" charset="0"/>
                <a:ea typeface="FangSong_GB2312" panose="02010609030101010101" pitchFamily="49" charset="-122"/>
                <a:cs typeface="Microsoft GothicNeo" panose="020B0500000101010101" pitchFamily="34" charset="-127"/>
              </a:rPr>
              <a:t>空间</a:t>
            </a:r>
            <a:endParaRPr lang="en-US" altLang="zh-CN" sz="1600" b="1" dirty="0">
              <a:latin typeface="Times New Roman" panose="02020603050405020304" pitchFamily="18" charset="0"/>
              <a:ea typeface="FangSong_GB2312" panose="02010609030101010101" pitchFamily="49" charset="-122"/>
              <a:cs typeface="Microsoft GothicNeo" panose="020B0500000101010101" pitchFamily="34" charset="-127"/>
            </a:endParaRPr>
          </a:p>
          <a:p>
            <a:pPr>
              <a:lnSpc>
                <a:spcPct val="150000"/>
              </a:lnSpc>
            </a:pP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5.</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结合临床</a:t>
            </a: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Desikan-Killiany</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标签完成</a:t>
            </a:r>
            <a:r>
              <a:rPr lang="en-US" altLang="zh-CN" sz="1600" b="1" dirty="0">
                <a:latin typeface="Times New Roman" panose="02020603050405020304" pitchFamily="18" charset="0"/>
                <a:ea typeface="FangSong_GB2312" panose="02010609030101010101" pitchFamily="49" charset="-122"/>
                <a:cs typeface="Microsoft GothicNeo" panose="020B0500000101010101" pitchFamily="34" charset="-127"/>
              </a:rPr>
              <a:t>QC</a:t>
            </a:r>
          </a:p>
        </p:txBody>
      </p:sp>
      <p:sp>
        <p:nvSpPr>
          <p:cNvPr id="8" name="文本框 47">
            <a:extLst>
              <a:ext uri="{FF2B5EF4-FFF2-40B4-BE49-F238E27FC236}">
                <a16:creationId xmlns:a16="http://schemas.microsoft.com/office/drawing/2014/main" id="{47981BDB-B070-4AC7-43CC-EAC76A3BB4A5}"/>
              </a:ext>
            </a:extLst>
          </p:cNvPr>
          <p:cNvSpPr txBox="1"/>
          <p:nvPr/>
        </p:nvSpPr>
        <p:spPr>
          <a:xfrm>
            <a:off x="699722" y="3418064"/>
            <a:ext cx="6668096" cy="1526636"/>
          </a:xfrm>
          <a:prstGeom prst="rect">
            <a:avLst/>
          </a:prstGeom>
          <a:noFill/>
        </p:spPr>
        <p:txBody>
          <a:bodyPr wrap="square">
            <a:spAutoFit/>
          </a:bodyPr>
          <a:lstStyle/>
          <a:p>
            <a:pPr>
              <a:lnSpc>
                <a:spcPct val="150000"/>
              </a:lnSpc>
            </a:pP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1.</a:t>
            </a:r>
            <a:r>
              <a:rPr lang="zh-CN" altLang="en-US" sz="1600" b="1" dirty="0">
                <a:latin typeface="Times New Roman" panose="02020603050405020304" pitchFamily="18" charset="0"/>
                <a:ea typeface="FangSong_GB2312" panose="02010609030101010101" pitchFamily="49" charset="-122"/>
                <a:cs typeface="Microsoft GothicNeo" panose="020B0500000101010101" pitchFamily="34" charset="-127"/>
              </a:rPr>
              <a:t>降采样</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到</a:t>
            </a: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1000Hz</a:t>
            </a:r>
          </a:p>
          <a:p>
            <a:pPr>
              <a:lnSpc>
                <a:spcPct val="150000"/>
              </a:lnSpc>
            </a:pP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2.</a:t>
            </a:r>
            <a:r>
              <a:rPr lang="zh-CN" altLang="en-US" sz="1600" b="1" dirty="0">
                <a:latin typeface="Times New Roman" panose="02020603050405020304" pitchFamily="18" charset="0"/>
                <a:ea typeface="FangSong_GB2312" panose="02010609030101010101" pitchFamily="49" charset="-122"/>
                <a:cs typeface="Microsoft GothicNeo" panose="020B0500000101010101" pitchFamily="34" charset="-127"/>
              </a:rPr>
              <a:t>滤波</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a:t>
            </a: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1-200Hz</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带通滤波，</a:t>
            </a: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49-51Hz</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陷波去工频</a:t>
            </a:r>
            <a:endPar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endParaRPr>
          </a:p>
          <a:p>
            <a:pPr>
              <a:lnSpc>
                <a:spcPct val="150000"/>
              </a:lnSpc>
            </a:pP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3.</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对齐行为数据，合并事件</a:t>
            </a:r>
            <a:endPar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endParaRPr>
          </a:p>
          <a:p>
            <a:pPr>
              <a:lnSpc>
                <a:spcPct val="150000"/>
              </a:lnSpc>
            </a:pP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4.</a:t>
            </a:r>
            <a:r>
              <a:rPr lang="en-US" altLang="zh-CN" sz="1600" b="1" dirty="0">
                <a:latin typeface="Times New Roman" panose="02020603050405020304" pitchFamily="18" charset="0"/>
                <a:ea typeface="FangSong_GB2312" panose="02010609030101010101" pitchFamily="49" charset="-122"/>
                <a:cs typeface="Microsoft GothicNeo" panose="020B0500000101010101" pitchFamily="34" charset="-127"/>
              </a:rPr>
              <a:t>QC</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：对两种策略筛选后的试次取交集</a:t>
            </a:r>
            <a:endPar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9B93BD8-4675-1B4F-3EB0-0B0B144C34F6}"/>
                  </a:ext>
                </a:extLst>
              </p:cNvPr>
              <p:cNvSpPr txBox="1"/>
              <p:nvPr/>
            </p:nvSpPr>
            <p:spPr>
              <a:xfrm>
                <a:off x="5887362" y="2706401"/>
                <a:ext cx="6100010" cy="1526636"/>
              </a:xfrm>
              <a:prstGeom prst="rect">
                <a:avLst/>
              </a:prstGeom>
              <a:noFill/>
            </p:spPr>
            <p:txBody>
              <a:bodyPr wrap="square">
                <a:spAutoFit/>
              </a:bodyPr>
              <a:lstStyle/>
              <a:p>
                <a:pPr>
                  <a:lnSpc>
                    <a:spcPct val="150000"/>
                  </a:lnSpc>
                </a:pPr>
                <a:r>
                  <a:rPr lang="en-CN" altLang="zh-CN" sz="1600" dirty="0">
                    <a:latin typeface="Times New Roman" panose="02020603050405020304" pitchFamily="18" charset="0"/>
                    <a:ea typeface="FangSong_GB2312" panose="02010609030101010101" pitchFamily="49" charset="-122"/>
                    <a:cs typeface="Microsoft GothicNeo" panose="020B0500000101010101" pitchFamily="34" charset="-127"/>
                  </a:rPr>
                  <a:t>Robust</a:t>
                </a:r>
                <a:r>
                  <a:rPr lang="zh-CN" altLang="en-CN" sz="1600" dirty="0">
                    <a:latin typeface="Times New Roman" panose="02020603050405020304" pitchFamily="18" charset="0"/>
                    <a:ea typeface="FangSong_GB2312" panose="02010609030101010101" pitchFamily="49" charset="-122"/>
                    <a:cs typeface="Microsoft GothicNeo" panose="020B0500000101010101" pitchFamily="34" charset="-127"/>
                  </a:rPr>
                  <a:t>规则</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：用基线窗和响应窗计算</a:t>
                </a: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RMS</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比值和峰值，在各条件   </a:t>
                </a: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	</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内做</a:t>
                </a: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robust z-score</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，剔除</a:t>
                </a:r>
                <a14:m>
                  <m:oMath xmlns:m="http://schemas.openxmlformats.org/officeDocument/2006/math">
                    <m:r>
                      <m:rPr>
                        <m:sty m:val="p"/>
                      </m:rPr>
                      <a:rPr lang="en-US" altLang="zh-CN" sz="1600" i="1" dirty="0">
                        <a:latin typeface="Cambria Math" panose="02040503050406030204" pitchFamily="18" charset="0"/>
                        <a:ea typeface="Microsoft YaHei UI" panose="020B0503020204020204" pitchFamily="34" charset="-122"/>
                        <a:cs typeface="Microsoft GothicNeo" panose="020B0500000101010101" pitchFamily="34" charset="-127"/>
                      </a:rPr>
                      <m:t>z</m:t>
                    </m:r>
                    <m:r>
                      <a:rPr lang="en-US" altLang="zh-CN" sz="1600" b="0" i="1" dirty="0" smtClean="0">
                        <a:latin typeface="Cambria Math" panose="02040503050406030204" pitchFamily="18" charset="0"/>
                        <a:ea typeface="Microsoft YaHei UI" panose="020B0503020204020204" pitchFamily="34" charset="-122"/>
                        <a:cs typeface="Microsoft GothicNeo" panose="020B0500000101010101" pitchFamily="34" charset="-127"/>
                      </a:rPr>
                      <m:t>&gt;4</m:t>
                    </m:r>
                  </m:oMath>
                </a14:m>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，至少命中</a:t>
                </a:r>
                <a14:m>
                  <m:oMath xmlns:m="http://schemas.openxmlformats.org/officeDocument/2006/math">
                    <m:r>
                      <a:rPr lang="en-US" altLang="zh-CN" sz="1600" b="0" i="1" smtClean="0">
                        <a:latin typeface="Cambria Math" panose="02040503050406030204" pitchFamily="18" charset="0"/>
                        <a:ea typeface="Microsoft YaHei UI" panose="020B0503020204020204" pitchFamily="34" charset="-122"/>
                        <a:cs typeface="Microsoft GothicNeo" panose="020B0500000101010101" pitchFamily="34" charset="-127"/>
                      </a:rPr>
                      <m:t>5</m:t>
                    </m:r>
                  </m:oMath>
                </a14:m>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个通道的</a:t>
                </a:r>
                <a:r>
                  <a:rPr lang="zh-CN" altLang="en-CN" sz="1600" dirty="0">
                    <a:latin typeface="Times New Roman" panose="02020603050405020304" pitchFamily="18" charset="0"/>
                    <a:ea typeface="FangSong_GB2312" panose="02010609030101010101" pitchFamily="49" charset="-122"/>
                    <a:cs typeface="Microsoft GothicNeo" panose="020B0500000101010101" pitchFamily="34" charset="-127"/>
                  </a:rPr>
                  <a:t>试次</a:t>
                </a:r>
                <a:endPar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endParaRPr>
              </a:p>
              <a:p>
                <a:pPr>
                  <a:lnSpc>
                    <a:spcPct val="150000"/>
                  </a:lnSpc>
                </a:pP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幅度规则：在全</a:t>
                </a: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epoch</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内检测</a:t>
                </a:r>
                <a14:m>
                  <m:oMath xmlns:m="http://schemas.openxmlformats.org/officeDocument/2006/math">
                    <m:d>
                      <m:dPr>
                        <m:begChr m:val="|"/>
                        <m:endChr m:val="|"/>
                        <m:ctrlPr>
                          <a:rPr lang="en-US" altLang="zh-CN" sz="1600" b="0" i="1" dirty="0" smtClean="0">
                            <a:latin typeface="Cambria Math" panose="02040503050406030204" pitchFamily="18" charset="0"/>
                            <a:ea typeface="Microsoft YaHei UI" panose="020B0503020204020204" pitchFamily="34" charset="-122"/>
                            <a:cs typeface="Microsoft GothicNeo" panose="020B0500000101010101" pitchFamily="34" charset="-127"/>
                          </a:rPr>
                        </m:ctrlPr>
                      </m:dPr>
                      <m:e>
                        <m:r>
                          <a:rPr lang="en-US" altLang="zh-CN" sz="1600" b="0" i="1" dirty="0" smtClean="0">
                            <a:latin typeface="Cambria Math" panose="02040503050406030204" pitchFamily="18" charset="0"/>
                            <a:ea typeface="Microsoft YaHei UI" panose="020B0503020204020204" pitchFamily="34" charset="-122"/>
                            <a:cs typeface="Microsoft GothicNeo" panose="020B0500000101010101" pitchFamily="34" charset="-127"/>
                          </a:rPr>
                          <m:t>𝑠𝑖𝑔𝑛𝑎𝑙</m:t>
                        </m:r>
                      </m:e>
                    </m:d>
                    <m:r>
                      <a:rPr lang="en-US" altLang="zh-CN" sz="1600" b="0" i="1" dirty="0" smtClean="0">
                        <a:latin typeface="Cambria Math" panose="02040503050406030204" pitchFamily="18" charset="0"/>
                        <a:ea typeface="Microsoft YaHei UI" panose="020B0503020204020204" pitchFamily="34" charset="-122"/>
                        <a:cs typeface="Microsoft GothicNeo" panose="020B0500000101010101" pitchFamily="34" charset="-127"/>
                      </a:rPr>
                      <m:t>≥200</m:t>
                    </m:r>
                    <m:r>
                      <m:rPr>
                        <m:sty m:val="p"/>
                      </m:rPr>
                      <a:rPr lang="en-US" altLang="zh-CN" sz="1600" i="1" dirty="0">
                        <a:latin typeface="Cambria Math" panose="02040503050406030204" pitchFamily="18" charset="0"/>
                        <a:ea typeface="Microsoft YaHei UI" panose="020B0503020204020204" pitchFamily="34" charset="-122"/>
                        <a:cs typeface="Microsoft GothicNeo" panose="020B0500000101010101" pitchFamily="34" charset="-127"/>
                      </a:rPr>
                      <m:t>μ</m:t>
                    </m:r>
                    <m:r>
                      <a:rPr lang="en-US" altLang="zh-CN" sz="1600" b="0" i="1" dirty="0" smtClean="0">
                        <a:latin typeface="Cambria Math" panose="02040503050406030204" pitchFamily="18" charset="0"/>
                        <a:ea typeface="Microsoft YaHei UI" panose="020B0503020204020204" pitchFamily="34" charset="-122"/>
                        <a:cs typeface="Microsoft GothicNeo" panose="020B0500000101010101" pitchFamily="34" charset="-127"/>
                      </a:rPr>
                      <m:t>𝑉</m:t>
                    </m:r>
                  </m:oMath>
                </a14:m>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，并按条件分组做</a:t>
                </a: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	</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峰值</a:t>
                </a:r>
                <a14:m>
                  <m:oMath xmlns:m="http://schemas.openxmlformats.org/officeDocument/2006/math">
                    <m:r>
                      <m:rPr>
                        <m:sty m:val="p"/>
                      </m:rPr>
                      <a:rPr lang="en-US" altLang="zh-CN" sz="1600" i="1" dirty="0">
                        <a:latin typeface="Cambria Math" panose="02040503050406030204" pitchFamily="18" charset="0"/>
                        <a:ea typeface="Microsoft YaHei UI" panose="020B0503020204020204" pitchFamily="34" charset="-122"/>
                        <a:cs typeface="Microsoft GothicNeo" panose="020B0500000101010101" pitchFamily="34" charset="-127"/>
                      </a:rPr>
                      <m:t>mean</m:t>
                    </m:r>
                    <m:r>
                      <a:rPr lang="en-US" altLang="zh-CN" sz="1600" i="1" dirty="0">
                        <a:latin typeface="Cambria Math" panose="02040503050406030204" pitchFamily="18" charset="0"/>
                        <a:ea typeface="Microsoft YaHei UI" panose="020B0503020204020204" pitchFamily="34" charset="-122"/>
                        <a:cs typeface="Microsoft GothicNeo" panose="020B0500000101010101" pitchFamily="34" charset="-127"/>
                      </a:rPr>
                      <m:t>±3</m:t>
                    </m:r>
                    <m:r>
                      <m:rPr>
                        <m:sty m:val="p"/>
                      </m:rPr>
                      <a:rPr lang="en-US" altLang="zh-CN" sz="1600" i="1" dirty="0">
                        <a:latin typeface="Cambria Math" panose="02040503050406030204" pitchFamily="18" charset="0"/>
                        <a:ea typeface="Microsoft YaHei UI" panose="020B0503020204020204" pitchFamily="34" charset="-122"/>
                        <a:cs typeface="Microsoft GothicNeo" panose="020B0500000101010101" pitchFamily="34" charset="-127"/>
                      </a:rPr>
                      <m:t>σ</m:t>
                    </m:r>
                  </m:oMath>
                </a14:m>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判定，剔除至少命中</a:t>
                </a: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3</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个通道的试次</a:t>
                </a:r>
                <a:endParaRPr lang="en-CN" altLang="zh-CN" sz="1600" dirty="0">
                  <a:latin typeface="Times New Roman" panose="02020603050405020304" pitchFamily="18" charset="0"/>
                  <a:ea typeface="FangSong_GB2312" panose="02010609030101010101" pitchFamily="49" charset="-122"/>
                  <a:cs typeface="Microsoft GothicNeo" panose="020B0500000101010101" pitchFamily="34" charset="-127"/>
                </a:endParaRPr>
              </a:p>
            </p:txBody>
          </p:sp>
        </mc:Choice>
        <mc:Fallback xmlns="">
          <p:sp>
            <p:nvSpPr>
              <p:cNvPr id="9" name="TextBox 8">
                <a:extLst>
                  <a:ext uri="{FF2B5EF4-FFF2-40B4-BE49-F238E27FC236}">
                    <a16:creationId xmlns:a16="http://schemas.microsoft.com/office/drawing/2014/main" id="{F9B93BD8-4675-1B4F-3EB0-0B0B144C34F6}"/>
                  </a:ext>
                </a:extLst>
              </p:cNvPr>
              <p:cNvSpPr txBox="1">
                <a:spLocks noRot="1" noChangeAspect="1" noMove="1" noResize="1" noEditPoints="1" noAdjustHandles="1" noChangeArrowheads="1" noChangeShapeType="1" noTextEdit="1"/>
              </p:cNvSpPr>
              <p:nvPr/>
            </p:nvSpPr>
            <p:spPr>
              <a:xfrm>
                <a:off x="5887362" y="2706401"/>
                <a:ext cx="6100010" cy="1526636"/>
              </a:xfrm>
              <a:prstGeom prst="rect">
                <a:avLst/>
              </a:prstGeom>
              <a:blipFill>
                <a:blip r:embed="rId5"/>
                <a:stretch>
                  <a:fillRect l="-624" b="-4132"/>
                </a:stretch>
              </a:blipFill>
            </p:spPr>
            <p:txBody>
              <a:bodyPr/>
              <a:lstStyle/>
              <a:p>
                <a:r>
                  <a:rPr lang="en-CN">
                    <a:noFill/>
                  </a:rPr>
                  <a:t> </a:t>
                </a:r>
              </a:p>
            </p:txBody>
          </p:sp>
        </mc:Fallback>
      </mc:AlternateContent>
      <p:sp>
        <p:nvSpPr>
          <p:cNvPr id="10" name="矩形 75">
            <a:extLst>
              <a:ext uri="{FF2B5EF4-FFF2-40B4-BE49-F238E27FC236}">
                <a16:creationId xmlns:a16="http://schemas.microsoft.com/office/drawing/2014/main" id="{5094AA85-9832-4953-9026-70CFF2AE35F3}"/>
              </a:ext>
            </a:extLst>
          </p:cNvPr>
          <p:cNvSpPr/>
          <p:nvPr/>
        </p:nvSpPr>
        <p:spPr>
          <a:xfrm>
            <a:off x="5862978" y="2730350"/>
            <a:ext cx="5970676" cy="1502687"/>
          </a:xfrm>
          <a:prstGeom prst="rect">
            <a:avLst/>
          </a:prstGeom>
          <a:noFill/>
          <a:ln w="19050">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3" name="文本框 47">
                <a:extLst>
                  <a:ext uri="{FF2B5EF4-FFF2-40B4-BE49-F238E27FC236}">
                    <a16:creationId xmlns:a16="http://schemas.microsoft.com/office/drawing/2014/main" id="{861E9956-6825-FBA8-49D6-E024CE714747}"/>
                  </a:ext>
                </a:extLst>
              </p:cNvPr>
              <p:cNvSpPr txBox="1"/>
              <p:nvPr/>
            </p:nvSpPr>
            <p:spPr>
              <a:xfrm>
                <a:off x="699722" y="5306019"/>
                <a:ext cx="7225078" cy="1522917"/>
              </a:xfrm>
              <a:prstGeom prst="rect">
                <a:avLst/>
              </a:prstGeom>
              <a:noFill/>
            </p:spPr>
            <p:txBody>
              <a:bodyPr wrap="square">
                <a:spAutoFit/>
              </a:bodyPr>
              <a:lstStyle/>
              <a:p>
                <a:pPr algn="just">
                  <a:lnSpc>
                    <a:spcPct val="150000"/>
                  </a:lnSpc>
                </a:pP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1.</a:t>
                </a:r>
                <a:r>
                  <a:rPr lang="zh-CN" altLang="en-US" sz="1600" b="1" dirty="0">
                    <a:latin typeface="Times New Roman" panose="02020603050405020304" pitchFamily="18" charset="0"/>
                    <a:ea typeface="FangSong_GB2312" panose="02010609030101010101" pitchFamily="49" charset="-122"/>
                    <a:cs typeface="Microsoft GothicNeo" panose="020B0500000101010101" pitchFamily="34" charset="-127"/>
                  </a:rPr>
                  <a:t>小波变换</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：选取</a:t>
                </a:r>
                <a14:m>
                  <m:oMath xmlns:m="http://schemas.openxmlformats.org/officeDocument/2006/math">
                    <m:d>
                      <m:dPr>
                        <m:begChr m:val="["/>
                        <m:endChr m:val="]"/>
                        <m:ctrlPr>
                          <a:rPr lang="en-CN" sz="1600" i="1">
                            <a:latin typeface="Cambria Math" panose="02040503050406030204" pitchFamily="18" charset="0"/>
                          </a:rPr>
                        </m:ctrlPr>
                      </m:dPr>
                      <m:e>
                        <m:r>
                          <a:rPr lang="en-CN" sz="1600" i="1">
                            <a:latin typeface="Cambria Math" panose="02040503050406030204" pitchFamily="18" charset="0"/>
                          </a:rPr>
                          <m:t>−0.5,</m:t>
                        </m:r>
                        <m:r>
                          <a:rPr lang="en-US" sz="1600" b="0" i="1" smtClean="0">
                            <a:latin typeface="Cambria Math" panose="02040503050406030204" pitchFamily="18" charset="0"/>
                          </a:rPr>
                          <m:t> </m:t>
                        </m:r>
                        <m:r>
                          <a:rPr lang="en-CN" sz="1600" i="1">
                            <a:latin typeface="Cambria Math" panose="02040503050406030204" pitchFamily="18" charset="0"/>
                          </a:rPr>
                          <m:t>0</m:t>
                        </m:r>
                      </m:e>
                    </m:d>
                    <m:r>
                      <a:rPr lang="en-CN" sz="1600" i="1">
                        <a:latin typeface="Cambria Math" panose="02040503050406030204" pitchFamily="18" charset="0"/>
                      </a:rPr>
                      <m:t> </m:t>
                    </m:r>
                    <m:r>
                      <a:rPr lang="en-CN" sz="1600" i="1">
                        <a:latin typeface="Cambria Math" panose="02040503050406030204" pitchFamily="18" charset="0"/>
                      </a:rPr>
                      <m:t>𝑠</m:t>
                    </m:r>
                  </m:oMath>
                </a14:m>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为基线窗，</a:t>
                </a:r>
                <a14:m>
                  <m:oMath xmlns:m="http://schemas.openxmlformats.org/officeDocument/2006/math">
                    <m:d>
                      <m:dPr>
                        <m:begChr m:val="["/>
                        <m:endChr m:val="]"/>
                        <m:ctrlPr>
                          <a:rPr lang="en-CN" sz="1600" i="1">
                            <a:latin typeface="Cambria Math" panose="02040503050406030204" pitchFamily="18" charset="0"/>
                          </a:rPr>
                        </m:ctrlPr>
                      </m:dPr>
                      <m:e>
                        <m:r>
                          <a:rPr lang="en-US" altLang="zh-CN" sz="1600" b="0" i="1" smtClean="0">
                            <a:latin typeface="Cambria Math" panose="02040503050406030204" pitchFamily="18" charset="0"/>
                          </a:rPr>
                          <m:t>0, 2</m:t>
                        </m:r>
                      </m:e>
                    </m:d>
                    <m:r>
                      <a:rPr lang="en-CN" sz="1600" i="1">
                        <a:latin typeface="Cambria Math" panose="02040503050406030204" pitchFamily="18" charset="0"/>
                      </a:rPr>
                      <m:t> </m:t>
                    </m:r>
                    <m:r>
                      <a:rPr lang="en-CN" sz="1600" i="1">
                        <a:latin typeface="Cambria Math" panose="02040503050406030204" pitchFamily="18" charset="0"/>
                      </a:rPr>
                      <m:t>𝑠</m:t>
                    </m:r>
                  </m:oMath>
                </a14:m>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为分析窗，分析</a:t>
                </a: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2-100</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 </a:t>
                </a: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Hz</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的</a:t>
                </a:r>
                <a:r>
                  <a:rPr lang="zh-CN" altLang="en-CN" sz="1600" dirty="0">
                    <a:latin typeface="Times New Roman" panose="02020603050405020304" pitchFamily="18" charset="0"/>
                    <a:ea typeface="FangSong_GB2312" panose="02010609030101010101" pitchFamily="49" charset="-122"/>
                    <a:cs typeface="Microsoft GothicNeo" panose="020B0500000101010101" pitchFamily="34" charset="-127"/>
                  </a:rPr>
                  <a:t>事件相关</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功率变化</a:t>
                </a:r>
                <a:endPar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endParaRPr>
              </a:p>
              <a:p>
                <a:pPr algn="just">
                  <a:lnSpc>
                    <a:spcPct val="150000"/>
                  </a:lnSpc>
                </a:pP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2.</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以未校正</a:t>
                </a:r>
                <a14:m>
                  <m:oMath xmlns:m="http://schemas.openxmlformats.org/officeDocument/2006/math">
                    <m:r>
                      <m:rPr>
                        <m:sty m:val="p"/>
                      </m:rPr>
                      <a:rPr lang="en-CN" sz="1600" i="1">
                        <a:latin typeface="Cambria Math" panose="02040503050406030204" pitchFamily="18" charset="0"/>
                      </a:rPr>
                      <m:t>p</m:t>
                    </m:r>
                    <m:r>
                      <a:rPr lang="en-US" sz="1600" b="0" i="1" smtClean="0">
                        <a:latin typeface="Cambria Math" panose="02040503050406030204" pitchFamily="18" charset="0"/>
                      </a:rPr>
                      <m:t>&lt;0.05</m:t>
                    </m:r>
                  </m:oMath>
                </a14:m>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作为成簇阈值，基于符号翻转置换方法进行</a:t>
                </a: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1000</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次</a:t>
                </a:r>
                <a:r>
                  <a:rPr lang="zh-CN" altLang="en-US" sz="1600" b="1" dirty="0">
                    <a:latin typeface="Times New Roman" panose="02020603050405020304" pitchFamily="18" charset="0"/>
                    <a:ea typeface="FangSong_GB2312" panose="02010609030101010101" pitchFamily="49" charset="-122"/>
                    <a:cs typeface="Microsoft GothicNeo" panose="020B0500000101010101" pitchFamily="34" charset="-127"/>
                  </a:rPr>
                  <a:t>簇置换</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，置换零分布中最大簇统计量大于或等于该真实簇统计量的比例</a:t>
                </a: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&lt;0.05</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视作显著簇</a:t>
                </a:r>
                <a:endPar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endParaRPr>
              </a:p>
            </p:txBody>
          </p:sp>
        </mc:Choice>
        <mc:Fallback xmlns="">
          <p:sp>
            <p:nvSpPr>
              <p:cNvPr id="13" name="文本框 47">
                <a:extLst>
                  <a:ext uri="{FF2B5EF4-FFF2-40B4-BE49-F238E27FC236}">
                    <a16:creationId xmlns:a16="http://schemas.microsoft.com/office/drawing/2014/main" id="{861E9956-6825-FBA8-49D6-E024CE714747}"/>
                  </a:ext>
                </a:extLst>
              </p:cNvPr>
              <p:cNvSpPr txBox="1">
                <a:spLocks noRot="1" noChangeAspect="1" noMove="1" noResize="1" noEditPoints="1" noAdjustHandles="1" noChangeArrowheads="1" noChangeShapeType="1" noTextEdit="1"/>
              </p:cNvSpPr>
              <p:nvPr/>
            </p:nvSpPr>
            <p:spPr>
              <a:xfrm>
                <a:off x="699722" y="5306019"/>
                <a:ext cx="7225078" cy="1522917"/>
              </a:xfrm>
              <a:prstGeom prst="rect">
                <a:avLst/>
              </a:prstGeom>
              <a:blipFill>
                <a:blip r:embed="rId6"/>
                <a:stretch>
                  <a:fillRect l="-527" r="-527" b="-4959"/>
                </a:stretch>
              </a:blipFill>
            </p:spPr>
            <p:txBody>
              <a:bodyPr/>
              <a:lstStyle/>
              <a:p>
                <a:r>
                  <a:rPr lang="en-CN">
                    <a:noFill/>
                  </a:rPr>
                  <a:t> </a:t>
                </a:r>
              </a:p>
            </p:txBody>
          </p:sp>
        </mc:Fallback>
      </mc:AlternateContent>
      <p:sp>
        <p:nvSpPr>
          <p:cNvPr id="14" name="文本框 15">
            <a:extLst>
              <a:ext uri="{FF2B5EF4-FFF2-40B4-BE49-F238E27FC236}">
                <a16:creationId xmlns:a16="http://schemas.microsoft.com/office/drawing/2014/main" id="{73A83732-2793-AFFA-F97D-D036ECB6AA90}"/>
              </a:ext>
            </a:extLst>
          </p:cNvPr>
          <p:cNvSpPr txBox="1"/>
          <p:nvPr/>
        </p:nvSpPr>
        <p:spPr>
          <a:xfrm>
            <a:off x="358346" y="4984511"/>
            <a:ext cx="1717137" cy="400110"/>
          </a:xfrm>
          <a:prstGeom prst="rect">
            <a:avLst/>
          </a:prstGeom>
          <a:solidFill>
            <a:schemeClr val="bg1"/>
          </a:solidFill>
        </p:spPr>
        <p:txBody>
          <a:bodyPr wrap="none" rtlCol="0">
            <a:spAutoFit/>
          </a:bodyPr>
          <a:lstStyle/>
          <a:p>
            <a:pPr marL="342900" indent="-342900" defTabSz="914400">
              <a:buFont typeface="Wingdings" pitchFamily="2" charset="2"/>
              <a:buChar char="Ø"/>
            </a:pPr>
            <a:r>
              <a:rPr lang="zh-CN" altLang="en-CN" sz="2000" b="1" spc="300" dirty="0">
                <a:latin typeface="Times New Roman" panose="02020603050405020304" pitchFamily="18" charset="0"/>
                <a:ea typeface="FangSong_GB2312" panose="02010609030101010101" pitchFamily="49" charset="-122"/>
                <a:cs typeface="Times New Roman" panose="02020603050405020304" pitchFamily="18" charset="0"/>
              </a:rPr>
              <a:t>时频</a:t>
            </a:r>
            <a:r>
              <a:rPr lang="zh-CN" altLang="en-US" sz="2000" b="1" spc="300" dirty="0">
                <a:latin typeface="Times New Roman" panose="02020603050405020304" pitchFamily="18" charset="0"/>
                <a:ea typeface="FangSong_GB2312" panose="02010609030101010101" pitchFamily="49" charset="-122"/>
                <a:cs typeface="Times New Roman" panose="02020603050405020304" pitchFamily="18" charset="0"/>
              </a:rPr>
              <a:t>分析</a:t>
            </a:r>
            <a:endParaRPr lang="zh-CN" altLang="en-US" sz="2000" b="1" spc="300" dirty="0">
              <a:latin typeface="FangSong_GB2312" panose="02010609030101010101" pitchFamily="49" charset="-122"/>
              <a:ea typeface="FangSong_GB2312" panose="02010609030101010101" pitchFamily="49" charset="-122"/>
            </a:endParaRP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5197073-C6D0-961E-6402-DA9495423325}"/>
                  </a:ext>
                </a:extLst>
              </p:cNvPr>
              <p:cNvSpPr txBox="1"/>
              <p:nvPr/>
            </p:nvSpPr>
            <p:spPr>
              <a:xfrm>
                <a:off x="8026042" y="4199562"/>
                <a:ext cx="4035553" cy="2629374"/>
              </a:xfrm>
              <a:prstGeom prst="rect">
                <a:avLst/>
              </a:prstGeom>
              <a:noFill/>
            </p:spPr>
            <p:txBody>
              <a:bodyPr wrap="square">
                <a:spAutoFit/>
              </a:bodyPr>
              <a:lstStyle/>
              <a:p>
                <a:pPr>
                  <a:lnSpc>
                    <a:spcPct val="110000"/>
                  </a:lnSpc>
                </a:pPr>
                <a14:m>
                  <m:oMathPara xmlns:m="http://schemas.openxmlformats.org/officeDocument/2006/math">
                    <m:oMathParaPr>
                      <m:jc m:val="centerGroup"/>
                    </m:oMathParaPr>
                    <m:oMath xmlns:m="http://schemas.openxmlformats.org/officeDocument/2006/math">
                      <m:sSub>
                        <m:sSubPr>
                          <m:ctrlPr>
                            <a:rPr lang="en-CN" sz="1400" i="1" smtClean="0">
                              <a:latin typeface="Cambria Math" panose="02040503050406030204" pitchFamily="18" charset="0"/>
                            </a:rPr>
                          </m:ctrlPr>
                        </m:sSubPr>
                        <m:e>
                          <m:r>
                            <m:rPr>
                              <m:sty m:val="p"/>
                            </m:rPr>
                            <a:rPr lang="en-CN" sz="1400">
                              <a:latin typeface="Cambria Math" panose="02040503050406030204" pitchFamily="18" charset="0"/>
                            </a:rPr>
                            <m:t>ψ</m:t>
                          </m:r>
                        </m:e>
                        <m:sub>
                          <m:r>
                            <a:rPr lang="en-CN" sz="1400" i="1">
                              <a:latin typeface="Cambria Math" panose="02040503050406030204" pitchFamily="18" charset="0"/>
                            </a:rPr>
                            <m:t>𝑓</m:t>
                          </m:r>
                        </m:sub>
                      </m:sSub>
                      <m:d>
                        <m:dPr>
                          <m:ctrlPr>
                            <a:rPr lang="en-CN" sz="1400" i="1">
                              <a:latin typeface="Cambria Math" panose="02040503050406030204" pitchFamily="18" charset="0"/>
                            </a:rPr>
                          </m:ctrlPr>
                        </m:dPr>
                        <m:e>
                          <m:r>
                            <a:rPr lang="en-CN" sz="1400" i="1">
                              <a:latin typeface="Cambria Math" panose="02040503050406030204" pitchFamily="18" charset="0"/>
                            </a:rPr>
                            <m:t>𝑡</m:t>
                          </m:r>
                        </m:e>
                      </m:d>
                      <m:r>
                        <a:rPr lang="en-CN" sz="1400" i="0">
                          <a:latin typeface="Cambria Math" panose="02040503050406030204" pitchFamily="18" charset="0"/>
                        </a:rPr>
                        <m:t>=</m:t>
                      </m:r>
                      <m:f>
                        <m:fPr>
                          <m:ctrlPr>
                            <a:rPr lang="en-CN" sz="1400" i="1">
                              <a:latin typeface="Cambria Math" panose="02040503050406030204" pitchFamily="18" charset="0"/>
                            </a:rPr>
                          </m:ctrlPr>
                        </m:fPr>
                        <m:num>
                          <m:r>
                            <a:rPr lang="en-CN" sz="1400" i="0">
                              <a:latin typeface="Cambria Math" panose="02040503050406030204" pitchFamily="18" charset="0"/>
                            </a:rPr>
                            <m:t>1</m:t>
                          </m:r>
                        </m:num>
                        <m:den>
                          <m:rad>
                            <m:radPr>
                              <m:degHide m:val="on"/>
                              <m:ctrlPr>
                                <a:rPr lang="en-CN" sz="1400" i="1">
                                  <a:latin typeface="Cambria Math" panose="02040503050406030204" pitchFamily="18" charset="0"/>
                                </a:rPr>
                              </m:ctrlPr>
                            </m:radPr>
                            <m:deg/>
                            <m:e>
                              <m:sSub>
                                <m:sSubPr>
                                  <m:ctrlPr>
                                    <a:rPr lang="en-CN" sz="1400" i="1">
                                      <a:latin typeface="Cambria Math" panose="02040503050406030204" pitchFamily="18" charset="0"/>
                                    </a:rPr>
                                  </m:ctrlPr>
                                </m:sSubPr>
                                <m:e>
                                  <m:r>
                                    <m:rPr>
                                      <m:sty m:val="p"/>
                                    </m:rPr>
                                    <a:rPr lang="en-CN" sz="1400" i="0">
                                      <a:latin typeface="Cambria Math" panose="02040503050406030204" pitchFamily="18" charset="0"/>
                                    </a:rPr>
                                    <m:t>σ</m:t>
                                  </m:r>
                                </m:e>
                                <m:sub>
                                  <m:r>
                                    <a:rPr lang="en-CN" sz="1400" i="1">
                                      <a:latin typeface="Cambria Math" panose="02040503050406030204" pitchFamily="18" charset="0"/>
                                    </a:rPr>
                                    <m:t>𝑓</m:t>
                                  </m:r>
                                </m:sub>
                              </m:sSub>
                              <m:rad>
                                <m:radPr>
                                  <m:degHide m:val="on"/>
                                  <m:ctrlPr>
                                    <a:rPr lang="en-CN" sz="1400" i="1">
                                      <a:latin typeface="Cambria Math" panose="02040503050406030204" pitchFamily="18" charset="0"/>
                                    </a:rPr>
                                  </m:ctrlPr>
                                </m:radPr>
                                <m:deg/>
                                <m:e>
                                  <m:r>
                                    <m:rPr>
                                      <m:sty m:val="p"/>
                                    </m:rPr>
                                    <a:rPr lang="en-CN" sz="1400" i="0">
                                      <a:latin typeface="Cambria Math" panose="02040503050406030204" pitchFamily="18" charset="0"/>
                                    </a:rPr>
                                    <m:t>π</m:t>
                                  </m:r>
                                </m:e>
                              </m:rad>
                            </m:e>
                          </m:rad>
                        </m:den>
                      </m:f>
                      <m:func>
                        <m:funcPr>
                          <m:ctrlPr>
                            <a:rPr lang="en-CN" sz="1400" i="1">
                              <a:latin typeface="Cambria Math" panose="02040503050406030204" pitchFamily="18" charset="0"/>
                            </a:rPr>
                          </m:ctrlPr>
                        </m:funcPr>
                        <m:fName>
                          <m:r>
                            <m:rPr>
                              <m:sty m:val="p"/>
                            </m:rPr>
                            <a:rPr lang="en-CN" sz="1400" i="0">
                              <a:latin typeface="Cambria Math" panose="02040503050406030204" pitchFamily="18" charset="0"/>
                            </a:rPr>
                            <m:t>exp</m:t>
                          </m:r>
                        </m:fName>
                        <m:e>
                          <m:d>
                            <m:dPr>
                              <m:ctrlPr>
                                <a:rPr lang="en-CN" sz="1400" i="1">
                                  <a:latin typeface="Cambria Math" panose="02040503050406030204" pitchFamily="18" charset="0"/>
                                </a:rPr>
                              </m:ctrlPr>
                            </m:dPr>
                            <m:e>
                              <m:r>
                                <a:rPr lang="en-CN" sz="1400" i="0">
                                  <a:latin typeface="Cambria Math" panose="02040503050406030204" pitchFamily="18" charset="0"/>
                                </a:rPr>
                                <m:t>2</m:t>
                              </m:r>
                              <m:r>
                                <m:rPr>
                                  <m:sty m:val="p"/>
                                </m:rPr>
                                <a:rPr lang="en-CN" sz="1400" i="0">
                                  <a:latin typeface="Cambria Math" panose="02040503050406030204" pitchFamily="18" charset="0"/>
                                </a:rPr>
                                <m:t>π</m:t>
                              </m:r>
                              <m:r>
                                <a:rPr lang="en-CN" sz="1400" i="1">
                                  <a:latin typeface="Cambria Math" panose="02040503050406030204" pitchFamily="18" charset="0"/>
                                </a:rPr>
                                <m:t>𝑖𝑓𝑡</m:t>
                              </m:r>
                            </m:e>
                          </m:d>
                        </m:e>
                      </m:func>
                      <m:func>
                        <m:funcPr>
                          <m:ctrlPr>
                            <a:rPr lang="en-CN" sz="1400" i="1">
                              <a:latin typeface="Cambria Math" panose="02040503050406030204" pitchFamily="18" charset="0"/>
                            </a:rPr>
                          </m:ctrlPr>
                        </m:funcPr>
                        <m:fName>
                          <m:r>
                            <m:rPr>
                              <m:sty m:val="p"/>
                            </m:rPr>
                            <a:rPr lang="en-CN" sz="1400" i="0">
                              <a:latin typeface="Cambria Math" panose="02040503050406030204" pitchFamily="18" charset="0"/>
                            </a:rPr>
                            <m:t>exp</m:t>
                          </m:r>
                        </m:fName>
                        <m:e>
                          <m:d>
                            <m:dPr>
                              <m:ctrlPr>
                                <a:rPr lang="en-CN" sz="1400" i="1">
                                  <a:latin typeface="Cambria Math" panose="02040503050406030204" pitchFamily="18" charset="0"/>
                                </a:rPr>
                              </m:ctrlPr>
                            </m:dPr>
                            <m:e>
                              <m:r>
                                <a:rPr lang="en-CN" sz="1400" i="0">
                                  <a:latin typeface="Cambria Math" panose="02040503050406030204" pitchFamily="18" charset="0"/>
                                </a:rPr>
                                <m:t>−</m:t>
                              </m:r>
                              <m:f>
                                <m:fPr>
                                  <m:ctrlPr>
                                    <a:rPr lang="en-CN" sz="1400" i="1">
                                      <a:latin typeface="Cambria Math" panose="02040503050406030204" pitchFamily="18" charset="0"/>
                                    </a:rPr>
                                  </m:ctrlPr>
                                </m:fPr>
                                <m:num>
                                  <m:sSup>
                                    <m:sSupPr>
                                      <m:ctrlPr>
                                        <a:rPr lang="en-CN" sz="1400" i="1">
                                          <a:latin typeface="Cambria Math" panose="02040503050406030204" pitchFamily="18" charset="0"/>
                                        </a:rPr>
                                      </m:ctrlPr>
                                    </m:sSupPr>
                                    <m:e>
                                      <m:r>
                                        <a:rPr lang="en-CN" sz="1400" i="1">
                                          <a:latin typeface="Cambria Math" panose="02040503050406030204" pitchFamily="18" charset="0"/>
                                        </a:rPr>
                                        <m:t>𝑡</m:t>
                                      </m:r>
                                    </m:e>
                                    <m:sup>
                                      <m:r>
                                        <a:rPr lang="en-CN" sz="1400" i="0">
                                          <a:latin typeface="Cambria Math" panose="02040503050406030204" pitchFamily="18" charset="0"/>
                                        </a:rPr>
                                        <m:t>2</m:t>
                                      </m:r>
                                    </m:sup>
                                  </m:sSup>
                                </m:num>
                                <m:den>
                                  <m:r>
                                    <a:rPr lang="en-CN" sz="1400" i="0">
                                      <a:latin typeface="Cambria Math" panose="02040503050406030204" pitchFamily="18" charset="0"/>
                                    </a:rPr>
                                    <m:t>2</m:t>
                                  </m:r>
                                  <m:sSubSup>
                                    <m:sSubSupPr>
                                      <m:ctrlPr>
                                        <a:rPr lang="en-CN" sz="1400" i="1">
                                          <a:latin typeface="Cambria Math" panose="02040503050406030204" pitchFamily="18" charset="0"/>
                                        </a:rPr>
                                      </m:ctrlPr>
                                    </m:sSubSupPr>
                                    <m:e>
                                      <m:r>
                                        <m:rPr>
                                          <m:sty m:val="p"/>
                                        </m:rPr>
                                        <a:rPr lang="en-CN" sz="1400" i="0">
                                          <a:latin typeface="Cambria Math" panose="02040503050406030204" pitchFamily="18" charset="0"/>
                                        </a:rPr>
                                        <m:t>σ</m:t>
                                      </m:r>
                                    </m:e>
                                    <m:sub>
                                      <m:r>
                                        <a:rPr lang="en-CN" sz="1400" i="1">
                                          <a:latin typeface="Cambria Math" panose="02040503050406030204" pitchFamily="18" charset="0"/>
                                        </a:rPr>
                                        <m:t>𝑓</m:t>
                                      </m:r>
                                    </m:sub>
                                    <m:sup>
                                      <m:r>
                                        <a:rPr lang="en-CN" sz="1400" i="0">
                                          <a:latin typeface="Cambria Math" panose="02040503050406030204" pitchFamily="18" charset="0"/>
                                        </a:rPr>
                                        <m:t>2</m:t>
                                      </m:r>
                                    </m:sup>
                                  </m:sSubSup>
                                </m:den>
                              </m:f>
                            </m:e>
                          </m:d>
                        </m:e>
                      </m:func>
                    </m:oMath>
                  </m:oMathPara>
                </a14:m>
                <a:endParaRPr lang="en-US" sz="1400" i="1" dirty="0">
                  <a:latin typeface="Cambria Math" panose="02040503050406030204" pitchFamily="18" charset="0"/>
                </a:endParaRPr>
              </a:p>
              <a:p>
                <a:pPr>
                  <a:lnSpc>
                    <a:spcPct val="110000"/>
                  </a:lnSpc>
                </a:pPr>
                <a14:m>
                  <m:oMathPara xmlns:m="http://schemas.openxmlformats.org/officeDocument/2006/math">
                    <m:oMathParaPr>
                      <m:jc m:val="centerGroup"/>
                    </m:oMathParaPr>
                    <m:oMath xmlns:m="http://schemas.openxmlformats.org/officeDocument/2006/math">
                      <m:sSub>
                        <m:sSubPr>
                          <m:ctrlPr>
                            <a:rPr lang="en-CN" sz="1400" i="1">
                              <a:latin typeface="Cambria Math" panose="02040503050406030204" pitchFamily="18" charset="0"/>
                            </a:rPr>
                          </m:ctrlPr>
                        </m:sSubPr>
                        <m:e>
                          <m:r>
                            <a:rPr lang="en-CN" sz="1400" i="1">
                              <a:latin typeface="Cambria Math" panose="02040503050406030204" pitchFamily="18" charset="0"/>
                            </a:rPr>
                            <m:t>𝑊</m:t>
                          </m:r>
                        </m:e>
                        <m:sub>
                          <m:r>
                            <a:rPr lang="en-CN" sz="1400" i="1">
                              <a:latin typeface="Cambria Math" panose="02040503050406030204" pitchFamily="18" charset="0"/>
                            </a:rPr>
                            <m:t>𝑥</m:t>
                          </m:r>
                        </m:sub>
                      </m:sSub>
                      <m:d>
                        <m:dPr>
                          <m:ctrlPr>
                            <a:rPr lang="en-CN" sz="1400" i="1">
                              <a:latin typeface="Cambria Math" panose="02040503050406030204" pitchFamily="18" charset="0"/>
                            </a:rPr>
                          </m:ctrlPr>
                        </m:dPr>
                        <m:e>
                          <m:r>
                            <a:rPr lang="en-CN" sz="1400" i="1">
                              <a:latin typeface="Cambria Math" panose="02040503050406030204" pitchFamily="18" charset="0"/>
                            </a:rPr>
                            <m:t>𝑡</m:t>
                          </m:r>
                          <m:r>
                            <a:rPr lang="en-CN" sz="1400" i="0">
                              <a:latin typeface="Cambria Math" panose="02040503050406030204" pitchFamily="18" charset="0"/>
                            </a:rPr>
                            <m:t>,</m:t>
                          </m:r>
                          <m:r>
                            <a:rPr lang="en-CN" sz="1400" i="1">
                              <a:latin typeface="Cambria Math" panose="02040503050406030204" pitchFamily="18" charset="0"/>
                            </a:rPr>
                            <m:t>𝑓</m:t>
                          </m:r>
                        </m:e>
                      </m:d>
                      <m:r>
                        <a:rPr lang="en-CN" sz="1400" i="0">
                          <a:latin typeface="Cambria Math" panose="02040503050406030204" pitchFamily="18" charset="0"/>
                        </a:rPr>
                        <m:t>=</m:t>
                      </m:r>
                      <m:nary>
                        <m:naryPr>
                          <m:limLoc m:val="subSup"/>
                          <m:ctrlPr>
                            <a:rPr lang="en-CN" sz="1400" i="1">
                              <a:latin typeface="Cambria Math" panose="02040503050406030204" pitchFamily="18" charset="0"/>
                            </a:rPr>
                          </m:ctrlPr>
                        </m:naryPr>
                        <m:sub>
                          <m:r>
                            <a:rPr lang="en-CN" sz="1400" i="0">
                              <a:latin typeface="Cambria Math" panose="02040503050406030204" pitchFamily="18" charset="0"/>
                            </a:rPr>
                            <m:t>−∞</m:t>
                          </m:r>
                        </m:sub>
                        <m:sup>
                          <m:r>
                            <a:rPr lang="en-CN" sz="1400" i="0">
                              <a:latin typeface="Cambria Math" panose="02040503050406030204" pitchFamily="18" charset="0"/>
                            </a:rPr>
                            <m:t>+∞</m:t>
                          </m:r>
                        </m:sup>
                        <m:e>
                          <m:r>
                            <a:rPr lang="en-CN" sz="1400" i="1">
                              <a:latin typeface="Cambria Math" panose="02040503050406030204" pitchFamily="18" charset="0"/>
                            </a:rPr>
                            <m:t>𝑥</m:t>
                          </m:r>
                          <m:d>
                            <m:dPr>
                              <m:ctrlPr>
                                <a:rPr lang="en-CN" sz="1400" i="1">
                                  <a:latin typeface="Cambria Math" panose="02040503050406030204" pitchFamily="18" charset="0"/>
                                </a:rPr>
                              </m:ctrlPr>
                            </m:dPr>
                            <m:e>
                              <m:r>
                                <m:rPr>
                                  <m:sty m:val="p"/>
                                </m:rPr>
                                <a:rPr lang="en-CN" sz="1400" i="0">
                                  <a:latin typeface="Cambria Math" panose="02040503050406030204" pitchFamily="18" charset="0"/>
                                </a:rPr>
                                <m:t>τ</m:t>
                              </m:r>
                            </m:e>
                          </m:d>
                          <m:sSubSup>
                            <m:sSubSupPr>
                              <m:ctrlPr>
                                <a:rPr lang="en-CN" sz="1400" i="1">
                                  <a:latin typeface="Cambria Math" panose="02040503050406030204" pitchFamily="18" charset="0"/>
                                </a:rPr>
                              </m:ctrlPr>
                            </m:sSubSupPr>
                            <m:e>
                              <m:r>
                                <m:rPr>
                                  <m:sty m:val="p"/>
                                </m:rPr>
                                <a:rPr lang="en-CN" sz="1400" i="0">
                                  <a:latin typeface="Cambria Math" panose="02040503050406030204" pitchFamily="18" charset="0"/>
                                </a:rPr>
                                <m:t>ψ</m:t>
                              </m:r>
                            </m:e>
                            <m:sub>
                              <m:r>
                                <a:rPr lang="en-CN" sz="1400" i="1">
                                  <a:latin typeface="Cambria Math" panose="02040503050406030204" pitchFamily="18" charset="0"/>
                                </a:rPr>
                                <m:t>𝑓</m:t>
                              </m:r>
                            </m:sub>
                            <m:sup>
                              <m:r>
                                <a:rPr lang="en-CN" sz="1400" i="0">
                                  <a:latin typeface="Cambria Math" panose="02040503050406030204" pitchFamily="18" charset="0"/>
                                </a:rPr>
                                <m:t>∗</m:t>
                              </m:r>
                            </m:sup>
                          </m:sSubSup>
                          <m:d>
                            <m:dPr>
                              <m:ctrlPr>
                                <a:rPr lang="en-CN" sz="1400" i="1">
                                  <a:latin typeface="Cambria Math" panose="02040503050406030204" pitchFamily="18" charset="0"/>
                                </a:rPr>
                              </m:ctrlPr>
                            </m:dPr>
                            <m:e>
                              <m:r>
                                <m:rPr>
                                  <m:sty m:val="p"/>
                                </m:rPr>
                                <a:rPr lang="en-CN" sz="1400" i="0">
                                  <a:latin typeface="Cambria Math" panose="02040503050406030204" pitchFamily="18" charset="0"/>
                                </a:rPr>
                                <m:t>τ</m:t>
                              </m:r>
                              <m:r>
                                <a:rPr lang="en-CN" sz="1400" i="0">
                                  <a:latin typeface="Cambria Math" panose="02040503050406030204" pitchFamily="18" charset="0"/>
                                </a:rPr>
                                <m:t>−</m:t>
                              </m:r>
                              <m:r>
                                <a:rPr lang="en-CN" sz="1400" i="1">
                                  <a:latin typeface="Cambria Math" panose="02040503050406030204" pitchFamily="18" charset="0"/>
                                </a:rPr>
                                <m:t>𝑡</m:t>
                              </m:r>
                            </m:e>
                          </m:d>
                        </m:e>
                      </m:nary>
                      <m:r>
                        <a:rPr lang="en-CN" sz="1400" i="0">
                          <a:latin typeface="Cambria Math" panose="02040503050406030204" pitchFamily="18" charset="0"/>
                        </a:rPr>
                        <m:t> </m:t>
                      </m:r>
                      <m:r>
                        <a:rPr lang="en-CN" sz="1400" i="1">
                          <a:latin typeface="Cambria Math" panose="02040503050406030204" pitchFamily="18" charset="0"/>
                        </a:rPr>
                        <m:t>𝑑</m:t>
                      </m:r>
                      <m:r>
                        <m:rPr>
                          <m:sty m:val="p"/>
                        </m:rPr>
                        <a:rPr lang="en-CN" sz="1400">
                          <a:latin typeface="Cambria Math" panose="02040503050406030204" pitchFamily="18" charset="0"/>
                        </a:rPr>
                        <m:t>τ</m:t>
                      </m:r>
                    </m:oMath>
                  </m:oMathPara>
                </a14:m>
                <a:endParaRPr lang="en-US" sz="1400" dirty="0"/>
              </a:p>
              <a:p>
                <a:pPr>
                  <a:lnSpc>
                    <a:spcPct val="110000"/>
                  </a:lnSpc>
                </a:pPr>
                <a14:m>
                  <m:oMathPara xmlns:m="http://schemas.openxmlformats.org/officeDocument/2006/math">
                    <m:oMathParaPr>
                      <m:jc m:val="centerGroup"/>
                    </m:oMathParaPr>
                    <m:oMath xmlns:m="http://schemas.openxmlformats.org/officeDocument/2006/math">
                      <m:r>
                        <a:rPr lang="en-CN" sz="1400" i="1">
                          <a:latin typeface="Cambria Math" panose="02040503050406030204" pitchFamily="18" charset="0"/>
                        </a:rPr>
                        <m:t>𝑃</m:t>
                      </m:r>
                      <m:d>
                        <m:dPr>
                          <m:ctrlPr>
                            <a:rPr lang="en-CN" sz="1400" i="1">
                              <a:latin typeface="Cambria Math" panose="02040503050406030204" pitchFamily="18" charset="0"/>
                            </a:rPr>
                          </m:ctrlPr>
                        </m:dPr>
                        <m:e>
                          <m:r>
                            <a:rPr lang="en-CN" sz="1400" i="1">
                              <a:latin typeface="Cambria Math" panose="02040503050406030204" pitchFamily="18" charset="0"/>
                            </a:rPr>
                            <m:t>𝑡</m:t>
                          </m:r>
                          <m:r>
                            <a:rPr lang="en-CN" sz="1400" i="0">
                              <a:latin typeface="Cambria Math" panose="02040503050406030204" pitchFamily="18" charset="0"/>
                            </a:rPr>
                            <m:t>,</m:t>
                          </m:r>
                          <m:r>
                            <a:rPr lang="en-CN" sz="1400" i="1">
                              <a:latin typeface="Cambria Math" panose="02040503050406030204" pitchFamily="18" charset="0"/>
                            </a:rPr>
                            <m:t>𝑓</m:t>
                          </m:r>
                        </m:e>
                      </m:d>
                      <m:r>
                        <a:rPr lang="en-CN" sz="1400" i="0">
                          <a:latin typeface="Cambria Math" panose="02040503050406030204" pitchFamily="18" charset="0"/>
                        </a:rPr>
                        <m:t>=</m:t>
                      </m:r>
                      <m:sSup>
                        <m:sSupPr>
                          <m:ctrlPr>
                            <a:rPr lang="en-CN" sz="1400" i="1">
                              <a:latin typeface="Cambria Math" panose="02040503050406030204" pitchFamily="18" charset="0"/>
                            </a:rPr>
                          </m:ctrlPr>
                        </m:sSupPr>
                        <m:e>
                          <m:d>
                            <m:dPr>
                              <m:begChr m:val="|"/>
                              <m:endChr m:val="|"/>
                              <m:ctrlPr>
                                <a:rPr lang="en-CN" sz="1400" i="1">
                                  <a:latin typeface="Cambria Math" panose="02040503050406030204" pitchFamily="18" charset="0"/>
                                </a:rPr>
                              </m:ctrlPr>
                            </m:dPr>
                            <m:e>
                              <m:sSub>
                                <m:sSubPr>
                                  <m:ctrlPr>
                                    <a:rPr lang="en-CN" sz="1400" i="1">
                                      <a:latin typeface="Cambria Math" panose="02040503050406030204" pitchFamily="18" charset="0"/>
                                    </a:rPr>
                                  </m:ctrlPr>
                                </m:sSubPr>
                                <m:e>
                                  <m:r>
                                    <a:rPr lang="en-CN" sz="1400" i="1">
                                      <a:latin typeface="Cambria Math" panose="02040503050406030204" pitchFamily="18" charset="0"/>
                                    </a:rPr>
                                    <m:t>𝑊</m:t>
                                  </m:r>
                                </m:e>
                                <m:sub>
                                  <m:r>
                                    <a:rPr lang="en-CN" sz="1400" i="1">
                                      <a:latin typeface="Cambria Math" panose="02040503050406030204" pitchFamily="18" charset="0"/>
                                    </a:rPr>
                                    <m:t>𝑥</m:t>
                                  </m:r>
                                </m:sub>
                              </m:sSub>
                              <m:d>
                                <m:dPr>
                                  <m:ctrlPr>
                                    <a:rPr lang="en-CN" sz="1400" i="1">
                                      <a:latin typeface="Cambria Math" panose="02040503050406030204" pitchFamily="18" charset="0"/>
                                    </a:rPr>
                                  </m:ctrlPr>
                                </m:dPr>
                                <m:e>
                                  <m:r>
                                    <a:rPr lang="en-CN" sz="1400" i="1">
                                      <a:latin typeface="Cambria Math" panose="02040503050406030204" pitchFamily="18" charset="0"/>
                                    </a:rPr>
                                    <m:t>𝑡</m:t>
                                  </m:r>
                                  <m:r>
                                    <a:rPr lang="en-CN" sz="1400" i="0">
                                      <a:latin typeface="Cambria Math" panose="02040503050406030204" pitchFamily="18" charset="0"/>
                                    </a:rPr>
                                    <m:t>,</m:t>
                                  </m:r>
                                  <m:r>
                                    <a:rPr lang="en-CN" sz="1400" i="1">
                                      <a:latin typeface="Cambria Math" panose="02040503050406030204" pitchFamily="18" charset="0"/>
                                    </a:rPr>
                                    <m:t>𝑓</m:t>
                                  </m:r>
                                </m:e>
                              </m:d>
                            </m:e>
                          </m:d>
                        </m:e>
                        <m:sup>
                          <m:r>
                            <a:rPr lang="en-CN" sz="1400" i="0">
                              <a:latin typeface="Cambria Math" panose="02040503050406030204" pitchFamily="18" charset="0"/>
                            </a:rPr>
                            <m:t>2</m:t>
                          </m:r>
                        </m:sup>
                      </m:sSup>
                    </m:oMath>
                  </m:oMathPara>
                </a14:m>
                <a:endParaRPr lang="en-US" sz="1400" i="1" dirty="0">
                  <a:latin typeface="Cambria Math" panose="02040503050406030204" pitchFamily="18" charset="0"/>
                </a:endParaRPr>
              </a:p>
              <a:p>
                <a:pPr>
                  <a:lnSpc>
                    <a:spcPct val="110000"/>
                  </a:lnSpc>
                </a:pPr>
                <a14:m>
                  <m:oMathPara xmlns:m="http://schemas.openxmlformats.org/officeDocument/2006/math">
                    <m:oMathParaPr>
                      <m:jc m:val="centerGroup"/>
                    </m:oMathParaPr>
                    <m:oMath xmlns:m="http://schemas.openxmlformats.org/officeDocument/2006/math">
                      <m:sSub>
                        <m:sSubPr>
                          <m:ctrlPr>
                            <a:rPr lang="en-CN" sz="1400" i="1">
                              <a:latin typeface="Cambria Math" panose="02040503050406030204" pitchFamily="18" charset="0"/>
                            </a:rPr>
                          </m:ctrlPr>
                        </m:sSubPr>
                        <m:e>
                          <m:r>
                            <a:rPr lang="en-CN" sz="1400" i="1">
                              <a:latin typeface="Cambria Math" panose="02040503050406030204" pitchFamily="18" charset="0"/>
                            </a:rPr>
                            <m:t>𝑃</m:t>
                          </m:r>
                        </m:e>
                        <m:sub>
                          <m:r>
                            <m:rPr>
                              <m:nor/>
                            </m:rPr>
                            <a:rPr lang="en-CN" sz="1400" b="0" i="1">
                              <a:latin typeface="Cambria Math" panose="02040503050406030204" pitchFamily="18" charset="0"/>
                            </a:rPr>
                            <m:t>dB</m:t>
                          </m:r>
                        </m:sub>
                      </m:sSub>
                      <m:d>
                        <m:dPr>
                          <m:ctrlPr>
                            <a:rPr lang="en-CN" sz="1400" b="0" i="1">
                              <a:latin typeface="Cambria Math" panose="02040503050406030204" pitchFamily="18" charset="0"/>
                            </a:rPr>
                          </m:ctrlPr>
                        </m:dPr>
                        <m:e>
                          <m:r>
                            <a:rPr lang="en-CN" sz="1400" b="0" i="1">
                              <a:latin typeface="Cambria Math" panose="02040503050406030204" pitchFamily="18" charset="0"/>
                            </a:rPr>
                            <m:t>𝑡</m:t>
                          </m:r>
                          <m:r>
                            <a:rPr lang="en-CN" sz="1400" b="0" i="0">
                              <a:latin typeface="Cambria Math" panose="02040503050406030204" pitchFamily="18" charset="0"/>
                            </a:rPr>
                            <m:t>,</m:t>
                          </m:r>
                          <m:r>
                            <a:rPr lang="en-CN" sz="1400" b="0" i="1">
                              <a:latin typeface="Cambria Math" panose="02040503050406030204" pitchFamily="18" charset="0"/>
                            </a:rPr>
                            <m:t>𝑓</m:t>
                          </m:r>
                        </m:e>
                      </m:d>
                      <m:r>
                        <a:rPr lang="en-CN" sz="1400" b="0" i="0">
                          <a:latin typeface="Cambria Math" panose="02040503050406030204" pitchFamily="18" charset="0"/>
                        </a:rPr>
                        <m:t>=10</m:t>
                      </m:r>
                      <m:func>
                        <m:funcPr>
                          <m:ctrlPr>
                            <a:rPr lang="en-CN" sz="1400" b="0" i="1">
                              <a:latin typeface="Cambria Math" panose="02040503050406030204" pitchFamily="18" charset="0"/>
                            </a:rPr>
                          </m:ctrlPr>
                        </m:funcPr>
                        <m:fName>
                          <m:sSub>
                            <m:sSubPr>
                              <m:ctrlPr>
                                <a:rPr lang="en-CN" sz="1400" b="0" i="1">
                                  <a:latin typeface="Cambria Math" panose="02040503050406030204" pitchFamily="18" charset="0"/>
                                </a:rPr>
                              </m:ctrlPr>
                            </m:sSubPr>
                            <m:e>
                              <m:r>
                                <m:rPr>
                                  <m:sty m:val="p"/>
                                </m:rPr>
                                <a:rPr lang="en-CN" sz="1400" b="0" i="0">
                                  <a:latin typeface="Cambria Math" panose="02040503050406030204" pitchFamily="18" charset="0"/>
                                </a:rPr>
                                <m:t>log</m:t>
                              </m:r>
                            </m:e>
                            <m:sub>
                              <m:r>
                                <a:rPr lang="en-CN" sz="1400" b="0" i="0">
                                  <a:latin typeface="Cambria Math" panose="02040503050406030204" pitchFamily="18" charset="0"/>
                                </a:rPr>
                                <m:t>10</m:t>
                              </m:r>
                            </m:sub>
                          </m:sSub>
                        </m:fName>
                        <m:e>
                          <m:d>
                            <m:dPr>
                              <m:ctrlPr>
                                <a:rPr lang="en-CN" sz="1400" b="0" i="1">
                                  <a:latin typeface="Cambria Math" panose="02040503050406030204" pitchFamily="18" charset="0"/>
                                </a:rPr>
                              </m:ctrlPr>
                            </m:dPr>
                            <m:e>
                              <m:f>
                                <m:fPr>
                                  <m:ctrlPr>
                                    <a:rPr lang="en-CN" sz="1400" b="0" i="1">
                                      <a:latin typeface="Cambria Math" panose="02040503050406030204" pitchFamily="18" charset="0"/>
                                    </a:rPr>
                                  </m:ctrlPr>
                                </m:fPr>
                                <m:num>
                                  <m:r>
                                    <a:rPr lang="en-CN" sz="1400" b="0" i="1">
                                      <a:latin typeface="Cambria Math" panose="02040503050406030204" pitchFamily="18" charset="0"/>
                                    </a:rPr>
                                    <m:t>𝑃</m:t>
                                  </m:r>
                                  <m:d>
                                    <m:dPr>
                                      <m:ctrlPr>
                                        <a:rPr lang="en-CN" sz="1400" b="0" i="1">
                                          <a:latin typeface="Cambria Math" panose="02040503050406030204" pitchFamily="18" charset="0"/>
                                        </a:rPr>
                                      </m:ctrlPr>
                                    </m:dPr>
                                    <m:e>
                                      <m:r>
                                        <a:rPr lang="en-CN" sz="1400" b="0" i="1">
                                          <a:latin typeface="Cambria Math" panose="02040503050406030204" pitchFamily="18" charset="0"/>
                                        </a:rPr>
                                        <m:t>𝑡</m:t>
                                      </m:r>
                                      <m:r>
                                        <a:rPr lang="en-CN" sz="1400" b="0" i="0">
                                          <a:latin typeface="Cambria Math" panose="02040503050406030204" pitchFamily="18" charset="0"/>
                                        </a:rPr>
                                        <m:t>,</m:t>
                                      </m:r>
                                      <m:r>
                                        <a:rPr lang="en-CN" sz="1400" b="0" i="1">
                                          <a:latin typeface="Cambria Math" panose="02040503050406030204" pitchFamily="18" charset="0"/>
                                        </a:rPr>
                                        <m:t>𝑓</m:t>
                                      </m:r>
                                    </m:e>
                                  </m:d>
                                </m:num>
                                <m:den>
                                  <m:f>
                                    <m:fPr>
                                      <m:ctrlPr>
                                        <a:rPr lang="en-CN" sz="1400" b="0" i="1">
                                          <a:latin typeface="Cambria Math" panose="02040503050406030204" pitchFamily="18" charset="0"/>
                                        </a:rPr>
                                      </m:ctrlPr>
                                    </m:fPr>
                                    <m:num>
                                      <m:r>
                                        <a:rPr lang="en-CN" sz="1400" b="0" i="0">
                                          <a:latin typeface="Cambria Math" panose="02040503050406030204" pitchFamily="18" charset="0"/>
                                        </a:rPr>
                                        <m:t>1</m:t>
                                      </m:r>
                                    </m:num>
                                    <m:den>
                                      <m:d>
                                        <m:dPr>
                                          <m:begChr m:val="|"/>
                                          <m:endChr m:val="|"/>
                                          <m:ctrlPr>
                                            <a:rPr lang="en-CN" sz="1400" b="0" i="1">
                                              <a:latin typeface="Cambria Math" panose="02040503050406030204" pitchFamily="18" charset="0"/>
                                            </a:rPr>
                                          </m:ctrlPr>
                                        </m:dPr>
                                        <m:e>
                                          <m:r>
                                            <a:rPr lang="en-CN" sz="1400" b="0" i="1">
                                              <a:latin typeface="Cambria Math" panose="02040503050406030204" pitchFamily="18" charset="0"/>
                                            </a:rPr>
                                            <m:t>𝐵</m:t>
                                          </m:r>
                                        </m:e>
                                      </m:d>
                                    </m:den>
                                  </m:f>
                                  <m:nary>
                                    <m:naryPr>
                                      <m:chr m:val="∑"/>
                                      <m:limLoc m:val="subSup"/>
                                      <m:supHide m:val="on"/>
                                      <m:ctrlPr>
                                        <a:rPr lang="en-CN" sz="1400" b="0" i="1">
                                          <a:latin typeface="Cambria Math" panose="02040503050406030204" pitchFamily="18" charset="0"/>
                                        </a:rPr>
                                      </m:ctrlPr>
                                    </m:naryPr>
                                    <m:sub>
                                      <m:r>
                                        <m:rPr>
                                          <m:sty m:val="p"/>
                                        </m:rPr>
                                        <a:rPr lang="en-CN" sz="1400" b="0" i="0">
                                          <a:latin typeface="Cambria Math" panose="02040503050406030204" pitchFamily="18" charset="0"/>
                                        </a:rPr>
                                        <m:t>τ</m:t>
                                      </m:r>
                                      <m:r>
                                        <a:rPr lang="en-CN" sz="1400" b="0" i="0">
                                          <a:latin typeface="Cambria Math" panose="02040503050406030204" pitchFamily="18" charset="0"/>
                                        </a:rPr>
                                        <m:t>∈</m:t>
                                      </m:r>
                                      <m:r>
                                        <a:rPr lang="en-CN" sz="1400" b="0" i="1">
                                          <a:latin typeface="Cambria Math" panose="02040503050406030204" pitchFamily="18" charset="0"/>
                                        </a:rPr>
                                        <m:t>𝐵</m:t>
                                      </m:r>
                                    </m:sub>
                                    <m:sup/>
                                    <m:e>
                                      <m:r>
                                        <a:rPr lang="en-CN" sz="1400" b="0" i="1">
                                          <a:latin typeface="Cambria Math" panose="02040503050406030204" pitchFamily="18" charset="0"/>
                                        </a:rPr>
                                        <m:t>𝑃</m:t>
                                      </m:r>
                                      <m:d>
                                        <m:dPr>
                                          <m:ctrlPr>
                                            <a:rPr lang="en-CN" sz="1400" b="0" i="1">
                                              <a:latin typeface="Cambria Math" panose="02040503050406030204" pitchFamily="18" charset="0"/>
                                            </a:rPr>
                                          </m:ctrlPr>
                                        </m:dPr>
                                        <m:e>
                                          <m:r>
                                            <m:rPr>
                                              <m:sty m:val="p"/>
                                            </m:rPr>
                                            <a:rPr lang="en-CN" sz="1400" b="0" i="0">
                                              <a:latin typeface="Cambria Math" panose="02040503050406030204" pitchFamily="18" charset="0"/>
                                            </a:rPr>
                                            <m:t>τ</m:t>
                                          </m:r>
                                          <m:r>
                                            <a:rPr lang="en-CN" sz="1400" b="0" i="0">
                                              <a:latin typeface="Cambria Math" panose="02040503050406030204" pitchFamily="18" charset="0"/>
                                            </a:rPr>
                                            <m:t>,</m:t>
                                          </m:r>
                                          <m:r>
                                            <a:rPr lang="en-CN" sz="1400" b="0" i="1">
                                              <a:latin typeface="Cambria Math" panose="02040503050406030204" pitchFamily="18" charset="0"/>
                                            </a:rPr>
                                            <m:t>𝑓</m:t>
                                          </m:r>
                                        </m:e>
                                      </m:d>
                                    </m:e>
                                  </m:nary>
                                </m:den>
                              </m:f>
                            </m:e>
                          </m:d>
                        </m:e>
                      </m:func>
                    </m:oMath>
                  </m:oMathPara>
                </a14:m>
                <a:endParaRPr lang="en-US" sz="1400" b="0" i="1" dirty="0">
                  <a:latin typeface="Cambria Math" panose="02040503050406030204" pitchFamily="18" charset="0"/>
                </a:endParaRPr>
              </a:p>
              <a:p>
                <a:pPr>
                  <a:lnSpc>
                    <a:spcPct val="110000"/>
                  </a:lnSpc>
                </a:pPr>
                <a14:m>
                  <m:oMathPara xmlns:m="http://schemas.openxmlformats.org/officeDocument/2006/math">
                    <m:oMathParaPr>
                      <m:jc m:val="centerGroup"/>
                    </m:oMathParaPr>
                    <m:oMath xmlns:m="http://schemas.openxmlformats.org/officeDocument/2006/math">
                      <m:r>
                        <m:rPr>
                          <m:sty m:val="p"/>
                        </m:rPr>
                        <a:rPr lang="en-CN" sz="1400" b="0" i="0">
                          <a:latin typeface="Cambria Math" panose="02040503050406030204" pitchFamily="18" charset="0"/>
                        </a:rPr>
                        <m:t>Δ</m:t>
                      </m:r>
                      <m:sSub>
                        <m:sSubPr>
                          <m:ctrlPr>
                            <a:rPr lang="en-CN" sz="1400" b="0" i="1">
                              <a:latin typeface="Cambria Math" panose="02040503050406030204" pitchFamily="18" charset="0"/>
                            </a:rPr>
                          </m:ctrlPr>
                        </m:sSubPr>
                        <m:e>
                          <m:r>
                            <a:rPr lang="en-CN" sz="1400" b="0" i="1">
                              <a:latin typeface="Cambria Math" panose="02040503050406030204" pitchFamily="18" charset="0"/>
                            </a:rPr>
                            <m:t>𝑃</m:t>
                          </m:r>
                        </m:e>
                        <m:sub>
                          <m:sSub>
                            <m:sSubPr>
                              <m:ctrlPr>
                                <a:rPr lang="en-CN" sz="1400" b="0" i="1">
                                  <a:latin typeface="Cambria Math" panose="02040503050406030204" pitchFamily="18" charset="0"/>
                                </a:rPr>
                              </m:ctrlPr>
                            </m:sSubPr>
                            <m:e>
                              <m:r>
                                <a:rPr lang="en-CN" sz="1400" b="0" i="1">
                                  <a:latin typeface="Cambria Math" panose="02040503050406030204" pitchFamily="18" charset="0"/>
                                </a:rPr>
                                <m:t>𝑐</m:t>
                              </m:r>
                            </m:e>
                            <m:sub>
                              <m:r>
                                <a:rPr lang="en-CN" sz="1400" b="0" i="0">
                                  <a:latin typeface="Cambria Math" panose="02040503050406030204" pitchFamily="18" charset="0"/>
                                </a:rPr>
                                <m:t>1</m:t>
                              </m:r>
                            </m:sub>
                          </m:sSub>
                          <m:r>
                            <a:rPr lang="en-CN" sz="1400" b="0" i="0">
                              <a:latin typeface="Cambria Math" panose="02040503050406030204" pitchFamily="18" charset="0"/>
                            </a:rPr>
                            <m:t>−</m:t>
                          </m:r>
                          <m:sSub>
                            <m:sSubPr>
                              <m:ctrlPr>
                                <a:rPr lang="en-CN" sz="1400" b="0" i="1">
                                  <a:latin typeface="Cambria Math" panose="02040503050406030204" pitchFamily="18" charset="0"/>
                                </a:rPr>
                              </m:ctrlPr>
                            </m:sSubPr>
                            <m:e>
                              <m:r>
                                <a:rPr lang="en-CN" sz="1400" b="0" i="1">
                                  <a:latin typeface="Cambria Math" panose="02040503050406030204" pitchFamily="18" charset="0"/>
                                </a:rPr>
                                <m:t>𝑐</m:t>
                              </m:r>
                            </m:e>
                            <m:sub>
                              <m:r>
                                <a:rPr lang="en-CN" sz="1400" b="0" i="0">
                                  <a:latin typeface="Cambria Math" panose="02040503050406030204" pitchFamily="18" charset="0"/>
                                </a:rPr>
                                <m:t>2</m:t>
                              </m:r>
                            </m:sub>
                          </m:sSub>
                        </m:sub>
                      </m:sSub>
                      <m:d>
                        <m:dPr>
                          <m:ctrlPr>
                            <a:rPr lang="en-CN" sz="1400" b="0" i="1">
                              <a:latin typeface="Cambria Math" panose="02040503050406030204" pitchFamily="18" charset="0"/>
                            </a:rPr>
                          </m:ctrlPr>
                        </m:dPr>
                        <m:e>
                          <m:r>
                            <a:rPr lang="en-CN" sz="1400" b="0" i="1">
                              <a:latin typeface="Cambria Math" panose="02040503050406030204" pitchFamily="18" charset="0"/>
                            </a:rPr>
                            <m:t>𝑡</m:t>
                          </m:r>
                          <m:r>
                            <a:rPr lang="en-CN" sz="1400" b="0" i="0">
                              <a:latin typeface="Cambria Math" panose="02040503050406030204" pitchFamily="18" charset="0"/>
                            </a:rPr>
                            <m:t>,</m:t>
                          </m:r>
                          <m:r>
                            <a:rPr lang="en-CN" sz="1400" b="0" i="1">
                              <a:latin typeface="Cambria Math" panose="02040503050406030204" pitchFamily="18" charset="0"/>
                            </a:rPr>
                            <m:t>𝑓</m:t>
                          </m:r>
                        </m:e>
                      </m:d>
                      <m:r>
                        <a:rPr lang="en-CN" sz="1400" b="0" i="0">
                          <a:latin typeface="Cambria Math" panose="02040503050406030204" pitchFamily="18" charset="0"/>
                        </a:rPr>
                        <m:t>=</m:t>
                      </m:r>
                      <m:sSub>
                        <m:sSubPr>
                          <m:ctrlPr>
                            <a:rPr lang="en-CN" sz="1400" b="0" i="1">
                              <a:latin typeface="Cambria Math" panose="02040503050406030204" pitchFamily="18" charset="0"/>
                            </a:rPr>
                          </m:ctrlPr>
                        </m:sSubPr>
                        <m:e>
                          <m:bar>
                            <m:barPr>
                              <m:pos m:val="top"/>
                              <m:ctrlPr>
                                <a:rPr lang="en-CN" sz="1400" b="0" i="1">
                                  <a:latin typeface="Cambria Math" panose="02040503050406030204" pitchFamily="18" charset="0"/>
                                </a:rPr>
                              </m:ctrlPr>
                            </m:barPr>
                            <m:e>
                              <m:r>
                                <a:rPr lang="en-CN" sz="1400" b="0" i="1">
                                  <a:latin typeface="Cambria Math" panose="02040503050406030204" pitchFamily="18" charset="0"/>
                                </a:rPr>
                                <m:t>𝑃</m:t>
                              </m:r>
                            </m:e>
                          </m:bar>
                        </m:e>
                        <m:sub>
                          <m:sSub>
                            <m:sSubPr>
                              <m:ctrlPr>
                                <a:rPr lang="en-CN" sz="1400" b="0" i="1">
                                  <a:latin typeface="Cambria Math" panose="02040503050406030204" pitchFamily="18" charset="0"/>
                                </a:rPr>
                              </m:ctrlPr>
                            </m:sSubPr>
                            <m:e>
                              <m:r>
                                <a:rPr lang="en-CN" sz="1400" b="0" i="1">
                                  <a:latin typeface="Cambria Math" panose="02040503050406030204" pitchFamily="18" charset="0"/>
                                </a:rPr>
                                <m:t>𝑐</m:t>
                              </m:r>
                            </m:e>
                            <m:sub>
                              <m:r>
                                <a:rPr lang="en-CN" sz="1400" b="0" i="0">
                                  <a:latin typeface="Cambria Math" panose="02040503050406030204" pitchFamily="18" charset="0"/>
                                </a:rPr>
                                <m:t>1</m:t>
                              </m:r>
                            </m:sub>
                          </m:sSub>
                          <m:r>
                            <a:rPr lang="en-CN" sz="1400" b="0" i="0">
                              <a:latin typeface="Cambria Math" panose="02040503050406030204" pitchFamily="18" charset="0"/>
                            </a:rPr>
                            <m:t>,</m:t>
                          </m:r>
                          <m:r>
                            <m:rPr>
                              <m:nor/>
                            </m:rPr>
                            <a:rPr lang="en-CN" sz="1400" b="0" i="1">
                              <a:latin typeface="Cambria Math" panose="02040503050406030204" pitchFamily="18" charset="0"/>
                            </a:rPr>
                            <m:t>dB</m:t>
                          </m:r>
                        </m:sub>
                      </m:sSub>
                      <m:d>
                        <m:dPr>
                          <m:ctrlPr>
                            <a:rPr lang="en-CN" sz="1400" b="0" i="1">
                              <a:latin typeface="Cambria Math" panose="02040503050406030204" pitchFamily="18" charset="0"/>
                            </a:rPr>
                          </m:ctrlPr>
                        </m:dPr>
                        <m:e>
                          <m:r>
                            <a:rPr lang="en-CN" sz="1400" b="0" i="1">
                              <a:latin typeface="Cambria Math" panose="02040503050406030204" pitchFamily="18" charset="0"/>
                            </a:rPr>
                            <m:t>𝑡</m:t>
                          </m:r>
                          <m:r>
                            <a:rPr lang="en-CN" sz="1400" b="0" i="0">
                              <a:latin typeface="Cambria Math" panose="02040503050406030204" pitchFamily="18" charset="0"/>
                            </a:rPr>
                            <m:t>,</m:t>
                          </m:r>
                          <m:r>
                            <a:rPr lang="en-CN" sz="1400" b="0" i="1">
                              <a:latin typeface="Cambria Math" panose="02040503050406030204" pitchFamily="18" charset="0"/>
                            </a:rPr>
                            <m:t>𝑓</m:t>
                          </m:r>
                        </m:e>
                      </m:d>
                      <m:r>
                        <a:rPr lang="en-CN" sz="1400" b="0" i="0">
                          <a:latin typeface="Cambria Math" panose="02040503050406030204" pitchFamily="18" charset="0"/>
                        </a:rPr>
                        <m:t>−</m:t>
                      </m:r>
                      <m:sSub>
                        <m:sSubPr>
                          <m:ctrlPr>
                            <a:rPr lang="en-CN" sz="1400" b="0" i="1">
                              <a:latin typeface="Cambria Math" panose="02040503050406030204" pitchFamily="18" charset="0"/>
                            </a:rPr>
                          </m:ctrlPr>
                        </m:sSubPr>
                        <m:e>
                          <m:bar>
                            <m:barPr>
                              <m:pos m:val="top"/>
                              <m:ctrlPr>
                                <a:rPr lang="en-CN" sz="1400" b="0" i="1">
                                  <a:latin typeface="Cambria Math" panose="02040503050406030204" pitchFamily="18" charset="0"/>
                                </a:rPr>
                              </m:ctrlPr>
                            </m:barPr>
                            <m:e>
                              <m:r>
                                <a:rPr lang="en-CN" sz="1400" b="0" i="1">
                                  <a:latin typeface="Cambria Math" panose="02040503050406030204" pitchFamily="18" charset="0"/>
                                </a:rPr>
                                <m:t>𝑃</m:t>
                              </m:r>
                            </m:e>
                          </m:bar>
                        </m:e>
                        <m:sub>
                          <m:sSub>
                            <m:sSubPr>
                              <m:ctrlPr>
                                <a:rPr lang="en-CN" sz="1400" b="0" i="1">
                                  <a:latin typeface="Cambria Math" panose="02040503050406030204" pitchFamily="18" charset="0"/>
                                </a:rPr>
                              </m:ctrlPr>
                            </m:sSubPr>
                            <m:e>
                              <m:r>
                                <a:rPr lang="en-CN" sz="1400" b="0" i="1">
                                  <a:latin typeface="Cambria Math" panose="02040503050406030204" pitchFamily="18" charset="0"/>
                                </a:rPr>
                                <m:t>𝑐</m:t>
                              </m:r>
                            </m:e>
                            <m:sub>
                              <m:r>
                                <a:rPr lang="en-CN" sz="1400" b="0" i="0">
                                  <a:latin typeface="Cambria Math" panose="02040503050406030204" pitchFamily="18" charset="0"/>
                                </a:rPr>
                                <m:t>2</m:t>
                              </m:r>
                            </m:sub>
                          </m:sSub>
                          <m:r>
                            <a:rPr lang="en-CN" sz="1400" b="0" i="0">
                              <a:latin typeface="Cambria Math" panose="02040503050406030204" pitchFamily="18" charset="0"/>
                            </a:rPr>
                            <m:t>,</m:t>
                          </m:r>
                          <m:r>
                            <m:rPr>
                              <m:nor/>
                            </m:rPr>
                            <a:rPr lang="en-CN" sz="1400" b="0" i="1">
                              <a:latin typeface="Cambria Math" panose="02040503050406030204" pitchFamily="18" charset="0"/>
                            </a:rPr>
                            <m:t>dB</m:t>
                          </m:r>
                        </m:sub>
                      </m:sSub>
                      <m:d>
                        <m:dPr>
                          <m:ctrlPr>
                            <a:rPr lang="en-CN" sz="1400" b="0" i="1">
                              <a:latin typeface="Cambria Math" panose="02040503050406030204" pitchFamily="18" charset="0"/>
                            </a:rPr>
                          </m:ctrlPr>
                        </m:dPr>
                        <m:e>
                          <m:r>
                            <a:rPr lang="en-CN" sz="1400" b="0" i="1">
                              <a:latin typeface="Cambria Math" panose="02040503050406030204" pitchFamily="18" charset="0"/>
                            </a:rPr>
                            <m:t>𝑡</m:t>
                          </m:r>
                          <m:r>
                            <a:rPr lang="en-CN" sz="1400" b="0" i="0">
                              <a:latin typeface="Cambria Math" panose="02040503050406030204" pitchFamily="18" charset="0"/>
                            </a:rPr>
                            <m:t>,</m:t>
                          </m:r>
                          <m:r>
                            <a:rPr lang="en-CN" sz="1400" b="0" i="1">
                              <a:latin typeface="Cambria Math" panose="02040503050406030204" pitchFamily="18" charset="0"/>
                            </a:rPr>
                            <m:t>𝑓</m:t>
                          </m:r>
                        </m:e>
                      </m:d>
                    </m:oMath>
                  </m:oMathPara>
                </a14:m>
                <a:endParaRPr lang="en-CN" sz="1400" dirty="0"/>
              </a:p>
            </p:txBody>
          </p:sp>
        </mc:Choice>
        <mc:Fallback xmlns="">
          <p:sp>
            <p:nvSpPr>
              <p:cNvPr id="18" name="TextBox 17">
                <a:extLst>
                  <a:ext uri="{FF2B5EF4-FFF2-40B4-BE49-F238E27FC236}">
                    <a16:creationId xmlns:a16="http://schemas.microsoft.com/office/drawing/2014/main" id="{65197073-C6D0-961E-6402-DA9495423325}"/>
                  </a:ext>
                </a:extLst>
              </p:cNvPr>
              <p:cNvSpPr txBox="1">
                <a:spLocks noRot="1" noChangeAspect="1" noMove="1" noResize="1" noEditPoints="1" noAdjustHandles="1" noChangeArrowheads="1" noChangeShapeType="1" noTextEdit="1"/>
              </p:cNvSpPr>
              <p:nvPr/>
            </p:nvSpPr>
            <p:spPr>
              <a:xfrm>
                <a:off x="8026042" y="4199562"/>
                <a:ext cx="4035553" cy="2629374"/>
              </a:xfrm>
              <a:prstGeom prst="rect">
                <a:avLst/>
              </a:prstGeom>
              <a:blipFill>
                <a:blip r:embed="rId7"/>
                <a:stretch>
                  <a:fillRect t="-1442" b="-3846"/>
                </a:stretch>
              </a:blipFill>
            </p:spPr>
            <p:txBody>
              <a:bodyPr/>
              <a:lstStyle/>
              <a:p>
                <a:r>
                  <a:rPr lang="en-CN">
                    <a:noFill/>
                  </a:rPr>
                  <a:t> </a:t>
                </a:r>
              </a:p>
            </p:txBody>
          </p:sp>
        </mc:Fallback>
      </mc:AlternateContent>
      <p:sp>
        <p:nvSpPr>
          <p:cNvPr id="21" name="矩形 75">
            <a:extLst>
              <a:ext uri="{FF2B5EF4-FFF2-40B4-BE49-F238E27FC236}">
                <a16:creationId xmlns:a16="http://schemas.microsoft.com/office/drawing/2014/main" id="{467FBE8D-488F-1C41-2D03-AA687C737D85}"/>
              </a:ext>
            </a:extLst>
          </p:cNvPr>
          <p:cNvSpPr/>
          <p:nvPr/>
        </p:nvSpPr>
        <p:spPr>
          <a:xfrm>
            <a:off x="8266176" y="4306836"/>
            <a:ext cx="3555286" cy="2512846"/>
          </a:xfrm>
          <a:prstGeom prst="rect">
            <a:avLst/>
          </a:prstGeom>
          <a:noFill/>
          <a:ln w="19050">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7980131"/>
      </p:ext>
    </p:extLst>
  </p:cSld>
  <p:clrMapOvr>
    <a:masterClrMapping/>
  </p:clrMapOvr>
  <mc:AlternateContent xmlns:mc="http://schemas.openxmlformats.org/markup-compatibility/2006" xmlns:p14="http://schemas.microsoft.com/office/powerpoint/2010/main">
    <mc:Choice Requires="p14">
      <p:transition spd="slow" p14:dur="2000" advTm="66649"/>
    </mc:Choice>
    <mc:Fallback xmlns="">
      <p:transition spd="slow" advTm="6664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animBg="1"/>
      <p:bldP spid="13" grpId="0"/>
      <p:bldP spid="2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54E3A-6A0D-9AE0-186D-6F0056867569}"/>
            </a:ext>
          </a:extLst>
        </p:cNvPr>
        <p:cNvGrpSpPr/>
        <p:nvPr/>
      </p:nvGrpSpPr>
      <p:grpSpPr>
        <a:xfrm>
          <a:off x="0" y="0"/>
          <a:ext cx="0" cy="0"/>
          <a:chOff x="0" y="0"/>
          <a:chExt cx="0" cy="0"/>
        </a:xfrm>
      </p:grpSpPr>
      <p:sp>
        <p:nvSpPr>
          <p:cNvPr id="17" name="文本框 16">
            <a:extLst>
              <a:ext uri="{FF2B5EF4-FFF2-40B4-BE49-F238E27FC236}">
                <a16:creationId xmlns:a16="http://schemas.microsoft.com/office/drawing/2014/main" id="{24FC5020-41DB-7653-B2EF-B5B644B93C80}"/>
              </a:ext>
            </a:extLst>
          </p:cNvPr>
          <p:cNvSpPr txBox="1"/>
          <p:nvPr/>
        </p:nvSpPr>
        <p:spPr>
          <a:xfrm>
            <a:off x="1205169" y="553037"/>
            <a:ext cx="4669313" cy="45719"/>
          </a:xfrm>
          <a:prstGeom prst="rect">
            <a:avLst/>
          </a:prstGeom>
          <a:solidFill>
            <a:schemeClr val="bg1"/>
          </a:solid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defRPr/>
            </a:pPr>
            <a:endParaRPr kumimoji="0" lang="zh-CN" altLang="en-US" sz="1400" b="1" i="0" u="none" strike="noStrike" kern="1200" cap="none" spc="300" normalizeH="0" noProof="0" dirty="0">
              <a:ln>
                <a:noFill/>
              </a:ln>
              <a:solidFill>
                <a:prstClr val="black"/>
              </a:solidFill>
              <a:effectLst/>
              <a:uLnTx/>
              <a:uFillTx/>
              <a:latin typeface="FangSong_GB2312" panose="02010609030101010101" pitchFamily="49" charset="-122"/>
              <a:ea typeface="FangSong_GB2312" panose="02010609030101010101" pitchFamily="49" charset="-122"/>
            </a:endParaRPr>
          </a:p>
        </p:txBody>
      </p:sp>
      <p:sp>
        <p:nvSpPr>
          <p:cNvPr id="19" name="文本框 18">
            <a:extLst>
              <a:ext uri="{FF2B5EF4-FFF2-40B4-BE49-F238E27FC236}">
                <a16:creationId xmlns:a16="http://schemas.microsoft.com/office/drawing/2014/main" id="{534D0855-C326-5C96-3305-5657A6B625B9}"/>
              </a:ext>
            </a:extLst>
          </p:cNvPr>
          <p:cNvSpPr txBox="1"/>
          <p:nvPr/>
        </p:nvSpPr>
        <p:spPr>
          <a:xfrm>
            <a:off x="358346" y="288442"/>
            <a:ext cx="720000" cy="523220"/>
          </a:xfrm>
          <a:prstGeom prst="rect">
            <a:avLst/>
          </a:prstGeom>
          <a:noFill/>
        </p:spPr>
        <p:txBody>
          <a:bodyPr wrap="square" rtlCol="0">
            <a:spAutoFit/>
          </a:bodyPr>
          <a:lstStyle/>
          <a:p>
            <a:pPr algn="ctr"/>
            <a:r>
              <a:rPr lang="en-US" altLang="zh-CN"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02</a:t>
            </a:r>
            <a:endParaRPr lang="zh-CN" altLang="en-US"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TextBox 2">
            <a:extLst>
              <a:ext uri="{FF2B5EF4-FFF2-40B4-BE49-F238E27FC236}">
                <a16:creationId xmlns:a16="http://schemas.microsoft.com/office/drawing/2014/main" id="{5F4046B1-B622-B1B0-8E17-8F8B3306882A}"/>
              </a:ext>
            </a:extLst>
          </p:cNvPr>
          <p:cNvSpPr txBox="1"/>
          <p:nvPr/>
        </p:nvSpPr>
        <p:spPr>
          <a:xfrm>
            <a:off x="1231296" y="349997"/>
            <a:ext cx="4542488" cy="400110"/>
          </a:xfrm>
          <a:prstGeom prst="rect">
            <a:avLst/>
          </a:prstGeom>
          <a:noFill/>
        </p:spPr>
        <p:txBody>
          <a:bodyPr wrap="square">
            <a:spAutoFit/>
          </a:bodyPr>
          <a:lstStyle/>
          <a:p>
            <a:r>
              <a:rPr lang="zh-CN" altLang="en-US" sz="2000" b="1" dirty="0">
                <a:solidFill>
                  <a:schemeClr val="tx1"/>
                </a:solidFill>
                <a:latin typeface="FangSong_GB2312" panose="02010609030101010101" pitchFamily="49" charset="-122"/>
                <a:ea typeface="FangSong_GB2312" panose="02010609030101010101" pitchFamily="49" charset="-122"/>
              </a:rPr>
              <a:t>研究一结果：杏仁核参与，海马不参与</a:t>
            </a:r>
          </a:p>
        </p:txBody>
      </p:sp>
      <p:sp>
        <p:nvSpPr>
          <p:cNvPr id="2" name="文本框 15">
            <a:extLst>
              <a:ext uri="{FF2B5EF4-FFF2-40B4-BE49-F238E27FC236}">
                <a16:creationId xmlns:a16="http://schemas.microsoft.com/office/drawing/2014/main" id="{DBE60894-85B9-CC4B-6314-B3B6913B0CD1}"/>
              </a:ext>
            </a:extLst>
          </p:cNvPr>
          <p:cNvSpPr txBox="1"/>
          <p:nvPr/>
        </p:nvSpPr>
        <p:spPr>
          <a:xfrm>
            <a:off x="355654" y="1192631"/>
            <a:ext cx="1420582" cy="400110"/>
          </a:xfrm>
          <a:prstGeom prst="rect">
            <a:avLst/>
          </a:prstGeom>
          <a:solidFill>
            <a:schemeClr val="bg1"/>
          </a:solidFill>
        </p:spPr>
        <p:txBody>
          <a:bodyPr wrap="none" rtlCol="0">
            <a:spAutoFit/>
          </a:bodyPr>
          <a:lstStyle/>
          <a:p>
            <a:pPr marL="342900" indent="-342900" defTabSz="914400">
              <a:buFont typeface="Wingdings" pitchFamily="2" charset="2"/>
              <a:buChar char="Ø"/>
            </a:pPr>
            <a:r>
              <a:rPr lang="zh-CN" altLang="en-US" sz="2000" b="1" spc="300" dirty="0">
                <a:latin typeface="FangSong_GB2312" panose="02010609030101010101" pitchFamily="49" charset="-122"/>
                <a:ea typeface="FangSong_GB2312" panose="02010609030101010101" pitchFamily="49" charset="-122"/>
              </a:rPr>
              <a:t>杏仁核</a:t>
            </a:r>
          </a:p>
        </p:txBody>
      </p:sp>
      <p:sp>
        <p:nvSpPr>
          <p:cNvPr id="7" name="文本框 47">
            <a:extLst>
              <a:ext uri="{FF2B5EF4-FFF2-40B4-BE49-F238E27FC236}">
                <a16:creationId xmlns:a16="http://schemas.microsoft.com/office/drawing/2014/main" id="{8089CDBA-07A6-B725-6AA0-59EE59908B55}"/>
              </a:ext>
            </a:extLst>
          </p:cNvPr>
          <p:cNvSpPr txBox="1"/>
          <p:nvPr/>
        </p:nvSpPr>
        <p:spPr>
          <a:xfrm>
            <a:off x="5224474" y="2118557"/>
            <a:ext cx="5271808" cy="1522917"/>
          </a:xfrm>
          <a:prstGeom prst="rect">
            <a:avLst/>
          </a:prstGeom>
          <a:noFill/>
        </p:spPr>
        <p:txBody>
          <a:bodyPr wrap="square">
            <a:spAutoFit/>
          </a:bodyPr>
          <a:lstStyle/>
          <a:p>
            <a:pPr algn="just">
              <a:lnSpc>
                <a:spcPct val="150000"/>
              </a:lnSpc>
            </a:pPr>
            <a:r>
              <a:rPr lang="zh-CN" altLang="en-US" sz="1600" b="1" dirty="0">
                <a:latin typeface="Times New Roman" panose="02020603050405020304" pitchFamily="18" charset="0"/>
                <a:ea typeface="FangSong_GB2312" panose="02010609030101010101" pitchFamily="49" charset="-122"/>
                <a:cs typeface="Microsoft GothicNeo" panose="020B0500000101010101" pitchFamily="34" charset="-127"/>
              </a:rPr>
              <a:t>主簇</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：刺激后</a:t>
            </a: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450-800 </a:t>
            </a:r>
            <a:r>
              <a:rPr lang="en-US" altLang="zh-CN" sz="1600" dirty="0" err="1">
                <a:latin typeface="Times New Roman" panose="02020603050405020304" pitchFamily="18" charset="0"/>
                <a:ea typeface="FangSong_GB2312" panose="02010609030101010101" pitchFamily="49" charset="-122"/>
                <a:cs typeface="Microsoft GothicNeo" panose="020B0500000101010101" pitchFamily="34" charset="-127"/>
              </a:rPr>
              <a:t>ms</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a:t>
            </a: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5.8-20.2 Hz</a:t>
            </a:r>
          </a:p>
          <a:p>
            <a:pPr algn="just">
              <a:lnSpc>
                <a:spcPct val="150000"/>
              </a:lnSpc>
            </a:pPr>
            <a:r>
              <a:rPr lang="zh-CN" altLang="en-US" sz="1600" b="1" dirty="0">
                <a:latin typeface="Times New Roman" panose="02020603050405020304" pitchFamily="18" charset="0"/>
                <a:ea typeface="FangSong_GB2312" panose="02010609030101010101" pitchFamily="49" charset="-122"/>
                <a:cs typeface="Microsoft GothicNeo" panose="020B0500000101010101" pitchFamily="34" charset="-127"/>
              </a:rPr>
              <a:t>副簇</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：刺激后</a:t>
            </a: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1650-1950 </a:t>
            </a:r>
            <a:r>
              <a:rPr lang="en-US" altLang="zh-CN" sz="1600" dirty="0" err="1">
                <a:latin typeface="Times New Roman" panose="02020603050405020304" pitchFamily="18" charset="0"/>
                <a:ea typeface="FangSong_GB2312" panose="02010609030101010101" pitchFamily="49" charset="-122"/>
                <a:cs typeface="Microsoft GothicNeo" panose="020B0500000101010101" pitchFamily="34" charset="-127"/>
              </a:rPr>
              <a:t>ms</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a:t>
            </a: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2.0-4.1 Hz</a:t>
            </a:r>
          </a:p>
          <a:p>
            <a:pPr algn="just">
              <a:lnSpc>
                <a:spcPct val="150000"/>
              </a:lnSpc>
            </a:pP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在刺激呈现后约</a:t>
            </a: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500-800 </a:t>
            </a:r>
            <a:r>
              <a:rPr lang="en-US" altLang="zh-CN" sz="1600" dirty="0" err="1">
                <a:latin typeface="Times New Roman" panose="02020603050405020304" pitchFamily="18" charset="0"/>
                <a:ea typeface="FangSong_GB2312" panose="02010609030101010101" pitchFamily="49" charset="-122"/>
                <a:cs typeface="Microsoft GothicNeo" panose="020B0500000101010101" pitchFamily="34" charset="-127"/>
              </a:rPr>
              <a:t>ms</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的时间窗内，正性图片相较负性图片诱发了更明显的</a:t>
            </a:r>
            <a:r>
              <a:rPr lang="el-GR" altLang="zh-CN" sz="1600" b="1" dirty="0">
                <a:solidFill>
                  <a:srgbClr val="2E75B6"/>
                </a:solidFill>
                <a:latin typeface="Times New Roman" panose="02020603050405020304" pitchFamily="18" charset="0"/>
                <a:ea typeface="FangSong_GB2312" panose="02010609030101010101" pitchFamily="49" charset="-122"/>
                <a:cs typeface="Microsoft GothicNeo" panose="020B0500000101010101" pitchFamily="34" charset="-127"/>
              </a:rPr>
              <a:t>α</a:t>
            </a:r>
            <a:r>
              <a:rPr lang="zh-CN" altLang="en-US" sz="1600" b="1" dirty="0">
                <a:solidFill>
                  <a:srgbClr val="2E75B6"/>
                </a:solidFill>
                <a:latin typeface="Times New Roman" panose="02020603050405020304" pitchFamily="18" charset="0"/>
                <a:ea typeface="FangSong_GB2312" panose="02010609030101010101" pitchFamily="49" charset="-122"/>
                <a:cs typeface="Microsoft GothicNeo" panose="020B0500000101010101" pitchFamily="34" charset="-127"/>
              </a:rPr>
              <a:t>频段功率减弱</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和</a:t>
            </a:r>
            <a:r>
              <a:rPr lang="el-GR" altLang="zh-CN" sz="1600" b="1" dirty="0">
                <a:solidFill>
                  <a:srgbClr val="FF0000"/>
                </a:solidFill>
                <a:latin typeface="Times New Roman" panose="02020603050405020304" pitchFamily="18" charset="0"/>
                <a:ea typeface="FangSong_GB2312" panose="02010609030101010101" pitchFamily="49" charset="-122"/>
                <a:cs typeface="Microsoft GothicNeo" panose="020B0500000101010101" pitchFamily="34" charset="-127"/>
              </a:rPr>
              <a:t>β</a:t>
            </a:r>
            <a:r>
              <a:rPr lang="zh-CN" altLang="en-US" sz="1600" b="1" dirty="0">
                <a:solidFill>
                  <a:srgbClr val="FF0000"/>
                </a:solidFill>
                <a:latin typeface="Times New Roman" panose="02020603050405020304" pitchFamily="18" charset="0"/>
                <a:ea typeface="FangSong_GB2312" panose="02010609030101010101" pitchFamily="49" charset="-122"/>
                <a:cs typeface="Microsoft GothicNeo" panose="020B0500000101010101" pitchFamily="34" charset="-127"/>
              </a:rPr>
              <a:t>频段功率增强</a:t>
            </a:r>
            <a:endParaRPr lang="en-US" altLang="zh-CN" sz="1600" b="1" dirty="0">
              <a:solidFill>
                <a:srgbClr val="FF0000"/>
              </a:solidFill>
              <a:latin typeface="Times New Roman" panose="02020603050405020304" pitchFamily="18" charset="0"/>
              <a:ea typeface="FangSong_GB2312" panose="02010609030101010101" pitchFamily="49" charset="-122"/>
              <a:cs typeface="Microsoft GothicNeo" panose="020B0500000101010101" pitchFamily="34" charset="-127"/>
            </a:endParaRPr>
          </a:p>
        </p:txBody>
      </p:sp>
      <p:pic>
        <p:nvPicPr>
          <p:cNvPr id="11" name="Picture 10">
            <a:extLst>
              <a:ext uri="{FF2B5EF4-FFF2-40B4-BE49-F238E27FC236}">
                <a16:creationId xmlns:a16="http://schemas.microsoft.com/office/drawing/2014/main" id="{4811639D-154B-495C-4631-9CF7F0E2BFE6}"/>
              </a:ext>
            </a:extLst>
          </p:cNvPr>
          <p:cNvPicPr>
            <a:picLocks noChangeAspect="1"/>
          </p:cNvPicPr>
          <p:nvPr/>
        </p:nvPicPr>
        <p:blipFill>
          <a:blip r:embed="rId3" cstate="print">
            <a:extLst>
              <a:ext uri="{28A0092B-C50C-407E-A947-70E740481C1C}">
                <a14:useLocalDpi xmlns:a14="http://schemas.microsoft.com/office/drawing/2010/main" val="0"/>
              </a:ext>
            </a:extLst>
          </a:blip>
          <a:srcRect l="76820" t="25523" b="51193"/>
          <a:stretch>
            <a:fillRect/>
          </a:stretch>
        </p:blipFill>
        <p:spPr>
          <a:xfrm>
            <a:off x="2213657" y="1173278"/>
            <a:ext cx="2231787" cy="2523066"/>
          </a:xfrm>
          <a:prstGeom prst="rect">
            <a:avLst/>
          </a:prstGeom>
        </p:spPr>
      </p:pic>
      <p:sp>
        <p:nvSpPr>
          <p:cNvPr id="12" name="文本框 15">
            <a:extLst>
              <a:ext uri="{FF2B5EF4-FFF2-40B4-BE49-F238E27FC236}">
                <a16:creationId xmlns:a16="http://schemas.microsoft.com/office/drawing/2014/main" id="{2093D451-33EA-9DDF-BDCE-157D12A6EC95}"/>
              </a:ext>
            </a:extLst>
          </p:cNvPr>
          <p:cNvSpPr txBox="1"/>
          <p:nvPr/>
        </p:nvSpPr>
        <p:spPr>
          <a:xfrm>
            <a:off x="355654" y="4104834"/>
            <a:ext cx="1124026" cy="400110"/>
          </a:xfrm>
          <a:prstGeom prst="rect">
            <a:avLst/>
          </a:prstGeom>
          <a:solidFill>
            <a:schemeClr val="bg1"/>
          </a:solidFill>
        </p:spPr>
        <p:txBody>
          <a:bodyPr wrap="none" rtlCol="0">
            <a:spAutoFit/>
          </a:bodyPr>
          <a:lstStyle/>
          <a:p>
            <a:pPr marL="342900" indent="-342900" defTabSz="914400">
              <a:buFont typeface="Wingdings" pitchFamily="2" charset="2"/>
              <a:buChar char="Ø"/>
            </a:pPr>
            <a:r>
              <a:rPr lang="zh-CN" altLang="en-US" sz="2000" b="1" spc="300" dirty="0">
                <a:latin typeface="FangSong_GB2312" panose="02010609030101010101" pitchFamily="49" charset="-122"/>
                <a:ea typeface="FangSong_GB2312" panose="02010609030101010101" pitchFamily="49" charset="-122"/>
              </a:rPr>
              <a:t>海马</a:t>
            </a:r>
          </a:p>
        </p:txBody>
      </p:sp>
      <p:sp>
        <p:nvSpPr>
          <p:cNvPr id="16" name="TextBox 15">
            <a:extLst>
              <a:ext uri="{FF2B5EF4-FFF2-40B4-BE49-F238E27FC236}">
                <a16:creationId xmlns:a16="http://schemas.microsoft.com/office/drawing/2014/main" id="{8C7A5F76-2FAE-9308-CE1B-404556FD0AD8}"/>
              </a:ext>
            </a:extLst>
          </p:cNvPr>
          <p:cNvSpPr txBox="1"/>
          <p:nvPr/>
        </p:nvSpPr>
        <p:spPr>
          <a:xfrm>
            <a:off x="5224474" y="4569446"/>
            <a:ext cx="4889974" cy="338554"/>
          </a:xfrm>
          <a:prstGeom prst="rect">
            <a:avLst/>
          </a:prstGeom>
          <a:noFill/>
        </p:spPr>
        <p:txBody>
          <a:bodyPr wrap="square">
            <a:spAutoFit/>
          </a:bodyPr>
          <a:lstStyle/>
          <a:p>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未观察到与杏仁核同样清晰的效价相关调制</a:t>
            </a:r>
            <a:endParaRPr lang="en-CN" sz="1600" dirty="0"/>
          </a:p>
        </p:txBody>
      </p:sp>
      <p:grpSp>
        <p:nvGrpSpPr>
          <p:cNvPr id="6" name="Group 5">
            <a:extLst>
              <a:ext uri="{FF2B5EF4-FFF2-40B4-BE49-F238E27FC236}">
                <a16:creationId xmlns:a16="http://schemas.microsoft.com/office/drawing/2014/main" id="{8B13ADDE-65B0-01FD-7270-BF1C20157860}"/>
              </a:ext>
            </a:extLst>
          </p:cNvPr>
          <p:cNvGrpSpPr/>
          <p:nvPr/>
        </p:nvGrpSpPr>
        <p:grpSpPr>
          <a:xfrm>
            <a:off x="6515920" y="5415271"/>
            <a:ext cx="5169941" cy="897476"/>
            <a:chOff x="7022059" y="4807131"/>
            <a:chExt cx="5169941" cy="897476"/>
          </a:xfrm>
        </p:grpSpPr>
        <p:sp>
          <p:nvSpPr>
            <p:cNvPr id="4" name="Rectangle 3">
              <a:extLst>
                <a:ext uri="{FF2B5EF4-FFF2-40B4-BE49-F238E27FC236}">
                  <a16:creationId xmlns:a16="http://schemas.microsoft.com/office/drawing/2014/main" id="{D3F387D4-1674-10A3-8B04-16591DE65338}"/>
                </a:ext>
              </a:extLst>
            </p:cNvPr>
            <p:cNvSpPr/>
            <p:nvPr/>
          </p:nvSpPr>
          <p:spPr>
            <a:xfrm>
              <a:off x="7022059" y="4823429"/>
              <a:ext cx="5157590" cy="881178"/>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dirty="0"/>
            </a:p>
          </p:txBody>
        </p:sp>
        <p:sp>
          <p:nvSpPr>
            <p:cNvPr id="5" name="文本框 47">
              <a:extLst>
                <a:ext uri="{FF2B5EF4-FFF2-40B4-BE49-F238E27FC236}">
                  <a16:creationId xmlns:a16="http://schemas.microsoft.com/office/drawing/2014/main" id="{7A593767-BE7B-0D26-2A20-F10FC7A47CDA}"/>
                </a:ext>
              </a:extLst>
            </p:cNvPr>
            <p:cNvSpPr txBox="1"/>
            <p:nvPr/>
          </p:nvSpPr>
          <p:spPr>
            <a:xfrm>
              <a:off x="7034410" y="4807131"/>
              <a:ext cx="5157590" cy="870688"/>
            </a:xfrm>
            <a:prstGeom prst="rect">
              <a:avLst/>
            </a:prstGeom>
            <a:noFill/>
          </p:spPr>
          <p:txBody>
            <a:bodyPr wrap="square">
              <a:spAutoFit/>
            </a:bodyPr>
            <a:lstStyle/>
            <a:p>
              <a:pPr algn="just">
                <a:lnSpc>
                  <a:spcPct val="150000"/>
                </a:lnSpc>
              </a:pPr>
              <a:r>
                <a:rPr lang="zh-CN" altLang="en-US" dirty="0">
                  <a:latin typeface="Times New Roman" panose="02020603050405020304" pitchFamily="18" charset="0"/>
                  <a:ea typeface="FangSong_GB2312" panose="02010609030101010101" pitchFamily="49" charset="-122"/>
                  <a:cs typeface="Microsoft GothicNeo" panose="020B0500000101010101" pitchFamily="34" charset="-127"/>
                </a:rPr>
                <a:t>标准化情绪图片能够在杏仁核中诱发频段特异性的效价加工信号</a:t>
              </a:r>
              <a:endParaRPr lang="en-CN" kern="100" dirty="0">
                <a:latin typeface="Times New Roman" panose="02020603050405020304" pitchFamily="18" charset="0"/>
                <a:ea typeface="SimSun" panose="02010600030101010101" pitchFamily="2" charset="-122"/>
              </a:endParaRPr>
            </a:p>
          </p:txBody>
        </p:sp>
      </p:grpSp>
      <p:grpSp>
        <p:nvGrpSpPr>
          <p:cNvPr id="18" name="Group 17">
            <a:extLst>
              <a:ext uri="{FF2B5EF4-FFF2-40B4-BE49-F238E27FC236}">
                <a16:creationId xmlns:a16="http://schemas.microsoft.com/office/drawing/2014/main" id="{87422685-1576-C8E4-5350-CDC0E9741433}"/>
              </a:ext>
            </a:extLst>
          </p:cNvPr>
          <p:cNvGrpSpPr/>
          <p:nvPr/>
        </p:nvGrpSpPr>
        <p:grpSpPr>
          <a:xfrm>
            <a:off x="5224475" y="811662"/>
            <a:ext cx="3146795" cy="865995"/>
            <a:chOff x="420721" y="1953394"/>
            <a:chExt cx="2687484" cy="799419"/>
          </a:xfrm>
        </p:grpSpPr>
        <p:pic>
          <p:nvPicPr>
            <p:cNvPr id="8" name="Picture 7" descr="A puppy in a cup&#10;&#10;Description automatically generated">
              <a:extLst>
                <a:ext uri="{FF2B5EF4-FFF2-40B4-BE49-F238E27FC236}">
                  <a16:creationId xmlns:a16="http://schemas.microsoft.com/office/drawing/2014/main" id="{625E51DD-AD24-EFEE-1A0B-1D3179AD141F}"/>
                </a:ext>
              </a:extLst>
            </p:cNvPr>
            <p:cNvPicPr>
              <a:picLocks noChangeAspect="1"/>
            </p:cNvPicPr>
            <p:nvPr/>
          </p:nvPicPr>
          <p:blipFill>
            <a:blip r:embed="rId4"/>
            <a:stretch>
              <a:fillRect/>
            </a:stretch>
          </p:blipFill>
          <p:spPr>
            <a:xfrm>
              <a:off x="420721" y="1953394"/>
              <a:ext cx="999275" cy="799419"/>
            </a:xfrm>
            <a:prstGeom prst="rect">
              <a:avLst/>
            </a:prstGeom>
          </p:spPr>
        </p:pic>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6E126DD4-67A8-AD6A-5F2E-965680695D1E}"/>
                    </a:ext>
                  </a:extLst>
                </p:cNvPr>
                <p:cNvSpPr txBox="1"/>
                <p:nvPr/>
              </p:nvSpPr>
              <p:spPr>
                <a:xfrm>
                  <a:off x="1613261" y="2157983"/>
                  <a:ext cx="310994" cy="371094"/>
                </a:xfrm>
                <a:prstGeom prst="rect">
                  <a:avLst/>
                </a:prstGeom>
                <a:noFill/>
              </p:spPr>
              <p:txBody>
                <a:bodyPr wrap="none" lIns="0" tIns="0" rIns="0" bIns="0" rtlCol="0" anchor="ctr">
                  <a:spAutoFit/>
                </a:bodyPr>
                <a:lstStyle/>
                <a:p>
                  <a:pPr/>
                  <a14:m>
                    <m:oMathPara xmlns:m="http://schemas.openxmlformats.org/officeDocument/2006/math">
                      <m:oMathParaPr>
                        <m:jc m:val="centerGroup"/>
                      </m:oMathParaPr>
                      <m:oMath xmlns:m="http://schemas.openxmlformats.org/officeDocument/2006/math">
                        <m:r>
                          <a:rPr lang="en-US" altLang="zh-CN" sz="4000" b="0" i="1" smtClean="0">
                            <a:latin typeface="Cambria Math" panose="02040503050406030204" pitchFamily="18" charset="0"/>
                          </a:rPr>
                          <m:t>−</m:t>
                        </m:r>
                      </m:oMath>
                    </m:oMathPara>
                  </a14:m>
                  <a:endParaRPr lang="en-CN" sz="2400" dirty="0"/>
                </a:p>
              </p:txBody>
            </p:sp>
          </mc:Choice>
          <mc:Fallback>
            <p:sp>
              <p:nvSpPr>
                <p:cNvPr id="9" name="TextBox 8">
                  <a:extLst>
                    <a:ext uri="{FF2B5EF4-FFF2-40B4-BE49-F238E27FC236}">
                      <a16:creationId xmlns:a16="http://schemas.microsoft.com/office/drawing/2014/main" id="{6E126DD4-67A8-AD6A-5F2E-965680695D1E}"/>
                    </a:ext>
                  </a:extLst>
                </p:cNvPr>
                <p:cNvSpPr txBox="1">
                  <a:spLocks noRot="1" noChangeAspect="1" noMove="1" noResize="1" noEditPoints="1" noAdjustHandles="1" noChangeArrowheads="1" noChangeShapeType="1" noTextEdit="1"/>
                </p:cNvSpPr>
                <p:nvPr/>
              </p:nvSpPr>
              <p:spPr>
                <a:xfrm>
                  <a:off x="1613261" y="2157983"/>
                  <a:ext cx="310994" cy="371094"/>
                </a:xfrm>
                <a:prstGeom prst="rect">
                  <a:avLst/>
                </a:prstGeom>
                <a:blipFill>
                  <a:blip r:embed="rId5"/>
                  <a:stretch>
                    <a:fillRect l="-23333" r="-23333" b="-18750"/>
                  </a:stretch>
                </a:blipFill>
              </p:spPr>
              <p:txBody>
                <a:bodyPr/>
                <a:lstStyle/>
                <a:p>
                  <a:r>
                    <a:rPr lang="en-CN">
                      <a:noFill/>
                    </a:rPr>
                    <a:t> </a:t>
                  </a:r>
                </a:p>
              </p:txBody>
            </p:sp>
          </mc:Fallback>
        </mc:AlternateContent>
        <p:pic>
          <p:nvPicPr>
            <p:cNvPr id="10" name="Picture 9" descr="A shopping cart in the middle of a pile of garbage&#10;&#10;Description automatically generated">
              <a:extLst>
                <a:ext uri="{FF2B5EF4-FFF2-40B4-BE49-F238E27FC236}">
                  <a16:creationId xmlns:a16="http://schemas.microsoft.com/office/drawing/2014/main" id="{F4003CE1-A9C0-AF68-D323-2893480D976D}"/>
                </a:ext>
              </a:extLst>
            </p:cNvPr>
            <p:cNvPicPr>
              <a:picLocks noChangeAspect="1"/>
            </p:cNvPicPr>
            <p:nvPr/>
          </p:nvPicPr>
          <p:blipFill>
            <a:blip r:embed="rId6"/>
            <a:stretch>
              <a:fillRect/>
            </a:stretch>
          </p:blipFill>
          <p:spPr>
            <a:xfrm>
              <a:off x="2117520" y="1960265"/>
              <a:ext cx="990685" cy="792548"/>
            </a:xfrm>
            <a:prstGeom prst="rect">
              <a:avLst/>
            </a:prstGeom>
          </p:spPr>
        </p:pic>
      </p:grpSp>
      <p:sp>
        <p:nvSpPr>
          <p:cNvPr id="13" name="TextBox 12">
            <a:extLst>
              <a:ext uri="{FF2B5EF4-FFF2-40B4-BE49-F238E27FC236}">
                <a16:creationId xmlns:a16="http://schemas.microsoft.com/office/drawing/2014/main" id="{A4EF8A73-A3EF-B065-5C17-7DE5B82BF6D4}"/>
              </a:ext>
            </a:extLst>
          </p:cNvPr>
          <p:cNvSpPr txBox="1"/>
          <p:nvPr/>
        </p:nvSpPr>
        <p:spPr>
          <a:xfrm>
            <a:off x="1257054" y="2649184"/>
            <a:ext cx="640080" cy="461665"/>
          </a:xfrm>
          <a:prstGeom prst="rect">
            <a:avLst/>
          </a:prstGeom>
          <a:noFill/>
        </p:spPr>
        <p:txBody>
          <a:bodyPr wrap="square" rtlCol="0">
            <a:spAutoFit/>
          </a:bodyPr>
          <a:lstStyle/>
          <a:p>
            <a:r>
              <a:rPr lang="el-GR" altLang="zh-CN" sz="2400" dirty="0">
                <a:solidFill>
                  <a:srgbClr val="2E75B6"/>
                </a:solidFill>
                <a:latin typeface="Times New Roman" panose="02020603050405020304" pitchFamily="18" charset="0"/>
                <a:cs typeface="Times New Roman" panose="02020603050405020304" pitchFamily="18" charset="0"/>
              </a:rPr>
              <a:t>α</a:t>
            </a:r>
            <a:r>
              <a:rPr lang="en-US" altLang="zh-CN" sz="2400" dirty="0">
                <a:solidFill>
                  <a:srgbClr val="2E75B6"/>
                </a:solidFill>
                <a:latin typeface="Times New Roman" panose="02020603050405020304" pitchFamily="18" charset="0"/>
                <a:cs typeface="Times New Roman" panose="02020603050405020304" pitchFamily="18" charset="0"/>
              </a:rPr>
              <a:t>(-)</a:t>
            </a:r>
            <a:endParaRPr lang="en-CN" sz="2400" dirty="0">
              <a:solidFill>
                <a:srgbClr val="2E75B6"/>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0341F783-E963-0105-13FA-72835557A84F}"/>
              </a:ext>
            </a:extLst>
          </p:cNvPr>
          <p:cNvSpPr txBox="1"/>
          <p:nvPr/>
        </p:nvSpPr>
        <p:spPr>
          <a:xfrm>
            <a:off x="1065945" y="1677657"/>
            <a:ext cx="640080" cy="461665"/>
          </a:xfrm>
          <a:prstGeom prst="rect">
            <a:avLst/>
          </a:prstGeom>
          <a:noFill/>
        </p:spPr>
        <p:txBody>
          <a:bodyPr wrap="square" rtlCol="0">
            <a:spAutoFit/>
          </a:bodyPr>
          <a:lstStyle/>
          <a:p>
            <a:r>
              <a:rPr lang="el-GR" altLang="zh-CN" sz="2400" dirty="0">
                <a:solidFill>
                  <a:srgbClr val="FF0000"/>
                </a:solidFill>
                <a:latin typeface="Times New Roman" panose="02020603050405020304" pitchFamily="18" charset="0"/>
                <a:cs typeface="Times New Roman" panose="02020603050405020304" pitchFamily="18" charset="0"/>
              </a:rPr>
              <a:t>β</a:t>
            </a:r>
            <a:r>
              <a:rPr lang="en-US" altLang="zh-CN" sz="2400" dirty="0">
                <a:solidFill>
                  <a:srgbClr val="FF0000"/>
                </a:solidFill>
                <a:latin typeface="Times New Roman" panose="02020603050405020304" pitchFamily="18" charset="0"/>
                <a:cs typeface="Times New Roman" panose="02020603050405020304" pitchFamily="18" charset="0"/>
              </a:rPr>
              <a:t>(+)</a:t>
            </a:r>
            <a:endParaRPr lang="en-CN" sz="2400" dirty="0">
              <a:solidFill>
                <a:srgbClr val="FF0000"/>
              </a:solidFill>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58D8755F-86C6-8324-4225-60963653C794}"/>
              </a:ext>
            </a:extLst>
          </p:cNvPr>
          <p:cNvPicPr>
            <a:picLocks noChangeAspect="1"/>
          </p:cNvPicPr>
          <p:nvPr/>
        </p:nvPicPr>
        <p:blipFill>
          <a:blip r:embed="rId3" cstate="print">
            <a:extLst>
              <a:ext uri="{28A0092B-C50C-407E-A947-70E740481C1C}">
                <a14:useLocalDpi xmlns:a14="http://schemas.microsoft.com/office/drawing/2010/main" val="0"/>
              </a:ext>
            </a:extLst>
          </a:blip>
          <a:srcRect l="76537" t="75906" r="-945"/>
          <a:stretch>
            <a:fillRect/>
          </a:stretch>
        </p:blipFill>
        <p:spPr>
          <a:xfrm>
            <a:off x="2154530" y="3897157"/>
            <a:ext cx="2350040" cy="2610846"/>
          </a:xfrm>
          <a:prstGeom prst="rect">
            <a:avLst/>
          </a:prstGeom>
        </p:spPr>
      </p:pic>
      <p:cxnSp>
        <p:nvCxnSpPr>
          <p:cNvPr id="21" name="Straight Arrow Connector 20">
            <a:extLst>
              <a:ext uri="{FF2B5EF4-FFF2-40B4-BE49-F238E27FC236}">
                <a16:creationId xmlns:a16="http://schemas.microsoft.com/office/drawing/2014/main" id="{A6A4BA10-9752-95C3-DDBC-17DFCD298180}"/>
              </a:ext>
            </a:extLst>
          </p:cNvPr>
          <p:cNvCxnSpPr/>
          <p:nvPr/>
        </p:nvCxnSpPr>
        <p:spPr>
          <a:xfrm flipV="1">
            <a:off x="1871376" y="2635624"/>
            <a:ext cx="818036" cy="277905"/>
          </a:xfrm>
          <a:prstGeom prst="straightConnector1">
            <a:avLst/>
          </a:prstGeom>
          <a:ln w="31750">
            <a:solidFill>
              <a:srgbClr val="2E75B6"/>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1DB98DE2-07EA-1FF9-1069-1A4459B92BDB}"/>
              </a:ext>
            </a:extLst>
          </p:cNvPr>
          <p:cNvCxnSpPr>
            <a:cxnSpLocks/>
          </p:cNvCxnSpPr>
          <p:nvPr/>
        </p:nvCxnSpPr>
        <p:spPr>
          <a:xfrm>
            <a:off x="1745949" y="1955783"/>
            <a:ext cx="844851" cy="230833"/>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9DFAB9EB-3CA4-3444-4CC1-1FBCACB7C768}"/>
              </a:ext>
            </a:extLst>
          </p:cNvPr>
          <p:cNvCxnSpPr>
            <a:cxnSpLocks/>
          </p:cNvCxnSpPr>
          <p:nvPr/>
        </p:nvCxnSpPr>
        <p:spPr>
          <a:xfrm flipH="1">
            <a:off x="3928056" y="1154016"/>
            <a:ext cx="1134869" cy="172169"/>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0451114"/>
      </p:ext>
    </p:extLst>
  </p:cSld>
  <p:clrMapOvr>
    <a:masterClrMapping/>
  </p:clrMapOvr>
  <mc:AlternateContent xmlns:mc="http://schemas.openxmlformats.org/markup-compatibility/2006" xmlns:p14="http://schemas.microsoft.com/office/powerpoint/2010/main">
    <mc:Choice Requires="p14">
      <p:transition spd="slow" p14:dur="2000" advTm="66649"/>
    </mc:Choice>
    <mc:Fallback xmlns="">
      <p:transition spd="slow" advTm="6664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7C6C4-3B9F-1C0C-EA49-B0EE495783B2}"/>
            </a:ext>
          </a:extLst>
        </p:cNvPr>
        <p:cNvGrpSpPr/>
        <p:nvPr/>
      </p:nvGrpSpPr>
      <p:grpSpPr>
        <a:xfrm>
          <a:off x="0" y="0"/>
          <a:ext cx="0" cy="0"/>
          <a:chOff x="0" y="0"/>
          <a:chExt cx="0" cy="0"/>
        </a:xfrm>
      </p:grpSpPr>
      <p:sp>
        <p:nvSpPr>
          <p:cNvPr id="17" name="文本框 16">
            <a:extLst>
              <a:ext uri="{FF2B5EF4-FFF2-40B4-BE49-F238E27FC236}">
                <a16:creationId xmlns:a16="http://schemas.microsoft.com/office/drawing/2014/main" id="{5FCE32E9-8EDA-0650-C4BB-51830A168BA6}"/>
              </a:ext>
            </a:extLst>
          </p:cNvPr>
          <p:cNvSpPr txBox="1"/>
          <p:nvPr/>
        </p:nvSpPr>
        <p:spPr>
          <a:xfrm>
            <a:off x="1205170" y="476123"/>
            <a:ext cx="2285005" cy="227329"/>
          </a:xfrm>
          <a:prstGeom prst="rect">
            <a:avLst/>
          </a:prstGeom>
          <a:solidFill>
            <a:schemeClr val="bg1"/>
          </a:solid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defRPr/>
            </a:pPr>
            <a:endParaRPr kumimoji="0" lang="zh-CN" altLang="en-US" sz="1400" b="1" i="0" u="none" strike="noStrike" kern="1200" cap="none" spc="300" normalizeH="0" noProof="0" dirty="0">
              <a:ln>
                <a:noFill/>
              </a:ln>
              <a:solidFill>
                <a:prstClr val="black"/>
              </a:solidFill>
              <a:effectLst/>
              <a:uLnTx/>
              <a:uFillTx/>
              <a:latin typeface="FangSong_GB2312" panose="02010609030101010101" pitchFamily="49" charset="-122"/>
              <a:ea typeface="FangSong_GB2312" panose="02010609030101010101" pitchFamily="49" charset="-122"/>
            </a:endParaRPr>
          </a:p>
        </p:txBody>
      </p:sp>
      <p:sp>
        <p:nvSpPr>
          <p:cNvPr id="19" name="文本框 18">
            <a:extLst>
              <a:ext uri="{FF2B5EF4-FFF2-40B4-BE49-F238E27FC236}">
                <a16:creationId xmlns:a16="http://schemas.microsoft.com/office/drawing/2014/main" id="{06D8F7A8-C60E-E60F-A344-3D148AA06AE8}"/>
              </a:ext>
            </a:extLst>
          </p:cNvPr>
          <p:cNvSpPr txBox="1"/>
          <p:nvPr/>
        </p:nvSpPr>
        <p:spPr>
          <a:xfrm>
            <a:off x="358346" y="288442"/>
            <a:ext cx="720000" cy="523220"/>
          </a:xfrm>
          <a:prstGeom prst="rect">
            <a:avLst/>
          </a:prstGeom>
          <a:noFill/>
        </p:spPr>
        <p:txBody>
          <a:bodyPr wrap="square" rtlCol="0">
            <a:spAutoFit/>
          </a:bodyPr>
          <a:lstStyle/>
          <a:p>
            <a:pPr algn="ctr"/>
            <a:r>
              <a:rPr lang="en-US" altLang="zh-CN"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03</a:t>
            </a:r>
            <a:endParaRPr lang="zh-CN" altLang="en-US"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TextBox 2">
            <a:extLst>
              <a:ext uri="{FF2B5EF4-FFF2-40B4-BE49-F238E27FC236}">
                <a16:creationId xmlns:a16="http://schemas.microsoft.com/office/drawing/2014/main" id="{B2534C5D-B7CD-4CA2-BDC1-8A29D29E77C5}"/>
              </a:ext>
            </a:extLst>
          </p:cNvPr>
          <p:cNvSpPr txBox="1"/>
          <p:nvPr/>
        </p:nvSpPr>
        <p:spPr>
          <a:xfrm>
            <a:off x="1215059" y="354359"/>
            <a:ext cx="2275116" cy="400110"/>
          </a:xfrm>
          <a:prstGeom prst="rect">
            <a:avLst/>
          </a:prstGeom>
          <a:noFill/>
        </p:spPr>
        <p:txBody>
          <a:bodyPr wrap="square">
            <a:spAutoFit/>
          </a:bodyPr>
          <a:lstStyle/>
          <a:p>
            <a:r>
              <a:rPr lang="zh-CN" altLang="en-US" sz="2000" b="1" dirty="0">
                <a:solidFill>
                  <a:schemeClr val="tx1"/>
                </a:solidFill>
                <a:latin typeface="FangSong_GB2312" panose="02010609030101010101" pitchFamily="49" charset="-122"/>
                <a:ea typeface="FangSong_GB2312" panose="02010609030101010101" pitchFamily="49" charset="-122"/>
              </a:rPr>
              <a:t>研究二：主观偏好</a:t>
            </a:r>
          </a:p>
        </p:txBody>
      </p:sp>
      <p:graphicFrame>
        <p:nvGraphicFramePr>
          <p:cNvPr id="4" name="Table 3">
            <a:extLst>
              <a:ext uri="{FF2B5EF4-FFF2-40B4-BE49-F238E27FC236}">
                <a16:creationId xmlns:a16="http://schemas.microsoft.com/office/drawing/2014/main" id="{D27EC9EF-8184-1B7E-E129-1BBAD915EA23}"/>
              </a:ext>
            </a:extLst>
          </p:cNvPr>
          <p:cNvGraphicFramePr>
            <a:graphicFrameLocks noGrp="1"/>
          </p:cNvGraphicFramePr>
          <p:nvPr>
            <p:extLst>
              <p:ext uri="{D42A27DB-BD31-4B8C-83A1-F6EECF244321}">
                <p14:modId xmlns:p14="http://schemas.microsoft.com/office/powerpoint/2010/main" val="34335894"/>
              </p:ext>
            </p:extLst>
          </p:nvPr>
        </p:nvGraphicFramePr>
        <p:xfrm>
          <a:off x="478815" y="1338411"/>
          <a:ext cx="11234367" cy="1059948"/>
        </p:xfrm>
        <a:graphic>
          <a:graphicData uri="http://schemas.openxmlformats.org/drawingml/2006/table">
            <a:tbl>
              <a:tblPr firstRow="1" firstCol="1" bandRow="1">
                <a:tableStyleId>{5C22544A-7EE6-4342-B048-85BDC9FD1C3A}</a:tableStyleId>
              </a:tblPr>
              <a:tblGrid>
                <a:gridCol w="1235853">
                  <a:extLst>
                    <a:ext uri="{9D8B030D-6E8A-4147-A177-3AD203B41FA5}">
                      <a16:colId xmlns:a16="http://schemas.microsoft.com/office/drawing/2014/main" val="2829208495"/>
                    </a:ext>
                  </a:extLst>
                </a:gridCol>
                <a:gridCol w="807086">
                  <a:extLst>
                    <a:ext uri="{9D8B030D-6E8A-4147-A177-3AD203B41FA5}">
                      <a16:colId xmlns:a16="http://schemas.microsoft.com/office/drawing/2014/main" val="892803318"/>
                    </a:ext>
                  </a:extLst>
                </a:gridCol>
                <a:gridCol w="851525">
                  <a:extLst>
                    <a:ext uri="{9D8B030D-6E8A-4147-A177-3AD203B41FA5}">
                      <a16:colId xmlns:a16="http://schemas.microsoft.com/office/drawing/2014/main" val="2973600868"/>
                    </a:ext>
                  </a:extLst>
                </a:gridCol>
                <a:gridCol w="1495274">
                  <a:extLst>
                    <a:ext uri="{9D8B030D-6E8A-4147-A177-3AD203B41FA5}">
                      <a16:colId xmlns:a16="http://schemas.microsoft.com/office/drawing/2014/main" val="213030318"/>
                    </a:ext>
                  </a:extLst>
                </a:gridCol>
                <a:gridCol w="1058101">
                  <a:extLst>
                    <a:ext uri="{9D8B030D-6E8A-4147-A177-3AD203B41FA5}">
                      <a16:colId xmlns:a16="http://schemas.microsoft.com/office/drawing/2014/main" val="2361337935"/>
                    </a:ext>
                  </a:extLst>
                </a:gridCol>
                <a:gridCol w="2187063">
                  <a:extLst>
                    <a:ext uri="{9D8B030D-6E8A-4147-A177-3AD203B41FA5}">
                      <a16:colId xmlns:a16="http://schemas.microsoft.com/office/drawing/2014/main" val="4245811407"/>
                    </a:ext>
                  </a:extLst>
                </a:gridCol>
                <a:gridCol w="3599465">
                  <a:extLst>
                    <a:ext uri="{9D8B030D-6E8A-4147-A177-3AD203B41FA5}">
                      <a16:colId xmlns:a16="http://schemas.microsoft.com/office/drawing/2014/main" val="380029042"/>
                    </a:ext>
                  </a:extLst>
                </a:gridCol>
              </a:tblGrid>
              <a:tr h="176658">
                <a:tc>
                  <a:txBody>
                    <a:bodyPr/>
                    <a:lstStyle/>
                    <a:p>
                      <a:pPr algn="ctr">
                        <a:buNone/>
                      </a:pPr>
                      <a:r>
                        <a:rPr lang="zh-CN" sz="1000" kern="100" baseline="0">
                          <a:effectLst/>
                          <a:latin typeface="Times New Roman" panose="02020603050405020304" pitchFamily="18" charset="0"/>
                          <a:ea typeface="FangSong_GB2312" panose="02010609030101010101" pitchFamily="49" charset="-122"/>
                        </a:rPr>
                        <a:t>被试</a:t>
                      </a:r>
                      <a:endParaRPr lang="en-CN" sz="1000" kern="100" baseline="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zh-CN" sz="1000" kern="100" baseline="0">
                          <a:effectLst/>
                          <a:latin typeface="Times New Roman" panose="02020603050405020304" pitchFamily="18" charset="0"/>
                          <a:ea typeface="FangSong_GB2312" panose="02010609030101010101" pitchFamily="49" charset="-122"/>
                        </a:rPr>
                        <a:t>年龄</a:t>
                      </a:r>
                      <a:endParaRPr lang="en-CN" sz="1000" kern="100" baseline="0">
                        <a:effectLst/>
                        <a:latin typeface="Times New Roman" panose="02020603050405020304" pitchFamily="18" charset="0"/>
                        <a:ea typeface="FangSong_GB2312" panose="02010609030101010101" pitchFamily="49" charset="-122"/>
                      </a:endParaRPr>
                    </a:p>
                  </a:txBody>
                  <a:tcPr marL="66915" marR="66915" marT="0" marB="0"/>
                </a:tc>
                <a:tc>
                  <a:txBody>
                    <a:bodyPr/>
                    <a:lstStyle/>
                    <a:p>
                      <a:pPr algn="ctr">
                        <a:buNone/>
                      </a:pPr>
                      <a:r>
                        <a:rPr lang="zh-CN" sz="1000" kern="100" baseline="0">
                          <a:effectLst/>
                          <a:latin typeface="Times New Roman" panose="02020603050405020304" pitchFamily="18" charset="0"/>
                          <a:ea typeface="FangSong_GB2312" panose="02010609030101010101" pitchFamily="49" charset="-122"/>
                        </a:rPr>
                        <a:t>性别</a:t>
                      </a:r>
                      <a:endParaRPr lang="en-CN" sz="1000" kern="100" baseline="0">
                        <a:effectLst/>
                        <a:latin typeface="Times New Roman" panose="02020603050405020304" pitchFamily="18" charset="0"/>
                        <a:ea typeface="FangSong_GB2312" panose="02010609030101010101" pitchFamily="49" charset="-122"/>
                      </a:endParaRPr>
                    </a:p>
                  </a:txBody>
                  <a:tcPr marL="66915" marR="66915" marT="0" marB="0"/>
                </a:tc>
                <a:tc>
                  <a:txBody>
                    <a:bodyPr/>
                    <a:lstStyle/>
                    <a:p>
                      <a:pPr algn="ctr">
                        <a:buNone/>
                      </a:pPr>
                      <a:r>
                        <a:rPr lang="zh-CN" sz="1000" kern="100" baseline="0">
                          <a:effectLst/>
                          <a:latin typeface="Times New Roman" panose="02020603050405020304" pitchFamily="18" charset="0"/>
                          <a:ea typeface="FangSong_GB2312" panose="02010609030101010101" pitchFamily="49" charset="-122"/>
                        </a:rPr>
                        <a:t>临床诊断</a:t>
                      </a:r>
                      <a:endParaRPr lang="en-CN" sz="1000" kern="100" baseline="0">
                        <a:effectLst/>
                        <a:latin typeface="Times New Roman" panose="02020603050405020304" pitchFamily="18" charset="0"/>
                        <a:ea typeface="FangSong_GB2312" panose="02010609030101010101" pitchFamily="49" charset="-122"/>
                      </a:endParaRPr>
                    </a:p>
                  </a:txBody>
                  <a:tcPr marL="66915" marR="66915" marT="0" marB="0"/>
                </a:tc>
                <a:tc>
                  <a:txBody>
                    <a:bodyPr/>
                    <a:lstStyle/>
                    <a:p>
                      <a:pPr algn="ctr">
                        <a:buNone/>
                      </a:pPr>
                      <a:r>
                        <a:rPr lang="zh-CN" sz="1000" kern="100" baseline="0">
                          <a:effectLst/>
                          <a:latin typeface="Times New Roman" panose="02020603050405020304" pitchFamily="18" charset="0"/>
                          <a:ea typeface="FangSong_GB2312" panose="02010609030101010101" pitchFamily="49" charset="-122"/>
                        </a:rPr>
                        <a:t>侧别</a:t>
                      </a:r>
                      <a:endParaRPr lang="en-CN" sz="1000" kern="100" baseline="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zh-CN" sz="1000" kern="100" baseline="0">
                          <a:effectLst/>
                          <a:latin typeface="Times New Roman" panose="02020603050405020304" pitchFamily="18" charset="0"/>
                          <a:ea typeface="FangSong_GB2312" panose="02010609030101010101" pitchFamily="49" charset="-122"/>
                        </a:rPr>
                        <a:t>杏仁核电极</a:t>
                      </a:r>
                      <a:endParaRPr lang="en-CN" sz="1000" kern="100" baseline="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zh-CN" sz="1000" kern="100" baseline="0" dirty="0">
                          <a:effectLst/>
                          <a:latin typeface="Times New Roman" panose="02020603050405020304" pitchFamily="18" charset="0"/>
                          <a:ea typeface="FangSong_GB2312" panose="02010609030101010101" pitchFamily="49" charset="-122"/>
                        </a:rPr>
                        <a:t>海马电极</a:t>
                      </a:r>
                      <a:endParaRPr lang="en-CN" sz="1000" kern="100" baseline="0" dirty="0">
                        <a:effectLst/>
                        <a:latin typeface="Times New Roman" panose="02020603050405020304" pitchFamily="18" charset="0"/>
                        <a:ea typeface="FangSong_GB2312" panose="02010609030101010101" pitchFamily="49" charset="-122"/>
                      </a:endParaRPr>
                    </a:p>
                  </a:txBody>
                  <a:tcPr marL="66915" marR="66915" marT="0" marB="0" anchor="ctr"/>
                </a:tc>
                <a:extLst>
                  <a:ext uri="{0D108BD9-81ED-4DB2-BD59-A6C34878D82A}">
                    <a16:rowId xmlns:a16="http://schemas.microsoft.com/office/drawing/2014/main" val="2398972356"/>
                  </a:ext>
                </a:extLst>
              </a:tr>
              <a:tr h="176658">
                <a:tc>
                  <a:txBody>
                    <a:bodyPr/>
                    <a:lstStyle/>
                    <a:p>
                      <a:pPr algn="ctr">
                        <a:buNone/>
                      </a:pPr>
                      <a:r>
                        <a:rPr lang="en-US" sz="1000" kern="100" baseline="0" dirty="0">
                          <a:effectLst/>
                          <a:latin typeface="Times New Roman" panose="02020603050405020304" pitchFamily="18" charset="0"/>
                          <a:ea typeface="FangSong_GB2312" panose="02010609030101010101" pitchFamily="49" charset="-122"/>
                        </a:rPr>
                        <a:t>Sub001</a:t>
                      </a:r>
                      <a:endParaRPr lang="en-CN" sz="1000" kern="100" baseline="0" dirty="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en-US" sz="1000" kern="100" baseline="0">
                          <a:effectLst/>
                          <a:latin typeface="Times New Roman" panose="02020603050405020304" pitchFamily="18" charset="0"/>
                          <a:ea typeface="FangSong_GB2312" panose="02010609030101010101" pitchFamily="49" charset="-122"/>
                        </a:rPr>
                        <a:t>37</a:t>
                      </a:r>
                      <a:endParaRPr lang="en-CN" sz="1000" kern="100" baseline="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zh-CN" sz="1000" kern="100" baseline="0">
                          <a:effectLst/>
                          <a:latin typeface="Times New Roman" panose="02020603050405020304" pitchFamily="18" charset="0"/>
                          <a:ea typeface="FangSong_GB2312" panose="02010609030101010101" pitchFamily="49" charset="-122"/>
                        </a:rPr>
                        <a:t>男</a:t>
                      </a:r>
                      <a:endParaRPr lang="en-CN" sz="1000" kern="100" baseline="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zh-CN" sz="1000" kern="100" baseline="0">
                          <a:effectLst/>
                          <a:latin typeface="Times New Roman" panose="02020603050405020304" pitchFamily="18" charset="0"/>
                          <a:ea typeface="FangSong_GB2312" panose="02010609030101010101" pitchFamily="49" charset="-122"/>
                        </a:rPr>
                        <a:t>难治性癫痫</a:t>
                      </a:r>
                      <a:endParaRPr lang="en-CN" sz="1000" kern="100" baseline="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zh-CN" sz="1000" kern="100" baseline="0">
                          <a:effectLst/>
                          <a:latin typeface="Times New Roman" panose="02020603050405020304" pitchFamily="18" charset="0"/>
                          <a:ea typeface="FangSong_GB2312" panose="02010609030101010101" pitchFamily="49" charset="-122"/>
                        </a:rPr>
                        <a:t>右侧</a:t>
                      </a:r>
                      <a:endParaRPr lang="en-CN" sz="1000" kern="100" baseline="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en-US" sz="1000" kern="100" baseline="0">
                          <a:effectLst/>
                          <a:latin typeface="Times New Roman" panose="02020603050405020304" pitchFamily="18" charset="0"/>
                          <a:ea typeface="FangSong_GB2312" panose="02010609030101010101" pitchFamily="49" charset="-122"/>
                        </a:rPr>
                        <a:t>Amicro2</a:t>
                      </a:r>
                      <a:endParaRPr lang="en-CN" sz="1000" kern="100" baseline="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en-US" sz="1000" kern="100" baseline="0">
                          <a:effectLst/>
                          <a:latin typeface="Times New Roman" panose="02020603050405020304" pitchFamily="18" charset="0"/>
                          <a:ea typeface="FangSong_GB2312" panose="02010609030101010101" pitchFamily="49" charset="-122"/>
                        </a:rPr>
                        <a:t>Amicro1</a:t>
                      </a:r>
                      <a:r>
                        <a:rPr lang="zh-CN" sz="1000" kern="100" baseline="0">
                          <a:effectLst/>
                          <a:latin typeface="Times New Roman" panose="02020603050405020304" pitchFamily="18" charset="0"/>
                          <a:ea typeface="FangSong_GB2312" panose="02010609030101010101" pitchFamily="49" charset="-122"/>
                        </a:rPr>
                        <a:t>、</a:t>
                      </a:r>
                      <a:r>
                        <a:rPr lang="en-US" sz="1000" kern="100" baseline="0">
                          <a:effectLst/>
                          <a:latin typeface="Times New Roman" panose="02020603050405020304" pitchFamily="18" charset="0"/>
                          <a:ea typeface="FangSong_GB2312" panose="02010609030101010101" pitchFamily="49" charset="-122"/>
                        </a:rPr>
                        <a:t>Bmicro1</a:t>
                      </a:r>
                      <a:r>
                        <a:rPr lang="zh-CN" sz="1000" kern="100" baseline="0">
                          <a:effectLst/>
                          <a:latin typeface="Times New Roman" panose="02020603050405020304" pitchFamily="18" charset="0"/>
                          <a:ea typeface="FangSong_GB2312" panose="02010609030101010101" pitchFamily="49" charset="-122"/>
                        </a:rPr>
                        <a:t>、</a:t>
                      </a:r>
                      <a:r>
                        <a:rPr lang="en-US" sz="1000" kern="100" baseline="0">
                          <a:effectLst/>
                          <a:latin typeface="Times New Roman" panose="02020603050405020304" pitchFamily="18" charset="0"/>
                          <a:ea typeface="FangSong_GB2312" panose="02010609030101010101" pitchFamily="49" charset="-122"/>
                        </a:rPr>
                        <a:t>C1</a:t>
                      </a:r>
                      <a:r>
                        <a:rPr lang="zh-CN" sz="1000" kern="100" baseline="0">
                          <a:effectLst/>
                          <a:latin typeface="Times New Roman" panose="02020603050405020304" pitchFamily="18" charset="0"/>
                          <a:ea typeface="FangSong_GB2312" panose="02010609030101010101" pitchFamily="49" charset="-122"/>
                        </a:rPr>
                        <a:t>、</a:t>
                      </a:r>
                      <a:r>
                        <a:rPr lang="en-US" sz="1000" kern="100" baseline="0">
                          <a:effectLst/>
                          <a:latin typeface="Times New Roman" panose="02020603050405020304" pitchFamily="18" charset="0"/>
                          <a:ea typeface="FangSong_GB2312" panose="02010609030101010101" pitchFamily="49" charset="-122"/>
                        </a:rPr>
                        <a:t>C2</a:t>
                      </a:r>
                      <a:r>
                        <a:rPr lang="zh-CN" sz="1000" kern="100" baseline="0">
                          <a:effectLst/>
                          <a:latin typeface="Times New Roman" panose="02020603050405020304" pitchFamily="18" charset="0"/>
                          <a:ea typeface="FangSong_GB2312" panose="02010609030101010101" pitchFamily="49" charset="-122"/>
                        </a:rPr>
                        <a:t>、</a:t>
                      </a:r>
                      <a:r>
                        <a:rPr lang="en-US" sz="1000" kern="100" baseline="0">
                          <a:effectLst/>
                          <a:latin typeface="Times New Roman" panose="02020603050405020304" pitchFamily="18" charset="0"/>
                          <a:ea typeface="FangSong_GB2312" panose="02010609030101010101" pitchFamily="49" charset="-122"/>
                        </a:rPr>
                        <a:t>C3</a:t>
                      </a:r>
                      <a:endParaRPr lang="en-CN" sz="1000" kern="100" baseline="0">
                        <a:effectLst/>
                        <a:latin typeface="Times New Roman" panose="02020603050405020304" pitchFamily="18" charset="0"/>
                        <a:ea typeface="FangSong_GB2312" panose="02010609030101010101" pitchFamily="49" charset="-122"/>
                      </a:endParaRPr>
                    </a:p>
                  </a:txBody>
                  <a:tcPr marL="66915" marR="66915" marT="0" marB="0" anchor="ctr"/>
                </a:tc>
                <a:extLst>
                  <a:ext uri="{0D108BD9-81ED-4DB2-BD59-A6C34878D82A}">
                    <a16:rowId xmlns:a16="http://schemas.microsoft.com/office/drawing/2014/main" val="595670390"/>
                  </a:ext>
                </a:extLst>
              </a:tr>
              <a:tr h="176658">
                <a:tc>
                  <a:txBody>
                    <a:bodyPr/>
                    <a:lstStyle/>
                    <a:p>
                      <a:pPr algn="ctr">
                        <a:buNone/>
                      </a:pPr>
                      <a:r>
                        <a:rPr lang="en-US" sz="1000" kern="100" baseline="0" dirty="0">
                          <a:effectLst/>
                          <a:latin typeface="Times New Roman" panose="02020603050405020304" pitchFamily="18" charset="0"/>
                          <a:ea typeface="FangSong_GB2312" panose="02010609030101010101" pitchFamily="49" charset="-122"/>
                        </a:rPr>
                        <a:t>Sub004</a:t>
                      </a:r>
                      <a:endParaRPr lang="en-CN" sz="1000" kern="100" baseline="0" dirty="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en-US" sz="1000" kern="100" baseline="0">
                          <a:effectLst/>
                          <a:latin typeface="Times New Roman" panose="02020603050405020304" pitchFamily="18" charset="0"/>
                          <a:ea typeface="FangSong_GB2312" panose="02010609030101010101" pitchFamily="49" charset="-122"/>
                        </a:rPr>
                        <a:t>19</a:t>
                      </a:r>
                      <a:endParaRPr lang="en-CN" sz="1000" kern="100" baseline="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zh-CN" sz="1000" kern="100" baseline="0">
                          <a:effectLst/>
                          <a:latin typeface="Times New Roman" panose="02020603050405020304" pitchFamily="18" charset="0"/>
                          <a:ea typeface="FangSong_GB2312" panose="02010609030101010101" pitchFamily="49" charset="-122"/>
                        </a:rPr>
                        <a:t>男</a:t>
                      </a:r>
                      <a:endParaRPr lang="en-CN" sz="1000" kern="100" baseline="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zh-CN" sz="1000" kern="100" baseline="0">
                          <a:effectLst/>
                          <a:latin typeface="Times New Roman" panose="02020603050405020304" pitchFamily="18" charset="0"/>
                          <a:ea typeface="FangSong_GB2312" panose="02010609030101010101" pitchFamily="49" charset="-122"/>
                        </a:rPr>
                        <a:t>难治性癫痫</a:t>
                      </a:r>
                      <a:endParaRPr lang="en-CN" sz="1000" kern="100" baseline="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zh-CN" sz="1000" kern="100" baseline="0">
                          <a:effectLst/>
                          <a:latin typeface="Times New Roman" panose="02020603050405020304" pitchFamily="18" charset="0"/>
                          <a:ea typeface="FangSong_GB2312" panose="02010609030101010101" pitchFamily="49" charset="-122"/>
                        </a:rPr>
                        <a:t>右侧</a:t>
                      </a:r>
                      <a:endParaRPr lang="en-CN" sz="1000" kern="100" baseline="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en-US" sz="1000" kern="100" baseline="0">
                          <a:effectLst/>
                          <a:latin typeface="Times New Roman" panose="02020603050405020304" pitchFamily="18" charset="0"/>
                          <a:ea typeface="FangSong_GB2312" panose="02010609030101010101" pitchFamily="49" charset="-122"/>
                        </a:rPr>
                        <a:t>A1</a:t>
                      </a:r>
                      <a:r>
                        <a:rPr lang="zh-CN" sz="1000" kern="100" baseline="0">
                          <a:effectLst/>
                          <a:latin typeface="Times New Roman" panose="02020603050405020304" pitchFamily="18" charset="0"/>
                          <a:ea typeface="FangSong_GB2312" panose="02010609030101010101" pitchFamily="49" charset="-122"/>
                        </a:rPr>
                        <a:t>、</a:t>
                      </a:r>
                      <a:r>
                        <a:rPr lang="en-US" sz="1000" kern="100" baseline="0">
                          <a:effectLst/>
                          <a:latin typeface="Times New Roman" panose="02020603050405020304" pitchFamily="18" charset="0"/>
                          <a:ea typeface="FangSong_GB2312" panose="02010609030101010101" pitchFamily="49" charset="-122"/>
                        </a:rPr>
                        <a:t>A2</a:t>
                      </a:r>
                      <a:r>
                        <a:rPr lang="zh-CN" sz="1000" kern="100" baseline="0">
                          <a:effectLst/>
                          <a:latin typeface="Times New Roman" panose="02020603050405020304" pitchFamily="18" charset="0"/>
                          <a:ea typeface="FangSong_GB2312" panose="02010609030101010101" pitchFamily="49" charset="-122"/>
                        </a:rPr>
                        <a:t>、</a:t>
                      </a:r>
                      <a:r>
                        <a:rPr lang="en-US" sz="1000" kern="100" baseline="0">
                          <a:effectLst/>
                          <a:latin typeface="Times New Roman" panose="02020603050405020304" pitchFamily="18" charset="0"/>
                          <a:ea typeface="FangSong_GB2312" panose="02010609030101010101" pitchFamily="49" charset="-122"/>
                        </a:rPr>
                        <a:t>A3</a:t>
                      </a:r>
                      <a:r>
                        <a:rPr lang="zh-CN" sz="1000" kern="100" baseline="0">
                          <a:effectLst/>
                          <a:latin typeface="Times New Roman" panose="02020603050405020304" pitchFamily="18" charset="0"/>
                          <a:ea typeface="FangSong_GB2312" panose="02010609030101010101" pitchFamily="49" charset="-122"/>
                        </a:rPr>
                        <a:t>、</a:t>
                      </a:r>
                      <a:r>
                        <a:rPr lang="en-US" sz="1000" kern="100" baseline="0">
                          <a:effectLst/>
                          <a:latin typeface="Times New Roman" panose="02020603050405020304" pitchFamily="18" charset="0"/>
                          <a:ea typeface="FangSong_GB2312" panose="02010609030101010101" pitchFamily="49" charset="-122"/>
                        </a:rPr>
                        <a:t>A4</a:t>
                      </a:r>
                      <a:r>
                        <a:rPr lang="zh-CN" sz="1000" kern="100" baseline="0">
                          <a:effectLst/>
                          <a:latin typeface="Times New Roman" panose="02020603050405020304" pitchFamily="18" charset="0"/>
                          <a:ea typeface="FangSong_GB2312" panose="02010609030101010101" pitchFamily="49" charset="-122"/>
                        </a:rPr>
                        <a:t>、</a:t>
                      </a:r>
                      <a:r>
                        <a:rPr lang="en-US" sz="1000" kern="100" baseline="0">
                          <a:effectLst/>
                          <a:latin typeface="Times New Roman" panose="02020603050405020304" pitchFamily="18" charset="0"/>
                          <a:ea typeface="FangSong_GB2312" panose="02010609030101010101" pitchFamily="49" charset="-122"/>
                        </a:rPr>
                        <a:t>A5</a:t>
                      </a:r>
                      <a:endParaRPr lang="en-CN" sz="1000" kern="100" baseline="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en-US" sz="1000" kern="100" baseline="0" dirty="0">
                          <a:effectLst/>
                          <a:latin typeface="Times New Roman" panose="02020603050405020304" pitchFamily="18" charset="0"/>
                          <a:ea typeface="FangSong_GB2312" panose="02010609030101010101" pitchFamily="49" charset="-122"/>
                        </a:rPr>
                        <a:t>B1</a:t>
                      </a:r>
                      <a:r>
                        <a:rPr lang="zh-CN" sz="1000" kern="100" baseline="0" dirty="0">
                          <a:effectLst/>
                          <a:latin typeface="Times New Roman" panose="02020603050405020304" pitchFamily="18" charset="0"/>
                          <a:ea typeface="FangSong_GB2312" panose="02010609030101010101" pitchFamily="49" charset="-122"/>
                        </a:rPr>
                        <a:t>、</a:t>
                      </a:r>
                      <a:r>
                        <a:rPr lang="en-US" sz="1000" kern="100" baseline="0" dirty="0">
                          <a:effectLst/>
                          <a:latin typeface="Times New Roman" panose="02020603050405020304" pitchFamily="18" charset="0"/>
                          <a:ea typeface="FangSong_GB2312" panose="02010609030101010101" pitchFamily="49" charset="-122"/>
                        </a:rPr>
                        <a:t>B2</a:t>
                      </a:r>
                      <a:r>
                        <a:rPr lang="zh-CN" sz="1000" kern="100" baseline="0" dirty="0">
                          <a:effectLst/>
                          <a:latin typeface="Times New Roman" panose="02020603050405020304" pitchFamily="18" charset="0"/>
                          <a:ea typeface="FangSong_GB2312" panose="02010609030101010101" pitchFamily="49" charset="-122"/>
                        </a:rPr>
                        <a:t>、</a:t>
                      </a:r>
                      <a:r>
                        <a:rPr lang="en-US" sz="1000" kern="100" baseline="0" dirty="0">
                          <a:effectLst/>
                          <a:latin typeface="Times New Roman" panose="02020603050405020304" pitchFamily="18" charset="0"/>
                          <a:ea typeface="FangSong_GB2312" panose="02010609030101010101" pitchFamily="49" charset="-122"/>
                        </a:rPr>
                        <a:t>B3</a:t>
                      </a:r>
                      <a:r>
                        <a:rPr lang="zh-CN" sz="1000" kern="100" baseline="0" dirty="0">
                          <a:effectLst/>
                          <a:latin typeface="Times New Roman" panose="02020603050405020304" pitchFamily="18" charset="0"/>
                          <a:ea typeface="FangSong_GB2312" panose="02010609030101010101" pitchFamily="49" charset="-122"/>
                        </a:rPr>
                        <a:t>、</a:t>
                      </a:r>
                      <a:r>
                        <a:rPr lang="en-US" sz="1000" kern="100" baseline="0" dirty="0">
                          <a:effectLst/>
                          <a:latin typeface="Times New Roman" panose="02020603050405020304" pitchFamily="18" charset="0"/>
                          <a:ea typeface="FangSong_GB2312" panose="02010609030101010101" pitchFamily="49" charset="-122"/>
                        </a:rPr>
                        <a:t>B4</a:t>
                      </a:r>
                      <a:r>
                        <a:rPr lang="zh-CN" sz="1000" kern="100" baseline="0" dirty="0">
                          <a:effectLst/>
                          <a:latin typeface="Times New Roman" panose="02020603050405020304" pitchFamily="18" charset="0"/>
                          <a:ea typeface="FangSong_GB2312" panose="02010609030101010101" pitchFamily="49" charset="-122"/>
                        </a:rPr>
                        <a:t>、</a:t>
                      </a:r>
                      <a:r>
                        <a:rPr lang="en-US" sz="1000" kern="100" baseline="0" dirty="0">
                          <a:effectLst/>
                          <a:latin typeface="Times New Roman" panose="02020603050405020304" pitchFamily="18" charset="0"/>
                          <a:ea typeface="FangSong_GB2312" panose="02010609030101010101" pitchFamily="49" charset="-122"/>
                        </a:rPr>
                        <a:t>C2</a:t>
                      </a:r>
                      <a:r>
                        <a:rPr lang="zh-CN" sz="1000" kern="100" baseline="0" dirty="0">
                          <a:effectLst/>
                          <a:latin typeface="Times New Roman" panose="02020603050405020304" pitchFamily="18" charset="0"/>
                          <a:ea typeface="FangSong_GB2312" panose="02010609030101010101" pitchFamily="49" charset="-122"/>
                        </a:rPr>
                        <a:t>、</a:t>
                      </a:r>
                      <a:r>
                        <a:rPr lang="en-US" sz="1000" kern="100" baseline="0" dirty="0">
                          <a:effectLst/>
                          <a:latin typeface="Times New Roman" panose="02020603050405020304" pitchFamily="18" charset="0"/>
                          <a:ea typeface="FangSong_GB2312" panose="02010609030101010101" pitchFamily="49" charset="-122"/>
                        </a:rPr>
                        <a:t>C3</a:t>
                      </a:r>
                      <a:r>
                        <a:rPr lang="zh-CN" sz="1000" kern="100" baseline="0" dirty="0">
                          <a:effectLst/>
                          <a:latin typeface="Times New Roman" panose="02020603050405020304" pitchFamily="18" charset="0"/>
                          <a:ea typeface="FangSong_GB2312" panose="02010609030101010101" pitchFamily="49" charset="-122"/>
                        </a:rPr>
                        <a:t>、</a:t>
                      </a:r>
                      <a:r>
                        <a:rPr lang="en-US" sz="1000" kern="100" baseline="0" dirty="0">
                          <a:effectLst/>
                          <a:latin typeface="Times New Roman" panose="02020603050405020304" pitchFamily="18" charset="0"/>
                          <a:ea typeface="FangSong_GB2312" panose="02010609030101010101" pitchFamily="49" charset="-122"/>
                        </a:rPr>
                        <a:t>C4</a:t>
                      </a:r>
                      <a:endParaRPr lang="en-CN" sz="1000" kern="100" baseline="0" dirty="0">
                        <a:effectLst/>
                        <a:latin typeface="Times New Roman" panose="02020603050405020304" pitchFamily="18" charset="0"/>
                        <a:ea typeface="FangSong_GB2312" panose="02010609030101010101" pitchFamily="49" charset="-122"/>
                      </a:endParaRPr>
                    </a:p>
                  </a:txBody>
                  <a:tcPr marL="66915" marR="66915" marT="0" marB="0" anchor="ctr"/>
                </a:tc>
                <a:extLst>
                  <a:ext uri="{0D108BD9-81ED-4DB2-BD59-A6C34878D82A}">
                    <a16:rowId xmlns:a16="http://schemas.microsoft.com/office/drawing/2014/main" val="1529752338"/>
                  </a:ext>
                </a:extLst>
              </a:tr>
              <a:tr h="529974">
                <a:tc>
                  <a:txBody>
                    <a:bodyPr/>
                    <a:lstStyle/>
                    <a:p>
                      <a:pPr algn="ctr">
                        <a:buNone/>
                      </a:pPr>
                      <a:r>
                        <a:rPr lang="en-US" sz="1000" kern="100" baseline="0" dirty="0">
                          <a:effectLst/>
                          <a:latin typeface="Times New Roman" panose="02020603050405020304" pitchFamily="18" charset="0"/>
                          <a:ea typeface="FangSong_GB2312" panose="02010609030101010101" pitchFamily="49" charset="-122"/>
                        </a:rPr>
                        <a:t>Sub008</a:t>
                      </a:r>
                      <a:endParaRPr lang="en-CN" sz="1000" kern="100" baseline="0" dirty="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en-US" sz="1000" kern="100" baseline="0" dirty="0">
                          <a:effectLst/>
                          <a:latin typeface="Times New Roman" panose="02020603050405020304" pitchFamily="18" charset="0"/>
                          <a:ea typeface="FangSong_GB2312" panose="02010609030101010101" pitchFamily="49" charset="-122"/>
                        </a:rPr>
                        <a:t>33</a:t>
                      </a:r>
                      <a:endParaRPr lang="en-CN" sz="1000" kern="100" baseline="0" dirty="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zh-CN" sz="1000" kern="100" baseline="0">
                          <a:effectLst/>
                          <a:latin typeface="Times New Roman" panose="02020603050405020304" pitchFamily="18" charset="0"/>
                          <a:ea typeface="FangSong_GB2312" panose="02010609030101010101" pitchFamily="49" charset="-122"/>
                        </a:rPr>
                        <a:t>女</a:t>
                      </a:r>
                      <a:endParaRPr lang="en-CN" sz="1000" kern="100" baseline="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zh-CN" sz="1000" kern="100" baseline="0">
                          <a:effectLst/>
                          <a:latin typeface="Times New Roman" panose="02020603050405020304" pitchFamily="18" charset="0"/>
                          <a:ea typeface="FangSong_GB2312" panose="02010609030101010101" pitchFamily="49" charset="-122"/>
                        </a:rPr>
                        <a:t>难治性癫痫</a:t>
                      </a:r>
                      <a:endParaRPr lang="en-CN" sz="1000" kern="100" baseline="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zh-CN" sz="1000" kern="100" baseline="0">
                          <a:effectLst/>
                          <a:latin typeface="Times New Roman" panose="02020603050405020304" pitchFamily="18" charset="0"/>
                          <a:ea typeface="FangSong_GB2312" panose="02010609030101010101" pitchFamily="49" charset="-122"/>
                        </a:rPr>
                        <a:t>左侧</a:t>
                      </a:r>
                      <a:endParaRPr lang="en-CN" sz="1000" kern="100" baseline="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en-US" sz="1000" kern="100" baseline="0" dirty="0">
                          <a:effectLst/>
                          <a:latin typeface="Times New Roman" panose="02020603050405020304" pitchFamily="18" charset="0"/>
                          <a:ea typeface="FangSong_GB2312" panose="02010609030101010101" pitchFamily="49" charset="-122"/>
                        </a:rPr>
                        <a:t>A-Amy-mTL1</a:t>
                      </a:r>
                      <a:r>
                        <a:rPr lang="zh-CN" sz="1000" kern="100" baseline="0" dirty="0">
                          <a:effectLst/>
                          <a:latin typeface="Times New Roman" panose="02020603050405020304" pitchFamily="18" charset="0"/>
                          <a:ea typeface="FangSong_GB2312" panose="02010609030101010101" pitchFamily="49" charset="-122"/>
                        </a:rPr>
                        <a:t>、</a:t>
                      </a:r>
                      <a:r>
                        <a:rPr lang="en-US" sz="1000" kern="100" baseline="0" dirty="0">
                          <a:effectLst/>
                          <a:latin typeface="Times New Roman" panose="02020603050405020304" pitchFamily="18" charset="0"/>
                          <a:ea typeface="FangSong_GB2312" panose="02010609030101010101" pitchFamily="49" charset="-122"/>
                        </a:rPr>
                        <a:t>A-Amy-mTL2</a:t>
                      </a:r>
                      <a:r>
                        <a:rPr lang="zh-CN" sz="1000" kern="100" baseline="0" dirty="0">
                          <a:effectLst/>
                          <a:latin typeface="Times New Roman" panose="02020603050405020304" pitchFamily="18" charset="0"/>
                          <a:ea typeface="FangSong_GB2312" panose="02010609030101010101" pitchFamily="49" charset="-122"/>
                        </a:rPr>
                        <a:t>、</a:t>
                      </a:r>
                      <a:endParaRPr lang="en-CN" sz="1000" kern="100" baseline="0" dirty="0">
                        <a:effectLst/>
                        <a:latin typeface="Times New Roman" panose="02020603050405020304" pitchFamily="18" charset="0"/>
                        <a:ea typeface="FangSong_GB2312" panose="02010609030101010101" pitchFamily="49" charset="-122"/>
                      </a:endParaRPr>
                    </a:p>
                    <a:p>
                      <a:pPr algn="ctr">
                        <a:buNone/>
                      </a:pPr>
                      <a:r>
                        <a:rPr lang="en-US" sz="1000" kern="100" baseline="0" dirty="0">
                          <a:effectLst/>
                          <a:latin typeface="Times New Roman" panose="02020603050405020304" pitchFamily="18" charset="0"/>
                          <a:ea typeface="FangSong_GB2312" panose="02010609030101010101" pitchFamily="49" charset="-122"/>
                        </a:rPr>
                        <a:t>A-Amy-mTL3</a:t>
                      </a:r>
                      <a:r>
                        <a:rPr lang="zh-CN" sz="1000" kern="100" baseline="0" dirty="0">
                          <a:effectLst/>
                          <a:latin typeface="Times New Roman" panose="02020603050405020304" pitchFamily="18" charset="0"/>
                          <a:ea typeface="FangSong_GB2312" panose="02010609030101010101" pitchFamily="49" charset="-122"/>
                        </a:rPr>
                        <a:t>、</a:t>
                      </a:r>
                      <a:r>
                        <a:rPr lang="en-US" sz="1000" kern="100" baseline="0" dirty="0">
                          <a:effectLst/>
                          <a:latin typeface="Times New Roman" panose="02020603050405020304" pitchFamily="18" charset="0"/>
                          <a:ea typeface="FangSong_GB2312" panose="02010609030101010101" pitchFamily="49" charset="-122"/>
                        </a:rPr>
                        <a:t>A-Amy-mTL4</a:t>
                      </a:r>
                      <a:r>
                        <a:rPr lang="zh-CN" sz="1000" kern="100" baseline="0" dirty="0">
                          <a:effectLst/>
                          <a:latin typeface="Times New Roman" panose="02020603050405020304" pitchFamily="18" charset="0"/>
                          <a:ea typeface="FangSong_GB2312" panose="02010609030101010101" pitchFamily="49" charset="-122"/>
                        </a:rPr>
                        <a:t>、</a:t>
                      </a:r>
                      <a:endParaRPr lang="en-CN" sz="1000" kern="100" baseline="0" dirty="0">
                        <a:effectLst/>
                        <a:latin typeface="Times New Roman" panose="02020603050405020304" pitchFamily="18" charset="0"/>
                        <a:ea typeface="FangSong_GB2312" panose="02010609030101010101" pitchFamily="49" charset="-122"/>
                      </a:endParaRPr>
                    </a:p>
                    <a:p>
                      <a:pPr algn="ctr">
                        <a:buNone/>
                      </a:pPr>
                      <a:r>
                        <a:rPr lang="en-US" sz="1000" kern="100" baseline="0" dirty="0">
                          <a:effectLst/>
                          <a:latin typeface="Times New Roman" panose="02020603050405020304" pitchFamily="18" charset="0"/>
                          <a:ea typeface="FangSong_GB2312" panose="02010609030101010101" pitchFamily="49" charset="-122"/>
                        </a:rPr>
                        <a:t>A-Amy-mTL5</a:t>
                      </a:r>
                      <a:endParaRPr lang="en-CN" sz="1000" kern="100" baseline="0" dirty="0">
                        <a:effectLst/>
                        <a:latin typeface="Times New Roman" panose="02020603050405020304" pitchFamily="18" charset="0"/>
                        <a:ea typeface="FangSong_GB2312" panose="02010609030101010101" pitchFamily="49" charset="-122"/>
                      </a:endParaRPr>
                    </a:p>
                  </a:txBody>
                  <a:tcPr marL="66915" marR="66915" marT="0" marB="0" anchor="ctr"/>
                </a:tc>
                <a:tc>
                  <a:txBody>
                    <a:bodyPr/>
                    <a:lstStyle/>
                    <a:p>
                      <a:pPr algn="ctr">
                        <a:buNone/>
                      </a:pPr>
                      <a:r>
                        <a:rPr lang="en-US" sz="1000" kern="100" baseline="0" dirty="0">
                          <a:effectLst/>
                          <a:latin typeface="Times New Roman" panose="02020603050405020304" pitchFamily="18" charset="0"/>
                          <a:ea typeface="FangSong_GB2312" panose="02010609030101010101" pitchFamily="49" charset="-122"/>
                        </a:rPr>
                        <a:t>B-aHippo1</a:t>
                      </a:r>
                      <a:r>
                        <a:rPr lang="zh-CN" sz="1000" kern="100" baseline="0" dirty="0">
                          <a:effectLst/>
                          <a:latin typeface="Times New Roman" panose="02020603050405020304" pitchFamily="18" charset="0"/>
                          <a:ea typeface="FangSong_GB2312" panose="02010609030101010101" pitchFamily="49" charset="-122"/>
                        </a:rPr>
                        <a:t>、</a:t>
                      </a:r>
                      <a:r>
                        <a:rPr lang="en-US" sz="1000" kern="100" baseline="0" dirty="0">
                          <a:effectLst/>
                          <a:latin typeface="Times New Roman" panose="02020603050405020304" pitchFamily="18" charset="0"/>
                          <a:ea typeface="FangSong_GB2312" panose="02010609030101010101" pitchFamily="49" charset="-122"/>
                        </a:rPr>
                        <a:t>B-aHippo2</a:t>
                      </a:r>
                      <a:r>
                        <a:rPr lang="zh-CN" sz="1000" kern="100" baseline="0" dirty="0">
                          <a:effectLst/>
                          <a:latin typeface="Times New Roman" panose="02020603050405020304" pitchFamily="18" charset="0"/>
                          <a:ea typeface="FangSong_GB2312" panose="02010609030101010101" pitchFamily="49" charset="-122"/>
                        </a:rPr>
                        <a:t>、</a:t>
                      </a:r>
                      <a:r>
                        <a:rPr lang="en-US" sz="1000" kern="100" baseline="0" dirty="0">
                          <a:effectLst/>
                          <a:latin typeface="Times New Roman" panose="02020603050405020304" pitchFamily="18" charset="0"/>
                          <a:ea typeface="FangSong_GB2312" panose="02010609030101010101" pitchFamily="49" charset="-122"/>
                        </a:rPr>
                        <a:t>C-cHippo1</a:t>
                      </a:r>
                      <a:r>
                        <a:rPr lang="zh-CN" sz="1000" kern="100" baseline="0" dirty="0">
                          <a:effectLst/>
                          <a:latin typeface="Times New Roman" panose="02020603050405020304" pitchFamily="18" charset="0"/>
                          <a:ea typeface="FangSong_GB2312" panose="02010609030101010101" pitchFamily="49" charset="-122"/>
                        </a:rPr>
                        <a:t>、</a:t>
                      </a:r>
                      <a:r>
                        <a:rPr lang="en-US" sz="1000" kern="100" baseline="0" dirty="0">
                          <a:effectLst/>
                          <a:latin typeface="Times New Roman" panose="02020603050405020304" pitchFamily="18" charset="0"/>
                          <a:ea typeface="FangSong_GB2312" panose="02010609030101010101" pitchFamily="49" charset="-122"/>
                        </a:rPr>
                        <a:t>C-cHippo2</a:t>
                      </a:r>
                      <a:r>
                        <a:rPr lang="zh-CN" sz="1000" kern="100" baseline="0" dirty="0">
                          <a:effectLst/>
                          <a:latin typeface="Times New Roman" panose="02020603050405020304" pitchFamily="18" charset="0"/>
                          <a:ea typeface="FangSong_GB2312" panose="02010609030101010101" pitchFamily="49" charset="-122"/>
                        </a:rPr>
                        <a:t>、</a:t>
                      </a:r>
                      <a:r>
                        <a:rPr lang="en-US" sz="1000" kern="100" baseline="0" dirty="0">
                          <a:effectLst/>
                          <a:latin typeface="Times New Roman" panose="02020603050405020304" pitchFamily="18" charset="0"/>
                          <a:ea typeface="FangSong_GB2312" panose="02010609030101010101" pitchFamily="49" charset="-122"/>
                        </a:rPr>
                        <a:t>C-cHippo3</a:t>
                      </a:r>
                      <a:endParaRPr lang="en-CN" sz="1000" kern="100" baseline="0" dirty="0">
                        <a:effectLst/>
                        <a:latin typeface="Times New Roman" panose="02020603050405020304" pitchFamily="18" charset="0"/>
                        <a:ea typeface="FangSong_GB2312" panose="02010609030101010101" pitchFamily="49" charset="-122"/>
                      </a:endParaRPr>
                    </a:p>
                  </a:txBody>
                  <a:tcPr marL="66915" marR="66915" marT="0" marB="0" anchor="ctr"/>
                </a:tc>
                <a:extLst>
                  <a:ext uri="{0D108BD9-81ED-4DB2-BD59-A6C34878D82A}">
                    <a16:rowId xmlns:a16="http://schemas.microsoft.com/office/drawing/2014/main" val="769100617"/>
                  </a:ext>
                </a:extLst>
              </a:tr>
            </a:tbl>
          </a:graphicData>
        </a:graphic>
      </p:graphicFrame>
      <p:sp>
        <p:nvSpPr>
          <p:cNvPr id="5" name="文本框 1053">
            <a:extLst>
              <a:ext uri="{FF2B5EF4-FFF2-40B4-BE49-F238E27FC236}">
                <a16:creationId xmlns:a16="http://schemas.microsoft.com/office/drawing/2014/main" id="{65D3817C-3B17-A117-35E1-259EE20FA0BC}"/>
              </a:ext>
            </a:extLst>
          </p:cNvPr>
          <p:cNvSpPr txBox="1"/>
          <p:nvPr/>
        </p:nvSpPr>
        <p:spPr>
          <a:xfrm>
            <a:off x="358346" y="1003715"/>
            <a:ext cx="1881686" cy="246221"/>
          </a:xfrm>
          <a:prstGeom prst="rect">
            <a:avLst/>
          </a:prstGeom>
          <a:solidFill>
            <a:schemeClr val="bg1"/>
          </a:solidFill>
        </p:spPr>
        <p:txBody>
          <a:bodyPr wrap="square" lIns="0" tIns="0" rIns="0" bIns="0" rtlCol="0">
            <a:spAutoFit/>
          </a:bodyPr>
          <a:lstStyle/>
          <a:p>
            <a:r>
              <a:rPr lang="zh-CN" altLang="en-US" sz="1600" b="1" dirty="0">
                <a:latin typeface="FangSong_GB2312" panose="02010609030101010101" pitchFamily="49" charset="-122"/>
                <a:ea typeface="FangSong_GB2312" panose="02010609030101010101" pitchFamily="49" charset="-122"/>
                <a:cs typeface="Times New Roman" panose="02020603050405020304" pitchFamily="18" charset="0"/>
              </a:rPr>
              <a:t>研究二纳入被试</a:t>
            </a:r>
          </a:p>
        </p:txBody>
      </p:sp>
      <p:grpSp>
        <p:nvGrpSpPr>
          <p:cNvPr id="2" name="组合 3">
            <a:extLst>
              <a:ext uri="{FF2B5EF4-FFF2-40B4-BE49-F238E27FC236}">
                <a16:creationId xmlns:a16="http://schemas.microsoft.com/office/drawing/2014/main" id="{4A43165A-F030-2567-CB06-8171B7537E92}"/>
              </a:ext>
            </a:extLst>
          </p:cNvPr>
          <p:cNvGrpSpPr/>
          <p:nvPr/>
        </p:nvGrpSpPr>
        <p:grpSpPr>
          <a:xfrm>
            <a:off x="2301436" y="3719775"/>
            <a:ext cx="1024116" cy="810221"/>
            <a:chOff x="1792962" y="5139080"/>
            <a:chExt cx="864000" cy="759496"/>
          </a:xfrm>
        </p:grpSpPr>
        <p:sp>
          <p:nvSpPr>
            <p:cNvPr id="6" name="矩形 4">
              <a:extLst>
                <a:ext uri="{FF2B5EF4-FFF2-40B4-BE49-F238E27FC236}">
                  <a16:creationId xmlns:a16="http://schemas.microsoft.com/office/drawing/2014/main" id="{6E486FB6-2157-A17E-9AFA-D839DD6533CC}"/>
                </a:ext>
              </a:extLst>
            </p:cNvPr>
            <p:cNvSpPr/>
            <p:nvPr/>
          </p:nvSpPr>
          <p:spPr>
            <a:xfrm>
              <a:off x="1792962" y="5139080"/>
              <a:ext cx="864000" cy="75387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1350"/>
            </a:p>
          </p:txBody>
        </p:sp>
        <p:pic>
          <p:nvPicPr>
            <p:cNvPr id="7" name="图片 5">
              <a:extLst>
                <a:ext uri="{FF2B5EF4-FFF2-40B4-BE49-F238E27FC236}">
                  <a16:creationId xmlns:a16="http://schemas.microsoft.com/office/drawing/2014/main" id="{34A356C6-170B-E441-B940-AFEBE1B6F27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2133557" y="5154576"/>
              <a:ext cx="251870" cy="744000"/>
            </a:xfrm>
            <a:prstGeom prst="rect">
              <a:avLst/>
            </a:prstGeom>
          </p:spPr>
        </p:pic>
      </p:grpSp>
      <p:sp>
        <p:nvSpPr>
          <p:cNvPr id="8" name="矩形 6">
            <a:extLst>
              <a:ext uri="{FF2B5EF4-FFF2-40B4-BE49-F238E27FC236}">
                <a16:creationId xmlns:a16="http://schemas.microsoft.com/office/drawing/2014/main" id="{5D1FC210-D74E-F05E-C055-D79414CF6D6D}"/>
              </a:ext>
            </a:extLst>
          </p:cNvPr>
          <p:cNvSpPr/>
          <p:nvPr/>
        </p:nvSpPr>
        <p:spPr>
          <a:xfrm>
            <a:off x="1356132" y="3723200"/>
            <a:ext cx="921704" cy="80337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微软雅黑" panose="020B0503020204020204" pitchFamily="34" charset="-122"/>
                <a:ea typeface="微软雅黑" panose="020B0503020204020204" pitchFamily="34" charset="-122"/>
              </a:rPr>
              <a:t>+</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9" name="矩形 7">
            <a:extLst>
              <a:ext uri="{FF2B5EF4-FFF2-40B4-BE49-F238E27FC236}">
                <a16:creationId xmlns:a16="http://schemas.microsoft.com/office/drawing/2014/main" id="{D31D2304-88EE-4A36-5B07-A508262169AA}"/>
              </a:ext>
            </a:extLst>
          </p:cNvPr>
          <p:cNvSpPr/>
          <p:nvPr/>
        </p:nvSpPr>
        <p:spPr>
          <a:xfrm>
            <a:off x="5444584" y="3723200"/>
            <a:ext cx="921704" cy="80337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微软雅黑" panose="020B0503020204020204" pitchFamily="34" charset="-122"/>
                <a:ea typeface="微软雅黑" panose="020B0503020204020204" pitchFamily="34" charset="-122"/>
              </a:rPr>
              <a:t>+</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10" name="文本框 8">
            <a:extLst>
              <a:ext uri="{FF2B5EF4-FFF2-40B4-BE49-F238E27FC236}">
                <a16:creationId xmlns:a16="http://schemas.microsoft.com/office/drawing/2014/main" id="{C108D5E4-DACF-7BE8-2046-F54769D7F903}"/>
              </a:ext>
            </a:extLst>
          </p:cNvPr>
          <p:cNvSpPr txBox="1"/>
          <p:nvPr/>
        </p:nvSpPr>
        <p:spPr>
          <a:xfrm>
            <a:off x="10494484" y="4021208"/>
            <a:ext cx="512058" cy="200055"/>
          </a:xfrm>
          <a:prstGeom prst="rect">
            <a:avLst/>
          </a:prstGeom>
          <a:noFill/>
        </p:spPr>
        <p:txBody>
          <a:bodyPr wrap="square" rtlCol="0">
            <a:spAutoFit/>
          </a:bodyPr>
          <a:lstStyle/>
          <a:p>
            <a:r>
              <a:rPr lang="en-US" altLang="zh-CN" sz="700" b="1" dirty="0">
                <a:latin typeface="微软雅黑" panose="020B0503020204020204" pitchFamily="34" charset="-122"/>
                <a:ea typeface="微软雅黑" panose="020B0503020204020204" pitchFamily="34" charset="-122"/>
              </a:rPr>
              <a:t>……</a:t>
            </a:r>
            <a:endParaRPr lang="zh-CN" altLang="en-US" sz="700" b="1" dirty="0">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A5E131C2-2FF0-ACDC-8852-B4C09A093F75}"/>
              </a:ext>
            </a:extLst>
          </p:cNvPr>
          <p:cNvSpPr txBox="1"/>
          <p:nvPr/>
        </p:nvSpPr>
        <p:spPr>
          <a:xfrm>
            <a:off x="592488" y="4547180"/>
            <a:ext cx="388238" cy="338554"/>
          </a:xfrm>
          <a:prstGeom prst="rect">
            <a:avLst/>
          </a:prstGeom>
          <a:noFill/>
        </p:spPr>
        <p:txBody>
          <a:bodyPr wrap="square" rtlCol="0">
            <a:spAutoFit/>
          </a:bodyPr>
          <a:lstStyle/>
          <a:p>
            <a:r>
              <a:rPr lang="en-US" altLang="zh-CN" sz="1600" dirty="0">
                <a:latin typeface="Times New Roman" panose="02020603050405020304" pitchFamily="18" charset="0"/>
                <a:cs typeface="Times New Roman" panose="02020603050405020304" pitchFamily="18" charset="0"/>
              </a:rPr>
              <a:t>5s</a:t>
            </a:r>
            <a:endParaRPr lang="zh-CN" altLang="en-US" sz="1600" dirty="0">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3D57C04B-481B-80B1-6482-83920A723069}"/>
              </a:ext>
            </a:extLst>
          </p:cNvPr>
          <p:cNvSpPr txBox="1"/>
          <p:nvPr/>
        </p:nvSpPr>
        <p:spPr>
          <a:xfrm>
            <a:off x="2648919" y="4547180"/>
            <a:ext cx="479982" cy="338554"/>
          </a:xfrm>
          <a:prstGeom prst="rect">
            <a:avLst/>
          </a:prstGeom>
          <a:noFill/>
        </p:spPr>
        <p:txBody>
          <a:bodyPr wrap="square" rtlCol="0">
            <a:spAutoFit/>
          </a:bodyPr>
          <a:lstStyle/>
          <a:p>
            <a:r>
              <a:rPr lang="en-US" altLang="zh-CN" sz="1600" dirty="0">
                <a:latin typeface="Times New Roman" panose="02020603050405020304" pitchFamily="18" charset="0"/>
                <a:cs typeface="Times New Roman" panose="02020603050405020304" pitchFamily="18" charset="0"/>
              </a:rPr>
              <a:t>5s</a:t>
            </a:r>
            <a:endParaRPr lang="zh-CN" altLang="en-US" sz="1600" dirty="0">
              <a:latin typeface="Times New Roman" panose="02020603050405020304" pitchFamily="18" charset="0"/>
              <a:cs typeface="Times New Roman" panose="02020603050405020304" pitchFamily="18" charset="0"/>
            </a:endParaRPr>
          </a:p>
        </p:txBody>
      </p:sp>
      <p:sp>
        <p:nvSpPr>
          <p:cNvPr id="13" name="文本框 12">
            <a:extLst>
              <a:ext uri="{FF2B5EF4-FFF2-40B4-BE49-F238E27FC236}">
                <a16:creationId xmlns:a16="http://schemas.microsoft.com/office/drawing/2014/main" id="{614D000E-18CD-12B7-9D9C-8605225A5D33}"/>
              </a:ext>
            </a:extLst>
          </p:cNvPr>
          <p:cNvSpPr txBox="1"/>
          <p:nvPr/>
        </p:nvSpPr>
        <p:spPr>
          <a:xfrm>
            <a:off x="3678234" y="4547180"/>
            <a:ext cx="412851" cy="338554"/>
          </a:xfrm>
          <a:prstGeom prst="rect">
            <a:avLst/>
          </a:prstGeom>
          <a:noFill/>
        </p:spPr>
        <p:txBody>
          <a:bodyPr wrap="square" rtlCol="0">
            <a:spAutoFit/>
          </a:bodyPr>
          <a:lstStyle/>
          <a:p>
            <a:r>
              <a:rPr lang="en-US" altLang="zh-CN" sz="1600" dirty="0">
                <a:latin typeface="Times New Roman" panose="02020603050405020304" pitchFamily="18" charset="0"/>
                <a:cs typeface="Times New Roman" panose="02020603050405020304" pitchFamily="18" charset="0"/>
              </a:rPr>
              <a:t>3s</a:t>
            </a:r>
            <a:endParaRPr lang="zh-CN" altLang="en-US" sz="1600" dirty="0">
              <a:latin typeface="Times New Roman" panose="02020603050405020304" pitchFamily="18" charset="0"/>
              <a:cs typeface="Times New Roman" panose="02020603050405020304" pitchFamily="18" charset="0"/>
            </a:endParaRPr>
          </a:p>
        </p:txBody>
      </p:sp>
      <p:sp>
        <p:nvSpPr>
          <p:cNvPr id="14" name="矩形 13">
            <a:extLst>
              <a:ext uri="{FF2B5EF4-FFF2-40B4-BE49-F238E27FC236}">
                <a16:creationId xmlns:a16="http://schemas.microsoft.com/office/drawing/2014/main" id="{4F677486-068A-21DC-8B8E-B0B49A1612EF}"/>
              </a:ext>
            </a:extLst>
          </p:cNvPr>
          <p:cNvSpPr/>
          <p:nvPr/>
        </p:nvSpPr>
        <p:spPr>
          <a:xfrm>
            <a:off x="3349152" y="3723200"/>
            <a:ext cx="1024116" cy="80337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喜好</a:t>
            </a:r>
            <a:r>
              <a:rPr lang="zh-CN" altLang="en-US"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程度评分</a:t>
            </a: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(1-5)</a:t>
            </a:r>
            <a:endParaRPr lang="zh-CN" altLang="en-US"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id="{BC1D8643-1769-95C8-CD90-C3365B5EFE27}"/>
              </a:ext>
            </a:extLst>
          </p:cNvPr>
          <p:cNvSpPr/>
          <p:nvPr/>
        </p:nvSpPr>
        <p:spPr>
          <a:xfrm>
            <a:off x="4396868" y="3723200"/>
            <a:ext cx="1024116" cy="80337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渴望程度评分</a:t>
            </a: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(1-5)</a:t>
            </a:r>
            <a:endParaRPr lang="zh-CN" altLang="en-US"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文本框 15">
            <a:extLst>
              <a:ext uri="{FF2B5EF4-FFF2-40B4-BE49-F238E27FC236}">
                <a16:creationId xmlns:a16="http://schemas.microsoft.com/office/drawing/2014/main" id="{86D80FF2-0BDA-FB9F-B8B9-F33594CD5AAA}"/>
              </a:ext>
            </a:extLst>
          </p:cNvPr>
          <p:cNvSpPr txBox="1"/>
          <p:nvPr/>
        </p:nvSpPr>
        <p:spPr>
          <a:xfrm>
            <a:off x="4774856" y="4547180"/>
            <a:ext cx="412851" cy="338554"/>
          </a:xfrm>
          <a:prstGeom prst="rect">
            <a:avLst/>
          </a:prstGeom>
          <a:noFill/>
        </p:spPr>
        <p:txBody>
          <a:bodyPr wrap="square" rtlCol="0">
            <a:spAutoFit/>
          </a:bodyPr>
          <a:lstStyle/>
          <a:p>
            <a:r>
              <a:rPr lang="en-US" altLang="zh-CN" sz="1600" dirty="0">
                <a:latin typeface="Times New Roman" panose="02020603050405020304" pitchFamily="18" charset="0"/>
                <a:cs typeface="Times New Roman" panose="02020603050405020304" pitchFamily="18" charset="0"/>
              </a:rPr>
              <a:t>3s</a:t>
            </a:r>
            <a:endParaRPr lang="zh-CN" altLang="en-US" sz="1600" dirty="0">
              <a:latin typeface="Times New Roman" panose="02020603050405020304" pitchFamily="18" charset="0"/>
              <a:cs typeface="Times New Roman" panose="02020603050405020304" pitchFamily="18" charset="0"/>
            </a:endParaRPr>
          </a:p>
        </p:txBody>
      </p:sp>
      <p:grpSp>
        <p:nvGrpSpPr>
          <p:cNvPr id="18" name="组合 16">
            <a:extLst>
              <a:ext uri="{FF2B5EF4-FFF2-40B4-BE49-F238E27FC236}">
                <a16:creationId xmlns:a16="http://schemas.microsoft.com/office/drawing/2014/main" id="{25E84692-ADE2-81B8-2955-54C129D8644A}"/>
              </a:ext>
            </a:extLst>
          </p:cNvPr>
          <p:cNvGrpSpPr/>
          <p:nvPr/>
        </p:nvGrpSpPr>
        <p:grpSpPr>
          <a:xfrm>
            <a:off x="6389888" y="3719125"/>
            <a:ext cx="1024116" cy="811521"/>
            <a:chOff x="3581714" y="5115565"/>
            <a:chExt cx="864000" cy="760715"/>
          </a:xfrm>
        </p:grpSpPr>
        <p:sp>
          <p:nvSpPr>
            <p:cNvPr id="20" name="矩形 17">
              <a:extLst>
                <a:ext uri="{FF2B5EF4-FFF2-40B4-BE49-F238E27FC236}">
                  <a16:creationId xmlns:a16="http://schemas.microsoft.com/office/drawing/2014/main" id="{CD70A2E9-E8BE-7B5E-6336-5BFA13655D0C}"/>
                </a:ext>
              </a:extLst>
            </p:cNvPr>
            <p:cNvSpPr/>
            <p:nvPr/>
          </p:nvSpPr>
          <p:spPr>
            <a:xfrm>
              <a:off x="3581714" y="5115565"/>
              <a:ext cx="864000" cy="75387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1350"/>
            </a:p>
          </p:txBody>
        </p:sp>
        <p:pic>
          <p:nvPicPr>
            <p:cNvPr id="21" name="图片 18">
              <a:extLst>
                <a:ext uri="{FF2B5EF4-FFF2-40B4-BE49-F238E27FC236}">
                  <a16:creationId xmlns:a16="http://schemas.microsoft.com/office/drawing/2014/main" id="{FFD2F0E7-EAFF-EBCB-2B84-C8367DF2D872}"/>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3922309" y="5131064"/>
              <a:ext cx="252282" cy="745216"/>
            </a:xfrm>
            <a:prstGeom prst="rect">
              <a:avLst/>
            </a:prstGeom>
          </p:spPr>
        </p:pic>
      </p:grpSp>
      <p:sp>
        <p:nvSpPr>
          <p:cNvPr id="22" name="文本框 19">
            <a:extLst>
              <a:ext uri="{FF2B5EF4-FFF2-40B4-BE49-F238E27FC236}">
                <a16:creationId xmlns:a16="http://schemas.microsoft.com/office/drawing/2014/main" id="{C87C4F4B-0856-8103-67F6-0DC2CEB2FC97}"/>
              </a:ext>
            </a:extLst>
          </p:cNvPr>
          <p:cNvSpPr txBox="1"/>
          <p:nvPr/>
        </p:nvSpPr>
        <p:spPr>
          <a:xfrm>
            <a:off x="1532224" y="4547180"/>
            <a:ext cx="720000" cy="338554"/>
          </a:xfrm>
          <a:prstGeom prst="rect">
            <a:avLst/>
          </a:prstGeom>
          <a:noFill/>
        </p:spPr>
        <p:txBody>
          <a:bodyPr wrap="square" rtlCol="0">
            <a:spAutoFit/>
          </a:bodyPr>
          <a:lstStyle/>
          <a:p>
            <a:r>
              <a:rPr lang="en-US" altLang="zh-CN" sz="1600" dirty="0">
                <a:latin typeface="Times New Roman" panose="02020603050405020304" pitchFamily="18" charset="0"/>
                <a:cs typeface="Times New Roman" panose="02020603050405020304" pitchFamily="18" charset="0"/>
              </a:rPr>
              <a:t>1~3s</a:t>
            </a:r>
            <a:endParaRPr lang="zh-CN" altLang="en-US" sz="1600" dirty="0">
              <a:latin typeface="Times New Roman" panose="02020603050405020304" pitchFamily="18" charset="0"/>
              <a:cs typeface="Times New Roman" panose="02020603050405020304" pitchFamily="18" charset="0"/>
            </a:endParaRPr>
          </a:p>
        </p:txBody>
      </p:sp>
      <p:sp>
        <p:nvSpPr>
          <p:cNvPr id="23" name="矩形 21">
            <a:extLst>
              <a:ext uri="{FF2B5EF4-FFF2-40B4-BE49-F238E27FC236}">
                <a16:creationId xmlns:a16="http://schemas.microsoft.com/office/drawing/2014/main" id="{2DDF5E37-3E96-0EB4-4365-887ADA8B5B33}"/>
              </a:ext>
            </a:extLst>
          </p:cNvPr>
          <p:cNvSpPr/>
          <p:nvPr/>
        </p:nvSpPr>
        <p:spPr>
          <a:xfrm>
            <a:off x="9533036" y="3723200"/>
            <a:ext cx="921704" cy="80337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微软雅黑" panose="020B0503020204020204" pitchFamily="34" charset="-122"/>
                <a:ea typeface="微软雅黑" panose="020B0503020204020204" pitchFamily="34" charset="-122"/>
              </a:rPr>
              <a:t>+</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24" name="矩形 24">
            <a:extLst>
              <a:ext uri="{FF2B5EF4-FFF2-40B4-BE49-F238E27FC236}">
                <a16:creationId xmlns:a16="http://schemas.microsoft.com/office/drawing/2014/main" id="{3A670F53-9F93-AD74-2E8E-08756268CE0F}"/>
              </a:ext>
            </a:extLst>
          </p:cNvPr>
          <p:cNvSpPr/>
          <p:nvPr/>
        </p:nvSpPr>
        <p:spPr>
          <a:xfrm>
            <a:off x="7437604" y="3723200"/>
            <a:ext cx="1024116" cy="80337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喜好程度评分</a:t>
            </a: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(1-5)</a:t>
            </a:r>
            <a:endParaRPr lang="zh-CN" altLang="en-US"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5" name="矩形 25">
            <a:extLst>
              <a:ext uri="{FF2B5EF4-FFF2-40B4-BE49-F238E27FC236}">
                <a16:creationId xmlns:a16="http://schemas.microsoft.com/office/drawing/2014/main" id="{0F04933D-3518-CB13-E0B5-2C9BF329ED95}"/>
              </a:ext>
            </a:extLst>
          </p:cNvPr>
          <p:cNvSpPr/>
          <p:nvPr/>
        </p:nvSpPr>
        <p:spPr>
          <a:xfrm>
            <a:off x="8485320" y="3723200"/>
            <a:ext cx="1024116" cy="80337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渴望程度评分</a:t>
            </a: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(1-5)</a:t>
            </a:r>
            <a:endParaRPr lang="zh-CN" altLang="en-US"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6" name="矩形 27">
            <a:extLst>
              <a:ext uri="{FF2B5EF4-FFF2-40B4-BE49-F238E27FC236}">
                <a16:creationId xmlns:a16="http://schemas.microsoft.com/office/drawing/2014/main" id="{AB0D97EF-4D26-3ABF-13F4-FD9F736CA871}"/>
              </a:ext>
            </a:extLst>
          </p:cNvPr>
          <p:cNvSpPr/>
          <p:nvPr/>
        </p:nvSpPr>
        <p:spPr>
          <a:xfrm>
            <a:off x="274549" y="3723200"/>
            <a:ext cx="1024116" cy="80337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指导语</a:t>
            </a:r>
          </a:p>
        </p:txBody>
      </p:sp>
      <p:sp>
        <p:nvSpPr>
          <p:cNvPr id="27" name="矩形 28">
            <a:extLst>
              <a:ext uri="{FF2B5EF4-FFF2-40B4-BE49-F238E27FC236}">
                <a16:creationId xmlns:a16="http://schemas.microsoft.com/office/drawing/2014/main" id="{26E40A47-9BE4-804D-3DA0-72A9A5B8A3BD}"/>
              </a:ext>
            </a:extLst>
          </p:cNvPr>
          <p:cNvSpPr/>
          <p:nvPr/>
        </p:nvSpPr>
        <p:spPr>
          <a:xfrm>
            <a:off x="10953522" y="3723200"/>
            <a:ext cx="1024116" cy="80337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结束</a:t>
            </a:r>
          </a:p>
        </p:txBody>
      </p:sp>
      <p:sp>
        <p:nvSpPr>
          <p:cNvPr id="28" name="文本框 29">
            <a:extLst>
              <a:ext uri="{FF2B5EF4-FFF2-40B4-BE49-F238E27FC236}">
                <a16:creationId xmlns:a16="http://schemas.microsoft.com/office/drawing/2014/main" id="{E7B32B85-BF74-703D-F13B-43B6B63F0F18}"/>
              </a:ext>
            </a:extLst>
          </p:cNvPr>
          <p:cNvSpPr txBox="1"/>
          <p:nvPr/>
        </p:nvSpPr>
        <p:spPr>
          <a:xfrm>
            <a:off x="5646288" y="4547180"/>
            <a:ext cx="720000" cy="338554"/>
          </a:xfrm>
          <a:prstGeom prst="rect">
            <a:avLst/>
          </a:prstGeom>
          <a:noFill/>
        </p:spPr>
        <p:txBody>
          <a:bodyPr wrap="square" rtlCol="0">
            <a:spAutoFit/>
          </a:bodyPr>
          <a:lstStyle/>
          <a:p>
            <a:r>
              <a:rPr lang="en-US" altLang="zh-CN" sz="1600" dirty="0">
                <a:latin typeface="Times New Roman" panose="02020603050405020304" pitchFamily="18" charset="0"/>
                <a:cs typeface="Times New Roman" panose="02020603050405020304" pitchFamily="18" charset="0"/>
              </a:rPr>
              <a:t>1~3s</a:t>
            </a:r>
            <a:endParaRPr lang="zh-CN" altLang="en-US" sz="1600" dirty="0">
              <a:latin typeface="Times New Roman" panose="02020603050405020304" pitchFamily="18" charset="0"/>
              <a:cs typeface="Times New Roman" panose="02020603050405020304" pitchFamily="18" charset="0"/>
            </a:endParaRPr>
          </a:p>
        </p:txBody>
      </p:sp>
      <p:sp>
        <p:nvSpPr>
          <p:cNvPr id="29" name="文本框 36">
            <a:extLst>
              <a:ext uri="{FF2B5EF4-FFF2-40B4-BE49-F238E27FC236}">
                <a16:creationId xmlns:a16="http://schemas.microsoft.com/office/drawing/2014/main" id="{F1066809-BF69-3C21-CAED-73B4ED632A81}"/>
              </a:ext>
            </a:extLst>
          </p:cNvPr>
          <p:cNvSpPr txBox="1"/>
          <p:nvPr/>
        </p:nvSpPr>
        <p:spPr>
          <a:xfrm>
            <a:off x="6754726" y="4547180"/>
            <a:ext cx="479982" cy="338554"/>
          </a:xfrm>
          <a:prstGeom prst="rect">
            <a:avLst/>
          </a:prstGeom>
          <a:noFill/>
        </p:spPr>
        <p:txBody>
          <a:bodyPr wrap="square" rtlCol="0">
            <a:spAutoFit/>
          </a:bodyPr>
          <a:lstStyle/>
          <a:p>
            <a:r>
              <a:rPr lang="en-US" altLang="zh-CN" sz="1600" dirty="0">
                <a:latin typeface="Times New Roman" panose="02020603050405020304" pitchFamily="18" charset="0"/>
                <a:cs typeface="Times New Roman" panose="02020603050405020304" pitchFamily="18" charset="0"/>
              </a:rPr>
              <a:t>5s</a:t>
            </a:r>
            <a:endParaRPr lang="zh-CN" altLang="en-US" sz="1600" dirty="0">
              <a:latin typeface="Times New Roman" panose="02020603050405020304" pitchFamily="18" charset="0"/>
              <a:cs typeface="Times New Roman" panose="02020603050405020304" pitchFamily="18" charset="0"/>
            </a:endParaRPr>
          </a:p>
        </p:txBody>
      </p:sp>
      <p:sp>
        <p:nvSpPr>
          <p:cNvPr id="30" name="文本框 37">
            <a:extLst>
              <a:ext uri="{FF2B5EF4-FFF2-40B4-BE49-F238E27FC236}">
                <a16:creationId xmlns:a16="http://schemas.microsoft.com/office/drawing/2014/main" id="{6EC2A9D8-1948-8BDC-61DC-E0FDBC25FC01}"/>
              </a:ext>
            </a:extLst>
          </p:cNvPr>
          <p:cNvSpPr txBox="1"/>
          <p:nvPr/>
        </p:nvSpPr>
        <p:spPr>
          <a:xfrm>
            <a:off x="7784041" y="4547180"/>
            <a:ext cx="412851" cy="338554"/>
          </a:xfrm>
          <a:prstGeom prst="rect">
            <a:avLst/>
          </a:prstGeom>
          <a:noFill/>
        </p:spPr>
        <p:txBody>
          <a:bodyPr wrap="square" rtlCol="0">
            <a:spAutoFit/>
          </a:bodyPr>
          <a:lstStyle/>
          <a:p>
            <a:r>
              <a:rPr lang="en-US" altLang="zh-CN" sz="1600" dirty="0">
                <a:latin typeface="Times New Roman" panose="02020603050405020304" pitchFamily="18" charset="0"/>
                <a:cs typeface="Times New Roman" panose="02020603050405020304" pitchFamily="18" charset="0"/>
              </a:rPr>
              <a:t>3s</a:t>
            </a:r>
            <a:endParaRPr lang="zh-CN" altLang="en-US" sz="1600" dirty="0">
              <a:latin typeface="Times New Roman" panose="02020603050405020304" pitchFamily="18" charset="0"/>
              <a:cs typeface="Times New Roman" panose="02020603050405020304" pitchFamily="18" charset="0"/>
            </a:endParaRPr>
          </a:p>
        </p:txBody>
      </p:sp>
      <p:sp>
        <p:nvSpPr>
          <p:cNvPr id="31" name="文本框 38">
            <a:extLst>
              <a:ext uri="{FF2B5EF4-FFF2-40B4-BE49-F238E27FC236}">
                <a16:creationId xmlns:a16="http://schemas.microsoft.com/office/drawing/2014/main" id="{02D75867-D3C8-CB6D-9134-44500DA01F31}"/>
              </a:ext>
            </a:extLst>
          </p:cNvPr>
          <p:cNvSpPr txBox="1"/>
          <p:nvPr/>
        </p:nvSpPr>
        <p:spPr>
          <a:xfrm>
            <a:off x="8880663" y="4547180"/>
            <a:ext cx="412851" cy="338554"/>
          </a:xfrm>
          <a:prstGeom prst="rect">
            <a:avLst/>
          </a:prstGeom>
          <a:noFill/>
        </p:spPr>
        <p:txBody>
          <a:bodyPr wrap="square" rtlCol="0">
            <a:spAutoFit/>
          </a:bodyPr>
          <a:lstStyle/>
          <a:p>
            <a:r>
              <a:rPr lang="en-US" altLang="zh-CN" sz="1600" dirty="0">
                <a:latin typeface="Times New Roman" panose="02020603050405020304" pitchFamily="18" charset="0"/>
                <a:cs typeface="Times New Roman" panose="02020603050405020304" pitchFamily="18" charset="0"/>
              </a:rPr>
              <a:t>3s</a:t>
            </a:r>
            <a:endParaRPr lang="zh-CN" altLang="en-US" sz="1600" dirty="0">
              <a:latin typeface="Times New Roman" panose="02020603050405020304" pitchFamily="18" charset="0"/>
              <a:cs typeface="Times New Roman" panose="02020603050405020304" pitchFamily="18" charset="0"/>
            </a:endParaRPr>
          </a:p>
        </p:txBody>
      </p:sp>
      <p:sp>
        <p:nvSpPr>
          <p:cNvPr id="32" name="文本框 39">
            <a:extLst>
              <a:ext uri="{FF2B5EF4-FFF2-40B4-BE49-F238E27FC236}">
                <a16:creationId xmlns:a16="http://schemas.microsoft.com/office/drawing/2014/main" id="{098D4030-ECEF-E335-5DDE-7D4955771538}"/>
              </a:ext>
            </a:extLst>
          </p:cNvPr>
          <p:cNvSpPr txBox="1"/>
          <p:nvPr/>
        </p:nvSpPr>
        <p:spPr>
          <a:xfrm>
            <a:off x="9752095" y="4547180"/>
            <a:ext cx="720000" cy="338554"/>
          </a:xfrm>
          <a:prstGeom prst="rect">
            <a:avLst/>
          </a:prstGeom>
          <a:noFill/>
        </p:spPr>
        <p:txBody>
          <a:bodyPr wrap="square" rtlCol="0">
            <a:spAutoFit/>
          </a:bodyPr>
          <a:lstStyle/>
          <a:p>
            <a:r>
              <a:rPr lang="en-US" altLang="zh-CN" sz="1600" dirty="0">
                <a:latin typeface="Times New Roman" panose="02020603050405020304" pitchFamily="18" charset="0"/>
                <a:cs typeface="Times New Roman" panose="02020603050405020304" pitchFamily="18" charset="0"/>
              </a:rPr>
              <a:t>1~3s</a:t>
            </a:r>
            <a:endParaRPr lang="zh-CN" altLang="en-US" sz="1600" dirty="0">
              <a:latin typeface="Times New Roman" panose="02020603050405020304" pitchFamily="18" charset="0"/>
              <a:cs typeface="Times New Roman" panose="02020603050405020304" pitchFamily="18" charset="0"/>
            </a:endParaRPr>
          </a:p>
        </p:txBody>
      </p:sp>
      <p:sp>
        <p:nvSpPr>
          <p:cNvPr id="33" name="文本框 1053">
            <a:extLst>
              <a:ext uri="{FF2B5EF4-FFF2-40B4-BE49-F238E27FC236}">
                <a16:creationId xmlns:a16="http://schemas.microsoft.com/office/drawing/2014/main" id="{DD192AFC-DA9E-E18B-0A52-DF33B56A637F}"/>
              </a:ext>
            </a:extLst>
          </p:cNvPr>
          <p:cNvSpPr txBox="1"/>
          <p:nvPr/>
        </p:nvSpPr>
        <p:spPr>
          <a:xfrm>
            <a:off x="267681" y="2769939"/>
            <a:ext cx="2176901" cy="246221"/>
          </a:xfrm>
          <a:prstGeom prst="rect">
            <a:avLst/>
          </a:prstGeom>
          <a:solidFill>
            <a:schemeClr val="bg1"/>
          </a:solidFill>
        </p:spPr>
        <p:txBody>
          <a:bodyPr wrap="square" lIns="0" tIns="0" rIns="0" bIns="0" rtlCol="0">
            <a:spAutoFit/>
          </a:bodyPr>
          <a:lstStyle/>
          <a:p>
            <a:r>
              <a:rPr lang="zh-CN" altLang="en-US" sz="1600" b="1" dirty="0">
                <a:latin typeface="FangSong_GB2312" panose="02010609030101010101" pitchFamily="49" charset="-122"/>
                <a:ea typeface="FangSong_GB2312" panose="02010609030101010101" pitchFamily="49" charset="-122"/>
                <a:cs typeface="Times New Roman" panose="02020603050405020304" pitchFamily="18" charset="0"/>
              </a:rPr>
              <a:t>短视频观看范式（</a:t>
            </a:r>
            <a:r>
              <a:rPr lang="en-US" altLang="zh-CN" sz="1600" b="1" dirty="0">
                <a:latin typeface="Times New Roman" panose="02020603050405020304" pitchFamily="18" charset="0"/>
                <a:ea typeface="FangSong_GB2312" panose="02010609030101010101" pitchFamily="49" charset="-122"/>
                <a:cs typeface="Times New Roman" panose="02020603050405020304" pitchFamily="18" charset="0"/>
              </a:rPr>
              <a:t>N=3</a:t>
            </a:r>
            <a:r>
              <a:rPr lang="zh-CN" altLang="en-US" sz="1600" b="1" dirty="0">
                <a:latin typeface="FangSong_GB2312" panose="02010609030101010101" pitchFamily="49" charset="-122"/>
                <a:ea typeface="FangSong_GB2312" panose="02010609030101010101" pitchFamily="49" charset="-122"/>
                <a:cs typeface="Times New Roman" panose="02020603050405020304" pitchFamily="18" charset="0"/>
              </a:rPr>
              <a:t>）</a:t>
            </a:r>
          </a:p>
        </p:txBody>
      </p:sp>
      <p:sp>
        <p:nvSpPr>
          <p:cNvPr id="34" name="文本框 78">
            <a:extLst>
              <a:ext uri="{FF2B5EF4-FFF2-40B4-BE49-F238E27FC236}">
                <a16:creationId xmlns:a16="http://schemas.microsoft.com/office/drawing/2014/main" id="{CF169F7C-0704-D507-53D2-0F7069F808A1}"/>
              </a:ext>
            </a:extLst>
          </p:cNvPr>
          <p:cNvSpPr txBox="1"/>
          <p:nvPr/>
        </p:nvSpPr>
        <p:spPr>
          <a:xfrm>
            <a:off x="4661168" y="4833635"/>
            <a:ext cx="2374215" cy="338554"/>
          </a:xfrm>
          <a:prstGeom prst="rect">
            <a:avLst/>
          </a:prstGeom>
          <a:noFill/>
        </p:spPr>
        <p:txBody>
          <a:bodyPr wrap="square">
            <a:spAutoFit/>
          </a:bodyPr>
          <a:lstStyle/>
          <a:p>
            <a:pPr algn="ctr"/>
            <a:r>
              <a:rPr lang="en-US" altLang="zh-CN" sz="1600" dirty="0">
                <a:latin typeface="Times New Roman" panose="02020603050405020304" pitchFamily="18" charset="0"/>
                <a:cs typeface="Times New Roman" panose="02020603050405020304" pitchFamily="18" charset="0"/>
              </a:rPr>
              <a:t>66</a:t>
            </a:r>
            <a:r>
              <a:rPr lang="zh-CN" altLang="en-US" sz="1600" dirty="0">
                <a:latin typeface="Microsoft YaHei UI" panose="020B0503020204020204" pitchFamily="34" charset="-122"/>
                <a:ea typeface="Microsoft YaHei UI" panose="020B0503020204020204" pitchFamily="34" charset="-122"/>
                <a:cs typeface="Microsoft GothicNeo" panose="020B0500000101010101" pitchFamily="34" charset="-127"/>
              </a:rPr>
              <a:t>段短视频</a:t>
            </a:r>
            <a:endParaRPr lang="en-US" altLang="zh-CN" sz="1600" dirty="0">
              <a:latin typeface="Microsoft YaHei UI" panose="020B0503020204020204" pitchFamily="34" charset="-122"/>
              <a:ea typeface="Microsoft YaHei UI" panose="020B0503020204020204" pitchFamily="34" charset="-122"/>
              <a:cs typeface="Microsoft GothicNeo" panose="020B0500000101010101" pitchFamily="34" charset="-127"/>
            </a:endParaRPr>
          </a:p>
        </p:txBody>
      </p:sp>
      <p:sp>
        <p:nvSpPr>
          <p:cNvPr id="35" name="文本框 47">
            <a:extLst>
              <a:ext uri="{FF2B5EF4-FFF2-40B4-BE49-F238E27FC236}">
                <a16:creationId xmlns:a16="http://schemas.microsoft.com/office/drawing/2014/main" id="{A2697B68-D575-2C7B-4971-D5EE145F4975}"/>
              </a:ext>
            </a:extLst>
          </p:cNvPr>
          <p:cNvSpPr txBox="1"/>
          <p:nvPr/>
        </p:nvSpPr>
        <p:spPr>
          <a:xfrm>
            <a:off x="162332" y="2989754"/>
            <a:ext cx="11755977" cy="553998"/>
          </a:xfrm>
          <a:prstGeom prst="rect">
            <a:avLst/>
          </a:prstGeom>
          <a:noFill/>
        </p:spPr>
        <p:txBody>
          <a:bodyPr wrap="square">
            <a:spAutoFit/>
          </a:bodyPr>
          <a:lstStyle/>
          <a:p>
            <a:r>
              <a:rPr lang="zh-CN" altLang="en-US" sz="1500" b="1" dirty="0">
                <a:latin typeface="FangSong_GB2312" panose="02010609030101010101" pitchFamily="49" charset="-122"/>
                <a:ea typeface="FangSong_GB2312" panose="02010609030101010101" pitchFamily="49" charset="-122"/>
                <a:cs typeface="Microsoft GothicNeo" panose="020B0500000101010101" pitchFamily="34" charset="-127"/>
              </a:rPr>
              <a:t>指导语：</a:t>
            </a:r>
            <a:endParaRPr lang="en-US" altLang="zh-CN" sz="1500" b="1" dirty="0">
              <a:latin typeface="FangSong_GB2312" panose="02010609030101010101" pitchFamily="49" charset="-122"/>
              <a:ea typeface="FangSong_GB2312" panose="02010609030101010101" pitchFamily="49" charset="-122"/>
              <a:cs typeface="Microsoft GothicNeo" panose="020B0500000101010101" pitchFamily="34" charset="-127"/>
            </a:endParaRPr>
          </a:p>
          <a:p>
            <a:pPr indent="457200"/>
            <a:r>
              <a:rPr lang="zh-CN" altLang="en-US" sz="1500" dirty="0">
                <a:latin typeface="FangSong_GB2312" panose="02010609030101010101" pitchFamily="49" charset="-122"/>
                <a:ea typeface="FangSong_GB2312" panose="02010609030101010101" pitchFamily="49" charset="-122"/>
                <a:cs typeface="Microsoft GothicNeo" panose="020B0500000101010101" pitchFamily="34" charset="-127"/>
              </a:rPr>
              <a:t>在该任务中，您将观看一系列短视频的开头五秒。每段视频看完后，您都要先后对喜好程度和继续观看该视频的渴望程度进行</a:t>
            </a:r>
            <a:r>
              <a:rPr lang="en-US" altLang="zh-CN" sz="1500" dirty="0">
                <a:latin typeface="Times New Roman" panose="02020603050405020304" pitchFamily="18" charset="0"/>
                <a:ea typeface="FangSong_GB2312" panose="02010609030101010101" pitchFamily="49" charset="-122"/>
                <a:cs typeface="Times New Roman" panose="02020603050405020304" pitchFamily="18" charset="0"/>
              </a:rPr>
              <a:t>1-5</a:t>
            </a:r>
            <a:r>
              <a:rPr lang="zh-CN" altLang="en-US" sz="1500" dirty="0">
                <a:latin typeface="FangSong_GB2312" panose="02010609030101010101" pitchFamily="49" charset="-122"/>
                <a:ea typeface="FangSong_GB2312" panose="02010609030101010101" pitchFamily="49" charset="-122"/>
                <a:cs typeface="Microsoft GothicNeo" panose="020B0500000101010101" pitchFamily="34" charset="-127"/>
              </a:rPr>
              <a:t>评分。</a:t>
            </a:r>
          </a:p>
        </p:txBody>
      </p:sp>
      <p:sp>
        <p:nvSpPr>
          <p:cNvPr id="36" name="矩形 75">
            <a:extLst>
              <a:ext uri="{FF2B5EF4-FFF2-40B4-BE49-F238E27FC236}">
                <a16:creationId xmlns:a16="http://schemas.microsoft.com/office/drawing/2014/main" id="{B0A7555B-0C0D-8944-7529-D2E4C2C47918}"/>
              </a:ext>
            </a:extLst>
          </p:cNvPr>
          <p:cNvSpPr/>
          <p:nvPr/>
        </p:nvSpPr>
        <p:spPr>
          <a:xfrm>
            <a:off x="1322658" y="3652535"/>
            <a:ext cx="9174223" cy="1502687"/>
          </a:xfrm>
          <a:prstGeom prst="rect">
            <a:avLst/>
          </a:prstGeom>
          <a:noFill/>
          <a:ln w="19050">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7" name="文本框 47">
                <a:extLst>
                  <a:ext uri="{FF2B5EF4-FFF2-40B4-BE49-F238E27FC236}">
                    <a16:creationId xmlns:a16="http://schemas.microsoft.com/office/drawing/2014/main" id="{0BC7E0C4-D1A4-5D3D-EA33-873958849B5E}"/>
                  </a:ext>
                </a:extLst>
              </p:cNvPr>
              <p:cNvSpPr txBox="1"/>
              <p:nvPr/>
            </p:nvSpPr>
            <p:spPr>
              <a:xfrm>
                <a:off x="273691" y="5309976"/>
                <a:ext cx="9478404" cy="128406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b="1" dirty="0">
                    <a:latin typeface="FangSong_GB2312" panose="02010609030101010101" pitchFamily="49" charset="-122"/>
                    <a:ea typeface="FangSong_GB2312" panose="02010609030101010101" pitchFamily="49" charset="-122"/>
                    <a:cs typeface="Microsoft GothicNeo" panose="020B0500000101010101" pitchFamily="34" charset="-127"/>
                  </a:rPr>
                  <a:t>自有视频库来自抖音新注册用户的随机推送</a:t>
                </a:r>
                <a:endParaRPr lang="en-US" altLang="zh-CN" b="1" dirty="0">
                  <a:latin typeface="FangSong_GB2312" panose="02010609030101010101" pitchFamily="49" charset="-122"/>
                  <a:ea typeface="FangSong_GB2312" panose="02010609030101010101" pitchFamily="49" charset="-122"/>
                  <a:cs typeface="Microsoft GothicNeo" panose="020B0500000101010101" pitchFamily="34" charset="-127"/>
                </a:endParaRPr>
              </a:p>
              <a:p>
                <a:pPr marL="285750" indent="-285750">
                  <a:lnSpc>
                    <a:spcPct val="150000"/>
                  </a:lnSpc>
                  <a:buFont typeface="Arial" panose="020B0604020202020204" pitchFamily="34" charset="0"/>
                  <a:buChar char="•"/>
                </a:pPr>
                <a:r>
                  <a:rPr lang="zh-CN" altLang="en-US" b="1" dirty="0">
                    <a:latin typeface="FangSong_GB2312" panose="02010609030101010101" pitchFamily="49" charset="-122"/>
                    <a:ea typeface="FangSong_GB2312" panose="02010609030101010101" pitchFamily="49" charset="-122"/>
                    <a:cs typeface="Microsoft GothicNeo" panose="020B0500000101010101" pitchFamily="34" charset="-127"/>
                  </a:rPr>
                  <a:t>定义主观评分</a:t>
                </a:r>
                <a14:m>
                  <m:oMath xmlns:m="http://schemas.openxmlformats.org/officeDocument/2006/math">
                    <m:r>
                      <a:rPr lang="en-CN" altLang="zh-CN">
                        <a:latin typeface="Cambria Math" panose="02040503050406030204" pitchFamily="18" charset="0"/>
                      </a:rPr>
                      <m:t>≥</m:t>
                    </m:r>
                    <m:r>
                      <a:rPr lang="en-US" altLang="zh-CN" b="0" i="0" smtClean="0">
                        <a:latin typeface="Cambria Math" panose="02040503050406030204" pitchFamily="18" charset="0"/>
                      </a:rPr>
                      <m:t>4</m:t>
                    </m:r>
                  </m:oMath>
                </a14:m>
                <a:r>
                  <a:rPr lang="zh-CN" altLang="en-US" b="1" dirty="0">
                    <a:latin typeface="FangSong_GB2312" panose="02010609030101010101" pitchFamily="49" charset="-122"/>
                    <a:ea typeface="FangSong_GB2312" panose="02010609030101010101" pitchFamily="49" charset="-122"/>
                    <a:cs typeface="Microsoft GothicNeo" panose="020B0500000101010101" pitchFamily="34" charset="-127"/>
                  </a:rPr>
                  <a:t>为喜欢，</a:t>
                </a:r>
                <a14:m>
                  <m:oMath xmlns:m="http://schemas.openxmlformats.org/officeDocument/2006/math">
                    <m:r>
                      <a:rPr lang="en-CN" altLang="zh-CN">
                        <a:latin typeface="Cambria Math" panose="02040503050406030204" pitchFamily="18" charset="0"/>
                      </a:rPr>
                      <m:t>≤</m:t>
                    </m:r>
                    <m:r>
                      <a:rPr lang="en-CN" i="1">
                        <a:latin typeface="Cambria Math" panose="02040503050406030204" pitchFamily="18" charset="0"/>
                      </a:rPr>
                      <m:t>2</m:t>
                    </m:r>
                  </m:oMath>
                </a14:m>
                <a:r>
                  <a:rPr lang="en-CN" dirty="0">
                    <a:effectLst/>
                  </a:rPr>
                  <a:t> </a:t>
                </a:r>
                <a:r>
                  <a:rPr lang="en-CN" b="1" dirty="0">
                    <a:latin typeface="FangSong_GB2312" panose="02010609030101010101" pitchFamily="49" charset="-122"/>
                    <a:ea typeface="FangSong_GB2312" panose="02010609030101010101" pitchFamily="49" charset="-122"/>
                    <a:cs typeface="Microsoft GothicNeo" panose="020B0500000101010101" pitchFamily="34" charset="-127"/>
                  </a:rPr>
                  <a:t>为不喜欢</a:t>
                </a:r>
                <a:endParaRPr lang="en-US" b="1" dirty="0">
                  <a:latin typeface="FangSong_GB2312" panose="02010609030101010101" pitchFamily="49" charset="-122"/>
                  <a:ea typeface="FangSong_GB2312" panose="02010609030101010101" pitchFamily="49" charset="-122"/>
                  <a:cs typeface="Microsoft GothicNeo" panose="020B0500000101010101" pitchFamily="34" charset="-127"/>
                </a:endParaRPr>
              </a:p>
              <a:p>
                <a:pPr marL="285750" indent="-285750">
                  <a:lnSpc>
                    <a:spcPct val="150000"/>
                  </a:lnSpc>
                  <a:buFont typeface="Arial" panose="020B0604020202020204" pitchFamily="34" charset="0"/>
                  <a:buChar char="•"/>
                </a:pPr>
                <a:r>
                  <a:rPr lang="zh-CN" altLang="en-US" b="1" dirty="0">
                    <a:latin typeface="FangSong_GB2312" panose="02010609030101010101" pitchFamily="49" charset="-122"/>
                    <a:ea typeface="FangSong_GB2312" panose="02010609030101010101" pitchFamily="49" charset="-122"/>
                    <a:cs typeface="Microsoft GothicNeo" panose="020B0500000101010101" pitchFamily="34" charset="-127"/>
                  </a:rPr>
                  <a:t>喜好和渴望高度相关</a:t>
                </a:r>
                <a:r>
                  <a:rPr lang="zh-CN" altLang="en-US" dirty="0">
                    <a:latin typeface="FangSong_GB2312" panose="02010609030101010101" pitchFamily="49" charset="-122"/>
                    <a:ea typeface="FangSong_GB2312" panose="02010609030101010101" pitchFamily="49" charset="-122"/>
                  </a:rPr>
                  <a:t>（</a:t>
                </a:r>
                <a14:m>
                  <m:oMath xmlns:m="http://schemas.openxmlformats.org/officeDocument/2006/math">
                    <m:sSup>
                      <m:sSupPr>
                        <m:ctrlPr>
                          <a:rPr lang="en-US" altLang="zh-CN" b="0" i="1" dirty="0" smtClean="0">
                            <a:latin typeface="Cambria Math" panose="02040503050406030204" pitchFamily="18" charset="0"/>
                          </a:rPr>
                        </m:ctrlPr>
                      </m:sSupPr>
                      <m:e>
                        <m:r>
                          <m:rPr>
                            <m:sty m:val="p"/>
                          </m:rPr>
                          <a:rPr lang="en-US" altLang="zh-CN" i="1" dirty="0">
                            <a:latin typeface="Cambria Math" panose="02040503050406030204" pitchFamily="18" charset="0"/>
                          </a:rPr>
                          <m:t>Spearman</m:t>
                        </m:r>
                      </m:e>
                      <m:sup>
                        <m:r>
                          <a:rPr lang="en-US" altLang="zh-CN" b="0" i="1" dirty="0" smtClean="0">
                            <a:latin typeface="Cambria Math" panose="02040503050406030204" pitchFamily="18" charset="0"/>
                          </a:rPr>
                          <m:t>′</m:t>
                        </m:r>
                      </m:sup>
                    </m:sSup>
                    <m:r>
                      <a:rPr lang="en-US" altLang="zh-CN" b="0" i="1" dirty="0" smtClean="0">
                        <a:latin typeface="Cambria Math" panose="02040503050406030204" pitchFamily="18" charset="0"/>
                      </a:rPr>
                      <m:t>𝑠</m:t>
                    </m:r>
                    <m:r>
                      <a:rPr lang="en-US" altLang="zh-CN" b="0" i="1" dirty="0" smtClean="0">
                        <a:latin typeface="Cambria Math" panose="02040503050406030204" pitchFamily="18" charset="0"/>
                      </a:rPr>
                      <m:t> </m:t>
                    </m:r>
                    <m:r>
                      <a:rPr lang="en-CN" i="1">
                        <a:latin typeface="Cambria Math" panose="02040503050406030204" pitchFamily="18" charset="0"/>
                      </a:rPr>
                      <m:t>𝑟</m:t>
                    </m:r>
                    <m:r>
                      <a:rPr lang="en-CN" i="1">
                        <a:latin typeface="Cambria Math" panose="02040503050406030204" pitchFamily="18" charset="0"/>
                      </a:rPr>
                      <m:t>=0.85, </m:t>
                    </m:r>
                    <m:r>
                      <a:rPr lang="en-CN" i="1">
                        <a:latin typeface="Cambria Math" panose="02040503050406030204" pitchFamily="18" charset="0"/>
                      </a:rPr>
                      <m:t>𝑝</m:t>
                    </m:r>
                    <m:r>
                      <a:rPr lang="en-CN" i="1">
                        <a:latin typeface="Cambria Math" panose="02040503050406030204" pitchFamily="18" charset="0"/>
                      </a:rPr>
                      <m:t>&lt;0.0001</m:t>
                    </m:r>
                  </m:oMath>
                </a14:m>
                <a:r>
                  <a:rPr lang="zh-CN" altLang="en-US" b="1" dirty="0">
                    <a:latin typeface="FangSong_GB2312" panose="02010609030101010101" pitchFamily="49" charset="-122"/>
                    <a:ea typeface="FangSong_GB2312" panose="02010609030101010101" pitchFamily="49" charset="-122"/>
                    <a:cs typeface="Microsoft GothicNeo" panose="020B0500000101010101" pitchFamily="34" charset="-127"/>
                  </a:rPr>
                  <a:t>），故仅考察喜好</a:t>
                </a:r>
              </a:p>
            </p:txBody>
          </p:sp>
        </mc:Choice>
        <mc:Fallback xmlns="">
          <p:sp>
            <p:nvSpPr>
              <p:cNvPr id="37" name="文本框 47">
                <a:extLst>
                  <a:ext uri="{FF2B5EF4-FFF2-40B4-BE49-F238E27FC236}">
                    <a16:creationId xmlns:a16="http://schemas.microsoft.com/office/drawing/2014/main" id="{0BC7E0C4-D1A4-5D3D-EA33-873958849B5E}"/>
                  </a:ext>
                </a:extLst>
              </p:cNvPr>
              <p:cNvSpPr txBox="1">
                <a:spLocks noRot="1" noChangeAspect="1" noMove="1" noResize="1" noEditPoints="1" noAdjustHandles="1" noChangeArrowheads="1" noChangeShapeType="1" noTextEdit="1"/>
              </p:cNvSpPr>
              <p:nvPr/>
            </p:nvSpPr>
            <p:spPr>
              <a:xfrm>
                <a:off x="273691" y="5309976"/>
                <a:ext cx="9478404" cy="1284069"/>
              </a:xfrm>
              <a:prstGeom prst="rect">
                <a:avLst/>
              </a:prstGeom>
              <a:blipFill>
                <a:blip r:embed="rId5"/>
                <a:stretch>
                  <a:fillRect l="-402" b="-5882"/>
                </a:stretch>
              </a:blipFill>
            </p:spPr>
            <p:txBody>
              <a:bodyPr/>
              <a:lstStyle/>
              <a:p>
                <a:r>
                  <a:rPr lang="en-CN">
                    <a:noFill/>
                  </a:rPr>
                  <a:t> </a:t>
                </a:r>
              </a:p>
            </p:txBody>
          </p:sp>
        </mc:Fallback>
      </mc:AlternateContent>
    </p:spTree>
    <p:extLst>
      <p:ext uri="{BB962C8B-B14F-4D97-AF65-F5344CB8AC3E}">
        <p14:creationId xmlns:p14="http://schemas.microsoft.com/office/powerpoint/2010/main" val="3416867017"/>
      </p:ext>
    </p:extLst>
  </p:cSld>
  <p:clrMapOvr>
    <a:masterClrMapping/>
  </p:clrMapOvr>
  <mc:AlternateContent xmlns:mc="http://schemas.openxmlformats.org/markup-compatibility/2006" xmlns:p14="http://schemas.microsoft.com/office/powerpoint/2010/main">
    <mc:Choice Requires="p14">
      <p:transition spd="slow" p14:dur="2000" advTm="66649"/>
    </mc:Choice>
    <mc:Fallback xmlns="">
      <p:transition spd="slow" advTm="6664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p:bldP spid="36" grpId="0" animBg="1"/>
      <p:bldP spid="3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68EEE-17A4-F9F9-68A9-426458F25E98}"/>
            </a:ext>
          </a:extLst>
        </p:cNvPr>
        <p:cNvGrpSpPr/>
        <p:nvPr/>
      </p:nvGrpSpPr>
      <p:grpSpPr>
        <a:xfrm>
          <a:off x="0" y="0"/>
          <a:ext cx="0" cy="0"/>
          <a:chOff x="0" y="0"/>
          <a:chExt cx="0" cy="0"/>
        </a:xfrm>
      </p:grpSpPr>
      <p:sp>
        <p:nvSpPr>
          <p:cNvPr id="17" name="文本框 16">
            <a:extLst>
              <a:ext uri="{FF2B5EF4-FFF2-40B4-BE49-F238E27FC236}">
                <a16:creationId xmlns:a16="http://schemas.microsoft.com/office/drawing/2014/main" id="{F667A29E-50A4-AF30-FCD6-AFDB5305CD72}"/>
              </a:ext>
            </a:extLst>
          </p:cNvPr>
          <p:cNvSpPr txBox="1"/>
          <p:nvPr/>
        </p:nvSpPr>
        <p:spPr>
          <a:xfrm>
            <a:off x="1205170" y="395675"/>
            <a:ext cx="7600636" cy="307777"/>
          </a:xfrm>
          <a:prstGeom prst="rect">
            <a:avLst/>
          </a:prstGeom>
          <a:solidFill>
            <a:schemeClr val="bg1"/>
          </a:solid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defRPr/>
            </a:pPr>
            <a:endParaRPr kumimoji="0" lang="zh-CN" altLang="en-US" sz="1400" b="1" i="0" u="none" strike="noStrike" kern="1200" cap="none" spc="300" normalizeH="0" noProof="0" dirty="0">
              <a:ln>
                <a:noFill/>
              </a:ln>
              <a:solidFill>
                <a:prstClr val="black"/>
              </a:solidFill>
              <a:effectLst/>
              <a:uLnTx/>
              <a:uFillTx/>
              <a:latin typeface="FangSong_GB2312" panose="02010609030101010101" pitchFamily="49" charset="-122"/>
              <a:ea typeface="FangSong_GB2312" panose="02010609030101010101" pitchFamily="49" charset="-122"/>
            </a:endParaRPr>
          </a:p>
        </p:txBody>
      </p:sp>
      <p:sp>
        <p:nvSpPr>
          <p:cNvPr id="19" name="文本框 18">
            <a:extLst>
              <a:ext uri="{FF2B5EF4-FFF2-40B4-BE49-F238E27FC236}">
                <a16:creationId xmlns:a16="http://schemas.microsoft.com/office/drawing/2014/main" id="{12C97C87-7A39-FD77-F5B2-C0A95D60098A}"/>
              </a:ext>
            </a:extLst>
          </p:cNvPr>
          <p:cNvSpPr txBox="1"/>
          <p:nvPr/>
        </p:nvSpPr>
        <p:spPr>
          <a:xfrm>
            <a:off x="358346" y="288442"/>
            <a:ext cx="720000" cy="523220"/>
          </a:xfrm>
          <a:prstGeom prst="rect">
            <a:avLst/>
          </a:prstGeom>
          <a:noFill/>
        </p:spPr>
        <p:txBody>
          <a:bodyPr wrap="square" rtlCol="0">
            <a:spAutoFit/>
          </a:bodyPr>
          <a:lstStyle/>
          <a:p>
            <a:pPr algn="ctr"/>
            <a:r>
              <a:rPr lang="en-US" altLang="zh-CN"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03</a:t>
            </a:r>
            <a:endParaRPr lang="zh-CN" altLang="en-US"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TextBox 2">
            <a:extLst>
              <a:ext uri="{FF2B5EF4-FFF2-40B4-BE49-F238E27FC236}">
                <a16:creationId xmlns:a16="http://schemas.microsoft.com/office/drawing/2014/main" id="{C4E2B6EA-4849-6CF4-5FEB-7D07BC485A8A}"/>
              </a:ext>
            </a:extLst>
          </p:cNvPr>
          <p:cNvSpPr txBox="1"/>
          <p:nvPr/>
        </p:nvSpPr>
        <p:spPr>
          <a:xfrm>
            <a:off x="1215059" y="354359"/>
            <a:ext cx="7716248" cy="400110"/>
          </a:xfrm>
          <a:prstGeom prst="rect">
            <a:avLst/>
          </a:prstGeom>
          <a:noFill/>
        </p:spPr>
        <p:txBody>
          <a:bodyPr wrap="square">
            <a:spAutoFit/>
          </a:bodyPr>
          <a:lstStyle/>
          <a:p>
            <a:r>
              <a:rPr lang="zh-CN" altLang="en-US" sz="2000" b="1" dirty="0">
                <a:solidFill>
                  <a:schemeClr val="tx1"/>
                </a:solidFill>
                <a:latin typeface="FangSong_GB2312" panose="02010609030101010101" pitchFamily="49" charset="-122"/>
                <a:ea typeface="FangSong_GB2312" panose="02010609030101010101" pitchFamily="49" charset="-122"/>
              </a:rPr>
              <a:t>研究二</a:t>
            </a:r>
            <a:r>
              <a:rPr lang="en-CN" altLang="zh-CN" sz="2000" b="1" dirty="0">
                <a:solidFill>
                  <a:schemeClr val="tx1"/>
                </a:solidFill>
                <a:latin typeface="Times New Roman" panose="02020603050405020304" pitchFamily="18" charset="0"/>
                <a:ea typeface="FangSong_GB2312" panose="02010609030101010101" pitchFamily="49" charset="-122"/>
                <a:cs typeface="Times New Roman" panose="02020603050405020304" pitchFamily="18" charset="0"/>
              </a:rPr>
              <a:t>spike</a:t>
            </a:r>
            <a:r>
              <a:rPr lang="zh-CN" altLang="en-CN" sz="2000" b="1" dirty="0">
                <a:solidFill>
                  <a:schemeClr val="tx1"/>
                </a:solidFill>
                <a:latin typeface="FangSong_GB2312" panose="02010609030101010101" pitchFamily="49" charset="-122"/>
                <a:ea typeface="FangSong_GB2312" panose="02010609030101010101" pitchFamily="49" charset="-122"/>
              </a:rPr>
              <a:t>数据</a:t>
            </a:r>
            <a:r>
              <a:rPr lang="zh-CN" altLang="en-US" sz="2000" b="1" dirty="0">
                <a:latin typeface="FangSong_GB2312" panose="02010609030101010101" pitchFamily="49" charset="-122"/>
                <a:ea typeface="FangSong_GB2312" panose="02010609030101010101" pitchFamily="49" charset="-122"/>
              </a:rPr>
              <a:t>处理</a:t>
            </a:r>
            <a:endParaRPr lang="zh-CN" altLang="en-US" sz="2000" b="1" dirty="0">
              <a:solidFill>
                <a:schemeClr val="tx1"/>
              </a:solidFill>
              <a:latin typeface="FangSong_GB2312" panose="02010609030101010101" pitchFamily="49" charset="-122"/>
              <a:ea typeface="FangSong_GB2312" panose="02010609030101010101" pitchFamily="49" charset="-122"/>
            </a:endParaRPr>
          </a:p>
        </p:txBody>
      </p:sp>
      <p:pic>
        <p:nvPicPr>
          <p:cNvPr id="39" name="Picture 38">
            <a:extLst>
              <a:ext uri="{FF2B5EF4-FFF2-40B4-BE49-F238E27FC236}">
                <a16:creationId xmlns:a16="http://schemas.microsoft.com/office/drawing/2014/main" id="{9D4B1032-1273-2DC1-DEBF-86463B952CBD}"/>
              </a:ext>
            </a:extLst>
          </p:cNvPr>
          <p:cNvPicPr>
            <a:picLocks noChangeAspect="1"/>
          </p:cNvPicPr>
          <p:nvPr/>
        </p:nvPicPr>
        <p:blipFill>
          <a:blip r:embed="rId3"/>
          <a:stretch>
            <a:fillRect/>
          </a:stretch>
        </p:blipFill>
        <p:spPr>
          <a:xfrm>
            <a:off x="5328886" y="1566882"/>
            <a:ext cx="6334080" cy="3715826"/>
          </a:xfrm>
          <a:prstGeom prst="rect">
            <a:avLst/>
          </a:prstGeom>
        </p:spPr>
      </p:pic>
      <p:sp>
        <p:nvSpPr>
          <p:cNvPr id="40" name="文本框 47">
            <a:extLst>
              <a:ext uri="{FF2B5EF4-FFF2-40B4-BE49-F238E27FC236}">
                <a16:creationId xmlns:a16="http://schemas.microsoft.com/office/drawing/2014/main" id="{DDA6142C-6C7B-DE16-53BB-EA246FAF1BD9}"/>
              </a:ext>
            </a:extLst>
          </p:cNvPr>
          <p:cNvSpPr txBox="1"/>
          <p:nvPr/>
        </p:nvSpPr>
        <p:spPr>
          <a:xfrm>
            <a:off x="718347" y="1566882"/>
            <a:ext cx="4082900" cy="1895968"/>
          </a:xfrm>
          <a:prstGeom prst="rect">
            <a:avLst/>
          </a:prstGeom>
          <a:noFill/>
        </p:spPr>
        <p:txBody>
          <a:bodyPr wrap="square">
            <a:spAutoFit/>
          </a:bodyPr>
          <a:lstStyle/>
          <a:p>
            <a:pPr>
              <a:lnSpc>
                <a:spcPct val="150000"/>
              </a:lnSpc>
            </a:pP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1.</a:t>
            </a:r>
            <a:r>
              <a:rPr lang="zh-CN" altLang="en-CN" sz="1600" dirty="0">
                <a:latin typeface="Times New Roman" panose="02020603050405020304" pitchFamily="18" charset="0"/>
                <a:ea typeface="FangSong_GB2312" panose="02010609030101010101" pitchFamily="49" charset="-122"/>
                <a:cs typeface="Microsoft GothicNeo" panose="020B0500000101010101" pitchFamily="34" charset="-127"/>
              </a:rPr>
              <a:t>转换</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数据格式至二进制</a:t>
            </a:r>
            <a:endPar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endParaRPr>
          </a:p>
          <a:p>
            <a:pPr>
              <a:lnSpc>
                <a:spcPct val="150000"/>
              </a:lnSpc>
            </a:pP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2.</a:t>
            </a:r>
            <a:r>
              <a:rPr lang="zh-CN" altLang="en-CN" sz="1600" dirty="0">
                <a:latin typeface="Times New Roman" panose="02020603050405020304" pitchFamily="18" charset="0"/>
                <a:ea typeface="FangSong_GB2312" panose="02010609030101010101" pitchFamily="49" charset="-122"/>
                <a:cs typeface="Microsoft GothicNeo" panose="020B0500000101010101" pitchFamily="34" charset="-127"/>
              </a:rPr>
              <a:t>使用</a:t>
            </a:r>
            <a:r>
              <a:rPr lang="en-US" altLang="zh-CN" sz="1600" b="1" dirty="0" err="1">
                <a:latin typeface="Times New Roman" panose="02020603050405020304" pitchFamily="18" charset="0"/>
                <a:ea typeface="FangSong_GB2312" panose="02010609030101010101" pitchFamily="49" charset="-122"/>
                <a:cs typeface="Microsoft GothicNeo" panose="020B0500000101010101" pitchFamily="34" charset="-127"/>
              </a:rPr>
              <a:t>kilosort</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完成</a:t>
            </a:r>
            <a:r>
              <a:rPr lang="en-US" altLang="zh-CN" sz="1600" b="1" dirty="0">
                <a:latin typeface="Times New Roman" panose="02020603050405020304" pitchFamily="18" charset="0"/>
                <a:ea typeface="FangSong_GB2312" panose="02010609030101010101" pitchFamily="49" charset="-122"/>
                <a:cs typeface="Microsoft GothicNeo" panose="020B0500000101010101" pitchFamily="34" charset="-127"/>
              </a:rPr>
              <a:t>spike</a:t>
            </a:r>
            <a:r>
              <a:rPr lang="zh-CN" altLang="en-US" sz="1600" b="1" dirty="0">
                <a:latin typeface="Times New Roman" panose="02020603050405020304" pitchFamily="18" charset="0"/>
                <a:ea typeface="FangSong_GB2312" panose="02010609030101010101" pitchFamily="49" charset="-122"/>
                <a:cs typeface="Microsoft GothicNeo" panose="020B0500000101010101" pitchFamily="34" charset="-127"/>
              </a:rPr>
              <a:t> </a:t>
            </a:r>
            <a:r>
              <a:rPr lang="en-US" altLang="zh-CN" sz="1600" b="1" dirty="0">
                <a:latin typeface="Times New Roman" panose="02020603050405020304" pitchFamily="18" charset="0"/>
                <a:ea typeface="FangSong_GB2312" panose="02010609030101010101" pitchFamily="49" charset="-122"/>
                <a:cs typeface="Microsoft GothicNeo" panose="020B0500000101010101" pitchFamily="34" charset="-127"/>
              </a:rPr>
              <a:t>sorting</a:t>
            </a:r>
          </a:p>
          <a:p>
            <a:pPr>
              <a:lnSpc>
                <a:spcPct val="150000"/>
              </a:lnSpc>
            </a:pP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3.</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基于</a:t>
            </a:r>
            <a:r>
              <a:rPr lang="en-US" altLang="zh-CN" sz="1600" b="1" dirty="0" err="1">
                <a:latin typeface="Times New Roman" panose="02020603050405020304" pitchFamily="18" charset="0"/>
                <a:ea typeface="FangSong_GB2312" panose="02010609030101010101" pitchFamily="49" charset="-122"/>
                <a:cs typeface="Microsoft GothicNeo" panose="020B0500000101010101" pitchFamily="34" charset="-127"/>
              </a:rPr>
              <a:t>phy</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筛选、合并、重组神经元并</a:t>
            </a:r>
            <a:r>
              <a:rPr lang="en-US" altLang="zh-CN" sz="1600" b="1" dirty="0">
                <a:latin typeface="Times New Roman" panose="02020603050405020304" pitchFamily="18" charset="0"/>
                <a:ea typeface="FangSong_GB2312" panose="02010609030101010101" pitchFamily="49" charset="-122"/>
                <a:cs typeface="Microsoft GothicNeo" panose="020B0500000101010101" pitchFamily="34" charset="-127"/>
              </a:rPr>
              <a:t>QC</a:t>
            </a:r>
          </a:p>
          <a:p>
            <a:pPr>
              <a:lnSpc>
                <a:spcPct val="150000"/>
              </a:lnSpc>
            </a:pP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4.</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将每个放电单元的</a:t>
            </a: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spike</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 </a:t>
            </a: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time</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对齐</a:t>
            </a:r>
            <a:r>
              <a:rPr lang="zh-CN" altLang="en-CN" sz="1600" dirty="0">
                <a:latin typeface="Times New Roman" panose="02020603050405020304" pitchFamily="18" charset="0"/>
                <a:ea typeface="FangSong_GB2312" panose="02010609030101010101" pitchFamily="49" charset="-122"/>
                <a:cs typeface="Microsoft GothicNeo" panose="020B0500000101010101" pitchFamily="34" charset="-127"/>
              </a:rPr>
              <a:t>事件</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窗，</a:t>
            </a: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	</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计算高斯核平滑瞬时放电率（</a:t>
            </a: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IFR</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a:t>
            </a:r>
            <a:endPar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8B8A4F52-A94F-6144-9078-D5B6ADFDD61A}"/>
                  </a:ext>
                </a:extLst>
              </p:cNvPr>
              <p:cNvSpPr txBox="1"/>
              <p:nvPr/>
            </p:nvSpPr>
            <p:spPr>
              <a:xfrm>
                <a:off x="529034" y="3462850"/>
                <a:ext cx="4082899" cy="2099934"/>
              </a:xfrm>
              <a:prstGeom prst="rect">
                <a:avLst/>
              </a:prstGeom>
              <a:noFill/>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sSub>
                        <m:sSubPr>
                          <m:ctrlPr>
                            <a:rPr lang="en-CN" sz="1600" i="1" smtClean="0">
                              <a:latin typeface="Cambria Math" panose="02040503050406030204" pitchFamily="18" charset="0"/>
                            </a:rPr>
                          </m:ctrlPr>
                        </m:sSubPr>
                        <m:e>
                          <m:r>
                            <a:rPr lang="en-CN" sz="1600" i="1">
                              <a:latin typeface="Cambria Math" panose="02040503050406030204" pitchFamily="18" charset="0"/>
                            </a:rPr>
                            <m:t>𝑟</m:t>
                          </m:r>
                        </m:e>
                        <m:sub>
                          <m:r>
                            <a:rPr lang="en-CN" sz="1600" i="1">
                              <a:latin typeface="Cambria Math" panose="02040503050406030204" pitchFamily="18" charset="0"/>
                            </a:rPr>
                            <m:t>𝑢</m:t>
                          </m:r>
                        </m:sub>
                      </m:sSub>
                      <m:d>
                        <m:dPr>
                          <m:ctrlPr>
                            <a:rPr lang="en-CN" sz="1600" i="1">
                              <a:latin typeface="Cambria Math" panose="02040503050406030204" pitchFamily="18" charset="0"/>
                            </a:rPr>
                          </m:ctrlPr>
                        </m:dPr>
                        <m:e>
                          <m:r>
                            <a:rPr lang="en-CN" sz="1600" i="1">
                              <a:latin typeface="Cambria Math" panose="02040503050406030204" pitchFamily="18" charset="0"/>
                            </a:rPr>
                            <m:t>𝑡</m:t>
                          </m:r>
                        </m:e>
                      </m:d>
                      <m:r>
                        <a:rPr lang="en-CN" sz="1600" i="0">
                          <a:latin typeface="Cambria Math" panose="02040503050406030204" pitchFamily="18" charset="0"/>
                        </a:rPr>
                        <m:t>=</m:t>
                      </m:r>
                      <m:nary>
                        <m:naryPr>
                          <m:chr m:val="∑"/>
                          <m:limLoc m:val="subSup"/>
                          <m:ctrlPr>
                            <a:rPr lang="en-CN" sz="1600" i="1">
                              <a:latin typeface="Cambria Math" panose="02040503050406030204" pitchFamily="18" charset="0"/>
                            </a:rPr>
                          </m:ctrlPr>
                        </m:naryPr>
                        <m:sub>
                          <m:r>
                            <a:rPr lang="en-CN" sz="1600" i="1">
                              <a:latin typeface="Cambria Math" panose="02040503050406030204" pitchFamily="18" charset="0"/>
                            </a:rPr>
                            <m:t>𝑛</m:t>
                          </m:r>
                          <m:r>
                            <a:rPr lang="en-CN" sz="1600" i="0">
                              <a:latin typeface="Cambria Math" panose="02040503050406030204" pitchFamily="18" charset="0"/>
                            </a:rPr>
                            <m:t>=1</m:t>
                          </m:r>
                        </m:sub>
                        <m:sup>
                          <m:sSub>
                            <m:sSubPr>
                              <m:ctrlPr>
                                <a:rPr lang="en-CN" sz="1600" i="1">
                                  <a:latin typeface="Cambria Math" panose="02040503050406030204" pitchFamily="18" charset="0"/>
                                </a:rPr>
                              </m:ctrlPr>
                            </m:sSubPr>
                            <m:e>
                              <m:r>
                                <a:rPr lang="en-CN" sz="1600" i="1">
                                  <a:latin typeface="Cambria Math" panose="02040503050406030204" pitchFamily="18" charset="0"/>
                                </a:rPr>
                                <m:t>𝑁</m:t>
                              </m:r>
                            </m:e>
                            <m:sub>
                              <m:r>
                                <a:rPr lang="en-CN" sz="1600" i="1">
                                  <a:latin typeface="Cambria Math" panose="02040503050406030204" pitchFamily="18" charset="0"/>
                                </a:rPr>
                                <m:t>𝑢</m:t>
                              </m:r>
                            </m:sub>
                          </m:sSub>
                        </m:sup>
                        <m:e>
                          <m:sSub>
                            <m:sSubPr>
                              <m:ctrlPr>
                                <a:rPr lang="en-CN" sz="1600" i="1">
                                  <a:latin typeface="Cambria Math" panose="02040503050406030204" pitchFamily="18" charset="0"/>
                                </a:rPr>
                              </m:ctrlPr>
                            </m:sSubPr>
                            <m:e>
                              <m:r>
                                <a:rPr lang="en-CN" sz="1600" i="1">
                                  <a:latin typeface="Cambria Math" panose="02040503050406030204" pitchFamily="18" charset="0"/>
                                </a:rPr>
                                <m:t>𝐾</m:t>
                              </m:r>
                            </m:e>
                            <m:sub>
                              <m:r>
                                <m:rPr>
                                  <m:sty m:val="p"/>
                                </m:rPr>
                                <a:rPr lang="en-CN" sz="1600" i="0">
                                  <a:latin typeface="Cambria Math" panose="02040503050406030204" pitchFamily="18" charset="0"/>
                                </a:rPr>
                                <m:t>σ</m:t>
                              </m:r>
                            </m:sub>
                          </m:sSub>
                          <m:d>
                            <m:dPr>
                              <m:ctrlPr>
                                <a:rPr lang="en-CN" sz="1600" i="1">
                                  <a:latin typeface="Cambria Math" panose="02040503050406030204" pitchFamily="18" charset="0"/>
                                </a:rPr>
                              </m:ctrlPr>
                            </m:dPr>
                            <m:e>
                              <m:r>
                                <a:rPr lang="en-CN" sz="1600" i="1">
                                  <a:latin typeface="Cambria Math" panose="02040503050406030204" pitchFamily="18" charset="0"/>
                                </a:rPr>
                                <m:t>𝑡</m:t>
                              </m:r>
                              <m:r>
                                <a:rPr lang="en-CN" sz="1600" i="0">
                                  <a:latin typeface="Cambria Math" panose="02040503050406030204" pitchFamily="18" charset="0"/>
                                </a:rPr>
                                <m:t>−</m:t>
                              </m:r>
                              <m:sSub>
                                <m:sSubPr>
                                  <m:ctrlPr>
                                    <a:rPr lang="en-CN" sz="1600" i="1">
                                      <a:latin typeface="Cambria Math" panose="02040503050406030204" pitchFamily="18" charset="0"/>
                                    </a:rPr>
                                  </m:ctrlPr>
                                </m:sSubPr>
                                <m:e>
                                  <m:r>
                                    <a:rPr lang="en-CN" sz="1600" i="1">
                                      <a:latin typeface="Cambria Math" panose="02040503050406030204" pitchFamily="18" charset="0"/>
                                    </a:rPr>
                                    <m:t>𝑠</m:t>
                                  </m:r>
                                </m:e>
                                <m:sub>
                                  <m:r>
                                    <a:rPr lang="en-CN" sz="1600" i="1">
                                      <a:latin typeface="Cambria Math" panose="02040503050406030204" pitchFamily="18" charset="0"/>
                                    </a:rPr>
                                    <m:t>𝑢</m:t>
                                  </m:r>
                                  <m:r>
                                    <a:rPr lang="en-CN" sz="1600" i="0">
                                      <a:latin typeface="Cambria Math" panose="02040503050406030204" pitchFamily="18" charset="0"/>
                                    </a:rPr>
                                    <m:t>,</m:t>
                                  </m:r>
                                  <m:r>
                                    <a:rPr lang="en-CN" sz="1600" i="1">
                                      <a:latin typeface="Cambria Math" panose="02040503050406030204" pitchFamily="18" charset="0"/>
                                    </a:rPr>
                                    <m:t>𝑛</m:t>
                                  </m:r>
                                </m:sub>
                              </m:sSub>
                            </m:e>
                          </m:d>
                        </m:e>
                      </m:nary>
                    </m:oMath>
                  </m:oMathPara>
                </a14:m>
                <a:endParaRPr lang="en-US" sz="1600" i="1" dirty="0">
                  <a:latin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sSub>
                        <m:sSubPr>
                          <m:ctrlPr>
                            <a:rPr lang="en-CN" sz="1600" i="1">
                              <a:latin typeface="Cambria Math" panose="02040503050406030204" pitchFamily="18" charset="0"/>
                            </a:rPr>
                          </m:ctrlPr>
                        </m:sSubPr>
                        <m:e>
                          <m:r>
                            <a:rPr lang="en-CN" sz="1600" i="1">
                              <a:latin typeface="Cambria Math" panose="02040503050406030204" pitchFamily="18" charset="0"/>
                            </a:rPr>
                            <m:t>𝐾</m:t>
                          </m:r>
                        </m:e>
                        <m:sub>
                          <m:r>
                            <m:rPr>
                              <m:sty m:val="p"/>
                            </m:rPr>
                            <a:rPr lang="en-CN" sz="1600" i="0">
                              <a:latin typeface="Cambria Math" panose="02040503050406030204" pitchFamily="18" charset="0"/>
                            </a:rPr>
                            <m:t>σ</m:t>
                          </m:r>
                        </m:sub>
                      </m:sSub>
                      <m:d>
                        <m:dPr>
                          <m:ctrlPr>
                            <a:rPr lang="en-CN" sz="1600" i="1">
                              <a:latin typeface="Cambria Math" panose="02040503050406030204" pitchFamily="18" charset="0"/>
                            </a:rPr>
                          </m:ctrlPr>
                        </m:dPr>
                        <m:e>
                          <m:r>
                            <a:rPr lang="en-CN" sz="1600" i="1">
                              <a:latin typeface="Cambria Math" panose="02040503050406030204" pitchFamily="18" charset="0"/>
                            </a:rPr>
                            <m:t>𝑡</m:t>
                          </m:r>
                        </m:e>
                      </m:d>
                      <m:r>
                        <a:rPr lang="en-CN" sz="1600" i="0">
                          <a:latin typeface="Cambria Math" panose="02040503050406030204" pitchFamily="18" charset="0"/>
                        </a:rPr>
                        <m:t>=</m:t>
                      </m:r>
                      <m:f>
                        <m:fPr>
                          <m:ctrlPr>
                            <a:rPr lang="en-CN" sz="1600" i="1">
                              <a:latin typeface="Cambria Math" panose="02040503050406030204" pitchFamily="18" charset="0"/>
                            </a:rPr>
                          </m:ctrlPr>
                        </m:fPr>
                        <m:num>
                          <m:r>
                            <a:rPr lang="en-CN" sz="1600" i="0">
                              <a:latin typeface="Cambria Math" panose="02040503050406030204" pitchFamily="18" charset="0"/>
                            </a:rPr>
                            <m:t>1</m:t>
                          </m:r>
                        </m:num>
                        <m:den>
                          <m:r>
                            <m:rPr>
                              <m:sty m:val="p"/>
                            </m:rPr>
                            <a:rPr lang="en-CN" sz="1600" i="0">
                              <a:latin typeface="Cambria Math" panose="02040503050406030204" pitchFamily="18" charset="0"/>
                            </a:rPr>
                            <m:t>σ</m:t>
                          </m:r>
                          <m:rad>
                            <m:radPr>
                              <m:degHide m:val="on"/>
                              <m:ctrlPr>
                                <a:rPr lang="en-CN" sz="1600" i="1">
                                  <a:latin typeface="Cambria Math" panose="02040503050406030204" pitchFamily="18" charset="0"/>
                                </a:rPr>
                              </m:ctrlPr>
                            </m:radPr>
                            <m:deg/>
                            <m:e>
                              <m:r>
                                <a:rPr lang="en-CN" sz="1600" i="0">
                                  <a:latin typeface="Cambria Math" panose="02040503050406030204" pitchFamily="18" charset="0"/>
                                </a:rPr>
                                <m:t>2</m:t>
                              </m:r>
                              <m:r>
                                <m:rPr>
                                  <m:sty m:val="p"/>
                                </m:rPr>
                                <a:rPr lang="en-CN" sz="1600" i="0">
                                  <a:latin typeface="Cambria Math" panose="02040503050406030204" pitchFamily="18" charset="0"/>
                                </a:rPr>
                                <m:t>π</m:t>
                              </m:r>
                            </m:e>
                          </m:rad>
                        </m:den>
                      </m:f>
                      <m:func>
                        <m:funcPr>
                          <m:ctrlPr>
                            <a:rPr lang="en-CN" sz="1600" i="1">
                              <a:latin typeface="Cambria Math" panose="02040503050406030204" pitchFamily="18" charset="0"/>
                            </a:rPr>
                          </m:ctrlPr>
                        </m:funcPr>
                        <m:fName>
                          <m:r>
                            <m:rPr>
                              <m:sty m:val="p"/>
                            </m:rPr>
                            <a:rPr lang="en-CN" sz="1600" i="0">
                              <a:latin typeface="Cambria Math" panose="02040503050406030204" pitchFamily="18" charset="0"/>
                            </a:rPr>
                            <m:t>exp</m:t>
                          </m:r>
                        </m:fName>
                        <m:e>
                          <m:d>
                            <m:dPr>
                              <m:ctrlPr>
                                <a:rPr lang="en-CN" sz="1600" i="1">
                                  <a:latin typeface="Cambria Math" panose="02040503050406030204" pitchFamily="18" charset="0"/>
                                </a:rPr>
                              </m:ctrlPr>
                            </m:dPr>
                            <m:e>
                              <m:r>
                                <a:rPr lang="en-CN" sz="1600" i="0">
                                  <a:latin typeface="Cambria Math" panose="02040503050406030204" pitchFamily="18" charset="0"/>
                                </a:rPr>
                                <m:t>−</m:t>
                              </m:r>
                              <m:f>
                                <m:fPr>
                                  <m:ctrlPr>
                                    <a:rPr lang="en-CN" sz="1600" i="1">
                                      <a:latin typeface="Cambria Math" panose="02040503050406030204" pitchFamily="18" charset="0"/>
                                    </a:rPr>
                                  </m:ctrlPr>
                                </m:fPr>
                                <m:num>
                                  <m:sSup>
                                    <m:sSupPr>
                                      <m:ctrlPr>
                                        <a:rPr lang="en-CN" sz="1600" i="1">
                                          <a:latin typeface="Cambria Math" panose="02040503050406030204" pitchFamily="18" charset="0"/>
                                        </a:rPr>
                                      </m:ctrlPr>
                                    </m:sSupPr>
                                    <m:e>
                                      <m:r>
                                        <a:rPr lang="en-CN" sz="1600" i="1">
                                          <a:latin typeface="Cambria Math" panose="02040503050406030204" pitchFamily="18" charset="0"/>
                                        </a:rPr>
                                        <m:t>𝑡</m:t>
                                      </m:r>
                                    </m:e>
                                    <m:sup>
                                      <m:r>
                                        <a:rPr lang="en-CN" sz="1600" i="0">
                                          <a:latin typeface="Cambria Math" panose="02040503050406030204" pitchFamily="18" charset="0"/>
                                        </a:rPr>
                                        <m:t>2</m:t>
                                      </m:r>
                                    </m:sup>
                                  </m:sSup>
                                </m:num>
                                <m:den>
                                  <m:r>
                                    <a:rPr lang="en-CN" sz="1600" i="0">
                                      <a:latin typeface="Cambria Math" panose="02040503050406030204" pitchFamily="18" charset="0"/>
                                    </a:rPr>
                                    <m:t>2</m:t>
                                  </m:r>
                                  <m:sSup>
                                    <m:sSupPr>
                                      <m:ctrlPr>
                                        <a:rPr lang="en-CN" sz="1600" i="1">
                                          <a:latin typeface="Cambria Math" panose="02040503050406030204" pitchFamily="18" charset="0"/>
                                        </a:rPr>
                                      </m:ctrlPr>
                                    </m:sSupPr>
                                    <m:e>
                                      <m:r>
                                        <m:rPr>
                                          <m:sty m:val="p"/>
                                        </m:rPr>
                                        <a:rPr lang="en-CN" sz="1600" i="0">
                                          <a:latin typeface="Cambria Math" panose="02040503050406030204" pitchFamily="18" charset="0"/>
                                        </a:rPr>
                                        <m:t>σ</m:t>
                                      </m:r>
                                    </m:e>
                                    <m:sup>
                                      <m:r>
                                        <a:rPr lang="en-CN" sz="1600" i="0">
                                          <a:latin typeface="Cambria Math" panose="02040503050406030204" pitchFamily="18" charset="0"/>
                                        </a:rPr>
                                        <m:t>2</m:t>
                                      </m:r>
                                    </m:sup>
                                  </m:sSup>
                                </m:den>
                              </m:f>
                            </m:e>
                          </m:d>
                        </m:e>
                      </m:func>
                    </m:oMath>
                  </m:oMathPara>
                </a14:m>
                <a:endParaRPr lang="en-US" sz="1600" i="1" dirty="0">
                  <a:latin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en-CN" sz="1600" i="1">
                          <a:latin typeface="Cambria Math" panose="02040503050406030204" pitchFamily="18" charset="0"/>
                        </a:rPr>
                        <m:t>𝜎</m:t>
                      </m:r>
                      <m:r>
                        <a:rPr lang="en-CN" sz="1600" i="0">
                          <a:latin typeface="Cambria Math" panose="02040503050406030204" pitchFamily="18" charset="0"/>
                        </a:rPr>
                        <m:t>=50 </m:t>
                      </m:r>
                      <m:r>
                        <m:rPr>
                          <m:nor/>
                        </m:rPr>
                        <a:rPr lang="en-CN" sz="1600" b="0" i="1">
                          <a:latin typeface="Cambria Math" panose="02040503050406030204" pitchFamily="18" charset="0"/>
                        </a:rPr>
                        <m:t>ms</m:t>
                      </m:r>
                      <m:r>
                        <a:rPr lang="en-CN" sz="1600" b="0" i="0">
                          <a:latin typeface="Cambria Math" panose="02040503050406030204" pitchFamily="18" charset="0"/>
                        </a:rPr>
                        <m:t>, </m:t>
                      </m:r>
                      <m:r>
                        <m:rPr>
                          <m:sty m:val="p"/>
                        </m:rPr>
                        <a:rPr lang="en-CN" sz="1600" b="0" i="0">
                          <a:latin typeface="Cambria Math" panose="02040503050406030204" pitchFamily="18" charset="0"/>
                        </a:rPr>
                        <m:t>Δ</m:t>
                      </m:r>
                      <m:r>
                        <a:rPr lang="en-CN" sz="1600" b="0" i="1">
                          <a:latin typeface="Cambria Math" panose="02040503050406030204" pitchFamily="18" charset="0"/>
                        </a:rPr>
                        <m:t>𝑡</m:t>
                      </m:r>
                      <m:r>
                        <a:rPr lang="en-CN" sz="1600" b="0" i="0">
                          <a:latin typeface="Cambria Math" panose="02040503050406030204" pitchFamily="18" charset="0"/>
                        </a:rPr>
                        <m:t>=10 </m:t>
                      </m:r>
                      <m:r>
                        <m:rPr>
                          <m:nor/>
                        </m:rPr>
                        <a:rPr lang="en-CN" sz="1600" b="0" i="1">
                          <a:latin typeface="Cambria Math" panose="02040503050406030204" pitchFamily="18" charset="0"/>
                        </a:rPr>
                        <m:t>ms</m:t>
                      </m:r>
                    </m:oMath>
                  </m:oMathPara>
                </a14:m>
                <a:endParaRPr lang="en-CN" sz="1600" dirty="0"/>
              </a:p>
            </p:txBody>
          </p:sp>
        </mc:Choice>
        <mc:Fallback xmlns="">
          <p:sp>
            <p:nvSpPr>
              <p:cNvPr id="44" name="TextBox 43">
                <a:extLst>
                  <a:ext uri="{FF2B5EF4-FFF2-40B4-BE49-F238E27FC236}">
                    <a16:creationId xmlns:a16="http://schemas.microsoft.com/office/drawing/2014/main" id="{8B8A4F52-A94F-6144-9078-D5B6ADFDD61A}"/>
                  </a:ext>
                </a:extLst>
              </p:cNvPr>
              <p:cNvSpPr txBox="1">
                <a:spLocks noRot="1" noChangeAspect="1" noMove="1" noResize="1" noEditPoints="1" noAdjustHandles="1" noChangeArrowheads="1" noChangeShapeType="1" noTextEdit="1"/>
              </p:cNvSpPr>
              <p:nvPr/>
            </p:nvSpPr>
            <p:spPr>
              <a:xfrm>
                <a:off x="529034" y="3462850"/>
                <a:ext cx="4082899" cy="2099934"/>
              </a:xfrm>
              <a:prstGeom prst="rect">
                <a:avLst/>
              </a:prstGeom>
              <a:blipFill>
                <a:blip r:embed="rId4"/>
                <a:stretch>
                  <a:fillRect t="-31737"/>
                </a:stretch>
              </a:blipFill>
            </p:spPr>
            <p:txBody>
              <a:bodyPr/>
              <a:lstStyle/>
              <a:p>
                <a:r>
                  <a:rPr lang="en-CN">
                    <a:noFill/>
                  </a:rPr>
                  <a:t> </a:t>
                </a:r>
              </a:p>
            </p:txBody>
          </p:sp>
        </mc:Fallback>
      </mc:AlternateContent>
      <p:sp>
        <p:nvSpPr>
          <p:cNvPr id="4" name="TextBox 3">
            <a:extLst>
              <a:ext uri="{FF2B5EF4-FFF2-40B4-BE49-F238E27FC236}">
                <a16:creationId xmlns:a16="http://schemas.microsoft.com/office/drawing/2014/main" id="{25DAB830-5279-9A38-CA7B-5240F787EF63}"/>
              </a:ext>
            </a:extLst>
          </p:cNvPr>
          <p:cNvSpPr txBox="1"/>
          <p:nvPr/>
        </p:nvSpPr>
        <p:spPr>
          <a:xfrm>
            <a:off x="358346" y="1197550"/>
            <a:ext cx="6100354" cy="369332"/>
          </a:xfrm>
          <a:prstGeom prst="rect">
            <a:avLst/>
          </a:prstGeom>
          <a:noFill/>
        </p:spPr>
        <p:txBody>
          <a:bodyPr wrap="square">
            <a:spAutoFit/>
          </a:bodyPr>
          <a:lstStyle/>
          <a:p>
            <a:pPr marL="285750" indent="-285750">
              <a:buFont typeface="Wingdings" pitchFamily="2" charset="2"/>
              <a:buChar char="Ø"/>
            </a:pPr>
            <a:r>
              <a:rPr lang="en-US" altLang="zh-CN" b="1" dirty="0">
                <a:latin typeface="Times New Roman" panose="02020603050405020304" pitchFamily="18" charset="0"/>
                <a:ea typeface="FangSong_GB2312" panose="02010609030101010101" pitchFamily="49" charset="-122"/>
                <a:cs typeface="Microsoft GothicNeo" panose="020B0500000101010101" pitchFamily="34" charset="-127"/>
              </a:rPr>
              <a:t>s</a:t>
            </a:r>
            <a:r>
              <a:rPr lang="en-US" altLang="zh-CN" sz="1800" b="1" dirty="0">
                <a:latin typeface="Times New Roman" panose="02020603050405020304" pitchFamily="18" charset="0"/>
                <a:ea typeface="FangSong_GB2312" panose="02010609030101010101" pitchFamily="49" charset="-122"/>
                <a:cs typeface="Microsoft GothicNeo" panose="020B0500000101010101" pitchFamily="34" charset="-127"/>
              </a:rPr>
              <a:t>pike</a:t>
            </a:r>
            <a:r>
              <a:rPr lang="zh-CN" altLang="en-US" sz="1800" b="1" dirty="0">
                <a:latin typeface="Times New Roman" panose="02020603050405020304" pitchFamily="18" charset="0"/>
                <a:ea typeface="FangSong_GB2312" panose="02010609030101010101" pitchFamily="49" charset="-122"/>
                <a:cs typeface="Microsoft GothicNeo" panose="020B0500000101010101" pitchFamily="34" charset="-127"/>
              </a:rPr>
              <a:t>预处理（独立于</a:t>
            </a:r>
            <a:r>
              <a:rPr lang="en-US" altLang="zh-CN" sz="1800" b="1" dirty="0">
                <a:latin typeface="Times New Roman" panose="02020603050405020304" pitchFamily="18" charset="0"/>
                <a:ea typeface="FangSong_GB2312" panose="02010609030101010101" pitchFamily="49" charset="-122"/>
                <a:cs typeface="Microsoft GothicNeo" panose="020B0500000101010101" pitchFamily="34" charset="-127"/>
              </a:rPr>
              <a:t>LFP</a:t>
            </a:r>
            <a:r>
              <a:rPr lang="zh-CN" altLang="en-US" sz="1800" b="1" dirty="0">
                <a:latin typeface="Times New Roman" panose="02020603050405020304" pitchFamily="18" charset="0"/>
                <a:ea typeface="FangSong_GB2312" panose="02010609030101010101" pitchFamily="49" charset="-122"/>
                <a:cs typeface="Microsoft GothicNeo" panose="020B0500000101010101" pitchFamily="34" charset="-127"/>
              </a:rPr>
              <a:t>采集）</a:t>
            </a:r>
            <a:endParaRPr lang="en-CN" dirty="0"/>
          </a:p>
        </p:txBody>
      </p:sp>
    </p:spTree>
    <p:extLst>
      <p:ext uri="{BB962C8B-B14F-4D97-AF65-F5344CB8AC3E}">
        <p14:creationId xmlns:p14="http://schemas.microsoft.com/office/powerpoint/2010/main" val="1467679584"/>
      </p:ext>
    </p:extLst>
  </p:cSld>
  <p:clrMapOvr>
    <a:masterClrMapping/>
  </p:clrMapOvr>
  <mc:AlternateContent xmlns:mc="http://schemas.openxmlformats.org/markup-compatibility/2006" xmlns:p14="http://schemas.microsoft.com/office/powerpoint/2010/main">
    <mc:Choice Requires="p14">
      <p:transition spd="slow" p14:dur="2000" advTm="66649"/>
    </mc:Choice>
    <mc:Fallback xmlns="">
      <p:transition spd="slow" advTm="6664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26DCA-05D9-9A0B-0CCE-D523335AA2E0}"/>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CE07ED37-1810-9F73-4638-BBDE37D29451}"/>
              </a:ext>
            </a:extLst>
          </p:cNvPr>
          <p:cNvSpPr/>
          <p:nvPr/>
        </p:nvSpPr>
        <p:spPr>
          <a:xfrm>
            <a:off x="5880596" y="5445501"/>
            <a:ext cx="6041627" cy="952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dirty="0"/>
          </a:p>
        </p:txBody>
      </p:sp>
      <p:sp>
        <p:nvSpPr>
          <p:cNvPr id="17" name="文本框 16">
            <a:extLst>
              <a:ext uri="{FF2B5EF4-FFF2-40B4-BE49-F238E27FC236}">
                <a16:creationId xmlns:a16="http://schemas.microsoft.com/office/drawing/2014/main" id="{38D3EF04-62BB-3B23-A944-96D6AFCBEAE2}"/>
              </a:ext>
            </a:extLst>
          </p:cNvPr>
          <p:cNvSpPr txBox="1"/>
          <p:nvPr/>
        </p:nvSpPr>
        <p:spPr>
          <a:xfrm>
            <a:off x="1205169" y="459684"/>
            <a:ext cx="5614754" cy="243767"/>
          </a:xfrm>
          <a:prstGeom prst="rect">
            <a:avLst/>
          </a:prstGeom>
          <a:solidFill>
            <a:schemeClr val="bg1"/>
          </a:solid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defRPr/>
            </a:pPr>
            <a:endParaRPr kumimoji="0" lang="zh-CN" altLang="en-US" sz="1400" b="1" i="0" u="none" strike="noStrike" kern="1200" cap="none" spc="300" normalizeH="0" noProof="0" dirty="0">
              <a:ln>
                <a:noFill/>
              </a:ln>
              <a:solidFill>
                <a:prstClr val="black"/>
              </a:solidFill>
              <a:effectLst/>
              <a:uLnTx/>
              <a:uFillTx/>
              <a:latin typeface="FangSong_GB2312" panose="02010609030101010101" pitchFamily="49" charset="-122"/>
              <a:ea typeface="FangSong_GB2312" panose="02010609030101010101" pitchFamily="49" charset="-122"/>
            </a:endParaRPr>
          </a:p>
        </p:txBody>
      </p:sp>
      <p:sp>
        <p:nvSpPr>
          <p:cNvPr id="19" name="文本框 18">
            <a:extLst>
              <a:ext uri="{FF2B5EF4-FFF2-40B4-BE49-F238E27FC236}">
                <a16:creationId xmlns:a16="http://schemas.microsoft.com/office/drawing/2014/main" id="{FCBA9A28-37C9-228F-79DB-36D66BA6B198}"/>
              </a:ext>
            </a:extLst>
          </p:cNvPr>
          <p:cNvSpPr txBox="1"/>
          <p:nvPr/>
        </p:nvSpPr>
        <p:spPr>
          <a:xfrm>
            <a:off x="358346" y="288442"/>
            <a:ext cx="720000" cy="523220"/>
          </a:xfrm>
          <a:prstGeom prst="rect">
            <a:avLst/>
          </a:prstGeom>
          <a:noFill/>
        </p:spPr>
        <p:txBody>
          <a:bodyPr wrap="square" rtlCol="0">
            <a:spAutoFit/>
          </a:bodyPr>
          <a:lstStyle/>
          <a:p>
            <a:pPr algn="ctr"/>
            <a:r>
              <a:rPr lang="en-US" altLang="zh-CN"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03</a:t>
            </a:r>
            <a:endParaRPr lang="zh-CN" altLang="en-US"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TextBox 2">
            <a:extLst>
              <a:ext uri="{FF2B5EF4-FFF2-40B4-BE49-F238E27FC236}">
                <a16:creationId xmlns:a16="http://schemas.microsoft.com/office/drawing/2014/main" id="{42BB5462-E43B-CB76-8D9D-A5E9CE48F817}"/>
              </a:ext>
            </a:extLst>
          </p:cNvPr>
          <p:cNvSpPr txBox="1"/>
          <p:nvPr/>
        </p:nvSpPr>
        <p:spPr>
          <a:xfrm>
            <a:off x="1215058" y="354359"/>
            <a:ext cx="5816807" cy="400110"/>
          </a:xfrm>
          <a:prstGeom prst="rect">
            <a:avLst/>
          </a:prstGeom>
          <a:noFill/>
        </p:spPr>
        <p:txBody>
          <a:bodyPr wrap="square">
            <a:spAutoFit/>
          </a:bodyPr>
          <a:lstStyle/>
          <a:p>
            <a:r>
              <a:rPr lang="zh-CN" altLang="en-US" sz="2000" b="1" dirty="0">
                <a:solidFill>
                  <a:schemeClr val="tx1"/>
                </a:solidFill>
                <a:latin typeface="FangSong_GB2312" panose="02010609030101010101" pitchFamily="49" charset="-122"/>
                <a:ea typeface="FangSong_GB2312" panose="02010609030101010101" pitchFamily="49" charset="-122"/>
              </a:rPr>
              <a:t>研究</a:t>
            </a:r>
            <a:r>
              <a:rPr lang="zh-CN" altLang="en-US" sz="2000" b="1" dirty="0">
                <a:latin typeface="FangSong_GB2312" panose="02010609030101010101" pitchFamily="49" charset="-122"/>
                <a:ea typeface="FangSong_GB2312" panose="02010609030101010101" pitchFamily="49" charset="-122"/>
              </a:rPr>
              <a:t>二</a:t>
            </a:r>
            <a:r>
              <a:rPr lang="zh-CN" altLang="en-US" sz="2000" b="1" dirty="0">
                <a:solidFill>
                  <a:schemeClr val="tx1"/>
                </a:solidFill>
                <a:latin typeface="FangSong_GB2312" panose="02010609030101010101" pitchFamily="49" charset="-122"/>
                <a:ea typeface="FangSong_GB2312" panose="02010609030101010101" pitchFamily="49" charset="-122"/>
              </a:rPr>
              <a:t>结果：杏仁核海马共同参与主观偏好加工</a:t>
            </a:r>
          </a:p>
        </p:txBody>
      </p:sp>
      <p:sp>
        <p:nvSpPr>
          <p:cNvPr id="2" name="文本框 15">
            <a:extLst>
              <a:ext uri="{FF2B5EF4-FFF2-40B4-BE49-F238E27FC236}">
                <a16:creationId xmlns:a16="http://schemas.microsoft.com/office/drawing/2014/main" id="{447D773A-617A-F604-2191-8F5ED1BAD294}"/>
              </a:ext>
            </a:extLst>
          </p:cNvPr>
          <p:cNvSpPr txBox="1"/>
          <p:nvPr/>
        </p:nvSpPr>
        <p:spPr>
          <a:xfrm>
            <a:off x="358346" y="1206778"/>
            <a:ext cx="1420582" cy="400110"/>
          </a:xfrm>
          <a:prstGeom prst="rect">
            <a:avLst/>
          </a:prstGeom>
          <a:solidFill>
            <a:schemeClr val="bg1"/>
          </a:solidFill>
        </p:spPr>
        <p:txBody>
          <a:bodyPr wrap="none" rtlCol="0">
            <a:spAutoFit/>
          </a:bodyPr>
          <a:lstStyle/>
          <a:p>
            <a:pPr marL="342900" indent="-342900" defTabSz="914400">
              <a:buFont typeface="Wingdings" pitchFamily="2" charset="2"/>
              <a:buChar char="Ø"/>
            </a:pPr>
            <a:r>
              <a:rPr lang="zh-CN" altLang="en-US" sz="2000" b="1" spc="300" dirty="0">
                <a:latin typeface="FangSong_GB2312" panose="02010609030101010101" pitchFamily="49" charset="-122"/>
                <a:ea typeface="FangSong_GB2312" panose="02010609030101010101" pitchFamily="49" charset="-122"/>
              </a:rPr>
              <a:t>杏仁核</a:t>
            </a:r>
          </a:p>
        </p:txBody>
      </p:sp>
      <p:sp>
        <p:nvSpPr>
          <p:cNvPr id="7" name="文本框 47">
            <a:extLst>
              <a:ext uri="{FF2B5EF4-FFF2-40B4-BE49-F238E27FC236}">
                <a16:creationId xmlns:a16="http://schemas.microsoft.com/office/drawing/2014/main" id="{64057F16-AF6D-D4DE-5605-F51A4B081E4B}"/>
              </a:ext>
            </a:extLst>
          </p:cNvPr>
          <p:cNvSpPr txBox="1"/>
          <p:nvPr/>
        </p:nvSpPr>
        <p:spPr>
          <a:xfrm>
            <a:off x="5375168" y="1992675"/>
            <a:ext cx="4889974" cy="784254"/>
          </a:xfrm>
          <a:prstGeom prst="rect">
            <a:avLst/>
          </a:prstGeom>
          <a:noFill/>
        </p:spPr>
        <p:txBody>
          <a:bodyPr wrap="square">
            <a:spAutoFit/>
          </a:bodyPr>
          <a:lstStyle/>
          <a:p>
            <a:pPr algn="just">
              <a:lnSpc>
                <a:spcPct val="150000"/>
              </a:lnSpc>
            </a:pP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刺激后</a:t>
            </a: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450-1100 </a:t>
            </a:r>
            <a:r>
              <a:rPr lang="en-US" altLang="zh-CN" sz="1600" dirty="0" err="1">
                <a:latin typeface="Times New Roman" panose="02020603050405020304" pitchFamily="18" charset="0"/>
                <a:ea typeface="FangSong_GB2312" panose="02010609030101010101" pitchFamily="49" charset="-122"/>
                <a:cs typeface="Microsoft GothicNeo" panose="020B0500000101010101" pitchFamily="34" charset="-127"/>
              </a:rPr>
              <a:t>ms</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a:t>
            </a: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4.9-24.2 Hz</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，喜欢的视频</a:t>
            </a:r>
            <a:r>
              <a:rPr lang="zh-CN" altLang="en-CN" sz="1600" dirty="0">
                <a:latin typeface="Times New Roman" panose="02020603050405020304" pitchFamily="18" charset="0"/>
                <a:ea typeface="FangSong_GB2312" panose="02010609030101010101" pitchFamily="49" charset="-122"/>
                <a:cs typeface="Microsoft GothicNeo" panose="020B0500000101010101" pitchFamily="34" charset="-127"/>
              </a:rPr>
              <a:t>诱发了</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更明显的</a:t>
            </a:r>
            <a:r>
              <a:rPr lang="el-GR" altLang="zh-CN" sz="1600" b="1" dirty="0">
                <a:solidFill>
                  <a:srgbClr val="2E75B6"/>
                </a:solidFill>
                <a:latin typeface="Times New Roman" panose="02020603050405020304" pitchFamily="18" charset="0"/>
                <a:ea typeface="FangSong_GB2312" panose="02010609030101010101" pitchFamily="49" charset="-122"/>
                <a:cs typeface="Microsoft GothicNeo" panose="020B0500000101010101" pitchFamily="34" charset="-127"/>
              </a:rPr>
              <a:t>α</a:t>
            </a:r>
            <a:r>
              <a:rPr lang="zh-CN" altLang="en-US" sz="1600" b="1" dirty="0">
                <a:solidFill>
                  <a:srgbClr val="2E75B6"/>
                </a:solidFill>
                <a:latin typeface="Times New Roman" panose="02020603050405020304" pitchFamily="18" charset="0"/>
                <a:ea typeface="FangSong_GB2312" panose="02010609030101010101" pitchFamily="49" charset="-122"/>
                <a:cs typeface="Microsoft GothicNeo" panose="020B0500000101010101" pitchFamily="34" charset="-127"/>
              </a:rPr>
              <a:t>频段和</a:t>
            </a:r>
            <a:r>
              <a:rPr lang="el-GR" altLang="zh-CN" sz="1600" b="1" dirty="0">
                <a:solidFill>
                  <a:srgbClr val="2E75B6"/>
                </a:solidFill>
                <a:latin typeface="Times New Roman" panose="02020603050405020304" pitchFamily="18" charset="0"/>
                <a:ea typeface="FangSong_GB2312" panose="02010609030101010101" pitchFamily="49" charset="-122"/>
                <a:cs typeface="Microsoft GothicNeo" panose="020B0500000101010101" pitchFamily="34" charset="-127"/>
              </a:rPr>
              <a:t>β</a:t>
            </a:r>
            <a:r>
              <a:rPr lang="zh-CN" altLang="en-US" sz="1600" b="1" dirty="0">
                <a:solidFill>
                  <a:srgbClr val="2E75B6"/>
                </a:solidFill>
                <a:latin typeface="Times New Roman" panose="02020603050405020304" pitchFamily="18" charset="0"/>
                <a:ea typeface="FangSong_GB2312" panose="02010609030101010101" pitchFamily="49" charset="-122"/>
                <a:cs typeface="Microsoft GothicNeo" panose="020B0500000101010101" pitchFamily="34" charset="-127"/>
              </a:rPr>
              <a:t>频段功率减弱</a:t>
            </a:r>
            <a:endParaRPr lang="en-US" altLang="zh-CN" sz="1600" b="1" dirty="0">
              <a:solidFill>
                <a:srgbClr val="2E75B6"/>
              </a:solidFill>
              <a:latin typeface="Times New Roman" panose="02020603050405020304" pitchFamily="18" charset="0"/>
              <a:ea typeface="FangSong_GB2312" panose="02010609030101010101" pitchFamily="49" charset="-122"/>
              <a:cs typeface="Microsoft GothicNeo" panose="020B0500000101010101" pitchFamily="34" charset="-127"/>
            </a:endParaRPr>
          </a:p>
        </p:txBody>
      </p:sp>
      <p:sp>
        <p:nvSpPr>
          <p:cNvPr id="12" name="文本框 15">
            <a:extLst>
              <a:ext uri="{FF2B5EF4-FFF2-40B4-BE49-F238E27FC236}">
                <a16:creationId xmlns:a16="http://schemas.microsoft.com/office/drawing/2014/main" id="{6DB48AF6-3F1C-8EA6-4688-1072F6A6DA25}"/>
              </a:ext>
            </a:extLst>
          </p:cNvPr>
          <p:cNvSpPr txBox="1"/>
          <p:nvPr/>
        </p:nvSpPr>
        <p:spPr>
          <a:xfrm>
            <a:off x="358346" y="3709837"/>
            <a:ext cx="1124026" cy="400110"/>
          </a:xfrm>
          <a:prstGeom prst="rect">
            <a:avLst/>
          </a:prstGeom>
          <a:solidFill>
            <a:schemeClr val="bg1"/>
          </a:solidFill>
        </p:spPr>
        <p:txBody>
          <a:bodyPr wrap="none" rtlCol="0">
            <a:spAutoFit/>
          </a:bodyPr>
          <a:lstStyle/>
          <a:p>
            <a:pPr marL="342900" indent="-342900" defTabSz="914400">
              <a:buFont typeface="Wingdings" pitchFamily="2" charset="2"/>
              <a:buChar char="Ø"/>
            </a:pPr>
            <a:r>
              <a:rPr lang="zh-CN" altLang="en-US" sz="2000" b="1" spc="300" dirty="0">
                <a:latin typeface="FangSong_GB2312" panose="02010609030101010101" pitchFamily="49" charset="-122"/>
                <a:ea typeface="FangSong_GB2312" panose="02010609030101010101" pitchFamily="49" charset="-122"/>
              </a:rPr>
              <a:t>海马</a:t>
            </a:r>
          </a:p>
        </p:txBody>
      </p:sp>
      <p:sp>
        <p:nvSpPr>
          <p:cNvPr id="16" name="TextBox 15">
            <a:extLst>
              <a:ext uri="{FF2B5EF4-FFF2-40B4-BE49-F238E27FC236}">
                <a16:creationId xmlns:a16="http://schemas.microsoft.com/office/drawing/2014/main" id="{9961E059-9948-7259-BF80-B19DA65ECCAF}"/>
              </a:ext>
            </a:extLst>
          </p:cNvPr>
          <p:cNvSpPr txBox="1"/>
          <p:nvPr/>
        </p:nvSpPr>
        <p:spPr>
          <a:xfrm>
            <a:off x="5323948" y="4257977"/>
            <a:ext cx="4889974" cy="784254"/>
          </a:xfrm>
          <a:prstGeom prst="rect">
            <a:avLst/>
          </a:prstGeom>
          <a:noFill/>
        </p:spPr>
        <p:txBody>
          <a:bodyPr wrap="square">
            <a:spAutoFit/>
          </a:bodyPr>
          <a:lstStyle/>
          <a:p>
            <a:pPr algn="just">
              <a:lnSpc>
                <a:spcPct val="150000"/>
              </a:lnSpc>
            </a:pP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刺激后</a:t>
            </a: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700-1200 </a:t>
            </a:r>
            <a:r>
              <a:rPr lang="en-US" altLang="zh-CN" sz="1600" dirty="0" err="1">
                <a:latin typeface="Times New Roman" panose="02020603050405020304" pitchFamily="18" charset="0"/>
                <a:ea typeface="FangSong_GB2312" panose="02010609030101010101" pitchFamily="49" charset="-122"/>
                <a:cs typeface="Microsoft GothicNeo" panose="020B0500000101010101" pitchFamily="34" charset="-127"/>
              </a:rPr>
              <a:t>ms</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a:t>
            </a: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2.0-28.9 Hz</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，喜欢的视频</a:t>
            </a:r>
            <a:r>
              <a:rPr lang="zh-CN" altLang="en-CN" sz="1600" dirty="0">
                <a:latin typeface="Times New Roman" panose="02020603050405020304" pitchFamily="18" charset="0"/>
                <a:ea typeface="FangSong_GB2312" panose="02010609030101010101" pitchFamily="49" charset="-122"/>
                <a:cs typeface="Microsoft GothicNeo" panose="020B0500000101010101" pitchFamily="34" charset="-127"/>
              </a:rPr>
              <a:t>诱发了</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更明显的</a:t>
            </a:r>
            <a:r>
              <a:rPr lang="el-GR" altLang="zh-CN" sz="1600" b="1" dirty="0">
                <a:solidFill>
                  <a:srgbClr val="2E75B6"/>
                </a:solidFill>
                <a:latin typeface="Times New Roman" panose="02020603050405020304" pitchFamily="18" charset="0"/>
                <a:ea typeface="FangSong_GB2312" panose="02010609030101010101" pitchFamily="49" charset="-122"/>
                <a:cs typeface="Microsoft GothicNeo" panose="020B0500000101010101" pitchFamily="34" charset="-127"/>
              </a:rPr>
              <a:t>α</a:t>
            </a:r>
            <a:r>
              <a:rPr lang="zh-CN" altLang="en-US" sz="1600" b="1" dirty="0">
                <a:solidFill>
                  <a:srgbClr val="2E75B6"/>
                </a:solidFill>
                <a:latin typeface="Times New Roman" panose="02020603050405020304" pitchFamily="18" charset="0"/>
                <a:ea typeface="FangSong_GB2312" panose="02010609030101010101" pitchFamily="49" charset="-122"/>
                <a:cs typeface="Microsoft GothicNeo" panose="020B0500000101010101" pitchFamily="34" charset="-127"/>
              </a:rPr>
              <a:t>频段和</a:t>
            </a:r>
            <a:r>
              <a:rPr lang="el-GR" altLang="zh-CN" sz="1600" b="1" dirty="0">
                <a:solidFill>
                  <a:srgbClr val="2E75B6"/>
                </a:solidFill>
                <a:latin typeface="Times New Roman" panose="02020603050405020304" pitchFamily="18" charset="0"/>
                <a:ea typeface="FangSong_GB2312" panose="02010609030101010101" pitchFamily="49" charset="-122"/>
                <a:cs typeface="Microsoft GothicNeo" panose="020B0500000101010101" pitchFamily="34" charset="-127"/>
              </a:rPr>
              <a:t>β</a:t>
            </a:r>
            <a:r>
              <a:rPr lang="zh-CN" altLang="en-US" sz="1600" b="1" dirty="0">
                <a:solidFill>
                  <a:srgbClr val="2E75B6"/>
                </a:solidFill>
                <a:latin typeface="Times New Roman" panose="02020603050405020304" pitchFamily="18" charset="0"/>
                <a:ea typeface="FangSong_GB2312" panose="02010609030101010101" pitchFamily="49" charset="-122"/>
                <a:cs typeface="Microsoft GothicNeo" panose="020B0500000101010101" pitchFamily="34" charset="-127"/>
              </a:rPr>
              <a:t>频段功率减弱</a:t>
            </a:r>
            <a:endParaRPr lang="en-US" altLang="zh-CN" sz="1600" b="1" dirty="0">
              <a:solidFill>
                <a:srgbClr val="2E75B6"/>
              </a:solidFill>
              <a:latin typeface="Times New Roman" panose="02020603050405020304" pitchFamily="18" charset="0"/>
              <a:ea typeface="FangSong_GB2312" panose="02010609030101010101" pitchFamily="49" charset="-122"/>
              <a:cs typeface="Microsoft GothicNeo" panose="020B0500000101010101" pitchFamily="34" charset="-127"/>
            </a:endParaRPr>
          </a:p>
        </p:txBody>
      </p:sp>
      <p:pic>
        <p:nvPicPr>
          <p:cNvPr id="5" name="Picture 4">
            <a:extLst>
              <a:ext uri="{FF2B5EF4-FFF2-40B4-BE49-F238E27FC236}">
                <a16:creationId xmlns:a16="http://schemas.microsoft.com/office/drawing/2014/main" id="{4561D015-0C92-F31E-4EE2-C6132C2400A3}"/>
              </a:ext>
            </a:extLst>
          </p:cNvPr>
          <p:cNvPicPr>
            <a:picLocks noChangeAspect="1"/>
          </p:cNvPicPr>
          <p:nvPr/>
        </p:nvPicPr>
        <p:blipFill>
          <a:blip r:embed="rId3" cstate="print">
            <a:extLst>
              <a:ext uri="{28A0092B-C50C-407E-A947-70E740481C1C}">
                <a14:useLocalDpi xmlns:a14="http://schemas.microsoft.com/office/drawing/2010/main" val="0"/>
              </a:ext>
            </a:extLst>
          </a:blip>
          <a:srcRect l="76897" t="25485" r="-586" b="51717"/>
          <a:stretch>
            <a:fillRect/>
          </a:stretch>
        </p:blipFill>
        <p:spPr>
          <a:xfrm>
            <a:off x="2236707" y="1059767"/>
            <a:ext cx="2335153" cy="2650070"/>
          </a:xfrm>
          <a:prstGeom prst="rect">
            <a:avLst/>
          </a:prstGeom>
        </p:spPr>
      </p:pic>
      <p:sp>
        <p:nvSpPr>
          <p:cNvPr id="23" name="TextBox 22">
            <a:extLst>
              <a:ext uri="{FF2B5EF4-FFF2-40B4-BE49-F238E27FC236}">
                <a16:creationId xmlns:a16="http://schemas.microsoft.com/office/drawing/2014/main" id="{DA0FC49E-54D0-6929-E8BB-CE90992D7A79}"/>
              </a:ext>
            </a:extLst>
          </p:cNvPr>
          <p:cNvSpPr txBox="1"/>
          <p:nvPr/>
        </p:nvSpPr>
        <p:spPr>
          <a:xfrm>
            <a:off x="5826224" y="5471823"/>
            <a:ext cx="6096000" cy="870688"/>
          </a:xfrm>
          <a:prstGeom prst="rect">
            <a:avLst/>
          </a:prstGeom>
          <a:noFill/>
        </p:spPr>
        <p:txBody>
          <a:bodyPr wrap="square">
            <a:spAutoFit/>
          </a:bodyPr>
          <a:lstStyle/>
          <a:p>
            <a:pPr algn="just">
              <a:lnSpc>
                <a:spcPct val="150000"/>
              </a:lnSpc>
            </a:pPr>
            <a:r>
              <a:rPr lang="zh-CN" altLang="en-US" dirty="0">
                <a:latin typeface="Times New Roman" panose="02020603050405020304" pitchFamily="18" charset="0"/>
                <a:ea typeface="FangSong_GB2312" panose="02010609030101010101" pitchFamily="49" charset="-122"/>
                <a:cs typeface="Microsoft GothicNeo" panose="020B0500000101010101" pitchFamily="34" charset="-127"/>
              </a:rPr>
              <a:t>与研究一相比，除了杏仁核的参与，海马在短视频条件下也表现出明显的偏好相关活动</a:t>
            </a:r>
            <a:endParaRPr lang="en-US" altLang="zh-CN" sz="2800" dirty="0">
              <a:solidFill>
                <a:srgbClr val="FF0000"/>
              </a:solidFill>
              <a:latin typeface="Times New Roman" panose="02020603050405020304" pitchFamily="18" charset="0"/>
              <a:ea typeface="FangSong_GB2312" panose="02010609030101010101" pitchFamily="49" charset="-122"/>
              <a:cs typeface="Microsoft GothicNeo" panose="020B0500000101010101" pitchFamily="34" charset="-127"/>
            </a:endParaRPr>
          </a:p>
        </p:txBody>
      </p:sp>
      <p:sp>
        <p:nvSpPr>
          <p:cNvPr id="6" name="TextBox 5">
            <a:extLst>
              <a:ext uri="{FF2B5EF4-FFF2-40B4-BE49-F238E27FC236}">
                <a16:creationId xmlns:a16="http://schemas.microsoft.com/office/drawing/2014/main" id="{BA378E48-B030-EF34-2F60-F937A5D73991}"/>
              </a:ext>
            </a:extLst>
          </p:cNvPr>
          <p:cNvSpPr txBox="1"/>
          <p:nvPr/>
        </p:nvSpPr>
        <p:spPr>
          <a:xfrm>
            <a:off x="718346" y="2516455"/>
            <a:ext cx="1239243" cy="461665"/>
          </a:xfrm>
          <a:prstGeom prst="rect">
            <a:avLst/>
          </a:prstGeom>
          <a:noFill/>
        </p:spPr>
        <p:txBody>
          <a:bodyPr wrap="square">
            <a:spAutoFit/>
          </a:bodyPr>
          <a:lstStyle/>
          <a:p>
            <a:r>
              <a:rPr lang="el-GR" altLang="zh-CN" sz="2400" dirty="0">
                <a:solidFill>
                  <a:srgbClr val="2E75B6"/>
                </a:solidFill>
                <a:latin typeface="Times New Roman" panose="02020603050405020304" pitchFamily="18" charset="0"/>
                <a:cs typeface="Times New Roman" panose="02020603050405020304" pitchFamily="18" charset="0"/>
              </a:rPr>
              <a:t>α</a:t>
            </a:r>
            <a:r>
              <a:rPr lang="en-US" altLang="zh-CN" sz="2400" dirty="0">
                <a:solidFill>
                  <a:srgbClr val="2E75B6"/>
                </a:solidFill>
                <a:latin typeface="Times New Roman" panose="02020603050405020304" pitchFamily="18" charset="0"/>
                <a:cs typeface="Times New Roman" panose="02020603050405020304" pitchFamily="18" charset="0"/>
              </a:rPr>
              <a:t>-</a:t>
            </a:r>
            <a:r>
              <a:rPr lang="el-GR" altLang="zh-CN" sz="2400" dirty="0">
                <a:solidFill>
                  <a:srgbClr val="2E75B6"/>
                </a:solidFill>
                <a:latin typeface="Times New Roman" panose="02020603050405020304" pitchFamily="18" charset="0"/>
                <a:cs typeface="Times New Roman" panose="02020603050405020304" pitchFamily="18" charset="0"/>
              </a:rPr>
              <a:t>β</a:t>
            </a:r>
            <a:r>
              <a:rPr lang="en-US" altLang="zh-CN" sz="2400" dirty="0">
                <a:solidFill>
                  <a:srgbClr val="2E75B6"/>
                </a:solidFill>
                <a:latin typeface="Times New Roman" panose="02020603050405020304" pitchFamily="18" charset="0"/>
                <a:cs typeface="Times New Roman" panose="02020603050405020304" pitchFamily="18" charset="0"/>
              </a:rPr>
              <a:t>(-)</a:t>
            </a:r>
            <a:endParaRPr lang="en-CN" sz="2400" dirty="0">
              <a:solidFill>
                <a:srgbClr val="2E75B6"/>
              </a:solidFill>
              <a:latin typeface="Times New Roman" panose="02020603050405020304" pitchFamily="18" charset="0"/>
              <a:cs typeface="Times New Roman" panose="02020603050405020304" pitchFamily="18" charset="0"/>
            </a:endParaRPr>
          </a:p>
        </p:txBody>
      </p:sp>
      <p:cxnSp>
        <p:nvCxnSpPr>
          <p:cNvPr id="8" name="Straight Arrow Connector 7">
            <a:extLst>
              <a:ext uri="{FF2B5EF4-FFF2-40B4-BE49-F238E27FC236}">
                <a16:creationId xmlns:a16="http://schemas.microsoft.com/office/drawing/2014/main" id="{2076004F-02A9-E49F-31D3-3BDD6FC3D10E}"/>
              </a:ext>
            </a:extLst>
          </p:cNvPr>
          <p:cNvCxnSpPr>
            <a:cxnSpLocks/>
          </p:cNvCxnSpPr>
          <p:nvPr/>
        </p:nvCxnSpPr>
        <p:spPr>
          <a:xfrm flipV="1">
            <a:off x="1598800" y="2516455"/>
            <a:ext cx="1134510" cy="248786"/>
          </a:xfrm>
          <a:prstGeom prst="straightConnector1">
            <a:avLst/>
          </a:prstGeom>
          <a:ln w="31750">
            <a:solidFill>
              <a:srgbClr val="2E75B6"/>
            </a:solidFill>
            <a:tailEnd type="triangle"/>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56967E79-8760-C79D-0701-92927EC3CEDD}"/>
              </a:ext>
            </a:extLst>
          </p:cNvPr>
          <p:cNvPicPr>
            <a:picLocks noChangeAspect="1"/>
          </p:cNvPicPr>
          <p:nvPr/>
        </p:nvPicPr>
        <p:blipFill>
          <a:blip r:embed="rId3" cstate="print">
            <a:extLst>
              <a:ext uri="{28A0092B-C50C-407E-A947-70E740481C1C}">
                <a14:useLocalDpi xmlns:a14="http://schemas.microsoft.com/office/drawing/2010/main" val="0"/>
              </a:ext>
            </a:extLst>
          </a:blip>
          <a:srcRect l="76897" t="77278" r="-586" b="-76"/>
          <a:stretch>
            <a:fillRect/>
          </a:stretch>
        </p:blipFill>
        <p:spPr>
          <a:xfrm>
            <a:off x="2236707" y="4120466"/>
            <a:ext cx="2335153" cy="2650070"/>
          </a:xfrm>
          <a:prstGeom prst="rect">
            <a:avLst/>
          </a:prstGeom>
        </p:spPr>
      </p:pic>
      <p:sp>
        <p:nvSpPr>
          <p:cNvPr id="13" name="TextBox 12">
            <a:extLst>
              <a:ext uri="{FF2B5EF4-FFF2-40B4-BE49-F238E27FC236}">
                <a16:creationId xmlns:a16="http://schemas.microsoft.com/office/drawing/2014/main" id="{6C4986AB-B43C-D0AF-EA1A-A0B4F12E6410}"/>
              </a:ext>
            </a:extLst>
          </p:cNvPr>
          <p:cNvSpPr txBox="1"/>
          <p:nvPr/>
        </p:nvSpPr>
        <p:spPr>
          <a:xfrm>
            <a:off x="585547" y="5189557"/>
            <a:ext cx="1239243" cy="461665"/>
          </a:xfrm>
          <a:prstGeom prst="rect">
            <a:avLst/>
          </a:prstGeom>
          <a:noFill/>
        </p:spPr>
        <p:txBody>
          <a:bodyPr wrap="square">
            <a:spAutoFit/>
          </a:bodyPr>
          <a:lstStyle/>
          <a:p>
            <a:r>
              <a:rPr lang="el-GR" altLang="zh-CN" sz="2400" dirty="0">
                <a:solidFill>
                  <a:srgbClr val="2E75B6"/>
                </a:solidFill>
                <a:latin typeface="Times New Roman" panose="02020603050405020304" pitchFamily="18" charset="0"/>
                <a:cs typeface="Times New Roman" panose="02020603050405020304" pitchFamily="18" charset="0"/>
              </a:rPr>
              <a:t>α</a:t>
            </a:r>
            <a:r>
              <a:rPr lang="en-US" altLang="zh-CN" sz="2400" dirty="0">
                <a:solidFill>
                  <a:srgbClr val="2E75B6"/>
                </a:solidFill>
                <a:latin typeface="Times New Roman" panose="02020603050405020304" pitchFamily="18" charset="0"/>
                <a:cs typeface="Times New Roman" panose="02020603050405020304" pitchFamily="18" charset="0"/>
              </a:rPr>
              <a:t>-</a:t>
            </a:r>
            <a:r>
              <a:rPr lang="el-GR" altLang="zh-CN" sz="2400" dirty="0">
                <a:solidFill>
                  <a:srgbClr val="2E75B6"/>
                </a:solidFill>
                <a:latin typeface="Times New Roman" panose="02020603050405020304" pitchFamily="18" charset="0"/>
                <a:cs typeface="Times New Roman" panose="02020603050405020304" pitchFamily="18" charset="0"/>
              </a:rPr>
              <a:t>β</a:t>
            </a:r>
            <a:r>
              <a:rPr lang="en-US" altLang="zh-CN" sz="2400" dirty="0">
                <a:solidFill>
                  <a:srgbClr val="2E75B6"/>
                </a:solidFill>
                <a:latin typeface="Times New Roman" panose="02020603050405020304" pitchFamily="18" charset="0"/>
                <a:cs typeface="Times New Roman" panose="02020603050405020304" pitchFamily="18" charset="0"/>
              </a:rPr>
              <a:t>(-)</a:t>
            </a:r>
            <a:endParaRPr lang="en-CN" sz="2400" dirty="0">
              <a:solidFill>
                <a:srgbClr val="2E75B6"/>
              </a:solidFill>
              <a:latin typeface="Times New Roman" panose="02020603050405020304" pitchFamily="18" charset="0"/>
              <a:cs typeface="Times New Roman" panose="02020603050405020304" pitchFamily="18" charset="0"/>
            </a:endParaRPr>
          </a:p>
        </p:txBody>
      </p:sp>
      <p:cxnSp>
        <p:nvCxnSpPr>
          <p:cNvPr id="14" name="Straight Arrow Connector 13">
            <a:extLst>
              <a:ext uri="{FF2B5EF4-FFF2-40B4-BE49-F238E27FC236}">
                <a16:creationId xmlns:a16="http://schemas.microsoft.com/office/drawing/2014/main" id="{EBA82DE3-BBBE-F3B7-EC53-ECADE6A712BB}"/>
              </a:ext>
            </a:extLst>
          </p:cNvPr>
          <p:cNvCxnSpPr>
            <a:cxnSpLocks/>
          </p:cNvCxnSpPr>
          <p:nvPr/>
        </p:nvCxnSpPr>
        <p:spPr>
          <a:xfrm>
            <a:off x="1482372" y="5471823"/>
            <a:ext cx="1350980" cy="179399"/>
          </a:xfrm>
          <a:prstGeom prst="straightConnector1">
            <a:avLst/>
          </a:prstGeom>
          <a:ln w="31750">
            <a:solidFill>
              <a:srgbClr val="2E75B6"/>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CC495472-1D15-54BC-8590-7D5D66D62611}"/>
              </a:ext>
            </a:extLst>
          </p:cNvPr>
          <p:cNvCxnSpPr>
            <a:cxnSpLocks/>
          </p:cNvCxnSpPr>
          <p:nvPr/>
        </p:nvCxnSpPr>
        <p:spPr>
          <a:xfrm flipH="1">
            <a:off x="4146996" y="1165098"/>
            <a:ext cx="1228172" cy="52877"/>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1A86DE71-8C4D-BA1A-6FC4-FC1F47B4DF5E}"/>
              </a:ext>
            </a:extLst>
          </p:cNvPr>
          <p:cNvGrpSpPr/>
          <p:nvPr/>
        </p:nvGrpSpPr>
        <p:grpSpPr>
          <a:xfrm>
            <a:off x="5375168" y="868717"/>
            <a:ext cx="2244974" cy="830998"/>
            <a:chOff x="5926401" y="811661"/>
            <a:chExt cx="2244974" cy="830998"/>
          </a:xfrm>
        </p:grpSpPr>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86EB4F26-7A7E-621C-42DD-211E5721306C}"/>
                    </a:ext>
                  </a:extLst>
                </p:cNvPr>
                <p:cNvSpPr txBox="1"/>
                <p:nvPr/>
              </p:nvSpPr>
              <p:spPr>
                <a:xfrm>
                  <a:off x="6839768" y="925080"/>
                  <a:ext cx="364145" cy="401999"/>
                </a:xfrm>
                <a:prstGeom prst="rect">
                  <a:avLst/>
                </a:prstGeom>
                <a:noFill/>
              </p:spPr>
              <p:txBody>
                <a:bodyPr wrap="none" lIns="0" tIns="0" rIns="0" bIns="0" rtlCol="0" anchor="ctr">
                  <a:spAutoFit/>
                </a:bodyPr>
                <a:lstStyle/>
                <a:p>
                  <a:pPr/>
                  <a14:m>
                    <m:oMathPara xmlns:m="http://schemas.openxmlformats.org/officeDocument/2006/math">
                      <m:oMathParaPr>
                        <m:jc m:val="centerGroup"/>
                      </m:oMathParaPr>
                      <m:oMath xmlns:m="http://schemas.openxmlformats.org/officeDocument/2006/math">
                        <m:r>
                          <a:rPr lang="en-US" altLang="zh-CN" sz="4000" b="0" i="1" smtClean="0">
                            <a:latin typeface="Cambria Math" panose="02040503050406030204" pitchFamily="18" charset="0"/>
                          </a:rPr>
                          <m:t>−</m:t>
                        </m:r>
                      </m:oMath>
                    </m:oMathPara>
                  </a14:m>
                  <a:endParaRPr lang="en-CN" sz="2400" dirty="0"/>
                </a:p>
              </p:txBody>
            </p:sp>
          </mc:Choice>
          <mc:Fallback xmlns="">
            <p:sp>
              <p:nvSpPr>
                <p:cNvPr id="22" name="TextBox 21">
                  <a:extLst>
                    <a:ext uri="{FF2B5EF4-FFF2-40B4-BE49-F238E27FC236}">
                      <a16:creationId xmlns:a16="http://schemas.microsoft.com/office/drawing/2014/main" id="{86EB4F26-7A7E-621C-42DD-211E5721306C}"/>
                    </a:ext>
                  </a:extLst>
                </p:cNvPr>
                <p:cNvSpPr txBox="1">
                  <a:spLocks noRot="1" noChangeAspect="1" noMove="1" noResize="1" noEditPoints="1" noAdjustHandles="1" noChangeArrowheads="1" noChangeShapeType="1" noTextEdit="1"/>
                </p:cNvSpPr>
                <p:nvPr/>
              </p:nvSpPr>
              <p:spPr>
                <a:xfrm>
                  <a:off x="6839768" y="925080"/>
                  <a:ext cx="364145" cy="401999"/>
                </a:xfrm>
                <a:prstGeom prst="rect">
                  <a:avLst/>
                </a:prstGeom>
                <a:blipFill>
                  <a:blip r:embed="rId4"/>
                  <a:stretch>
                    <a:fillRect l="-24138" r="-27586" b="-15625"/>
                  </a:stretch>
                </a:blipFill>
              </p:spPr>
              <p:txBody>
                <a:bodyPr/>
                <a:lstStyle/>
                <a:p>
                  <a:r>
                    <a:rPr lang="en-CN">
                      <a:noFill/>
                    </a:rPr>
                    <a:t> </a:t>
                  </a:r>
                </a:p>
              </p:txBody>
            </p:sp>
          </mc:Fallback>
        </mc:AlternateContent>
        <p:sp>
          <p:nvSpPr>
            <p:cNvPr id="27" name="TextBox 26">
              <a:extLst>
                <a:ext uri="{FF2B5EF4-FFF2-40B4-BE49-F238E27FC236}">
                  <a16:creationId xmlns:a16="http://schemas.microsoft.com/office/drawing/2014/main" id="{EC8E62C5-4ADE-B1CB-8B1A-2B1A44DB5E20}"/>
                </a:ext>
              </a:extLst>
            </p:cNvPr>
            <p:cNvSpPr txBox="1"/>
            <p:nvPr/>
          </p:nvSpPr>
          <p:spPr>
            <a:xfrm>
              <a:off x="5926401" y="811662"/>
              <a:ext cx="800219" cy="830997"/>
            </a:xfrm>
            <a:prstGeom prst="rect">
              <a:avLst/>
            </a:prstGeom>
            <a:noFill/>
          </p:spPr>
          <p:txBody>
            <a:bodyPr wrap="none" rtlCol="0">
              <a:spAutoFit/>
            </a:bodyPr>
            <a:lstStyle/>
            <a:p>
              <a:r>
                <a:rPr lang="en-CN" sz="4800" dirty="0"/>
                <a:t>😍</a:t>
              </a:r>
            </a:p>
          </p:txBody>
        </p:sp>
        <p:sp>
          <p:nvSpPr>
            <p:cNvPr id="38" name="TextBox 37">
              <a:extLst>
                <a:ext uri="{FF2B5EF4-FFF2-40B4-BE49-F238E27FC236}">
                  <a16:creationId xmlns:a16="http://schemas.microsoft.com/office/drawing/2014/main" id="{4FA10CC2-88D2-CB93-313B-BFB07B40970C}"/>
                </a:ext>
              </a:extLst>
            </p:cNvPr>
            <p:cNvSpPr txBox="1"/>
            <p:nvPr/>
          </p:nvSpPr>
          <p:spPr>
            <a:xfrm>
              <a:off x="7371156" y="811661"/>
              <a:ext cx="800219" cy="830997"/>
            </a:xfrm>
            <a:prstGeom prst="rect">
              <a:avLst/>
            </a:prstGeom>
            <a:noFill/>
          </p:spPr>
          <p:txBody>
            <a:bodyPr wrap="none" rtlCol="0">
              <a:spAutoFit/>
            </a:bodyPr>
            <a:lstStyle/>
            <a:p>
              <a:r>
                <a:rPr lang="zh-CN" altLang="en-US" sz="4800" dirty="0"/>
                <a:t>😑</a:t>
              </a:r>
              <a:endParaRPr lang="en-CN" sz="4800" dirty="0"/>
            </a:p>
          </p:txBody>
        </p:sp>
      </p:grpSp>
    </p:spTree>
    <p:extLst>
      <p:ext uri="{BB962C8B-B14F-4D97-AF65-F5344CB8AC3E}">
        <p14:creationId xmlns:p14="http://schemas.microsoft.com/office/powerpoint/2010/main" val="4005603108"/>
      </p:ext>
    </p:extLst>
  </p:cSld>
  <p:clrMapOvr>
    <a:masterClrMapping/>
  </p:clrMapOvr>
  <mc:AlternateContent xmlns:mc="http://schemas.openxmlformats.org/markup-compatibility/2006" xmlns:p14="http://schemas.microsoft.com/office/powerpoint/2010/main">
    <mc:Choice Requires="p14">
      <p:transition spd="slow" p14:dur="2000" advTm="66649"/>
    </mc:Choice>
    <mc:Fallback xmlns="">
      <p:transition spd="slow" advTm="6664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419FD-1E95-CE42-FB50-5947B4CCAAC5}"/>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EE85E038-3B8B-339E-CDC2-7BFAECC71AB7}"/>
              </a:ext>
            </a:extLst>
          </p:cNvPr>
          <p:cNvSpPr/>
          <p:nvPr/>
        </p:nvSpPr>
        <p:spPr>
          <a:xfrm>
            <a:off x="791919" y="6025314"/>
            <a:ext cx="5730786" cy="544244"/>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dirty="0"/>
          </a:p>
        </p:txBody>
      </p:sp>
      <p:sp>
        <p:nvSpPr>
          <p:cNvPr id="17" name="文本框 16">
            <a:extLst>
              <a:ext uri="{FF2B5EF4-FFF2-40B4-BE49-F238E27FC236}">
                <a16:creationId xmlns:a16="http://schemas.microsoft.com/office/drawing/2014/main" id="{44172D03-70BC-52E2-46A9-ADF130D2C80A}"/>
              </a:ext>
            </a:extLst>
          </p:cNvPr>
          <p:cNvSpPr txBox="1"/>
          <p:nvPr/>
        </p:nvSpPr>
        <p:spPr>
          <a:xfrm>
            <a:off x="1205170" y="358515"/>
            <a:ext cx="5324420" cy="344937"/>
          </a:xfrm>
          <a:prstGeom prst="rect">
            <a:avLst/>
          </a:prstGeom>
          <a:solidFill>
            <a:schemeClr val="bg1"/>
          </a:solid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defRPr/>
            </a:pPr>
            <a:endParaRPr kumimoji="0" lang="zh-CN" altLang="en-US" sz="1400" b="1" i="0" u="none" strike="noStrike" kern="1200" cap="none" spc="300" normalizeH="0" noProof="0" dirty="0">
              <a:ln>
                <a:noFill/>
              </a:ln>
              <a:solidFill>
                <a:prstClr val="black"/>
              </a:solidFill>
              <a:effectLst/>
              <a:uLnTx/>
              <a:uFillTx/>
              <a:latin typeface="FangSong_GB2312" panose="02010609030101010101" pitchFamily="49" charset="-122"/>
              <a:ea typeface="FangSong_GB2312" panose="02010609030101010101" pitchFamily="49" charset="-122"/>
            </a:endParaRPr>
          </a:p>
        </p:txBody>
      </p:sp>
      <p:sp>
        <p:nvSpPr>
          <p:cNvPr id="19" name="文本框 18">
            <a:extLst>
              <a:ext uri="{FF2B5EF4-FFF2-40B4-BE49-F238E27FC236}">
                <a16:creationId xmlns:a16="http://schemas.microsoft.com/office/drawing/2014/main" id="{345D8368-CDEC-373D-8429-ACFCCD44E388}"/>
              </a:ext>
            </a:extLst>
          </p:cNvPr>
          <p:cNvSpPr txBox="1"/>
          <p:nvPr/>
        </p:nvSpPr>
        <p:spPr>
          <a:xfrm>
            <a:off x="358346" y="288442"/>
            <a:ext cx="720000" cy="523220"/>
          </a:xfrm>
          <a:prstGeom prst="rect">
            <a:avLst/>
          </a:prstGeom>
          <a:noFill/>
        </p:spPr>
        <p:txBody>
          <a:bodyPr wrap="square" rtlCol="0">
            <a:spAutoFit/>
          </a:bodyPr>
          <a:lstStyle/>
          <a:p>
            <a:pPr algn="ctr"/>
            <a:r>
              <a:rPr lang="en-US" altLang="zh-CN"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03</a:t>
            </a:r>
            <a:endParaRPr lang="zh-CN" altLang="en-US"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TextBox 2">
            <a:extLst>
              <a:ext uri="{FF2B5EF4-FFF2-40B4-BE49-F238E27FC236}">
                <a16:creationId xmlns:a16="http://schemas.microsoft.com/office/drawing/2014/main" id="{58B6CC57-5414-D95C-0F0A-55E7CED33F8F}"/>
              </a:ext>
            </a:extLst>
          </p:cNvPr>
          <p:cNvSpPr txBox="1"/>
          <p:nvPr/>
        </p:nvSpPr>
        <p:spPr>
          <a:xfrm>
            <a:off x="1205170" y="349997"/>
            <a:ext cx="5324420" cy="400110"/>
          </a:xfrm>
          <a:prstGeom prst="rect">
            <a:avLst/>
          </a:prstGeom>
          <a:noFill/>
        </p:spPr>
        <p:txBody>
          <a:bodyPr wrap="square">
            <a:spAutoFit/>
          </a:bodyPr>
          <a:lstStyle/>
          <a:p>
            <a:r>
              <a:rPr lang="zh-CN" altLang="en-US" sz="2000" b="1" dirty="0">
                <a:solidFill>
                  <a:schemeClr val="tx1"/>
                </a:solidFill>
                <a:latin typeface="FangSong_GB2312" panose="02010609030101010101" pitchFamily="49" charset="-122"/>
                <a:ea typeface="FangSong_GB2312" panose="02010609030101010101" pitchFamily="49" charset="-122"/>
              </a:rPr>
              <a:t>研究</a:t>
            </a:r>
            <a:r>
              <a:rPr lang="zh-CN" altLang="en-US" sz="2000" b="1" dirty="0">
                <a:latin typeface="FangSong_GB2312" panose="02010609030101010101" pitchFamily="49" charset="-122"/>
                <a:ea typeface="FangSong_GB2312" panose="02010609030101010101" pitchFamily="49" charset="-122"/>
              </a:rPr>
              <a:t>二</a:t>
            </a:r>
            <a:r>
              <a:rPr lang="zh-CN" altLang="en-US" sz="2000" b="1" dirty="0">
                <a:solidFill>
                  <a:schemeClr val="tx1"/>
                </a:solidFill>
                <a:latin typeface="FangSong_GB2312" panose="02010609030101010101" pitchFamily="49" charset="-122"/>
                <a:ea typeface="FangSong_GB2312" panose="02010609030101010101" pitchFamily="49" charset="-122"/>
              </a:rPr>
              <a:t>结果：海马中放电单元贡献差异化响应</a:t>
            </a:r>
          </a:p>
        </p:txBody>
      </p:sp>
      <p:pic>
        <p:nvPicPr>
          <p:cNvPr id="4" name="Picture 3">
            <a:extLst>
              <a:ext uri="{FF2B5EF4-FFF2-40B4-BE49-F238E27FC236}">
                <a16:creationId xmlns:a16="http://schemas.microsoft.com/office/drawing/2014/main" id="{E80BBBAF-85ED-E4EF-429E-D000078808F8}"/>
              </a:ext>
            </a:extLst>
          </p:cNvPr>
          <p:cNvPicPr>
            <a:picLocks noChangeAspect="1"/>
          </p:cNvPicPr>
          <p:nvPr/>
        </p:nvPicPr>
        <p:blipFill>
          <a:blip r:embed="rId3" cstate="print">
            <a:extLst>
              <a:ext uri="{28A0092B-C50C-407E-A947-70E740481C1C}">
                <a14:useLocalDpi xmlns:a14="http://schemas.microsoft.com/office/drawing/2010/main" val="0"/>
              </a:ext>
            </a:extLst>
          </a:blip>
          <a:srcRect l="2888" t="1342" r="5179" b="3493"/>
          <a:stretch>
            <a:fillRect/>
          </a:stretch>
        </p:blipFill>
        <p:spPr>
          <a:xfrm>
            <a:off x="190500" y="921741"/>
            <a:ext cx="8871294" cy="4559329"/>
          </a:xfrm>
          <a:prstGeom prst="rect">
            <a:avLst/>
          </a:prstGeom>
          <a:ln>
            <a:noFill/>
          </a:ln>
        </p:spPr>
      </p:pic>
      <p:sp>
        <p:nvSpPr>
          <p:cNvPr id="27" name="TextBox 26">
            <a:extLst>
              <a:ext uri="{FF2B5EF4-FFF2-40B4-BE49-F238E27FC236}">
                <a16:creationId xmlns:a16="http://schemas.microsoft.com/office/drawing/2014/main" id="{E40CA8B8-0404-2BE2-6029-D39111235C2B}"/>
              </a:ext>
            </a:extLst>
          </p:cNvPr>
          <p:cNvSpPr txBox="1"/>
          <p:nvPr/>
        </p:nvSpPr>
        <p:spPr>
          <a:xfrm>
            <a:off x="791919" y="5481070"/>
            <a:ext cx="9597250" cy="455189"/>
          </a:xfrm>
          <a:prstGeom prst="rect">
            <a:avLst/>
          </a:prstGeom>
          <a:noFill/>
        </p:spPr>
        <p:txBody>
          <a:bodyPr wrap="square">
            <a:spAutoFit/>
          </a:bodyPr>
          <a:lstStyle/>
          <a:p>
            <a:pPr algn="just">
              <a:lnSpc>
                <a:spcPct val="150000"/>
              </a:lnSpc>
            </a:pPr>
            <a:r>
              <a:rPr lang="zh-CN" sz="1800" kern="100" dirty="0">
                <a:effectLst/>
                <a:latin typeface="Times New Roman" panose="02020603050405020304" pitchFamily="18" charset="0"/>
                <a:ea typeface="FangSong_GB2312" panose="02010609030101010101" pitchFamily="49" charset="-122"/>
                <a:cs typeface="Times New Roman" panose="02020603050405020304" pitchFamily="18" charset="0"/>
              </a:rPr>
              <a:t>杏仁核单元中两个簇的喜欢与不喜欢条件差异均不显著，上述显著差异主要来源于</a:t>
            </a:r>
            <a:r>
              <a:rPr lang="zh-CN" sz="1800" b="1" kern="100" dirty="0">
                <a:effectLst/>
                <a:latin typeface="Times New Roman" panose="02020603050405020304" pitchFamily="18" charset="0"/>
                <a:ea typeface="FangSong_GB2312" panose="02010609030101010101" pitchFamily="49" charset="-122"/>
                <a:cs typeface="Times New Roman" panose="02020603050405020304" pitchFamily="18" charset="0"/>
              </a:rPr>
              <a:t>海马</a:t>
            </a:r>
            <a:r>
              <a:rPr lang="zh-CN" sz="1800" kern="100" dirty="0">
                <a:effectLst/>
                <a:latin typeface="Times New Roman" panose="02020603050405020304" pitchFamily="18" charset="0"/>
                <a:ea typeface="FangSong_GB2312" panose="02010609030101010101" pitchFamily="49" charset="-122"/>
                <a:cs typeface="Times New Roman" panose="02020603050405020304" pitchFamily="18" charset="0"/>
              </a:rPr>
              <a:t>单元</a:t>
            </a:r>
            <a:endParaRPr lang="en-US" altLang="zh-CN" kern="100" dirty="0">
              <a:latin typeface="Times New Roman" panose="02020603050405020304" pitchFamily="18" charset="0"/>
              <a:ea typeface="FangSong_GB2312" panose="02010609030101010101" pitchFamily="49" charset="-122"/>
              <a:cs typeface="Times New Roman" panose="02020603050405020304" pitchFamily="18" charset="0"/>
            </a:endParaRPr>
          </a:p>
        </p:txBody>
      </p:sp>
      <p:sp>
        <p:nvSpPr>
          <p:cNvPr id="5" name="TextBox 4">
            <a:extLst>
              <a:ext uri="{FF2B5EF4-FFF2-40B4-BE49-F238E27FC236}">
                <a16:creationId xmlns:a16="http://schemas.microsoft.com/office/drawing/2014/main" id="{2C9A5243-5BA7-BDD3-0ED5-DCEFAC81B79E}"/>
              </a:ext>
            </a:extLst>
          </p:cNvPr>
          <p:cNvSpPr txBox="1"/>
          <p:nvPr/>
        </p:nvSpPr>
        <p:spPr>
          <a:xfrm>
            <a:off x="791919" y="6025314"/>
            <a:ext cx="9597250" cy="455189"/>
          </a:xfrm>
          <a:prstGeom prst="rect">
            <a:avLst/>
          </a:prstGeom>
          <a:noFill/>
        </p:spPr>
        <p:txBody>
          <a:bodyPr wrap="square">
            <a:spAutoFit/>
          </a:bodyPr>
          <a:lstStyle/>
          <a:p>
            <a:pPr algn="just">
              <a:lnSpc>
                <a:spcPct val="150000"/>
              </a:lnSpc>
            </a:pPr>
            <a:r>
              <a:rPr lang="zh-CN" altLang="en-US" b="1" kern="100" dirty="0">
                <a:latin typeface="Times New Roman" panose="02020603050405020304" pitchFamily="18" charset="0"/>
                <a:ea typeface="FangSong_GB2312" panose="02010609030101010101" pitchFamily="49" charset="-122"/>
                <a:cs typeface="Times New Roman" panose="02020603050405020304" pitchFamily="18" charset="0"/>
              </a:rPr>
              <a:t>海马</a:t>
            </a:r>
            <a:r>
              <a:rPr lang="zh-CN" altLang="en-US" kern="100" dirty="0">
                <a:latin typeface="Times New Roman" panose="02020603050405020304" pitchFamily="18" charset="0"/>
                <a:ea typeface="FangSong_GB2312" panose="02010609030101010101" pitchFamily="49" charset="-122"/>
                <a:cs typeface="Times New Roman" panose="02020603050405020304" pitchFamily="18" charset="0"/>
              </a:rPr>
              <a:t>放电活动可能是该簇水平</a:t>
            </a:r>
            <a:r>
              <a:rPr lang="zh-CN" altLang="en-US" b="1" kern="100" dirty="0">
                <a:latin typeface="Times New Roman" panose="02020603050405020304" pitchFamily="18" charset="0"/>
                <a:ea typeface="FangSong_GB2312" panose="02010609030101010101" pitchFamily="49" charset="-122"/>
                <a:cs typeface="Times New Roman" panose="02020603050405020304" pitchFamily="18" charset="0"/>
              </a:rPr>
              <a:t>偏好效应</a:t>
            </a:r>
            <a:r>
              <a:rPr lang="zh-CN" altLang="en-US" kern="100" dirty="0">
                <a:latin typeface="Times New Roman" panose="02020603050405020304" pitchFamily="18" charset="0"/>
                <a:ea typeface="FangSong_GB2312" panose="02010609030101010101" pitchFamily="49" charset="-122"/>
                <a:cs typeface="Times New Roman" panose="02020603050405020304" pitchFamily="18" charset="0"/>
              </a:rPr>
              <a:t>的主要贡献来源</a:t>
            </a:r>
            <a:endParaRPr lang="en-CN" kern="100" dirty="0">
              <a:latin typeface="Times New Roman" panose="02020603050405020304" pitchFamily="18" charset="0"/>
              <a:ea typeface="FangSong_GB2312" panose="02010609030101010101" pitchFamily="49" charset="-122"/>
              <a:cs typeface="Times New Roman" panose="02020603050405020304" pitchFamily="18" charset="0"/>
            </a:endParaRPr>
          </a:p>
        </p:txBody>
      </p:sp>
      <p:sp>
        <p:nvSpPr>
          <p:cNvPr id="16" name="TextBox 15">
            <a:extLst>
              <a:ext uri="{FF2B5EF4-FFF2-40B4-BE49-F238E27FC236}">
                <a16:creationId xmlns:a16="http://schemas.microsoft.com/office/drawing/2014/main" id="{E1290E99-242F-142C-66CE-1D117EC038CC}"/>
              </a:ext>
            </a:extLst>
          </p:cNvPr>
          <p:cNvSpPr txBox="1"/>
          <p:nvPr/>
        </p:nvSpPr>
        <p:spPr>
          <a:xfrm>
            <a:off x="9061794" y="1959935"/>
            <a:ext cx="2939706" cy="3043397"/>
          </a:xfrm>
          <a:prstGeom prst="rect">
            <a:avLst/>
          </a:prstGeom>
          <a:noFill/>
        </p:spPr>
        <p:txBody>
          <a:bodyPr wrap="square">
            <a:spAutoFit/>
          </a:bodyPr>
          <a:lstStyle/>
          <a:p>
            <a:pPr algn="just">
              <a:lnSpc>
                <a:spcPct val="150000"/>
              </a:lnSpc>
            </a:pP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对各单元的基线校正</a:t>
            </a: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IFR</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反应曲线进行</a:t>
            </a:r>
            <a:r>
              <a:rPr lang="en-US" altLang="zh-CN" sz="1600" b="1" dirty="0">
                <a:latin typeface="Times New Roman" panose="02020603050405020304" pitchFamily="18" charset="0"/>
                <a:ea typeface="FangSong_GB2312" panose="02010609030101010101" pitchFamily="49" charset="-122"/>
                <a:cs typeface="Microsoft GothicNeo" panose="020B0500000101010101" pitchFamily="34" charset="-127"/>
              </a:rPr>
              <a:t>K-means</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聚类，得到两个主要响应模式簇：</a:t>
            </a:r>
            <a:endPar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endParaRPr>
          </a:p>
          <a:p>
            <a:pPr algn="just">
              <a:lnSpc>
                <a:spcPct val="150000"/>
              </a:lnSpc>
            </a:pPr>
            <a:r>
              <a:rPr lang="en-US" sz="1600" kern="100" dirty="0">
                <a:latin typeface="Times New Roman" panose="02020603050405020304" pitchFamily="18" charset="0"/>
                <a:ea typeface="FangSong_GB2312" panose="02010609030101010101" pitchFamily="49" charset="-122"/>
              </a:rPr>
              <a:t>Cluster 0</a:t>
            </a:r>
            <a:r>
              <a:rPr lang="zh-CN" altLang="en-US" sz="1600" kern="100" dirty="0">
                <a:latin typeface="Times New Roman" panose="02020603050405020304" pitchFamily="18" charset="0"/>
                <a:ea typeface="FangSong_GB2312" panose="02010609030101010101" pitchFamily="49" charset="-122"/>
                <a:cs typeface="Times New Roman" panose="02020603050405020304" pitchFamily="18" charset="0"/>
              </a:rPr>
              <a:t>：</a:t>
            </a:r>
            <a:r>
              <a:rPr lang="en-US" sz="1600" kern="100" dirty="0">
                <a:latin typeface="Times New Roman" panose="02020603050405020304" pitchFamily="18" charset="0"/>
                <a:ea typeface="FangSong_GB2312" panose="02010609030101010101" pitchFamily="49" charset="-122"/>
              </a:rPr>
              <a:t>22</a:t>
            </a:r>
            <a:r>
              <a:rPr lang="zh-CN" altLang="en-US" sz="1600" kern="100" dirty="0">
                <a:latin typeface="Times New Roman" panose="02020603050405020304" pitchFamily="18" charset="0"/>
                <a:ea typeface="FangSong_GB2312" panose="02010609030101010101" pitchFamily="49" charset="-122"/>
                <a:cs typeface="Times New Roman" panose="02020603050405020304" pitchFamily="18" charset="0"/>
              </a:rPr>
              <a:t>个单元，</a:t>
            </a:r>
            <a:endParaRPr lang="en-US" altLang="zh-CN" sz="1600" kern="100" dirty="0">
              <a:latin typeface="Times New Roman" panose="02020603050405020304" pitchFamily="18" charset="0"/>
              <a:ea typeface="FangSong_GB2312" panose="02010609030101010101" pitchFamily="49" charset="-122"/>
              <a:cs typeface="Times New Roman" panose="02020603050405020304" pitchFamily="18" charset="0"/>
            </a:endParaRPr>
          </a:p>
          <a:p>
            <a:pPr algn="just">
              <a:lnSpc>
                <a:spcPct val="150000"/>
              </a:lnSpc>
            </a:pPr>
            <a:r>
              <a:rPr lang="zh-CN" altLang="en-US" sz="1600" kern="100" dirty="0">
                <a:latin typeface="Times New Roman" panose="02020603050405020304" pitchFamily="18" charset="0"/>
                <a:ea typeface="FangSong_GB2312" panose="02010609030101010101" pitchFamily="49" charset="-122"/>
                <a:cs typeface="Times New Roman" panose="02020603050405020304" pitchFamily="18" charset="0"/>
              </a:rPr>
              <a:t>杏仁核（</a:t>
            </a:r>
            <a:r>
              <a:rPr lang="en-US" sz="1600" kern="100" dirty="0">
                <a:latin typeface="Times New Roman" panose="02020603050405020304" pitchFamily="18" charset="0"/>
                <a:ea typeface="FangSong_GB2312" panose="02010609030101010101" pitchFamily="49" charset="-122"/>
              </a:rPr>
              <a:t>7</a:t>
            </a:r>
            <a:r>
              <a:rPr lang="zh-CN" altLang="en-US" sz="1600" kern="100" dirty="0">
                <a:latin typeface="Times New Roman" panose="02020603050405020304" pitchFamily="18" charset="0"/>
                <a:ea typeface="FangSong_GB2312" panose="02010609030101010101" pitchFamily="49" charset="-122"/>
              </a:rPr>
              <a:t>）</a:t>
            </a:r>
            <a:r>
              <a:rPr lang="zh-CN" altLang="en-US" sz="1600" kern="100" dirty="0">
                <a:latin typeface="Times New Roman" panose="02020603050405020304" pitchFamily="18" charset="0"/>
                <a:ea typeface="FangSong_GB2312" panose="02010609030101010101" pitchFamily="49" charset="-122"/>
                <a:cs typeface="Times New Roman" panose="02020603050405020304" pitchFamily="18" charset="0"/>
              </a:rPr>
              <a:t>、海马（</a:t>
            </a:r>
            <a:r>
              <a:rPr lang="en-US" sz="1600" kern="100" dirty="0">
                <a:latin typeface="Times New Roman" panose="02020603050405020304" pitchFamily="18" charset="0"/>
                <a:ea typeface="FangSong_GB2312" panose="02010609030101010101" pitchFamily="49" charset="-122"/>
              </a:rPr>
              <a:t>15</a:t>
            </a:r>
            <a:r>
              <a:rPr lang="zh-CN" altLang="en-US" sz="1600" kern="100" dirty="0">
                <a:latin typeface="Times New Roman" panose="02020603050405020304" pitchFamily="18" charset="0"/>
                <a:ea typeface="FangSong_GB2312" panose="02010609030101010101" pitchFamily="49" charset="-122"/>
              </a:rPr>
              <a:t>）</a:t>
            </a:r>
            <a:endParaRPr lang="en-US" sz="1600" kern="100" dirty="0">
              <a:latin typeface="Times New Roman" panose="02020603050405020304" pitchFamily="18" charset="0"/>
              <a:ea typeface="FangSong_GB2312" panose="02010609030101010101" pitchFamily="49" charset="-122"/>
              <a:cs typeface="Times New Roman" panose="02020603050405020304" pitchFamily="18" charset="0"/>
            </a:endParaRPr>
          </a:p>
          <a:p>
            <a:pPr algn="just">
              <a:lnSpc>
                <a:spcPct val="150000"/>
              </a:lnSpc>
            </a:pPr>
            <a:r>
              <a:rPr lang="en-US" sz="1600" kern="100" dirty="0">
                <a:latin typeface="Times New Roman" panose="02020603050405020304" pitchFamily="18" charset="0"/>
                <a:ea typeface="FangSong_GB2312" panose="02010609030101010101" pitchFamily="49" charset="-122"/>
              </a:rPr>
              <a:t>Cluster 1</a:t>
            </a:r>
            <a:r>
              <a:rPr lang="zh-CN" altLang="en-US" sz="1600" kern="100" dirty="0">
                <a:latin typeface="Times New Roman" panose="02020603050405020304" pitchFamily="18" charset="0"/>
                <a:ea typeface="FangSong_GB2312" panose="02010609030101010101" pitchFamily="49" charset="-122"/>
                <a:cs typeface="Times New Roman" panose="02020603050405020304" pitchFamily="18" charset="0"/>
              </a:rPr>
              <a:t>：</a:t>
            </a:r>
            <a:r>
              <a:rPr lang="en-US" sz="1600" kern="100" dirty="0">
                <a:latin typeface="Times New Roman" panose="02020603050405020304" pitchFamily="18" charset="0"/>
                <a:ea typeface="FangSong_GB2312" panose="02010609030101010101" pitchFamily="49" charset="-122"/>
              </a:rPr>
              <a:t>23</a:t>
            </a:r>
            <a:r>
              <a:rPr lang="zh-CN" altLang="en-US" sz="1600" kern="100" dirty="0">
                <a:latin typeface="Times New Roman" panose="02020603050405020304" pitchFamily="18" charset="0"/>
                <a:ea typeface="FangSong_GB2312" panose="02010609030101010101" pitchFamily="49" charset="-122"/>
                <a:cs typeface="Times New Roman" panose="02020603050405020304" pitchFamily="18" charset="0"/>
              </a:rPr>
              <a:t>个单元，</a:t>
            </a:r>
            <a:endParaRPr lang="en-US" altLang="zh-CN" sz="1600" kern="100" dirty="0">
              <a:latin typeface="Times New Roman" panose="02020603050405020304" pitchFamily="18" charset="0"/>
              <a:ea typeface="FangSong_GB2312" panose="02010609030101010101" pitchFamily="49" charset="-122"/>
              <a:cs typeface="Times New Roman" panose="02020603050405020304" pitchFamily="18" charset="0"/>
            </a:endParaRPr>
          </a:p>
          <a:p>
            <a:pPr algn="just">
              <a:lnSpc>
                <a:spcPct val="150000"/>
              </a:lnSpc>
            </a:pPr>
            <a:r>
              <a:rPr lang="zh-CN" altLang="en-US" sz="1600" kern="100" dirty="0">
                <a:latin typeface="Times New Roman" panose="02020603050405020304" pitchFamily="18" charset="0"/>
                <a:ea typeface="FangSong_GB2312" panose="02010609030101010101" pitchFamily="49" charset="-122"/>
                <a:cs typeface="Times New Roman" panose="02020603050405020304" pitchFamily="18" charset="0"/>
              </a:rPr>
              <a:t>杏仁核（</a:t>
            </a:r>
            <a:r>
              <a:rPr lang="en-US" sz="1600" kern="100" dirty="0">
                <a:latin typeface="Times New Roman" panose="02020603050405020304" pitchFamily="18" charset="0"/>
                <a:ea typeface="FangSong_GB2312" panose="02010609030101010101" pitchFamily="49" charset="-122"/>
              </a:rPr>
              <a:t>6</a:t>
            </a:r>
            <a:r>
              <a:rPr lang="zh-CN" altLang="en-US" sz="1600" kern="100" dirty="0">
                <a:latin typeface="Times New Roman" panose="02020603050405020304" pitchFamily="18" charset="0"/>
                <a:ea typeface="FangSong_GB2312" panose="02010609030101010101" pitchFamily="49" charset="-122"/>
                <a:cs typeface="Times New Roman" panose="02020603050405020304" pitchFamily="18" charset="0"/>
              </a:rPr>
              <a:t>）、海马（</a:t>
            </a:r>
            <a:r>
              <a:rPr lang="en-US" sz="1600" kern="100" dirty="0">
                <a:latin typeface="Times New Roman" panose="02020603050405020304" pitchFamily="18" charset="0"/>
                <a:ea typeface="FangSong_GB2312" panose="02010609030101010101" pitchFamily="49" charset="-122"/>
              </a:rPr>
              <a:t>17</a:t>
            </a:r>
            <a:r>
              <a:rPr lang="zh-CN" altLang="en-US" sz="1600" kern="100" dirty="0">
                <a:latin typeface="Times New Roman" panose="02020603050405020304" pitchFamily="18" charset="0"/>
                <a:ea typeface="FangSong_GB2312" panose="02010609030101010101" pitchFamily="49" charset="-122"/>
                <a:cs typeface="Times New Roman" panose="02020603050405020304" pitchFamily="18" charset="0"/>
              </a:rPr>
              <a:t>）</a:t>
            </a:r>
            <a:r>
              <a:rPr lang="en-CN" sz="1600" dirty="0"/>
              <a:t> </a:t>
            </a:r>
          </a:p>
          <a:p>
            <a:pPr>
              <a:lnSpc>
                <a:spcPct val="150000"/>
              </a:lnSpc>
            </a:pPr>
            <a:endParaRPr lang="en-US" altLang="zh-CN" b="1" dirty="0">
              <a:latin typeface="Times New Roman" panose="02020603050405020304" pitchFamily="18" charset="0"/>
              <a:ea typeface="FangSong_GB2312" panose="02010609030101010101" pitchFamily="49" charset="-122"/>
              <a:cs typeface="Microsoft GothicNeo" panose="020B0500000101010101" pitchFamily="34" charset="-127"/>
            </a:endParaRPr>
          </a:p>
        </p:txBody>
      </p:sp>
      <p:sp>
        <p:nvSpPr>
          <p:cNvPr id="6" name="Rectangle 5">
            <a:extLst>
              <a:ext uri="{FF2B5EF4-FFF2-40B4-BE49-F238E27FC236}">
                <a16:creationId xmlns:a16="http://schemas.microsoft.com/office/drawing/2014/main" id="{58CA6146-8072-1648-5AA6-C4930556C6DD}"/>
              </a:ext>
            </a:extLst>
          </p:cNvPr>
          <p:cNvSpPr/>
          <p:nvPr/>
        </p:nvSpPr>
        <p:spPr>
          <a:xfrm>
            <a:off x="5829300" y="3429000"/>
            <a:ext cx="2730500" cy="2052070"/>
          </a:xfrm>
          <a:prstGeom prst="rect">
            <a:avLst/>
          </a:prstGeom>
          <a:noFill/>
          <a:ln w="25400">
            <a:solidFill>
              <a:srgbClr val="2E75B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1622585403"/>
      </p:ext>
    </p:extLst>
  </p:cSld>
  <p:clrMapOvr>
    <a:masterClrMapping/>
  </p:clrMapOvr>
  <mc:AlternateContent xmlns:mc="http://schemas.openxmlformats.org/markup-compatibility/2006" xmlns:p14="http://schemas.microsoft.com/office/powerpoint/2010/main">
    <mc:Choice Requires="p14">
      <p:transition spd="slow" p14:dur="2000" advTm="66649"/>
    </mc:Choice>
    <mc:Fallback xmlns="">
      <p:transition spd="slow" advTm="66649"/>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1063D-2AB1-24BF-6676-30792F25772C}"/>
            </a:ext>
          </a:extLst>
        </p:cNvPr>
        <p:cNvGrpSpPr/>
        <p:nvPr/>
      </p:nvGrpSpPr>
      <p:grpSpPr>
        <a:xfrm>
          <a:off x="0" y="0"/>
          <a:ext cx="0" cy="0"/>
          <a:chOff x="0" y="0"/>
          <a:chExt cx="0" cy="0"/>
        </a:xfrm>
      </p:grpSpPr>
      <p:sp>
        <p:nvSpPr>
          <p:cNvPr id="17" name="文本框 16">
            <a:extLst>
              <a:ext uri="{FF2B5EF4-FFF2-40B4-BE49-F238E27FC236}">
                <a16:creationId xmlns:a16="http://schemas.microsoft.com/office/drawing/2014/main" id="{3A374584-2FE5-4B71-6CBB-2C6D1083CC61}"/>
              </a:ext>
            </a:extLst>
          </p:cNvPr>
          <p:cNvSpPr txBox="1"/>
          <p:nvPr/>
        </p:nvSpPr>
        <p:spPr>
          <a:xfrm>
            <a:off x="1205171" y="395675"/>
            <a:ext cx="2544142" cy="307777"/>
          </a:xfrm>
          <a:prstGeom prst="rect">
            <a:avLst/>
          </a:prstGeom>
          <a:solidFill>
            <a:schemeClr val="bg1"/>
          </a:solid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defRPr/>
            </a:pPr>
            <a:endParaRPr kumimoji="0" lang="zh-CN" altLang="en-US" sz="1400" b="1" i="0" u="none" strike="noStrike" kern="1200" cap="none" spc="300" normalizeH="0" noProof="0" dirty="0">
              <a:ln>
                <a:noFill/>
              </a:ln>
              <a:solidFill>
                <a:prstClr val="black"/>
              </a:solidFill>
              <a:effectLst/>
              <a:uLnTx/>
              <a:uFillTx/>
              <a:latin typeface="FangSong_GB2312" panose="02010609030101010101" pitchFamily="49" charset="-122"/>
              <a:ea typeface="FangSong_GB2312" panose="02010609030101010101" pitchFamily="49" charset="-122"/>
            </a:endParaRPr>
          </a:p>
        </p:txBody>
      </p:sp>
      <p:sp>
        <p:nvSpPr>
          <p:cNvPr id="19" name="文本框 18">
            <a:extLst>
              <a:ext uri="{FF2B5EF4-FFF2-40B4-BE49-F238E27FC236}">
                <a16:creationId xmlns:a16="http://schemas.microsoft.com/office/drawing/2014/main" id="{77717986-1768-7756-F56B-C3F9DF8ABF0E}"/>
              </a:ext>
            </a:extLst>
          </p:cNvPr>
          <p:cNvSpPr txBox="1"/>
          <p:nvPr/>
        </p:nvSpPr>
        <p:spPr>
          <a:xfrm>
            <a:off x="358346" y="288442"/>
            <a:ext cx="720000" cy="523220"/>
          </a:xfrm>
          <a:prstGeom prst="rect">
            <a:avLst/>
          </a:prstGeom>
          <a:noFill/>
        </p:spPr>
        <p:txBody>
          <a:bodyPr wrap="square" rtlCol="0">
            <a:spAutoFit/>
          </a:bodyPr>
          <a:lstStyle/>
          <a:p>
            <a:pPr algn="ctr"/>
            <a:r>
              <a:rPr lang="en-US" altLang="zh-CN"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04</a:t>
            </a:r>
            <a:endParaRPr lang="zh-CN" altLang="en-US"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TextBox 2">
            <a:extLst>
              <a:ext uri="{FF2B5EF4-FFF2-40B4-BE49-F238E27FC236}">
                <a16:creationId xmlns:a16="http://schemas.microsoft.com/office/drawing/2014/main" id="{394BD110-3C49-3526-B84D-501031841D17}"/>
              </a:ext>
            </a:extLst>
          </p:cNvPr>
          <p:cNvSpPr txBox="1"/>
          <p:nvPr/>
        </p:nvSpPr>
        <p:spPr>
          <a:xfrm>
            <a:off x="1215059" y="354359"/>
            <a:ext cx="2544141" cy="400110"/>
          </a:xfrm>
          <a:prstGeom prst="rect">
            <a:avLst/>
          </a:prstGeom>
          <a:noFill/>
        </p:spPr>
        <p:txBody>
          <a:bodyPr wrap="square">
            <a:spAutoFit/>
          </a:bodyPr>
          <a:lstStyle/>
          <a:p>
            <a:r>
              <a:rPr lang="zh-CN" altLang="en-US" sz="2000" b="1" dirty="0">
                <a:solidFill>
                  <a:schemeClr val="tx1"/>
                </a:solidFill>
                <a:latin typeface="FangSong_GB2312" panose="02010609030101010101" pitchFamily="49" charset="-122"/>
                <a:ea typeface="FangSong_GB2312" panose="02010609030101010101" pitchFamily="49" charset="-122"/>
              </a:rPr>
              <a:t>研究三：信息凸显性</a:t>
            </a:r>
          </a:p>
        </p:txBody>
      </p:sp>
      <p:sp>
        <p:nvSpPr>
          <p:cNvPr id="33" name="文本框 1053">
            <a:extLst>
              <a:ext uri="{FF2B5EF4-FFF2-40B4-BE49-F238E27FC236}">
                <a16:creationId xmlns:a16="http://schemas.microsoft.com/office/drawing/2014/main" id="{B0F30C9B-3165-D931-AAF5-C4AE4295509D}"/>
              </a:ext>
            </a:extLst>
          </p:cNvPr>
          <p:cNvSpPr txBox="1"/>
          <p:nvPr/>
        </p:nvSpPr>
        <p:spPr>
          <a:xfrm>
            <a:off x="494719" y="1569891"/>
            <a:ext cx="5736965" cy="246221"/>
          </a:xfrm>
          <a:prstGeom prst="rect">
            <a:avLst/>
          </a:prstGeom>
          <a:solidFill>
            <a:schemeClr val="bg1"/>
          </a:solidFill>
        </p:spPr>
        <p:txBody>
          <a:bodyPr wrap="square" lIns="0" tIns="0" rIns="0" bIns="0" rtlCol="0">
            <a:spAutoFit/>
          </a:bodyPr>
          <a:lstStyle/>
          <a:p>
            <a:r>
              <a:rPr lang="en-US" altLang="zh-CN" sz="1600" b="1" dirty="0">
                <a:latin typeface="Times New Roman" panose="02020603050405020304" pitchFamily="18" charset="0"/>
                <a:ea typeface="FangSong_GB2312" panose="02010609030101010101" pitchFamily="49" charset="-122"/>
                <a:cs typeface="Times New Roman" panose="02020603050405020304" pitchFamily="18" charset="0"/>
              </a:rPr>
              <a:t>Keles</a:t>
            </a:r>
            <a:r>
              <a:rPr lang="zh-CN" altLang="en-US" sz="1600" b="1" dirty="0">
                <a:latin typeface="FangSong_GB2312" panose="02010609030101010101" pitchFamily="49" charset="-122"/>
                <a:ea typeface="FangSong_GB2312" panose="02010609030101010101" pitchFamily="49" charset="-122"/>
                <a:cs typeface="Times New Roman" panose="02020603050405020304" pitchFamily="18" charset="0"/>
              </a:rPr>
              <a:t>数据集（</a:t>
            </a:r>
            <a:r>
              <a:rPr lang="en-US" altLang="zh-CN" sz="1600" b="1" dirty="0">
                <a:latin typeface="Times New Roman" panose="02020603050405020304" pitchFamily="18" charset="0"/>
                <a:ea typeface="FangSong_GB2312" panose="02010609030101010101" pitchFamily="49" charset="-122"/>
                <a:cs typeface="Times New Roman" panose="02020603050405020304" pitchFamily="18" charset="0"/>
              </a:rPr>
              <a:t>N=16</a:t>
            </a:r>
            <a:r>
              <a:rPr lang="zh-CN" altLang="en-US" sz="1600" b="1" dirty="0">
                <a:latin typeface="Times New Roman" panose="02020603050405020304" pitchFamily="18" charset="0"/>
                <a:ea typeface="FangSong_GB2312" panose="02010609030101010101" pitchFamily="49" charset="-122"/>
                <a:cs typeface="Times New Roman" panose="02020603050405020304" pitchFamily="18" charset="0"/>
              </a:rPr>
              <a:t>，</a:t>
            </a:r>
            <a:r>
              <a:rPr lang="en-US" altLang="zh-CN" sz="1600" b="1" dirty="0">
                <a:latin typeface="Times New Roman" panose="02020603050405020304" pitchFamily="18" charset="0"/>
                <a:ea typeface="FangSong_GB2312" panose="02010609030101010101" pitchFamily="49" charset="-122"/>
                <a:cs typeface="Times New Roman" panose="02020603050405020304" pitchFamily="18" charset="0"/>
              </a:rPr>
              <a:t>session=27</a:t>
            </a:r>
            <a:r>
              <a:rPr lang="zh-CN" altLang="en-US" sz="1600" b="1" dirty="0">
                <a:latin typeface="FangSong_GB2312" panose="02010609030101010101" pitchFamily="49" charset="-122"/>
                <a:ea typeface="FangSong_GB2312" panose="02010609030101010101" pitchFamily="49" charset="-122"/>
                <a:cs typeface="Times New Roman" panose="02020603050405020304" pitchFamily="18" charset="0"/>
              </a:rPr>
              <a:t>）（</a:t>
            </a:r>
            <a:r>
              <a:rPr lang="en-US" altLang="zh-CN" sz="1600" b="1" dirty="0">
                <a:latin typeface="Times New Roman" panose="02020603050405020304" pitchFamily="18" charset="0"/>
                <a:ea typeface="FangSong_GB2312" panose="02010609030101010101" pitchFamily="49" charset="-122"/>
                <a:cs typeface="Times New Roman" panose="02020603050405020304" pitchFamily="18" charset="0"/>
              </a:rPr>
              <a:t>Keles</a:t>
            </a:r>
            <a:r>
              <a:rPr lang="zh-CN" altLang="en-US" sz="1600" b="1" dirty="0">
                <a:latin typeface="Times New Roman" panose="02020603050405020304" pitchFamily="18" charset="0"/>
                <a:ea typeface="FangSong_GB2312" panose="02010609030101010101" pitchFamily="49" charset="-122"/>
                <a:cs typeface="Times New Roman" panose="02020603050405020304" pitchFamily="18" charset="0"/>
              </a:rPr>
              <a:t> </a:t>
            </a:r>
            <a:r>
              <a:rPr lang="en-US" altLang="zh-CN" sz="1600" b="1" dirty="0">
                <a:latin typeface="Times New Roman" panose="02020603050405020304" pitchFamily="18" charset="0"/>
                <a:ea typeface="FangSong_GB2312" panose="02010609030101010101" pitchFamily="49" charset="-122"/>
                <a:cs typeface="Times New Roman" panose="02020603050405020304" pitchFamily="18" charset="0"/>
              </a:rPr>
              <a:t>et</a:t>
            </a:r>
            <a:r>
              <a:rPr lang="zh-CN" altLang="en-US" sz="1600" b="1" dirty="0">
                <a:latin typeface="Times New Roman" panose="02020603050405020304" pitchFamily="18" charset="0"/>
                <a:ea typeface="FangSong_GB2312" panose="02010609030101010101" pitchFamily="49" charset="-122"/>
                <a:cs typeface="Times New Roman" panose="02020603050405020304" pitchFamily="18" charset="0"/>
              </a:rPr>
              <a:t> </a:t>
            </a:r>
            <a:r>
              <a:rPr lang="en-US" altLang="zh-CN" sz="1600" b="1" dirty="0">
                <a:latin typeface="Times New Roman" panose="02020603050405020304" pitchFamily="18" charset="0"/>
                <a:ea typeface="FangSong_GB2312" panose="02010609030101010101" pitchFamily="49" charset="-122"/>
                <a:cs typeface="Times New Roman" panose="02020603050405020304" pitchFamily="18" charset="0"/>
              </a:rPr>
              <a:t>al., 2024</a:t>
            </a:r>
            <a:r>
              <a:rPr lang="zh-CN" altLang="en-US" sz="1600" b="1" dirty="0">
                <a:latin typeface="FangSong_GB2312" panose="02010609030101010101" pitchFamily="49" charset="-122"/>
                <a:ea typeface="FangSong_GB2312" panose="02010609030101010101" pitchFamily="49" charset="-122"/>
                <a:cs typeface="Times New Roman" panose="02020603050405020304" pitchFamily="18" charset="0"/>
              </a:rPr>
              <a:t>）</a:t>
            </a:r>
          </a:p>
        </p:txBody>
      </p:sp>
      <p:sp>
        <p:nvSpPr>
          <p:cNvPr id="40" name="文本框 78">
            <a:extLst>
              <a:ext uri="{FF2B5EF4-FFF2-40B4-BE49-F238E27FC236}">
                <a16:creationId xmlns:a16="http://schemas.microsoft.com/office/drawing/2014/main" id="{72B77955-7307-D7F4-0EC8-280917872E11}"/>
              </a:ext>
            </a:extLst>
          </p:cNvPr>
          <p:cNvSpPr txBox="1"/>
          <p:nvPr/>
        </p:nvSpPr>
        <p:spPr>
          <a:xfrm>
            <a:off x="4876576" y="3886165"/>
            <a:ext cx="2736340" cy="307777"/>
          </a:xfrm>
          <a:prstGeom prst="rect">
            <a:avLst/>
          </a:prstGeom>
          <a:noFill/>
        </p:spPr>
        <p:txBody>
          <a:bodyPr wrap="square">
            <a:spAutoFit/>
          </a:bodyPr>
          <a:lstStyle/>
          <a:p>
            <a:pPr algn="ctr"/>
            <a:r>
              <a:rPr lang="zh-CN" altLang="en-CN" sz="1400" dirty="0">
                <a:latin typeface="Times New Roman" panose="02020603050405020304" pitchFamily="18" charset="0"/>
                <a:ea typeface="FangSong_GB2312" panose="02010609030101010101" pitchFamily="49" charset="-122"/>
                <a:cs typeface="Microsoft GothicNeo" panose="020B0500000101010101" pitchFamily="34" charset="-127"/>
              </a:rPr>
              <a:t>共</a:t>
            </a:r>
            <a:r>
              <a:rPr lang="en-US" altLang="zh-CN" sz="1400" dirty="0">
                <a:latin typeface="Times New Roman" panose="02020603050405020304" pitchFamily="18" charset="0"/>
                <a:ea typeface="FangSong_GB2312" panose="02010609030101010101" pitchFamily="49" charset="-122"/>
                <a:cs typeface="Microsoft GothicNeo" panose="020B0500000101010101" pitchFamily="34" charset="-127"/>
              </a:rPr>
              <a:t>13</a:t>
            </a:r>
            <a:r>
              <a:rPr lang="zh-CN" altLang="en-US" sz="1400" dirty="0">
                <a:latin typeface="Times New Roman" panose="02020603050405020304" pitchFamily="18" charset="0"/>
                <a:ea typeface="FangSong_GB2312" panose="02010609030101010101" pitchFamily="49" charset="-122"/>
                <a:cs typeface="Microsoft GothicNeo" panose="020B0500000101010101" pitchFamily="34" charset="-127"/>
              </a:rPr>
              <a:t>个场景，</a:t>
            </a:r>
            <a:r>
              <a:rPr lang="en-US" altLang="zh-CN" sz="1400" dirty="0">
                <a:latin typeface="Times New Roman" panose="02020603050405020304" pitchFamily="18" charset="0"/>
                <a:ea typeface="FangSong_GB2312" panose="02010609030101010101" pitchFamily="49" charset="-122"/>
                <a:cs typeface="Microsoft GothicNeo" panose="020B0500000101010101" pitchFamily="34" charset="-127"/>
              </a:rPr>
              <a:t>80</a:t>
            </a:r>
            <a:r>
              <a:rPr lang="zh-CN" altLang="en-US" sz="1400" dirty="0">
                <a:latin typeface="Times New Roman" panose="02020603050405020304" pitchFamily="18" charset="0"/>
                <a:ea typeface="FangSong_GB2312" panose="02010609030101010101" pitchFamily="49" charset="-122"/>
                <a:cs typeface="Microsoft GothicNeo" panose="020B0500000101010101" pitchFamily="34" charset="-127"/>
              </a:rPr>
              <a:t>个切片，</a:t>
            </a:r>
            <a:r>
              <a:rPr lang="en-US" altLang="zh-CN" sz="1400" dirty="0">
                <a:latin typeface="Times New Roman" panose="02020603050405020304" pitchFamily="18" charset="0"/>
                <a:ea typeface="FangSong_GB2312" panose="02010609030101010101" pitchFamily="49" charset="-122"/>
                <a:cs typeface="Microsoft GothicNeo" panose="020B0500000101010101" pitchFamily="34" charset="-127"/>
              </a:rPr>
              <a:t>8min</a:t>
            </a:r>
          </a:p>
        </p:txBody>
      </p:sp>
      <p:sp>
        <p:nvSpPr>
          <p:cNvPr id="41" name="TextBox 40">
            <a:extLst>
              <a:ext uri="{FF2B5EF4-FFF2-40B4-BE49-F238E27FC236}">
                <a16:creationId xmlns:a16="http://schemas.microsoft.com/office/drawing/2014/main" id="{E40EE9DC-7393-E5C0-7996-855ED4134A27}"/>
              </a:ext>
            </a:extLst>
          </p:cNvPr>
          <p:cNvSpPr txBox="1"/>
          <p:nvPr/>
        </p:nvSpPr>
        <p:spPr>
          <a:xfrm>
            <a:off x="247113" y="1950302"/>
            <a:ext cx="9621024" cy="338554"/>
          </a:xfrm>
          <a:prstGeom prst="rect">
            <a:avLst/>
          </a:prstGeom>
          <a:noFill/>
        </p:spPr>
        <p:txBody>
          <a:bodyPr wrap="square">
            <a:spAutoFit/>
          </a:bodyPr>
          <a:lstStyle/>
          <a:p>
            <a:pPr indent="457200"/>
            <a:r>
              <a:rPr lang="zh-CN" altLang="en-US" sz="1600" dirty="0">
                <a:latin typeface="FangSong_GB2312" panose="02010609030101010101" pitchFamily="49" charset="-122"/>
                <a:ea typeface="FangSong_GB2312" panose="02010609030101010101" pitchFamily="49" charset="-122"/>
                <a:cs typeface="Microsoft GothicNeo" panose="020B0500000101010101" pitchFamily="34" charset="-127"/>
              </a:rPr>
              <a:t>连续观看希区柯克导演的黑白电影</a:t>
            </a:r>
            <a:r>
              <a:rPr lang="en-US" sz="1600" i="1" dirty="0">
                <a:latin typeface="Times New Roman" panose="02020603050405020304" pitchFamily="18" charset="0"/>
                <a:ea typeface="FangSong_GB2312" panose="02010609030101010101" pitchFamily="49" charset="-122"/>
                <a:cs typeface="Times New Roman" panose="02020603050405020304" pitchFamily="18" charset="0"/>
              </a:rPr>
              <a:t>Bang! You‘re Dead</a:t>
            </a:r>
            <a:r>
              <a:rPr lang="zh-CN" altLang="en-US" sz="1600" dirty="0">
                <a:latin typeface="FangSong_GB2312" panose="02010609030101010101" pitchFamily="49" charset="-122"/>
                <a:ea typeface="FangSong_GB2312" panose="02010609030101010101" pitchFamily="49" charset="-122"/>
                <a:cs typeface="Microsoft GothicNeo" panose="020B0500000101010101" pitchFamily="34" charset="-127"/>
              </a:rPr>
              <a:t>，将原始</a:t>
            </a:r>
            <a:r>
              <a:rPr lang="en-US" altLang="zh-CN" sz="1600" dirty="0">
                <a:latin typeface="Times New Roman" panose="02020603050405020304" pitchFamily="18" charset="0"/>
                <a:ea typeface="FangSong_GB2312" panose="02010609030101010101" pitchFamily="49" charset="-122"/>
                <a:cs typeface="Times New Roman" panose="02020603050405020304" pitchFamily="18" charset="0"/>
              </a:rPr>
              <a:t>30</a:t>
            </a:r>
            <a:r>
              <a:rPr lang="zh-CN" altLang="en-US" sz="1600" dirty="0">
                <a:latin typeface="FangSong_GB2312" panose="02010609030101010101" pitchFamily="49" charset="-122"/>
                <a:ea typeface="FangSong_GB2312" panose="02010609030101010101" pitchFamily="49" charset="-122"/>
                <a:cs typeface="Microsoft GothicNeo" panose="020B0500000101010101" pitchFamily="34" charset="-127"/>
              </a:rPr>
              <a:t>分钟的内容剪辑为</a:t>
            </a:r>
            <a:r>
              <a:rPr lang="en-US" altLang="zh-CN" sz="1600" dirty="0">
                <a:latin typeface="Times New Roman" panose="02020603050405020304" pitchFamily="18" charset="0"/>
                <a:ea typeface="FangSong_GB2312" panose="02010609030101010101" pitchFamily="49" charset="-122"/>
                <a:cs typeface="Times New Roman" panose="02020603050405020304" pitchFamily="18" charset="0"/>
              </a:rPr>
              <a:t>8</a:t>
            </a:r>
            <a:r>
              <a:rPr lang="zh-CN" altLang="en-US" sz="1600" dirty="0">
                <a:latin typeface="FangSong_GB2312" panose="02010609030101010101" pitchFamily="49" charset="-122"/>
                <a:ea typeface="FangSong_GB2312" panose="02010609030101010101" pitchFamily="49" charset="-122"/>
                <a:cs typeface="Microsoft GothicNeo" panose="020B0500000101010101" pitchFamily="34" charset="-127"/>
              </a:rPr>
              <a:t>分钟。</a:t>
            </a:r>
            <a:endParaRPr lang="en-CN" sz="1600" dirty="0">
              <a:latin typeface="FangSong_GB2312" panose="02010609030101010101" pitchFamily="49" charset="-122"/>
              <a:ea typeface="FangSong_GB2312" panose="02010609030101010101" pitchFamily="49" charset="-122"/>
              <a:cs typeface="Microsoft GothicNeo" panose="020B0500000101010101" pitchFamily="34" charset="-127"/>
            </a:endParaRPr>
          </a:p>
        </p:txBody>
      </p:sp>
      <p:pic>
        <p:nvPicPr>
          <p:cNvPr id="42" name="Picture 41">
            <a:extLst>
              <a:ext uri="{FF2B5EF4-FFF2-40B4-BE49-F238E27FC236}">
                <a16:creationId xmlns:a16="http://schemas.microsoft.com/office/drawing/2014/main" id="{AC1BF542-EF93-91F4-687C-5E8EAC0D1B08}"/>
              </a:ext>
            </a:extLst>
          </p:cNvPr>
          <p:cNvPicPr/>
          <p:nvPr/>
        </p:nvPicPr>
        <p:blipFill>
          <a:blip r:embed="rId3" cstate="print">
            <a:extLst>
              <a:ext uri="{28A0092B-C50C-407E-A947-70E740481C1C}">
                <a14:useLocalDpi xmlns:a14="http://schemas.microsoft.com/office/drawing/2010/main" val="0"/>
              </a:ext>
            </a:extLst>
          </a:blip>
          <a:srcRect t="16154" b="12689"/>
          <a:stretch>
            <a:fillRect/>
          </a:stretch>
        </p:blipFill>
        <p:spPr>
          <a:xfrm>
            <a:off x="758896" y="2363751"/>
            <a:ext cx="10949398" cy="1545593"/>
          </a:xfrm>
          <a:prstGeom prst="rect">
            <a:avLst/>
          </a:prstGeom>
          <a:noFill/>
          <a:ln>
            <a:noFill/>
          </a:ln>
        </p:spPr>
      </p:pic>
      <p:sp>
        <p:nvSpPr>
          <p:cNvPr id="4" name="TextBox 3">
            <a:extLst>
              <a:ext uri="{FF2B5EF4-FFF2-40B4-BE49-F238E27FC236}">
                <a16:creationId xmlns:a16="http://schemas.microsoft.com/office/drawing/2014/main" id="{93F17F15-7029-47E3-0F4C-0256B9DFADCD}"/>
              </a:ext>
            </a:extLst>
          </p:cNvPr>
          <p:cNvSpPr txBox="1"/>
          <p:nvPr/>
        </p:nvSpPr>
        <p:spPr>
          <a:xfrm>
            <a:off x="758896" y="4701225"/>
            <a:ext cx="8920681" cy="858377"/>
          </a:xfrm>
          <a:prstGeom prst="rect">
            <a:avLst/>
          </a:prstGeom>
          <a:noFill/>
        </p:spPr>
        <p:txBody>
          <a:bodyPr wrap="square">
            <a:spAutoFit/>
          </a:bodyPr>
          <a:lstStyle/>
          <a:p>
            <a:pPr indent="-1620000" algn="just">
              <a:lnSpc>
                <a:spcPct val="150000"/>
              </a:lnSpc>
            </a:pPr>
            <a:r>
              <a:rPr lang="en-CN" sz="1800" b="1" dirty="0">
                <a:latin typeface="FangSong_GB2312" panose="02010609030101010101" pitchFamily="49" charset="-122"/>
                <a:ea typeface="FangSong_GB2312" panose="02010609030101010101" pitchFamily="49" charset="-122"/>
                <a:cs typeface="Microsoft GothicNeo" panose="020B0500000101010101" pitchFamily="34" charset="-127"/>
              </a:rPr>
              <a:t>凸显性</a:t>
            </a:r>
            <a:r>
              <a:rPr lang="zh-CN" altLang="en-US" sz="1800" b="1" dirty="0">
                <a:latin typeface="FangSong_GB2312" panose="02010609030101010101" pitchFamily="49" charset="-122"/>
                <a:ea typeface="FangSong_GB2312" panose="02010609030101010101" pitchFamily="49" charset="-122"/>
                <a:cs typeface="Microsoft GothicNeo" panose="020B0500000101010101" pitchFamily="34" charset="-127"/>
              </a:rPr>
              <a:t>：</a:t>
            </a:r>
            <a:r>
              <a:rPr lang="zh-CN" altLang="en-US" sz="1800" dirty="0">
                <a:latin typeface="FangSong_GB2312" panose="02010609030101010101" pitchFamily="49" charset="-122"/>
                <a:ea typeface="FangSong_GB2312" panose="02010609030101010101" pitchFamily="49" charset="-122"/>
                <a:cs typeface="Microsoft GothicNeo" panose="020B0500000101010101" pitchFamily="34" charset="-127"/>
              </a:rPr>
              <a:t>刺激因其强度、新异性、情绪意义或任务相关性而从背景信息中突显出来，并</a:t>
            </a:r>
            <a:r>
              <a:rPr lang="en-US" altLang="zh-CN" sz="1800" dirty="0">
                <a:latin typeface="FangSong_GB2312" panose="02010609030101010101" pitchFamily="49" charset="-122"/>
                <a:ea typeface="FangSong_GB2312" panose="02010609030101010101" pitchFamily="49" charset="-122"/>
                <a:cs typeface="Microsoft GothicNeo" panose="020B0500000101010101" pitchFamily="34" charset="-127"/>
              </a:rPr>
              <a:t>		</a:t>
            </a:r>
            <a:r>
              <a:rPr lang="zh-CN" altLang="en-US" sz="1800" dirty="0">
                <a:latin typeface="FangSong_GB2312" panose="02010609030101010101" pitchFamily="49" charset="-122"/>
                <a:ea typeface="FangSong_GB2312" panose="02010609030101010101" pitchFamily="49" charset="-122"/>
                <a:cs typeface="Microsoft GothicNeo" panose="020B0500000101010101" pitchFamily="34" charset="-127"/>
              </a:rPr>
              <a:t>优先捕获注意和引发神经加工的特性</a:t>
            </a:r>
            <a:endParaRPr lang="en-CN" sz="1800" dirty="0">
              <a:latin typeface="FangSong_GB2312" panose="02010609030101010101" pitchFamily="49" charset="-122"/>
              <a:ea typeface="FangSong_GB2312" panose="02010609030101010101" pitchFamily="49" charset="-122"/>
              <a:cs typeface="Microsoft GothicNeo" panose="020B0500000101010101" pitchFamily="34" charset="-127"/>
            </a:endParaRPr>
          </a:p>
        </p:txBody>
      </p:sp>
    </p:spTree>
    <p:extLst>
      <p:ext uri="{BB962C8B-B14F-4D97-AF65-F5344CB8AC3E}">
        <p14:creationId xmlns:p14="http://schemas.microsoft.com/office/powerpoint/2010/main" val="3135568212"/>
      </p:ext>
    </p:extLst>
  </p:cSld>
  <p:clrMapOvr>
    <a:masterClrMapping/>
  </p:clrMapOvr>
  <mc:AlternateContent xmlns:mc="http://schemas.openxmlformats.org/markup-compatibility/2006" xmlns:p14="http://schemas.microsoft.com/office/powerpoint/2010/main">
    <mc:Choice Requires="p14">
      <p:transition spd="slow" p14:dur="2000" advTm="66649"/>
    </mc:Choice>
    <mc:Fallback xmlns="">
      <p:transition spd="slow" advTm="6664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43B7B-AEB5-0969-115F-788D116F5FC5}"/>
            </a:ext>
          </a:extLst>
        </p:cNvPr>
        <p:cNvGrpSpPr/>
        <p:nvPr/>
      </p:nvGrpSpPr>
      <p:grpSpPr>
        <a:xfrm>
          <a:off x="0" y="0"/>
          <a:ext cx="0" cy="0"/>
          <a:chOff x="0" y="0"/>
          <a:chExt cx="0" cy="0"/>
        </a:xfrm>
      </p:grpSpPr>
      <p:sp>
        <p:nvSpPr>
          <p:cNvPr id="17" name="文本框 16">
            <a:extLst>
              <a:ext uri="{FF2B5EF4-FFF2-40B4-BE49-F238E27FC236}">
                <a16:creationId xmlns:a16="http://schemas.microsoft.com/office/drawing/2014/main" id="{CE8C1783-B193-E448-ABC2-7FDFC0838E21}"/>
              </a:ext>
            </a:extLst>
          </p:cNvPr>
          <p:cNvSpPr txBox="1"/>
          <p:nvPr/>
        </p:nvSpPr>
        <p:spPr>
          <a:xfrm>
            <a:off x="1205171" y="395675"/>
            <a:ext cx="2113358" cy="307777"/>
          </a:xfrm>
          <a:prstGeom prst="rect">
            <a:avLst/>
          </a:prstGeom>
          <a:solidFill>
            <a:schemeClr val="bg1"/>
          </a:solid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defRPr/>
            </a:pPr>
            <a:endParaRPr kumimoji="0" lang="zh-CN" altLang="en-US" sz="1400" b="1" i="0" u="none" strike="noStrike" kern="1200" cap="none" spc="300" normalizeH="0" noProof="0" dirty="0">
              <a:ln>
                <a:noFill/>
              </a:ln>
              <a:solidFill>
                <a:prstClr val="black"/>
              </a:solidFill>
              <a:effectLst/>
              <a:uLnTx/>
              <a:uFillTx/>
              <a:latin typeface="FangSong_GB2312" panose="02010609030101010101" pitchFamily="49" charset="-122"/>
              <a:ea typeface="FangSong_GB2312" panose="02010609030101010101" pitchFamily="49" charset="-122"/>
            </a:endParaRPr>
          </a:p>
        </p:txBody>
      </p:sp>
      <p:sp>
        <p:nvSpPr>
          <p:cNvPr id="19" name="文本框 18">
            <a:extLst>
              <a:ext uri="{FF2B5EF4-FFF2-40B4-BE49-F238E27FC236}">
                <a16:creationId xmlns:a16="http://schemas.microsoft.com/office/drawing/2014/main" id="{F9E43BFA-05C6-86EB-1D32-0EA2B693197E}"/>
              </a:ext>
            </a:extLst>
          </p:cNvPr>
          <p:cNvSpPr txBox="1"/>
          <p:nvPr/>
        </p:nvSpPr>
        <p:spPr>
          <a:xfrm>
            <a:off x="358346" y="288442"/>
            <a:ext cx="720000" cy="523220"/>
          </a:xfrm>
          <a:prstGeom prst="rect">
            <a:avLst/>
          </a:prstGeom>
          <a:noFill/>
        </p:spPr>
        <p:txBody>
          <a:bodyPr wrap="square" rtlCol="0">
            <a:spAutoFit/>
          </a:bodyPr>
          <a:lstStyle/>
          <a:p>
            <a:pPr algn="ctr"/>
            <a:r>
              <a:rPr lang="en-US" altLang="zh-CN"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04</a:t>
            </a:r>
            <a:endParaRPr lang="zh-CN" altLang="en-US"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TextBox 2">
            <a:extLst>
              <a:ext uri="{FF2B5EF4-FFF2-40B4-BE49-F238E27FC236}">
                <a16:creationId xmlns:a16="http://schemas.microsoft.com/office/drawing/2014/main" id="{E35CFBA4-10FD-285C-022E-3060F68008ED}"/>
              </a:ext>
            </a:extLst>
          </p:cNvPr>
          <p:cNvSpPr txBox="1"/>
          <p:nvPr/>
        </p:nvSpPr>
        <p:spPr>
          <a:xfrm>
            <a:off x="1215059" y="354359"/>
            <a:ext cx="2113357" cy="400110"/>
          </a:xfrm>
          <a:prstGeom prst="rect">
            <a:avLst/>
          </a:prstGeom>
          <a:noFill/>
        </p:spPr>
        <p:txBody>
          <a:bodyPr wrap="square">
            <a:spAutoFit/>
          </a:bodyPr>
          <a:lstStyle/>
          <a:p>
            <a:r>
              <a:rPr lang="zh-CN" altLang="en-US" sz="2000" b="1" dirty="0">
                <a:solidFill>
                  <a:schemeClr val="tx1"/>
                </a:solidFill>
                <a:latin typeface="FangSong_GB2312" panose="02010609030101010101" pitchFamily="49" charset="-122"/>
                <a:ea typeface="FangSong_GB2312" panose="02010609030101010101" pitchFamily="49" charset="-122"/>
              </a:rPr>
              <a:t>研究三</a:t>
            </a:r>
            <a:r>
              <a:rPr lang="zh-CN" altLang="en-CN" sz="2000" b="1" dirty="0">
                <a:solidFill>
                  <a:schemeClr val="tx1"/>
                </a:solidFill>
                <a:latin typeface="FangSong_GB2312" panose="02010609030101010101" pitchFamily="49" charset="-122"/>
                <a:ea typeface="FangSong_GB2312" panose="02010609030101010101" pitchFamily="49" charset="-122"/>
              </a:rPr>
              <a:t>数据分析</a:t>
            </a:r>
            <a:endParaRPr lang="zh-CN" altLang="en-US" sz="2000" b="1" dirty="0">
              <a:solidFill>
                <a:schemeClr val="tx1"/>
              </a:solidFill>
              <a:latin typeface="FangSong_GB2312" panose="02010609030101010101" pitchFamily="49" charset="-122"/>
              <a:ea typeface="FangSong_GB2312" panose="02010609030101010101" pitchFamily="49" charset="-122"/>
            </a:endParaRPr>
          </a:p>
        </p:txBody>
      </p:sp>
      <mc:AlternateContent xmlns:mc="http://schemas.openxmlformats.org/markup-compatibility/2006" xmlns:a14="http://schemas.microsoft.com/office/drawing/2010/main">
        <mc:Choice Requires="a14">
          <p:sp>
            <p:nvSpPr>
              <p:cNvPr id="4" name="文本框 47">
                <a:extLst>
                  <a:ext uri="{FF2B5EF4-FFF2-40B4-BE49-F238E27FC236}">
                    <a16:creationId xmlns:a16="http://schemas.microsoft.com/office/drawing/2014/main" id="{DB8119B1-9515-0651-65BD-717050752C2E}"/>
                  </a:ext>
                </a:extLst>
              </p:cNvPr>
              <p:cNvSpPr txBox="1"/>
              <p:nvPr/>
            </p:nvSpPr>
            <p:spPr>
              <a:xfrm>
                <a:off x="718346" y="1566882"/>
                <a:ext cx="6689612" cy="1921423"/>
              </a:xfrm>
              <a:prstGeom prst="rect">
                <a:avLst/>
              </a:prstGeom>
              <a:noFill/>
            </p:spPr>
            <p:txBody>
              <a:bodyPr wrap="square">
                <a:spAutoFit/>
              </a:bodyPr>
              <a:lstStyle/>
              <a:p>
                <a:pPr algn="just">
                  <a:lnSpc>
                    <a:spcPct val="150000"/>
                  </a:lnSpc>
                </a:pP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在杏仁核和海马电极之间计算不同频段的</a:t>
                </a:r>
                <a:r>
                  <a:rPr lang="zh-CN" altLang="en-US" sz="1600" b="1" dirty="0">
                    <a:latin typeface="Times New Roman" panose="02020603050405020304" pitchFamily="18" charset="0"/>
                    <a:ea typeface="FangSong_GB2312" panose="02010609030101010101" pitchFamily="49" charset="-122"/>
                    <a:cs typeface="Microsoft GothicNeo" panose="020B0500000101010101" pitchFamily="34" charset="-127"/>
                  </a:rPr>
                  <a:t>功能连接强度</a:t>
                </a:r>
                <a:endParaRPr lang="en-US" altLang="zh-CN" sz="1600" b="1" dirty="0">
                  <a:latin typeface="Times New Roman" panose="02020603050405020304" pitchFamily="18" charset="0"/>
                  <a:ea typeface="FangSong_GB2312" panose="02010609030101010101" pitchFamily="49" charset="-122"/>
                  <a:cs typeface="Microsoft GothicNeo" panose="020B0500000101010101" pitchFamily="34" charset="-127"/>
                </a:endParaRPr>
              </a:p>
              <a:p>
                <a:pPr algn="just">
                  <a:lnSpc>
                    <a:spcPct val="150000"/>
                  </a:lnSpc>
                </a:pP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使用谱格兰杰因果分析（</a:t>
                </a: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sGC</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）估计两个脑区之间的</a:t>
                </a:r>
                <a:r>
                  <a:rPr lang="zh-CN" altLang="en-US" sz="1600" b="1" dirty="0">
                    <a:latin typeface="Times New Roman" panose="02020603050405020304" pitchFamily="18" charset="0"/>
                    <a:ea typeface="FangSong_GB2312" panose="02010609030101010101" pitchFamily="49" charset="-122"/>
                    <a:cs typeface="Microsoft GothicNeo" panose="020B0500000101010101" pitchFamily="34" charset="-127"/>
                  </a:rPr>
                  <a:t>方向性信息流</a:t>
                </a:r>
                <a:endParaRPr lang="en-US" altLang="zh-CN" sz="1600" b="1" dirty="0">
                  <a:latin typeface="Times New Roman" panose="02020603050405020304" pitchFamily="18" charset="0"/>
                  <a:ea typeface="FangSong_GB2312" panose="02010609030101010101" pitchFamily="49" charset="-122"/>
                  <a:cs typeface="Microsoft GothicNeo" panose="020B0500000101010101" pitchFamily="34" charset="-127"/>
                </a:endParaRPr>
              </a:p>
              <a:p>
                <a:pPr algn="just">
                  <a:lnSpc>
                    <a:spcPct val="150000"/>
                  </a:lnSpc>
                </a:pPr>
                <a:r>
                  <a:rPr lang="zh-CN" altLang="en-US" sz="1600" kern="100" dirty="0">
                    <a:latin typeface="Times New Roman" panose="02020603050405020304" pitchFamily="18" charset="0"/>
                    <a:ea typeface="FangSong_GB2312" panose="02010609030101010101" pitchFamily="49" charset="-122"/>
                  </a:rPr>
                  <a:t>右式中</a:t>
                </a:r>
                <a14:m>
                  <m:oMath xmlns:m="http://schemas.openxmlformats.org/officeDocument/2006/math">
                    <m:sSub>
                      <m:sSubPr>
                        <m:ctrlPr>
                          <a:rPr lang="en-CN" sz="1600" i="1" kern="100">
                            <a:latin typeface="Cambria Math" panose="02040503050406030204" pitchFamily="18" charset="0"/>
                            <a:ea typeface="FangSong_GB2312" panose="02010609030101010101" pitchFamily="49" charset="-122"/>
                          </a:rPr>
                        </m:ctrlPr>
                      </m:sSubPr>
                      <m:e>
                        <m:r>
                          <a:rPr lang="en-CN" sz="1600" i="1" kern="100">
                            <a:latin typeface="Cambria Math" panose="02040503050406030204" pitchFamily="18" charset="0"/>
                            <a:ea typeface="FangSong_GB2312" panose="02010609030101010101" pitchFamily="49" charset="-122"/>
                          </a:rPr>
                          <m:t>𝑆</m:t>
                        </m:r>
                      </m:e>
                      <m:sub>
                        <m:r>
                          <a:rPr lang="en-CN" sz="1600" i="1" kern="100">
                            <a:latin typeface="Cambria Math" panose="02040503050406030204" pitchFamily="18" charset="0"/>
                            <a:ea typeface="FangSong_GB2312" panose="02010609030101010101" pitchFamily="49" charset="-122"/>
                          </a:rPr>
                          <m:t>𝑥𝑦</m:t>
                        </m:r>
                      </m:sub>
                    </m:sSub>
                    <m:d>
                      <m:dPr>
                        <m:ctrlPr>
                          <a:rPr lang="en-CN" sz="1600" i="1" kern="100">
                            <a:latin typeface="Cambria Math" panose="02040503050406030204" pitchFamily="18" charset="0"/>
                            <a:ea typeface="FangSong_GB2312" panose="02010609030101010101" pitchFamily="49" charset="-122"/>
                          </a:rPr>
                        </m:ctrlPr>
                      </m:dPr>
                      <m:e>
                        <m:r>
                          <a:rPr lang="en-CN" sz="1600" i="1" kern="100">
                            <a:latin typeface="Cambria Math" panose="02040503050406030204" pitchFamily="18" charset="0"/>
                            <a:ea typeface="FangSong_GB2312" panose="02010609030101010101" pitchFamily="49" charset="-122"/>
                          </a:rPr>
                          <m:t>𝑓</m:t>
                        </m:r>
                      </m:e>
                    </m:d>
                  </m:oMath>
                </a14:m>
                <a:r>
                  <a:rPr lang="zh-CN" altLang="en-US" sz="1600" kern="100" dirty="0">
                    <a:latin typeface="Times New Roman" panose="02020603050405020304" pitchFamily="18" charset="0"/>
                    <a:ea typeface="FangSong_GB2312" panose="02010609030101010101" pitchFamily="49" charset="-122"/>
                  </a:rPr>
                  <a:t>为交叉谱，</a:t>
                </a:r>
                <a14:m>
                  <m:oMath xmlns:m="http://schemas.openxmlformats.org/officeDocument/2006/math">
                    <m:sSub>
                      <m:sSubPr>
                        <m:ctrlPr>
                          <a:rPr lang="en-CN" sz="1600" i="1" kern="100">
                            <a:latin typeface="Cambria Math" panose="02040503050406030204" pitchFamily="18" charset="0"/>
                            <a:ea typeface="FangSong_GB2312" panose="02010609030101010101" pitchFamily="49" charset="-122"/>
                          </a:rPr>
                        </m:ctrlPr>
                      </m:sSubPr>
                      <m:e>
                        <m:r>
                          <a:rPr lang="en-CN" sz="1600" i="1" kern="100">
                            <a:latin typeface="Cambria Math" panose="02040503050406030204" pitchFamily="18" charset="0"/>
                            <a:ea typeface="FangSong_GB2312" panose="02010609030101010101" pitchFamily="49" charset="-122"/>
                          </a:rPr>
                          <m:t>𝐶</m:t>
                        </m:r>
                      </m:e>
                      <m:sub>
                        <m:r>
                          <a:rPr lang="en-CN" sz="1600" i="1" kern="100">
                            <a:latin typeface="Cambria Math" panose="02040503050406030204" pitchFamily="18" charset="0"/>
                            <a:ea typeface="FangSong_GB2312" panose="02010609030101010101" pitchFamily="49" charset="-122"/>
                          </a:rPr>
                          <m:t>𝑥𝑦</m:t>
                        </m:r>
                      </m:sub>
                    </m:sSub>
                    <m:d>
                      <m:dPr>
                        <m:ctrlPr>
                          <a:rPr lang="en-CN" sz="1600" i="1" kern="100">
                            <a:latin typeface="Cambria Math" panose="02040503050406030204" pitchFamily="18" charset="0"/>
                            <a:ea typeface="FangSong_GB2312" panose="02010609030101010101" pitchFamily="49" charset="-122"/>
                          </a:rPr>
                        </m:ctrlPr>
                      </m:dPr>
                      <m:e>
                        <m:r>
                          <a:rPr lang="en-CN" sz="1600" i="1" kern="100">
                            <a:latin typeface="Cambria Math" panose="02040503050406030204" pitchFamily="18" charset="0"/>
                            <a:ea typeface="FangSong_GB2312" panose="02010609030101010101" pitchFamily="49" charset="-122"/>
                          </a:rPr>
                          <m:t>𝑓</m:t>
                        </m:r>
                      </m:e>
                    </m:d>
                  </m:oMath>
                </a14:m>
                <a:r>
                  <a:rPr lang="zh-CN" altLang="en-US" sz="1600" kern="100" dirty="0">
                    <a:latin typeface="Times New Roman" panose="02020603050405020304" pitchFamily="18" charset="0"/>
                    <a:ea typeface="FangSong_GB2312" panose="02010609030101010101" pitchFamily="49" charset="-122"/>
                  </a:rPr>
                  <a:t>为相干性，</a:t>
                </a:r>
                <a14:m>
                  <m:oMath xmlns:m="http://schemas.openxmlformats.org/officeDocument/2006/math">
                    <m:r>
                      <a:rPr lang="en-CN" sz="1600" i="1" kern="100">
                        <a:latin typeface="Cambria Math" panose="02040503050406030204" pitchFamily="18" charset="0"/>
                        <a:ea typeface="FangSong_GB2312" panose="02010609030101010101" pitchFamily="49" charset="-122"/>
                      </a:rPr>
                      <m:t>𝑝</m:t>
                    </m:r>
                  </m:oMath>
                </a14:m>
                <a:r>
                  <a:rPr lang="zh-CN" altLang="en-US" sz="1600" kern="100" dirty="0">
                    <a:latin typeface="Times New Roman" panose="02020603050405020304" pitchFamily="18" charset="0"/>
                    <a:ea typeface="FangSong_GB2312" panose="02010609030101010101" pitchFamily="49" charset="-122"/>
                  </a:rPr>
                  <a:t>为</a:t>
                </a:r>
                <a:r>
                  <a:rPr lang="en-US" sz="1600" kern="100" dirty="0">
                    <a:latin typeface="Times New Roman" panose="02020603050405020304" pitchFamily="18" charset="0"/>
                    <a:ea typeface="FangSong_GB2312" panose="02010609030101010101" pitchFamily="49" charset="-122"/>
                  </a:rPr>
                  <a:t>MVAR</a:t>
                </a:r>
                <a:r>
                  <a:rPr lang="zh-CN" altLang="en-US" sz="1600" kern="100" dirty="0">
                    <a:latin typeface="Times New Roman" panose="02020603050405020304" pitchFamily="18" charset="0"/>
                    <a:ea typeface="FangSong_GB2312" panose="02010609030101010101" pitchFamily="49" charset="-122"/>
                  </a:rPr>
                  <a:t>模型阶数，</a:t>
                </a:r>
                <a14:m>
                  <m:oMath xmlns:m="http://schemas.openxmlformats.org/officeDocument/2006/math">
                    <m:sSub>
                      <m:sSubPr>
                        <m:ctrlPr>
                          <a:rPr lang="en-CN" sz="1600" i="1" kern="100">
                            <a:latin typeface="Cambria Math" panose="02040503050406030204" pitchFamily="18" charset="0"/>
                            <a:ea typeface="FangSong_GB2312" panose="02010609030101010101" pitchFamily="49" charset="-122"/>
                          </a:rPr>
                        </m:ctrlPr>
                      </m:sSubPr>
                      <m:e>
                        <m:r>
                          <a:rPr lang="en-CN" sz="1600" b="1" i="1" kern="100">
                            <a:latin typeface="Cambria Math" panose="02040503050406030204" pitchFamily="18" charset="0"/>
                            <a:ea typeface="FangSong_GB2312" panose="02010609030101010101" pitchFamily="49" charset="-122"/>
                          </a:rPr>
                          <m:t>𝑨</m:t>
                        </m:r>
                      </m:e>
                      <m:sub>
                        <m:r>
                          <a:rPr lang="en-CN" sz="1600" b="1" i="1" kern="100">
                            <a:latin typeface="Cambria Math" panose="02040503050406030204" pitchFamily="18" charset="0"/>
                            <a:ea typeface="FangSong_GB2312" panose="02010609030101010101" pitchFamily="49" charset="-122"/>
                          </a:rPr>
                          <m:t>𝒌</m:t>
                        </m:r>
                      </m:sub>
                    </m:sSub>
                  </m:oMath>
                </a14:m>
                <a:r>
                  <a:rPr lang="zh-CN" altLang="en-US" sz="1600" kern="100" dirty="0">
                    <a:latin typeface="Times New Roman" panose="02020603050405020304" pitchFamily="18" charset="0"/>
                    <a:ea typeface="FangSong_GB2312" panose="02010609030101010101" pitchFamily="49" charset="-122"/>
                  </a:rPr>
                  <a:t>为自回归系数矩阵，</a:t>
                </a:r>
                <a14:m>
                  <m:oMath xmlns:m="http://schemas.openxmlformats.org/officeDocument/2006/math">
                    <m:r>
                      <a:rPr lang="en-CN" sz="1600" b="1" kern="100">
                        <a:latin typeface="Cambria Math" panose="02040503050406030204" pitchFamily="18" charset="0"/>
                        <a:ea typeface="FangSong_GB2312" panose="02010609030101010101" pitchFamily="49" charset="-122"/>
                      </a:rPr>
                      <m:t>𝚺</m:t>
                    </m:r>
                  </m:oMath>
                </a14:m>
                <a:r>
                  <a:rPr lang="zh-CN" altLang="en-US" sz="1600" kern="100" dirty="0">
                    <a:latin typeface="Times New Roman" panose="02020603050405020304" pitchFamily="18" charset="0"/>
                    <a:ea typeface="FangSong_GB2312" panose="02010609030101010101" pitchFamily="49" charset="-122"/>
                  </a:rPr>
                  <a:t>为残差协方差，</a:t>
                </a:r>
                <a14:m>
                  <m:oMath xmlns:m="http://schemas.openxmlformats.org/officeDocument/2006/math">
                    <m:r>
                      <a:rPr lang="en-CN" sz="1600" i="1" kern="100">
                        <a:latin typeface="Cambria Math" panose="02040503050406030204" pitchFamily="18" charset="0"/>
                        <a:ea typeface="FangSong_GB2312" panose="02010609030101010101" pitchFamily="49" charset="-122"/>
                      </a:rPr>
                      <m:t>𝐷</m:t>
                    </m:r>
                    <m:d>
                      <m:dPr>
                        <m:ctrlPr>
                          <a:rPr lang="en-CN" sz="1600" i="1" kern="100">
                            <a:latin typeface="Cambria Math" panose="02040503050406030204" pitchFamily="18" charset="0"/>
                            <a:ea typeface="FangSong_GB2312" panose="02010609030101010101" pitchFamily="49" charset="-122"/>
                          </a:rPr>
                        </m:ctrlPr>
                      </m:dPr>
                      <m:e>
                        <m:r>
                          <a:rPr lang="en-CN" sz="1600" i="1" kern="100">
                            <a:latin typeface="Cambria Math" panose="02040503050406030204" pitchFamily="18" charset="0"/>
                            <a:ea typeface="FangSong_GB2312" panose="02010609030101010101" pitchFamily="49" charset="-122"/>
                          </a:rPr>
                          <m:t>𝑓</m:t>
                        </m:r>
                      </m:e>
                    </m:d>
                  </m:oMath>
                </a14:m>
                <a:r>
                  <a:rPr lang="zh-CN" altLang="en-US" sz="1600" kern="100" dirty="0">
                    <a:latin typeface="Times New Roman" panose="02020603050405020304" pitchFamily="18" charset="0"/>
                    <a:ea typeface="FangSong_GB2312" panose="02010609030101010101" pitchFamily="49" charset="-122"/>
                  </a:rPr>
                  <a:t>为海马到杏仁核相对于反向的信息流差异</a:t>
                </a:r>
                <a:endParaRPr lang="en-CN" sz="1600" kern="100" dirty="0">
                  <a:latin typeface="Times New Roman" panose="02020603050405020304" pitchFamily="18" charset="0"/>
                  <a:ea typeface="SimSun" panose="02010600030101010101" pitchFamily="2" charset="-122"/>
                </a:endParaRPr>
              </a:p>
            </p:txBody>
          </p:sp>
        </mc:Choice>
        <mc:Fallback xmlns="">
          <p:sp>
            <p:nvSpPr>
              <p:cNvPr id="4" name="文本框 47">
                <a:extLst>
                  <a:ext uri="{FF2B5EF4-FFF2-40B4-BE49-F238E27FC236}">
                    <a16:creationId xmlns:a16="http://schemas.microsoft.com/office/drawing/2014/main" id="{DB8119B1-9515-0651-65BD-717050752C2E}"/>
                  </a:ext>
                </a:extLst>
              </p:cNvPr>
              <p:cNvSpPr txBox="1">
                <a:spLocks noRot="1" noChangeAspect="1" noMove="1" noResize="1" noEditPoints="1" noAdjustHandles="1" noChangeArrowheads="1" noChangeShapeType="1" noTextEdit="1"/>
              </p:cNvSpPr>
              <p:nvPr/>
            </p:nvSpPr>
            <p:spPr>
              <a:xfrm>
                <a:off x="718346" y="1566882"/>
                <a:ext cx="6689612" cy="1921423"/>
              </a:xfrm>
              <a:prstGeom prst="rect">
                <a:avLst/>
              </a:prstGeom>
              <a:blipFill>
                <a:blip r:embed="rId3"/>
                <a:stretch>
                  <a:fillRect l="-379" r="-379" b="-2632"/>
                </a:stretch>
              </a:blipFill>
            </p:spPr>
            <p:txBody>
              <a:bodyPr/>
              <a:lstStyle/>
              <a:p>
                <a:r>
                  <a:rPr lang="en-CN">
                    <a:noFill/>
                  </a:rPr>
                  <a:t> </a:t>
                </a:r>
              </a:p>
            </p:txBody>
          </p:sp>
        </mc:Fallback>
      </mc:AlternateContent>
      <p:sp>
        <p:nvSpPr>
          <p:cNvPr id="5" name="TextBox 4">
            <a:extLst>
              <a:ext uri="{FF2B5EF4-FFF2-40B4-BE49-F238E27FC236}">
                <a16:creationId xmlns:a16="http://schemas.microsoft.com/office/drawing/2014/main" id="{1F3AC33A-1785-D040-841D-5AFA1D10CAE3}"/>
              </a:ext>
            </a:extLst>
          </p:cNvPr>
          <p:cNvSpPr txBox="1"/>
          <p:nvPr/>
        </p:nvSpPr>
        <p:spPr>
          <a:xfrm>
            <a:off x="358346" y="1197550"/>
            <a:ext cx="6096000" cy="369332"/>
          </a:xfrm>
          <a:prstGeom prst="rect">
            <a:avLst/>
          </a:prstGeom>
          <a:noFill/>
        </p:spPr>
        <p:txBody>
          <a:bodyPr wrap="square">
            <a:spAutoFit/>
          </a:bodyPr>
          <a:lstStyle/>
          <a:p>
            <a:pPr marL="342900" indent="-342900" defTabSz="914400">
              <a:buFont typeface="Wingdings" pitchFamily="2" charset="2"/>
              <a:buChar char="Ø"/>
            </a:pPr>
            <a:r>
              <a:rPr lang="zh-CN" altLang="en-US" sz="1800" b="1" spc="300" dirty="0">
                <a:latin typeface="FangSong_GB2312" panose="02010609030101010101" pitchFamily="49" charset="-122"/>
                <a:ea typeface="FangSong_GB2312" panose="02010609030101010101" pitchFamily="49" charset="-122"/>
              </a:rPr>
              <a:t>功能连接和方向性分析</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576710F-D30B-5D56-614C-C558A3299A82}"/>
                  </a:ext>
                </a:extLst>
              </p:cNvPr>
              <p:cNvSpPr txBox="1"/>
              <p:nvPr/>
            </p:nvSpPr>
            <p:spPr>
              <a:xfrm>
                <a:off x="7407958" y="1179698"/>
                <a:ext cx="4425696" cy="4498604"/>
              </a:xfrm>
              <a:prstGeom prst="rect">
                <a:avLst/>
              </a:prstGeom>
              <a:noFill/>
            </p:spPr>
            <p:txBody>
              <a:bodyPr wrap="square">
                <a:spAutoFit/>
              </a:bodyPr>
              <a:lstStyle/>
              <a:p>
                <a:pPr indent="304800" algn="just">
                  <a:lnSpc>
                    <a:spcPct val="150000"/>
                  </a:lnSpc>
                  <a:buNone/>
                </a:pPr>
                <a14:m>
                  <m:oMathPara xmlns:m="http://schemas.openxmlformats.org/officeDocument/2006/math">
                    <m:oMathParaPr>
                      <m:jc m:val="centerGroup"/>
                    </m:oMathParaPr>
                    <m:oMath xmlns:m="http://schemas.openxmlformats.org/officeDocument/2006/math">
                      <m:sSub>
                        <m:sSubPr>
                          <m:ctrlPr>
                            <a:rPr lang="en-CN" sz="1600" i="1" kern="100" smtClean="0">
                              <a:effectLst/>
                              <a:latin typeface="Cambria Math" panose="02040503050406030204" pitchFamily="18" charset="0"/>
                              <a:ea typeface="FangSong_GB2312" panose="02010609030101010101" pitchFamily="49" charset="-122"/>
                            </a:rPr>
                          </m:ctrlPr>
                        </m:sSubPr>
                        <m:e>
                          <m:r>
                            <a:rPr lang="en-CN" sz="1600" i="1" kern="100">
                              <a:effectLst/>
                              <a:latin typeface="Cambria Math" panose="02040503050406030204" pitchFamily="18" charset="0"/>
                              <a:ea typeface="FangSong_GB2312" panose="02010609030101010101" pitchFamily="49" charset="-122"/>
                            </a:rPr>
                            <m:t>𝐶</m:t>
                          </m:r>
                        </m:e>
                        <m:sub>
                          <m:r>
                            <a:rPr lang="en-CN" sz="1600" i="1" kern="100">
                              <a:effectLst/>
                              <a:latin typeface="Cambria Math" panose="02040503050406030204" pitchFamily="18" charset="0"/>
                              <a:ea typeface="FangSong_GB2312" panose="02010609030101010101" pitchFamily="49" charset="-122"/>
                            </a:rPr>
                            <m:t>𝑥𝑦</m:t>
                          </m:r>
                        </m:sub>
                      </m:sSub>
                      <m:d>
                        <m:dPr>
                          <m:ctrlPr>
                            <a:rPr lang="en-CN" sz="1600" i="1" kern="100">
                              <a:effectLst/>
                              <a:latin typeface="Cambria Math" panose="02040503050406030204" pitchFamily="18" charset="0"/>
                              <a:ea typeface="FangSong_GB2312" panose="02010609030101010101" pitchFamily="49" charset="-122"/>
                            </a:rPr>
                          </m:ctrlPr>
                        </m:dPr>
                        <m:e>
                          <m:r>
                            <a:rPr lang="en-CN" sz="1600" i="1" kern="100">
                              <a:effectLst/>
                              <a:latin typeface="Cambria Math" panose="02040503050406030204" pitchFamily="18" charset="0"/>
                              <a:ea typeface="FangSong_GB2312" panose="02010609030101010101" pitchFamily="49" charset="-122"/>
                            </a:rPr>
                            <m:t>𝑓</m:t>
                          </m:r>
                        </m:e>
                      </m:d>
                      <m:r>
                        <a:rPr lang="en-CN" sz="1600" i="1" kern="100">
                          <a:effectLst/>
                          <a:latin typeface="Cambria Math" panose="02040503050406030204" pitchFamily="18" charset="0"/>
                          <a:ea typeface="FangSong_GB2312" panose="02010609030101010101" pitchFamily="49" charset="-122"/>
                        </a:rPr>
                        <m:t>=</m:t>
                      </m:r>
                      <m:f>
                        <m:fPr>
                          <m:ctrlPr>
                            <a:rPr lang="en-CN" sz="1600" i="1" kern="100">
                              <a:effectLst/>
                              <a:latin typeface="Cambria Math" panose="02040503050406030204" pitchFamily="18" charset="0"/>
                              <a:ea typeface="FangSong_GB2312" panose="02010609030101010101" pitchFamily="49" charset="-122"/>
                            </a:rPr>
                          </m:ctrlPr>
                        </m:fPr>
                        <m:num>
                          <m:sSup>
                            <m:sSupPr>
                              <m:ctrlPr>
                                <a:rPr lang="en-CN" sz="1600" i="1" kern="100">
                                  <a:effectLst/>
                                  <a:latin typeface="Cambria Math" panose="02040503050406030204" pitchFamily="18" charset="0"/>
                                  <a:ea typeface="FangSong_GB2312" panose="02010609030101010101" pitchFamily="49" charset="-122"/>
                                </a:rPr>
                              </m:ctrlPr>
                            </m:sSupPr>
                            <m:e>
                              <m:d>
                                <m:dPr>
                                  <m:begChr m:val="|"/>
                                  <m:endChr m:val="|"/>
                                  <m:ctrlPr>
                                    <a:rPr lang="en-CN" sz="1600" i="1" kern="100">
                                      <a:effectLst/>
                                      <a:latin typeface="Cambria Math" panose="02040503050406030204" pitchFamily="18" charset="0"/>
                                      <a:ea typeface="FangSong_GB2312" panose="02010609030101010101" pitchFamily="49" charset="-122"/>
                                    </a:rPr>
                                  </m:ctrlPr>
                                </m:dPr>
                                <m:e>
                                  <m:sSub>
                                    <m:sSubPr>
                                      <m:ctrlPr>
                                        <a:rPr lang="en-CN" sz="1600" i="1" kern="100">
                                          <a:effectLst/>
                                          <a:latin typeface="Cambria Math" panose="02040503050406030204" pitchFamily="18" charset="0"/>
                                          <a:ea typeface="FangSong_GB2312" panose="02010609030101010101" pitchFamily="49" charset="-122"/>
                                        </a:rPr>
                                      </m:ctrlPr>
                                    </m:sSubPr>
                                    <m:e>
                                      <m:r>
                                        <a:rPr lang="en-CN" sz="1600" i="1" kern="100">
                                          <a:effectLst/>
                                          <a:latin typeface="Cambria Math" panose="02040503050406030204" pitchFamily="18" charset="0"/>
                                          <a:ea typeface="FangSong_GB2312" panose="02010609030101010101" pitchFamily="49" charset="-122"/>
                                        </a:rPr>
                                        <m:t>𝑆</m:t>
                                      </m:r>
                                    </m:e>
                                    <m:sub>
                                      <m:r>
                                        <a:rPr lang="en-CN" sz="1600" i="1" kern="100">
                                          <a:effectLst/>
                                          <a:latin typeface="Cambria Math" panose="02040503050406030204" pitchFamily="18" charset="0"/>
                                          <a:ea typeface="FangSong_GB2312" panose="02010609030101010101" pitchFamily="49" charset="-122"/>
                                        </a:rPr>
                                        <m:t>𝑥𝑦</m:t>
                                      </m:r>
                                    </m:sub>
                                  </m:sSub>
                                  <m:d>
                                    <m:dPr>
                                      <m:ctrlPr>
                                        <a:rPr lang="en-CN" sz="1600" i="1" kern="100">
                                          <a:effectLst/>
                                          <a:latin typeface="Cambria Math" panose="02040503050406030204" pitchFamily="18" charset="0"/>
                                          <a:ea typeface="FangSong_GB2312" panose="02010609030101010101" pitchFamily="49" charset="-122"/>
                                        </a:rPr>
                                      </m:ctrlPr>
                                    </m:dPr>
                                    <m:e>
                                      <m:r>
                                        <a:rPr lang="en-CN" sz="1600" i="1" kern="100">
                                          <a:effectLst/>
                                          <a:latin typeface="Cambria Math" panose="02040503050406030204" pitchFamily="18" charset="0"/>
                                          <a:ea typeface="FangSong_GB2312" panose="02010609030101010101" pitchFamily="49" charset="-122"/>
                                        </a:rPr>
                                        <m:t>𝑓</m:t>
                                      </m:r>
                                    </m:e>
                                  </m:d>
                                </m:e>
                              </m:d>
                            </m:e>
                            <m:sup>
                              <m:r>
                                <a:rPr lang="en-CN" sz="1600" i="1" kern="100">
                                  <a:effectLst/>
                                  <a:latin typeface="Cambria Math" panose="02040503050406030204" pitchFamily="18" charset="0"/>
                                  <a:ea typeface="FangSong_GB2312" panose="02010609030101010101" pitchFamily="49" charset="-122"/>
                                </a:rPr>
                                <m:t>2</m:t>
                              </m:r>
                            </m:sup>
                          </m:sSup>
                        </m:num>
                        <m:den>
                          <m:sSub>
                            <m:sSubPr>
                              <m:ctrlPr>
                                <a:rPr lang="en-CN" sz="1600" i="1" kern="100">
                                  <a:effectLst/>
                                  <a:latin typeface="Cambria Math" panose="02040503050406030204" pitchFamily="18" charset="0"/>
                                  <a:ea typeface="FangSong_GB2312" panose="02010609030101010101" pitchFamily="49" charset="-122"/>
                                </a:rPr>
                              </m:ctrlPr>
                            </m:sSubPr>
                            <m:e>
                              <m:r>
                                <a:rPr lang="en-CN" sz="1600" i="1" kern="100">
                                  <a:effectLst/>
                                  <a:latin typeface="Cambria Math" panose="02040503050406030204" pitchFamily="18" charset="0"/>
                                  <a:ea typeface="FangSong_GB2312" panose="02010609030101010101" pitchFamily="49" charset="-122"/>
                                </a:rPr>
                                <m:t>𝑆</m:t>
                              </m:r>
                            </m:e>
                            <m:sub>
                              <m:r>
                                <a:rPr lang="en-CN" sz="1600" i="1" kern="100">
                                  <a:effectLst/>
                                  <a:latin typeface="Cambria Math" panose="02040503050406030204" pitchFamily="18" charset="0"/>
                                  <a:ea typeface="FangSong_GB2312" panose="02010609030101010101" pitchFamily="49" charset="-122"/>
                                </a:rPr>
                                <m:t>𝑥𝑥</m:t>
                              </m:r>
                            </m:sub>
                          </m:sSub>
                          <m:d>
                            <m:dPr>
                              <m:ctrlPr>
                                <a:rPr lang="en-CN" sz="1600" i="1" kern="100">
                                  <a:effectLst/>
                                  <a:latin typeface="Cambria Math" panose="02040503050406030204" pitchFamily="18" charset="0"/>
                                  <a:ea typeface="FangSong_GB2312" panose="02010609030101010101" pitchFamily="49" charset="-122"/>
                                </a:rPr>
                              </m:ctrlPr>
                            </m:dPr>
                            <m:e>
                              <m:r>
                                <a:rPr lang="en-CN" sz="1600" i="1" kern="100">
                                  <a:effectLst/>
                                  <a:latin typeface="Cambria Math" panose="02040503050406030204" pitchFamily="18" charset="0"/>
                                  <a:ea typeface="FangSong_GB2312" panose="02010609030101010101" pitchFamily="49" charset="-122"/>
                                </a:rPr>
                                <m:t>𝑓</m:t>
                              </m:r>
                            </m:e>
                          </m:d>
                          <m:sSub>
                            <m:sSubPr>
                              <m:ctrlPr>
                                <a:rPr lang="en-CN" sz="1600" i="1" kern="100">
                                  <a:effectLst/>
                                  <a:latin typeface="Cambria Math" panose="02040503050406030204" pitchFamily="18" charset="0"/>
                                  <a:ea typeface="FangSong_GB2312" panose="02010609030101010101" pitchFamily="49" charset="-122"/>
                                </a:rPr>
                              </m:ctrlPr>
                            </m:sSubPr>
                            <m:e>
                              <m:r>
                                <a:rPr lang="en-CN" sz="1600" i="1" kern="100">
                                  <a:effectLst/>
                                  <a:latin typeface="Cambria Math" panose="02040503050406030204" pitchFamily="18" charset="0"/>
                                  <a:ea typeface="FangSong_GB2312" panose="02010609030101010101" pitchFamily="49" charset="-122"/>
                                </a:rPr>
                                <m:t>𝑆</m:t>
                              </m:r>
                            </m:e>
                            <m:sub>
                              <m:r>
                                <a:rPr lang="en-CN" sz="1600" i="1" kern="100">
                                  <a:effectLst/>
                                  <a:latin typeface="Cambria Math" panose="02040503050406030204" pitchFamily="18" charset="0"/>
                                  <a:ea typeface="FangSong_GB2312" panose="02010609030101010101" pitchFamily="49" charset="-122"/>
                                </a:rPr>
                                <m:t>𝑦𝑦</m:t>
                              </m:r>
                            </m:sub>
                          </m:sSub>
                          <m:d>
                            <m:dPr>
                              <m:ctrlPr>
                                <a:rPr lang="en-CN" sz="1600" i="1" kern="100">
                                  <a:effectLst/>
                                  <a:latin typeface="Cambria Math" panose="02040503050406030204" pitchFamily="18" charset="0"/>
                                  <a:ea typeface="FangSong_GB2312" panose="02010609030101010101" pitchFamily="49" charset="-122"/>
                                </a:rPr>
                              </m:ctrlPr>
                            </m:dPr>
                            <m:e>
                              <m:r>
                                <a:rPr lang="en-CN" sz="1600" i="1" kern="100">
                                  <a:effectLst/>
                                  <a:latin typeface="Cambria Math" panose="02040503050406030204" pitchFamily="18" charset="0"/>
                                  <a:ea typeface="FangSong_GB2312" panose="02010609030101010101" pitchFamily="49" charset="-122"/>
                                </a:rPr>
                                <m:t>𝑓</m:t>
                              </m:r>
                            </m:e>
                          </m:d>
                        </m:den>
                      </m:f>
                    </m:oMath>
                  </m:oMathPara>
                </a14:m>
                <a:endParaRPr lang="en-CN" sz="1600" dirty="0">
                  <a:effectLst/>
                  <a:latin typeface="Times New Roman" panose="02020603050405020304" pitchFamily="18" charset="0"/>
                  <a:ea typeface="SimSun" panose="02010600030101010101" pitchFamily="2" charset="-122"/>
                </a:endParaRPr>
              </a:p>
              <a:p>
                <a:pPr indent="127000" algn="l">
                  <a:buNone/>
                </a:pPr>
                <a14:m>
                  <m:oMathPara xmlns:m="http://schemas.openxmlformats.org/officeDocument/2006/math">
                    <m:oMathParaPr>
                      <m:jc m:val="centerGroup"/>
                    </m:oMathParaPr>
                    <m:oMath xmlns:m="http://schemas.openxmlformats.org/officeDocument/2006/math">
                      <m:sSub>
                        <m:sSubPr>
                          <m:ctrlPr>
                            <a:rPr lang="en-CN" sz="1600" i="1" kern="100">
                              <a:effectLst/>
                              <a:latin typeface="Cambria Math" panose="02040503050406030204" pitchFamily="18" charset="0"/>
                              <a:ea typeface="FangSong_GB2312" panose="02010609030101010101" pitchFamily="49" charset="-122"/>
                            </a:rPr>
                          </m:ctrlPr>
                        </m:sSubPr>
                        <m:e>
                          <m:r>
                            <a:rPr lang="en-CN" sz="1600" i="1" kern="100">
                              <a:effectLst/>
                              <a:latin typeface="Cambria Math" panose="02040503050406030204" pitchFamily="18" charset="0"/>
                              <a:ea typeface="FangSong_GB2312" panose="02010609030101010101" pitchFamily="49" charset="-122"/>
                            </a:rPr>
                            <m:t>𝑋</m:t>
                          </m:r>
                        </m:e>
                        <m:sub>
                          <m:r>
                            <a:rPr lang="en-CN" sz="1600" i="1" kern="100">
                              <a:effectLst/>
                              <a:latin typeface="Cambria Math" panose="02040503050406030204" pitchFamily="18" charset="0"/>
                              <a:ea typeface="FangSong_GB2312" panose="02010609030101010101" pitchFamily="49" charset="-122"/>
                            </a:rPr>
                            <m:t>𝑡</m:t>
                          </m:r>
                        </m:sub>
                      </m:sSub>
                      <m:r>
                        <a:rPr lang="en-CN" sz="1600" i="1" kern="100">
                          <a:effectLst/>
                          <a:latin typeface="Cambria Math" panose="02040503050406030204" pitchFamily="18" charset="0"/>
                          <a:ea typeface="FangSong_GB2312" panose="02010609030101010101" pitchFamily="49" charset="-122"/>
                        </a:rPr>
                        <m:t>=</m:t>
                      </m:r>
                      <m:nary>
                        <m:naryPr>
                          <m:chr m:val="∑"/>
                          <m:ctrlPr>
                            <a:rPr lang="en-CN" sz="1600" i="1" kern="100">
                              <a:effectLst/>
                              <a:latin typeface="Cambria Math" panose="02040503050406030204" pitchFamily="18" charset="0"/>
                              <a:ea typeface="FangSong_GB2312" panose="02010609030101010101" pitchFamily="49" charset="-122"/>
                            </a:rPr>
                          </m:ctrlPr>
                        </m:naryPr>
                        <m:sub>
                          <m:r>
                            <a:rPr lang="en-CN" sz="1600" i="1" kern="100">
                              <a:effectLst/>
                              <a:latin typeface="Cambria Math" panose="02040503050406030204" pitchFamily="18" charset="0"/>
                              <a:ea typeface="FangSong_GB2312" panose="02010609030101010101" pitchFamily="49" charset="-122"/>
                            </a:rPr>
                            <m:t>𝑘</m:t>
                          </m:r>
                          <m:r>
                            <a:rPr lang="en-CN" sz="1600" i="1" kern="100">
                              <a:effectLst/>
                              <a:latin typeface="Cambria Math" panose="02040503050406030204" pitchFamily="18" charset="0"/>
                              <a:ea typeface="FangSong_GB2312" panose="02010609030101010101" pitchFamily="49" charset="-122"/>
                            </a:rPr>
                            <m:t>=1</m:t>
                          </m:r>
                        </m:sub>
                        <m:sup>
                          <m:r>
                            <a:rPr lang="en-CN" sz="1600" i="1" kern="100">
                              <a:effectLst/>
                              <a:latin typeface="Cambria Math" panose="02040503050406030204" pitchFamily="18" charset="0"/>
                              <a:ea typeface="FangSong_GB2312" panose="02010609030101010101" pitchFamily="49" charset="-122"/>
                            </a:rPr>
                            <m:t>𝑝</m:t>
                          </m:r>
                        </m:sup>
                        <m:e>
                          <m:sSub>
                            <m:sSubPr>
                              <m:ctrlPr>
                                <a:rPr lang="en-CN" sz="1600" i="1" kern="100">
                                  <a:effectLst/>
                                  <a:latin typeface="Cambria Math" panose="02040503050406030204" pitchFamily="18" charset="0"/>
                                  <a:ea typeface="FangSong_GB2312" panose="02010609030101010101" pitchFamily="49" charset="-122"/>
                                </a:rPr>
                              </m:ctrlPr>
                            </m:sSubPr>
                            <m:e>
                              <m:r>
                                <a:rPr lang="en-CN" sz="1600" i="1" kern="100">
                                  <a:effectLst/>
                                  <a:latin typeface="Cambria Math" panose="02040503050406030204" pitchFamily="18" charset="0"/>
                                  <a:ea typeface="FangSong_GB2312" panose="02010609030101010101" pitchFamily="49" charset="-122"/>
                                </a:rPr>
                                <m:t>𝐴</m:t>
                              </m:r>
                            </m:e>
                            <m:sub>
                              <m:r>
                                <a:rPr lang="en-CN" sz="1600" i="1" kern="100">
                                  <a:effectLst/>
                                  <a:latin typeface="Cambria Math" panose="02040503050406030204" pitchFamily="18" charset="0"/>
                                  <a:ea typeface="FangSong_GB2312" panose="02010609030101010101" pitchFamily="49" charset="-122"/>
                                </a:rPr>
                                <m:t>𝑘</m:t>
                              </m:r>
                            </m:sub>
                          </m:sSub>
                        </m:e>
                      </m:nary>
                      <m:sSub>
                        <m:sSubPr>
                          <m:ctrlPr>
                            <a:rPr lang="en-CN" sz="1600" i="1" kern="100">
                              <a:effectLst/>
                              <a:latin typeface="Cambria Math" panose="02040503050406030204" pitchFamily="18" charset="0"/>
                              <a:ea typeface="FangSong_GB2312" panose="02010609030101010101" pitchFamily="49" charset="-122"/>
                            </a:rPr>
                          </m:ctrlPr>
                        </m:sSubPr>
                        <m:e>
                          <m:r>
                            <a:rPr lang="en-CN" sz="1600" i="1" kern="100">
                              <a:effectLst/>
                              <a:latin typeface="Cambria Math" panose="02040503050406030204" pitchFamily="18" charset="0"/>
                              <a:ea typeface="FangSong_GB2312" panose="02010609030101010101" pitchFamily="49" charset="-122"/>
                            </a:rPr>
                            <m:t>𝑋</m:t>
                          </m:r>
                        </m:e>
                        <m:sub>
                          <m:r>
                            <a:rPr lang="en-CN" sz="1600" i="1" kern="100">
                              <a:effectLst/>
                              <a:latin typeface="Cambria Math" panose="02040503050406030204" pitchFamily="18" charset="0"/>
                              <a:ea typeface="FangSong_GB2312" panose="02010609030101010101" pitchFamily="49" charset="-122"/>
                            </a:rPr>
                            <m:t>𝑡</m:t>
                          </m:r>
                          <m:r>
                            <a:rPr lang="en-CN" sz="1600" i="1" kern="100">
                              <a:effectLst/>
                              <a:latin typeface="Cambria Math" panose="02040503050406030204" pitchFamily="18" charset="0"/>
                              <a:ea typeface="FangSong_GB2312" panose="02010609030101010101" pitchFamily="49" charset="-122"/>
                            </a:rPr>
                            <m:t>−</m:t>
                          </m:r>
                          <m:r>
                            <a:rPr lang="en-CN" sz="1600" i="1" kern="100">
                              <a:effectLst/>
                              <a:latin typeface="Cambria Math" panose="02040503050406030204" pitchFamily="18" charset="0"/>
                              <a:ea typeface="FangSong_GB2312" panose="02010609030101010101" pitchFamily="49" charset="-122"/>
                            </a:rPr>
                            <m:t>𝑘</m:t>
                          </m:r>
                        </m:sub>
                      </m:sSub>
                      <m:r>
                        <a:rPr lang="en-CN" sz="1600" i="1" kern="100">
                          <a:effectLst/>
                          <a:latin typeface="Cambria Math" panose="02040503050406030204" pitchFamily="18" charset="0"/>
                          <a:ea typeface="FangSong_GB2312" panose="02010609030101010101" pitchFamily="49" charset="-122"/>
                        </a:rPr>
                        <m:t>+</m:t>
                      </m:r>
                      <m:sSub>
                        <m:sSubPr>
                          <m:ctrlPr>
                            <a:rPr lang="en-CN" sz="1600" i="1" kern="100">
                              <a:effectLst/>
                              <a:latin typeface="Cambria Math" panose="02040503050406030204" pitchFamily="18" charset="0"/>
                              <a:ea typeface="FangSong_GB2312" panose="02010609030101010101" pitchFamily="49" charset="-122"/>
                            </a:rPr>
                          </m:ctrlPr>
                        </m:sSubPr>
                        <m:e>
                          <m:r>
                            <m:rPr>
                              <m:sty m:val="p"/>
                            </m:rPr>
                            <a:rPr lang="en-CN" sz="1600" kern="100">
                              <a:effectLst/>
                              <a:latin typeface="Cambria Math" panose="02040503050406030204" pitchFamily="18" charset="0"/>
                              <a:ea typeface="FangSong_GB2312" panose="02010609030101010101" pitchFamily="49" charset="-122"/>
                            </a:rPr>
                            <m:t>ε</m:t>
                          </m:r>
                        </m:e>
                        <m:sub>
                          <m:r>
                            <a:rPr lang="en-CN" sz="1600" i="1" kern="100">
                              <a:effectLst/>
                              <a:latin typeface="Cambria Math" panose="02040503050406030204" pitchFamily="18" charset="0"/>
                              <a:ea typeface="FangSong_GB2312" panose="02010609030101010101" pitchFamily="49" charset="-122"/>
                            </a:rPr>
                            <m:t>𝑡</m:t>
                          </m:r>
                        </m:sub>
                      </m:sSub>
                    </m:oMath>
                  </m:oMathPara>
                </a14:m>
                <a:endParaRPr lang="en-CN" sz="1600" kern="100" dirty="0">
                  <a:effectLst/>
                  <a:latin typeface="Times New Roman" panose="02020603050405020304" pitchFamily="18" charset="0"/>
                  <a:ea typeface="SimSun" panose="02010600030101010101" pitchFamily="2" charset="-122"/>
                </a:endParaRPr>
              </a:p>
              <a:p>
                <a:pPr indent="127000" algn="l">
                  <a:lnSpc>
                    <a:spcPct val="150000"/>
                  </a:lnSpc>
                  <a:buNone/>
                </a:pPr>
                <a14:m>
                  <m:oMathPara xmlns:m="http://schemas.openxmlformats.org/officeDocument/2006/math">
                    <m:oMathParaPr>
                      <m:jc m:val="centerGroup"/>
                    </m:oMathParaPr>
                    <m:oMath xmlns:m="http://schemas.openxmlformats.org/officeDocument/2006/math">
                      <m:r>
                        <a:rPr lang="en-CN" sz="1600" i="1" kern="100">
                          <a:effectLst/>
                          <a:latin typeface="Cambria Math" panose="02040503050406030204" pitchFamily="18" charset="0"/>
                          <a:ea typeface="FangSong_GB2312" panose="02010609030101010101" pitchFamily="49" charset="-122"/>
                        </a:rPr>
                        <m:t>𝑆</m:t>
                      </m:r>
                      <m:d>
                        <m:dPr>
                          <m:ctrlPr>
                            <a:rPr lang="en-CN" sz="1600" i="1" kern="100">
                              <a:effectLst/>
                              <a:latin typeface="Cambria Math" panose="02040503050406030204" pitchFamily="18" charset="0"/>
                              <a:ea typeface="FangSong_GB2312" panose="02010609030101010101" pitchFamily="49" charset="-122"/>
                            </a:rPr>
                          </m:ctrlPr>
                        </m:dPr>
                        <m:e>
                          <m:r>
                            <a:rPr lang="en-CN" sz="1600" i="1" kern="100">
                              <a:effectLst/>
                              <a:latin typeface="Cambria Math" panose="02040503050406030204" pitchFamily="18" charset="0"/>
                              <a:ea typeface="FangSong_GB2312" panose="02010609030101010101" pitchFamily="49" charset="-122"/>
                            </a:rPr>
                            <m:t>𝑓</m:t>
                          </m:r>
                        </m:e>
                      </m:d>
                      <m:r>
                        <a:rPr lang="en-CN" sz="1600" i="1" kern="100">
                          <a:effectLst/>
                          <a:latin typeface="Cambria Math" panose="02040503050406030204" pitchFamily="18" charset="0"/>
                          <a:ea typeface="FangSong_GB2312" panose="02010609030101010101" pitchFamily="49" charset="-122"/>
                        </a:rPr>
                        <m:t>=</m:t>
                      </m:r>
                      <m:r>
                        <a:rPr lang="en-CN" sz="1600" i="1" kern="100">
                          <a:effectLst/>
                          <a:latin typeface="Cambria Math" panose="02040503050406030204" pitchFamily="18" charset="0"/>
                          <a:ea typeface="FangSong_GB2312" panose="02010609030101010101" pitchFamily="49" charset="-122"/>
                        </a:rPr>
                        <m:t>𝐻</m:t>
                      </m:r>
                      <m:d>
                        <m:dPr>
                          <m:ctrlPr>
                            <a:rPr lang="en-CN" sz="1600" i="1" kern="100">
                              <a:effectLst/>
                              <a:latin typeface="Cambria Math" panose="02040503050406030204" pitchFamily="18" charset="0"/>
                              <a:ea typeface="FangSong_GB2312" panose="02010609030101010101" pitchFamily="49" charset="-122"/>
                            </a:rPr>
                          </m:ctrlPr>
                        </m:dPr>
                        <m:e>
                          <m:r>
                            <a:rPr lang="en-CN" sz="1600" i="1" kern="100">
                              <a:effectLst/>
                              <a:latin typeface="Cambria Math" panose="02040503050406030204" pitchFamily="18" charset="0"/>
                              <a:ea typeface="FangSong_GB2312" panose="02010609030101010101" pitchFamily="49" charset="-122"/>
                            </a:rPr>
                            <m:t>𝑓</m:t>
                          </m:r>
                        </m:e>
                      </m:d>
                      <m:r>
                        <m:rPr>
                          <m:sty m:val="p"/>
                        </m:rPr>
                        <a:rPr lang="en-CN" sz="1600" kern="100">
                          <a:effectLst/>
                          <a:latin typeface="Cambria Math" panose="02040503050406030204" pitchFamily="18" charset="0"/>
                          <a:ea typeface="FangSong_GB2312" panose="02010609030101010101" pitchFamily="49" charset="-122"/>
                        </a:rPr>
                        <m:t>Σ</m:t>
                      </m:r>
                      <m:sSup>
                        <m:sSupPr>
                          <m:ctrlPr>
                            <a:rPr lang="en-CN" sz="1600" i="1" kern="100">
                              <a:effectLst/>
                              <a:latin typeface="Cambria Math" panose="02040503050406030204" pitchFamily="18" charset="0"/>
                              <a:ea typeface="FangSong_GB2312" panose="02010609030101010101" pitchFamily="49" charset="-122"/>
                            </a:rPr>
                          </m:ctrlPr>
                        </m:sSupPr>
                        <m:e>
                          <m:r>
                            <a:rPr lang="en-CN" sz="1600" i="1" kern="100">
                              <a:effectLst/>
                              <a:latin typeface="Cambria Math" panose="02040503050406030204" pitchFamily="18" charset="0"/>
                              <a:ea typeface="FangSong_GB2312" panose="02010609030101010101" pitchFamily="49" charset="-122"/>
                            </a:rPr>
                            <m:t>𝐻</m:t>
                          </m:r>
                        </m:e>
                        <m:sup>
                          <m:r>
                            <a:rPr lang="en-CN" sz="1600" i="1" kern="100">
                              <a:effectLst/>
                              <a:latin typeface="Cambria Math" panose="02040503050406030204" pitchFamily="18" charset="0"/>
                              <a:ea typeface="FangSong_GB2312" panose="02010609030101010101" pitchFamily="49" charset="-122"/>
                            </a:rPr>
                            <m:t>∗</m:t>
                          </m:r>
                        </m:sup>
                      </m:sSup>
                      <m:d>
                        <m:dPr>
                          <m:ctrlPr>
                            <a:rPr lang="en-CN" sz="1600" i="1" kern="100">
                              <a:effectLst/>
                              <a:latin typeface="Cambria Math" panose="02040503050406030204" pitchFamily="18" charset="0"/>
                              <a:ea typeface="FangSong_GB2312" panose="02010609030101010101" pitchFamily="49" charset="-122"/>
                            </a:rPr>
                          </m:ctrlPr>
                        </m:dPr>
                        <m:e>
                          <m:r>
                            <a:rPr lang="en-CN" sz="1600" i="1" kern="100">
                              <a:effectLst/>
                              <a:latin typeface="Cambria Math" panose="02040503050406030204" pitchFamily="18" charset="0"/>
                              <a:ea typeface="FangSong_GB2312" panose="02010609030101010101" pitchFamily="49" charset="-122"/>
                            </a:rPr>
                            <m:t>𝑓</m:t>
                          </m:r>
                        </m:e>
                      </m:d>
                    </m:oMath>
                  </m:oMathPara>
                </a14:m>
                <a:endParaRPr lang="en-CN" sz="1600" kern="100" dirty="0">
                  <a:effectLst/>
                  <a:latin typeface="Times New Roman" panose="02020603050405020304" pitchFamily="18" charset="0"/>
                  <a:ea typeface="SimSun" panose="02010600030101010101" pitchFamily="2" charset="-122"/>
                </a:endParaRPr>
              </a:p>
              <a:p>
                <a:pPr indent="127000" algn="l">
                  <a:buNone/>
                </a:pPr>
                <a14:m>
                  <m:oMathPara xmlns:m="http://schemas.openxmlformats.org/officeDocument/2006/math">
                    <m:oMathParaPr>
                      <m:jc m:val="centerGroup"/>
                    </m:oMathParaPr>
                    <m:oMath xmlns:m="http://schemas.openxmlformats.org/officeDocument/2006/math">
                      <m:r>
                        <a:rPr lang="en-CN" sz="1600" i="1" kern="100">
                          <a:effectLst/>
                          <a:latin typeface="Cambria Math" panose="02040503050406030204" pitchFamily="18" charset="0"/>
                          <a:ea typeface="FangSong_GB2312" panose="02010609030101010101" pitchFamily="49" charset="-122"/>
                        </a:rPr>
                        <m:t>𝐻</m:t>
                      </m:r>
                      <m:d>
                        <m:dPr>
                          <m:ctrlPr>
                            <a:rPr lang="en-CN" sz="1600" i="1" kern="100">
                              <a:effectLst/>
                              <a:latin typeface="Cambria Math" panose="02040503050406030204" pitchFamily="18" charset="0"/>
                              <a:ea typeface="FangSong_GB2312" panose="02010609030101010101" pitchFamily="49" charset="-122"/>
                            </a:rPr>
                          </m:ctrlPr>
                        </m:dPr>
                        <m:e>
                          <m:r>
                            <a:rPr lang="en-CN" sz="1600" i="1" kern="100">
                              <a:effectLst/>
                              <a:latin typeface="Cambria Math" panose="02040503050406030204" pitchFamily="18" charset="0"/>
                              <a:ea typeface="FangSong_GB2312" panose="02010609030101010101" pitchFamily="49" charset="-122"/>
                            </a:rPr>
                            <m:t>𝑓</m:t>
                          </m:r>
                        </m:e>
                      </m:d>
                      <m:r>
                        <a:rPr lang="en-CN" sz="1600" i="1" kern="100">
                          <a:effectLst/>
                          <a:latin typeface="Cambria Math" panose="02040503050406030204" pitchFamily="18" charset="0"/>
                          <a:ea typeface="FangSong_GB2312" panose="02010609030101010101" pitchFamily="49" charset="-122"/>
                        </a:rPr>
                        <m:t>=</m:t>
                      </m:r>
                      <m:sSup>
                        <m:sSupPr>
                          <m:ctrlPr>
                            <a:rPr lang="en-CN" sz="1600" i="1" kern="100">
                              <a:effectLst/>
                              <a:latin typeface="Cambria Math" panose="02040503050406030204" pitchFamily="18" charset="0"/>
                              <a:ea typeface="FangSong_GB2312" panose="02010609030101010101" pitchFamily="49" charset="-122"/>
                            </a:rPr>
                          </m:ctrlPr>
                        </m:sSupPr>
                        <m:e>
                          <m:d>
                            <m:dPr>
                              <m:ctrlPr>
                                <a:rPr lang="en-CN" sz="1600" i="1" kern="100">
                                  <a:effectLst/>
                                  <a:latin typeface="Cambria Math" panose="02040503050406030204" pitchFamily="18" charset="0"/>
                                  <a:ea typeface="FangSong_GB2312" panose="02010609030101010101" pitchFamily="49" charset="-122"/>
                                </a:rPr>
                              </m:ctrlPr>
                            </m:dPr>
                            <m:e>
                              <m:r>
                                <a:rPr lang="en-CN" sz="1600" i="1" kern="100">
                                  <a:effectLst/>
                                  <a:latin typeface="Cambria Math" panose="02040503050406030204" pitchFamily="18" charset="0"/>
                                  <a:ea typeface="FangSong_GB2312" panose="02010609030101010101" pitchFamily="49" charset="-122"/>
                                </a:rPr>
                                <m:t>𝐼</m:t>
                              </m:r>
                              <m:r>
                                <a:rPr lang="en-CN" sz="1600" i="1" kern="100">
                                  <a:effectLst/>
                                  <a:latin typeface="Cambria Math" panose="02040503050406030204" pitchFamily="18" charset="0"/>
                                  <a:ea typeface="FangSong_GB2312" panose="02010609030101010101" pitchFamily="49" charset="-122"/>
                                </a:rPr>
                                <m:t>−</m:t>
                              </m:r>
                              <m:nary>
                                <m:naryPr>
                                  <m:chr m:val="∑"/>
                                  <m:ctrlPr>
                                    <a:rPr lang="en-CN" sz="1600" i="1" kern="100">
                                      <a:effectLst/>
                                      <a:latin typeface="Cambria Math" panose="02040503050406030204" pitchFamily="18" charset="0"/>
                                      <a:ea typeface="FangSong_GB2312" panose="02010609030101010101" pitchFamily="49" charset="-122"/>
                                    </a:rPr>
                                  </m:ctrlPr>
                                </m:naryPr>
                                <m:sub>
                                  <m:r>
                                    <a:rPr lang="en-CN" sz="1600" i="1" kern="100">
                                      <a:effectLst/>
                                      <a:latin typeface="Cambria Math" panose="02040503050406030204" pitchFamily="18" charset="0"/>
                                      <a:ea typeface="FangSong_GB2312" panose="02010609030101010101" pitchFamily="49" charset="-122"/>
                                    </a:rPr>
                                    <m:t>𝑘</m:t>
                                  </m:r>
                                  <m:r>
                                    <a:rPr lang="en-CN" sz="1600" i="1" kern="100">
                                      <a:effectLst/>
                                      <a:latin typeface="Cambria Math" panose="02040503050406030204" pitchFamily="18" charset="0"/>
                                      <a:ea typeface="FangSong_GB2312" panose="02010609030101010101" pitchFamily="49" charset="-122"/>
                                    </a:rPr>
                                    <m:t>=1</m:t>
                                  </m:r>
                                </m:sub>
                                <m:sup>
                                  <m:r>
                                    <a:rPr lang="en-CN" sz="1600" i="1" kern="100">
                                      <a:effectLst/>
                                      <a:latin typeface="Cambria Math" panose="02040503050406030204" pitchFamily="18" charset="0"/>
                                      <a:ea typeface="FangSong_GB2312" panose="02010609030101010101" pitchFamily="49" charset="-122"/>
                                    </a:rPr>
                                    <m:t>𝑝</m:t>
                                  </m:r>
                                </m:sup>
                                <m:e>
                                  <m:sSub>
                                    <m:sSubPr>
                                      <m:ctrlPr>
                                        <a:rPr lang="en-CN" sz="1600" i="1" kern="100">
                                          <a:effectLst/>
                                          <a:latin typeface="Cambria Math" panose="02040503050406030204" pitchFamily="18" charset="0"/>
                                          <a:ea typeface="FangSong_GB2312" panose="02010609030101010101" pitchFamily="49" charset="-122"/>
                                        </a:rPr>
                                      </m:ctrlPr>
                                    </m:sSubPr>
                                    <m:e>
                                      <m:r>
                                        <a:rPr lang="en-CN" sz="1600" i="1" kern="100">
                                          <a:effectLst/>
                                          <a:latin typeface="Cambria Math" panose="02040503050406030204" pitchFamily="18" charset="0"/>
                                          <a:ea typeface="FangSong_GB2312" panose="02010609030101010101" pitchFamily="49" charset="-122"/>
                                        </a:rPr>
                                        <m:t>𝐴</m:t>
                                      </m:r>
                                    </m:e>
                                    <m:sub>
                                      <m:r>
                                        <a:rPr lang="en-CN" sz="1600" i="1" kern="100">
                                          <a:effectLst/>
                                          <a:latin typeface="Cambria Math" panose="02040503050406030204" pitchFamily="18" charset="0"/>
                                          <a:ea typeface="FangSong_GB2312" panose="02010609030101010101" pitchFamily="49" charset="-122"/>
                                        </a:rPr>
                                        <m:t>𝑘</m:t>
                                      </m:r>
                                    </m:sub>
                                  </m:sSub>
                                </m:e>
                              </m:nary>
                              <m:sSup>
                                <m:sSupPr>
                                  <m:ctrlPr>
                                    <a:rPr lang="en-CN" sz="1600" i="1" kern="100">
                                      <a:effectLst/>
                                      <a:latin typeface="Cambria Math" panose="02040503050406030204" pitchFamily="18" charset="0"/>
                                      <a:ea typeface="FangSong_GB2312" panose="02010609030101010101" pitchFamily="49" charset="-122"/>
                                    </a:rPr>
                                  </m:ctrlPr>
                                </m:sSupPr>
                                <m:e>
                                  <m:r>
                                    <a:rPr lang="en-CN" sz="1600" i="1" kern="100">
                                      <a:effectLst/>
                                      <a:latin typeface="Cambria Math" panose="02040503050406030204" pitchFamily="18" charset="0"/>
                                      <a:ea typeface="FangSong_GB2312" panose="02010609030101010101" pitchFamily="49" charset="-122"/>
                                    </a:rPr>
                                    <m:t>𝑒</m:t>
                                  </m:r>
                                </m:e>
                                <m:sup>
                                  <m:r>
                                    <a:rPr lang="en-CN" sz="1600" i="1" kern="100">
                                      <a:effectLst/>
                                      <a:latin typeface="Cambria Math" panose="02040503050406030204" pitchFamily="18" charset="0"/>
                                      <a:ea typeface="FangSong_GB2312" panose="02010609030101010101" pitchFamily="49" charset="-122"/>
                                    </a:rPr>
                                    <m:t>−</m:t>
                                  </m:r>
                                  <m:r>
                                    <a:rPr lang="en-CN" sz="1600" i="1" kern="100">
                                      <a:effectLst/>
                                      <a:latin typeface="Cambria Math" panose="02040503050406030204" pitchFamily="18" charset="0"/>
                                      <a:ea typeface="FangSong_GB2312" panose="02010609030101010101" pitchFamily="49" charset="-122"/>
                                    </a:rPr>
                                    <m:t>𝑖</m:t>
                                  </m:r>
                                  <m:r>
                                    <a:rPr lang="en-CN" sz="1600" i="1" kern="100">
                                      <a:effectLst/>
                                      <a:latin typeface="Cambria Math" panose="02040503050406030204" pitchFamily="18" charset="0"/>
                                      <a:ea typeface="FangSong_GB2312" panose="02010609030101010101" pitchFamily="49" charset="-122"/>
                                    </a:rPr>
                                    <m:t>2</m:t>
                                  </m:r>
                                  <m:r>
                                    <m:rPr>
                                      <m:sty m:val="p"/>
                                    </m:rPr>
                                    <a:rPr lang="en-CN" sz="1600" kern="100">
                                      <a:effectLst/>
                                      <a:latin typeface="Cambria Math" panose="02040503050406030204" pitchFamily="18" charset="0"/>
                                      <a:ea typeface="FangSong_GB2312" panose="02010609030101010101" pitchFamily="49" charset="-122"/>
                                    </a:rPr>
                                    <m:t>π</m:t>
                                  </m:r>
                                  <m:r>
                                    <a:rPr lang="en-CN" sz="1600" i="1" kern="100">
                                      <a:effectLst/>
                                      <a:latin typeface="Cambria Math" panose="02040503050406030204" pitchFamily="18" charset="0"/>
                                      <a:ea typeface="FangSong_GB2312" panose="02010609030101010101" pitchFamily="49" charset="-122"/>
                                    </a:rPr>
                                    <m:t>𝑓𝑘</m:t>
                                  </m:r>
                                </m:sup>
                              </m:sSup>
                            </m:e>
                          </m:d>
                        </m:e>
                        <m:sup>
                          <m:r>
                            <a:rPr lang="en-CN" sz="1600" i="1" kern="100">
                              <a:effectLst/>
                              <a:latin typeface="Cambria Math" panose="02040503050406030204" pitchFamily="18" charset="0"/>
                              <a:ea typeface="FangSong_GB2312" panose="02010609030101010101" pitchFamily="49" charset="-122"/>
                            </a:rPr>
                            <m:t>−1</m:t>
                          </m:r>
                        </m:sup>
                      </m:sSup>
                    </m:oMath>
                  </m:oMathPara>
                </a14:m>
                <a:endParaRPr lang="en-CN" sz="1600" kern="100" dirty="0">
                  <a:effectLst/>
                  <a:latin typeface="Times New Roman" panose="02020603050405020304" pitchFamily="18" charset="0"/>
                  <a:ea typeface="SimSun" panose="02010600030101010101" pitchFamily="2" charset="-122"/>
                </a:endParaRPr>
              </a:p>
              <a:p>
                <a:pPr indent="127000" algn="l">
                  <a:lnSpc>
                    <a:spcPct val="150000"/>
                  </a:lnSpc>
                  <a:buNone/>
                </a:pPr>
                <a14:m>
                  <m:oMathPara xmlns:m="http://schemas.openxmlformats.org/officeDocument/2006/math">
                    <m:oMathParaPr>
                      <m:jc m:val="centerGroup"/>
                    </m:oMathParaPr>
                    <m:oMath xmlns:m="http://schemas.openxmlformats.org/officeDocument/2006/math">
                      <m:sSub>
                        <m:sSubPr>
                          <m:ctrlPr>
                            <a:rPr lang="en-CN" sz="1600" i="1" kern="100">
                              <a:effectLst/>
                              <a:latin typeface="Cambria Math" panose="02040503050406030204" pitchFamily="18" charset="0"/>
                              <a:ea typeface="FangSong_GB2312" panose="02010609030101010101" pitchFamily="49" charset="-122"/>
                            </a:rPr>
                          </m:ctrlPr>
                        </m:sSubPr>
                        <m:e>
                          <m:r>
                            <a:rPr lang="en-CN" sz="1600" i="1" kern="100">
                              <a:effectLst/>
                              <a:latin typeface="Cambria Math" panose="02040503050406030204" pitchFamily="18" charset="0"/>
                              <a:ea typeface="FangSong_GB2312" panose="02010609030101010101" pitchFamily="49" charset="-122"/>
                            </a:rPr>
                            <m:t>𝐹</m:t>
                          </m:r>
                        </m:e>
                        <m:sub>
                          <m:d>
                            <m:dPr>
                              <m:ctrlPr>
                                <a:rPr lang="en-CN" sz="1600" i="1" kern="100">
                                  <a:effectLst/>
                                  <a:latin typeface="Cambria Math" panose="02040503050406030204" pitchFamily="18" charset="0"/>
                                  <a:ea typeface="FangSong_GB2312" panose="02010609030101010101" pitchFamily="49" charset="-122"/>
                                </a:rPr>
                              </m:ctrlPr>
                            </m:dPr>
                            <m:e>
                              <m:r>
                                <a:rPr lang="en-CN" sz="1600" i="1" kern="100">
                                  <a:effectLst/>
                                  <a:latin typeface="Cambria Math" panose="02040503050406030204" pitchFamily="18" charset="0"/>
                                  <a:ea typeface="FangSong_GB2312" panose="02010609030101010101" pitchFamily="49" charset="-122"/>
                                </a:rPr>
                                <m:t>𝑥</m:t>
                              </m:r>
                              <m:r>
                                <a:rPr lang="en-CN" altLang="zh-CN" sz="1600" kern="100">
                                  <a:effectLst/>
                                  <a:latin typeface="Cambria Math" panose="02040503050406030204" pitchFamily="18" charset="0"/>
                                  <a:ea typeface="FangSong_GB2312" panose="02010609030101010101" pitchFamily="49" charset="-122"/>
                                </a:rPr>
                                <m:t>→</m:t>
                              </m:r>
                              <m:r>
                                <a:rPr lang="en-CN" sz="1600" i="1" kern="100">
                                  <a:effectLst/>
                                  <a:latin typeface="Cambria Math" panose="02040503050406030204" pitchFamily="18" charset="0"/>
                                  <a:ea typeface="FangSong_GB2312" panose="02010609030101010101" pitchFamily="49" charset="-122"/>
                                </a:rPr>
                                <m:t>𝑦</m:t>
                              </m:r>
                            </m:e>
                          </m:d>
                        </m:sub>
                      </m:sSub>
                      <m:d>
                        <m:dPr>
                          <m:ctrlPr>
                            <a:rPr lang="en-CN" sz="1600" i="1" kern="100">
                              <a:effectLst/>
                              <a:latin typeface="Cambria Math" panose="02040503050406030204" pitchFamily="18" charset="0"/>
                              <a:ea typeface="FangSong_GB2312" panose="02010609030101010101" pitchFamily="49" charset="-122"/>
                            </a:rPr>
                          </m:ctrlPr>
                        </m:dPr>
                        <m:e>
                          <m:r>
                            <a:rPr lang="en-CN" sz="1600" i="1" kern="100">
                              <a:effectLst/>
                              <a:latin typeface="Cambria Math" panose="02040503050406030204" pitchFamily="18" charset="0"/>
                              <a:ea typeface="FangSong_GB2312" panose="02010609030101010101" pitchFamily="49" charset="-122"/>
                            </a:rPr>
                            <m:t>𝑓</m:t>
                          </m:r>
                        </m:e>
                      </m:d>
                      <m:r>
                        <a:rPr lang="en-CN" sz="1600" i="1" kern="100">
                          <a:effectLst/>
                          <a:latin typeface="Cambria Math" panose="02040503050406030204" pitchFamily="18" charset="0"/>
                          <a:ea typeface="FangSong_GB2312" panose="02010609030101010101" pitchFamily="49" charset="-122"/>
                        </a:rPr>
                        <m:t>=</m:t>
                      </m:r>
                      <m:r>
                        <a:rPr lang="en-CN" sz="1600" i="1" kern="100">
                          <a:effectLst/>
                          <a:latin typeface="Cambria Math" panose="02040503050406030204" pitchFamily="18" charset="0"/>
                          <a:ea typeface="FangSong_GB2312" panose="02010609030101010101" pitchFamily="49" charset="-122"/>
                        </a:rPr>
                        <m:t>𝑙𝑛</m:t>
                      </m:r>
                      <m:d>
                        <m:dPr>
                          <m:ctrlPr>
                            <a:rPr lang="en-CN" sz="1600" i="1" kern="100">
                              <a:effectLst/>
                              <a:latin typeface="Cambria Math" panose="02040503050406030204" pitchFamily="18" charset="0"/>
                              <a:ea typeface="FangSong_GB2312" panose="02010609030101010101" pitchFamily="49" charset="-122"/>
                            </a:rPr>
                          </m:ctrlPr>
                        </m:dPr>
                        <m:e>
                          <m:sSub>
                            <m:sSubPr>
                              <m:ctrlPr>
                                <a:rPr lang="en-CN" sz="1600" i="1" kern="100">
                                  <a:effectLst/>
                                  <a:latin typeface="Cambria Math" panose="02040503050406030204" pitchFamily="18" charset="0"/>
                                  <a:ea typeface="FangSong_GB2312" panose="02010609030101010101" pitchFamily="49" charset="-122"/>
                                </a:rPr>
                              </m:ctrlPr>
                            </m:sSubPr>
                            <m:e>
                              <m:r>
                                <a:rPr lang="en-CN" sz="1600" i="1" kern="100">
                                  <a:effectLst/>
                                  <a:latin typeface="Cambria Math" panose="02040503050406030204" pitchFamily="18" charset="0"/>
                                  <a:ea typeface="FangSong_GB2312" panose="02010609030101010101" pitchFamily="49" charset="-122"/>
                                </a:rPr>
                                <m:t>𝑆</m:t>
                              </m:r>
                            </m:e>
                            <m:sub>
                              <m:r>
                                <a:rPr lang="en-CN" sz="1600" i="1" kern="100">
                                  <a:effectLst/>
                                  <a:latin typeface="Cambria Math" panose="02040503050406030204" pitchFamily="18" charset="0"/>
                                  <a:ea typeface="FangSong_GB2312" panose="02010609030101010101" pitchFamily="49" charset="-122"/>
                                </a:rPr>
                                <m:t>𝑦</m:t>
                              </m:r>
                            </m:sub>
                          </m:sSub>
                          <m:r>
                            <a:rPr lang="en-CN" sz="1600" i="1" kern="100">
                              <a:effectLst/>
                              <a:latin typeface="Cambria Math" panose="02040503050406030204" pitchFamily="18" charset="0"/>
                              <a:ea typeface="FangSong_GB2312" panose="02010609030101010101" pitchFamily="49" charset="-122"/>
                            </a:rPr>
                            <m:t>𝑦</m:t>
                          </m:r>
                          <m:d>
                            <m:dPr>
                              <m:ctrlPr>
                                <a:rPr lang="en-CN" sz="1600" i="1" kern="100">
                                  <a:effectLst/>
                                  <a:latin typeface="Cambria Math" panose="02040503050406030204" pitchFamily="18" charset="0"/>
                                  <a:ea typeface="FangSong_GB2312" panose="02010609030101010101" pitchFamily="49" charset="-122"/>
                                </a:rPr>
                              </m:ctrlPr>
                            </m:dPr>
                            <m:e>
                              <m:r>
                                <a:rPr lang="en-CN" sz="1600" i="1" kern="100">
                                  <a:effectLst/>
                                  <a:latin typeface="Cambria Math" panose="02040503050406030204" pitchFamily="18" charset="0"/>
                                  <a:ea typeface="FangSong_GB2312" panose="02010609030101010101" pitchFamily="49" charset="-122"/>
                                </a:rPr>
                                <m:t>𝑓</m:t>
                              </m:r>
                            </m:e>
                          </m:d>
                          <m:r>
                            <m:rPr>
                              <m:lit/>
                            </m:rPr>
                            <a:rPr lang="en-CN" sz="1600" i="1" kern="100">
                              <a:effectLst/>
                              <a:latin typeface="Cambria Math" panose="02040503050406030204" pitchFamily="18" charset="0"/>
                              <a:ea typeface="FangSong_GB2312" panose="02010609030101010101" pitchFamily="49" charset="-122"/>
                            </a:rPr>
                            <m:t>/</m:t>
                          </m:r>
                          <m:sSub>
                            <m:sSubPr>
                              <m:ctrlPr>
                                <a:rPr lang="en-CN" sz="1600" i="1" kern="100">
                                  <a:effectLst/>
                                  <a:latin typeface="Cambria Math" panose="02040503050406030204" pitchFamily="18" charset="0"/>
                                  <a:ea typeface="FangSong_GB2312" panose="02010609030101010101" pitchFamily="49" charset="-122"/>
                                </a:rPr>
                              </m:ctrlPr>
                            </m:sSubPr>
                            <m:e>
                              <m:r>
                                <a:rPr lang="en-CN" sz="1600" i="1" kern="100">
                                  <a:effectLst/>
                                  <a:latin typeface="Cambria Math" panose="02040503050406030204" pitchFamily="18" charset="0"/>
                                  <a:ea typeface="FangSong_GB2312" panose="02010609030101010101" pitchFamily="49" charset="-122"/>
                                </a:rPr>
                                <m:t>𝑆</m:t>
                              </m:r>
                            </m:e>
                            <m:sub>
                              <m:d>
                                <m:dPr>
                                  <m:ctrlPr>
                                    <a:rPr lang="en-CN" sz="1600" i="1" kern="100">
                                      <a:effectLst/>
                                      <a:latin typeface="Cambria Math" panose="02040503050406030204" pitchFamily="18" charset="0"/>
                                      <a:ea typeface="FangSong_GB2312" panose="02010609030101010101" pitchFamily="49" charset="-122"/>
                                    </a:rPr>
                                  </m:ctrlPr>
                                </m:dPr>
                                <m:e>
                                  <m:r>
                                    <a:rPr lang="en-CN" sz="1600" i="1" kern="100">
                                      <a:effectLst/>
                                      <a:latin typeface="Cambria Math" panose="02040503050406030204" pitchFamily="18" charset="0"/>
                                      <a:ea typeface="FangSong_GB2312" panose="02010609030101010101" pitchFamily="49" charset="-122"/>
                                    </a:rPr>
                                    <m:t>𝑦𝑦</m:t>
                                  </m:r>
                                </m:e>
                                <m:e>
                                  <m:r>
                                    <a:rPr lang="en-CN" sz="1600" i="1" kern="100">
                                      <a:effectLst/>
                                      <a:latin typeface="Cambria Math" panose="02040503050406030204" pitchFamily="18" charset="0"/>
                                      <a:ea typeface="FangSong_GB2312" panose="02010609030101010101" pitchFamily="49" charset="-122"/>
                                    </a:rPr>
                                    <m:t>𝑥</m:t>
                                  </m:r>
                                </m:e>
                              </m:d>
                            </m:sub>
                          </m:sSub>
                          <m:d>
                            <m:dPr>
                              <m:ctrlPr>
                                <a:rPr lang="en-CN" sz="1600" i="1" kern="100">
                                  <a:effectLst/>
                                  <a:latin typeface="Cambria Math" panose="02040503050406030204" pitchFamily="18" charset="0"/>
                                  <a:ea typeface="FangSong_GB2312" panose="02010609030101010101" pitchFamily="49" charset="-122"/>
                                </a:rPr>
                              </m:ctrlPr>
                            </m:dPr>
                            <m:e>
                              <m:r>
                                <a:rPr lang="en-CN" sz="1600" i="1" kern="100">
                                  <a:effectLst/>
                                  <a:latin typeface="Cambria Math" panose="02040503050406030204" pitchFamily="18" charset="0"/>
                                  <a:ea typeface="FangSong_GB2312" panose="02010609030101010101" pitchFamily="49" charset="-122"/>
                                </a:rPr>
                                <m:t>𝑓</m:t>
                              </m:r>
                            </m:e>
                          </m:d>
                        </m:e>
                      </m:d>
                    </m:oMath>
                  </m:oMathPara>
                </a14:m>
                <a:endParaRPr lang="en-CN" sz="1600" kern="100" dirty="0">
                  <a:effectLst/>
                  <a:latin typeface="Times New Roman" panose="02020603050405020304" pitchFamily="18" charset="0"/>
                  <a:ea typeface="SimSun" panose="02010600030101010101" pitchFamily="2" charset="-122"/>
                </a:endParaRPr>
              </a:p>
              <a:p>
                <a:pPr indent="127000" algn="l">
                  <a:lnSpc>
                    <a:spcPct val="150000"/>
                  </a:lnSpc>
                  <a:buNone/>
                </a:pPr>
                <a14:m>
                  <m:oMathPara xmlns:m="http://schemas.openxmlformats.org/officeDocument/2006/math">
                    <m:oMathParaPr>
                      <m:jc m:val="centerGroup"/>
                    </m:oMathParaPr>
                    <m:oMath xmlns:m="http://schemas.openxmlformats.org/officeDocument/2006/math">
                      <m:sSub>
                        <m:sSubPr>
                          <m:ctrlPr>
                            <a:rPr lang="en-CN" sz="1600" i="1" kern="100">
                              <a:effectLst/>
                              <a:latin typeface="Cambria Math" panose="02040503050406030204" pitchFamily="18" charset="0"/>
                              <a:ea typeface="FangSong_GB2312" panose="02010609030101010101" pitchFamily="49" charset="-122"/>
                            </a:rPr>
                          </m:ctrlPr>
                        </m:sSubPr>
                        <m:e>
                          <m:r>
                            <a:rPr lang="en-CN" sz="1600" i="1" kern="100">
                              <a:effectLst/>
                              <a:latin typeface="Cambria Math" panose="02040503050406030204" pitchFamily="18" charset="0"/>
                              <a:ea typeface="FangSong_GB2312" panose="02010609030101010101" pitchFamily="49" charset="-122"/>
                            </a:rPr>
                            <m:t>𝐹</m:t>
                          </m:r>
                        </m:e>
                        <m:sub>
                          <m:d>
                            <m:dPr>
                              <m:ctrlPr>
                                <a:rPr lang="en-CN" sz="1600" i="1" kern="100">
                                  <a:effectLst/>
                                  <a:latin typeface="Cambria Math" panose="02040503050406030204" pitchFamily="18" charset="0"/>
                                  <a:ea typeface="FangSong_GB2312" panose="02010609030101010101" pitchFamily="49" charset="-122"/>
                                </a:rPr>
                              </m:ctrlPr>
                            </m:dPr>
                            <m:e>
                              <m:r>
                                <a:rPr lang="en-CN" sz="1600" i="1" kern="100">
                                  <a:effectLst/>
                                  <a:latin typeface="Cambria Math" panose="02040503050406030204" pitchFamily="18" charset="0"/>
                                  <a:ea typeface="FangSong_GB2312" panose="02010609030101010101" pitchFamily="49" charset="-122"/>
                                </a:rPr>
                                <m:t>𝑦</m:t>
                              </m:r>
                              <m:r>
                                <a:rPr lang="en-CN" altLang="zh-CN" sz="1600" kern="100">
                                  <a:effectLst/>
                                  <a:latin typeface="Cambria Math" panose="02040503050406030204" pitchFamily="18" charset="0"/>
                                  <a:ea typeface="FangSong_GB2312" panose="02010609030101010101" pitchFamily="49" charset="-122"/>
                                </a:rPr>
                                <m:t>→</m:t>
                              </m:r>
                              <m:r>
                                <a:rPr lang="en-CN" sz="1600" i="1" kern="100">
                                  <a:effectLst/>
                                  <a:latin typeface="Cambria Math" panose="02040503050406030204" pitchFamily="18" charset="0"/>
                                  <a:ea typeface="FangSong_GB2312" panose="02010609030101010101" pitchFamily="49" charset="-122"/>
                                </a:rPr>
                                <m:t>𝑥</m:t>
                              </m:r>
                            </m:e>
                          </m:d>
                        </m:sub>
                      </m:sSub>
                      <m:d>
                        <m:dPr>
                          <m:ctrlPr>
                            <a:rPr lang="en-CN" sz="1600" i="1" kern="100">
                              <a:effectLst/>
                              <a:latin typeface="Cambria Math" panose="02040503050406030204" pitchFamily="18" charset="0"/>
                              <a:ea typeface="FangSong_GB2312" panose="02010609030101010101" pitchFamily="49" charset="-122"/>
                            </a:rPr>
                          </m:ctrlPr>
                        </m:dPr>
                        <m:e>
                          <m:r>
                            <a:rPr lang="en-CN" sz="1600" i="1" kern="100">
                              <a:effectLst/>
                              <a:latin typeface="Cambria Math" panose="02040503050406030204" pitchFamily="18" charset="0"/>
                              <a:ea typeface="FangSong_GB2312" panose="02010609030101010101" pitchFamily="49" charset="-122"/>
                            </a:rPr>
                            <m:t>𝑓</m:t>
                          </m:r>
                        </m:e>
                      </m:d>
                      <m:r>
                        <a:rPr lang="en-CN" sz="1600" i="1" kern="100">
                          <a:effectLst/>
                          <a:latin typeface="Cambria Math" panose="02040503050406030204" pitchFamily="18" charset="0"/>
                          <a:ea typeface="FangSong_GB2312" panose="02010609030101010101" pitchFamily="49" charset="-122"/>
                        </a:rPr>
                        <m:t>=</m:t>
                      </m:r>
                      <m:r>
                        <a:rPr lang="en-CN" sz="1600" i="1" kern="100">
                          <a:effectLst/>
                          <a:latin typeface="Cambria Math" panose="02040503050406030204" pitchFamily="18" charset="0"/>
                          <a:ea typeface="FangSong_GB2312" panose="02010609030101010101" pitchFamily="49" charset="-122"/>
                        </a:rPr>
                        <m:t>𝑙𝑛</m:t>
                      </m:r>
                      <m:d>
                        <m:dPr>
                          <m:ctrlPr>
                            <a:rPr lang="en-CN" sz="1600" i="1" kern="100">
                              <a:effectLst/>
                              <a:latin typeface="Cambria Math" panose="02040503050406030204" pitchFamily="18" charset="0"/>
                              <a:ea typeface="FangSong_GB2312" panose="02010609030101010101" pitchFamily="49" charset="-122"/>
                            </a:rPr>
                          </m:ctrlPr>
                        </m:dPr>
                        <m:e>
                          <m:sSub>
                            <m:sSubPr>
                              <m:ctrlPr>
                                <a:rPr lang="en-CN" sz="1600" i="1" kern="100">
                                  <a:effectLst/>
                                  <a:latin typeface="Cambria Math" panose="02040503050406030204" pitchFamily="18" charset="0"/>
                                  <a:ea typeface="FangSong_GB2312" panose="02010609030101010101" pitchFamily="49" charset="-122"/>
                                </a:rPr>
                              </m:ctrlPr>
                            </m:sSubPr>
                            <m:e>
                              <m:r>
                                <a:rPr lang="en-CN" sz="1600" i="1" kern="100">
                                  <a:effectLst/>
                                  <a:latin typeface="Cambria Math" panose="02040503050406030204" pitchFamily="18" charset="0"/>
                                  <a:ea typeface="FangSong_GB2312" panose="02010609030101010101" pitchFamily="49" charset="-122"/>
                                </a:rPr>
                                <m:t>𝑆</m:t>
                              </m:r>
                            </m:e>
                            <m:sub>
                              <m:r>
                                <a:rPr lang="en-CN" sz="1600" i="1" kern="100">
                                  <a:effectLst/>
                                  <a:latin typeface="Cambria Math" panose="02040503050406030204" pitchFamily="18" charset="0"/>
                                  <a:ea typeface="FangSong_GB2312" panose="02010609030101010101" pitchFamily="49" charset="-122"/>
                                </a:rPr>
                                <m:t>𝑥</m:t>
                              </m:r>
                            </m:sub>
                          </m:sSub>
                          <m:r>
                            <a:rPr lang="en-CN" sz="1600" i="1" kern="100">
                              <a:effectLst/>
                              <a:latin typeface="Cambria Math" panose="02040503050406030204" pitchFamily="18" charset="0"/>
                              <a:ea typeface="FangSong_GB2312" panose="02010609030101010101" pitchFamily="49" charset="-122"/>
                            </a:rPr>
                            <m:t>𝑥</m:t>
                          </m:r>
                          <m:d>
                            <m:dPr>
                              <m:ctrlPr>
                                <a:rPr lang="en-CN" sz="1600" i="1" kern="100">
                                  <a:effectLst/>
                                  <a:latin typeface="Cambria Math" panose="02040503050406030204" pitchFamily="18" charset="0"/>
                                  <a:ea typeface="FangSong_GB2312" panose="02010609030101010101" pitchFamily="49" charset="-122"/>
                                </a:rPr>
                              </m:ctrlPr>
                            </m:dPr>
                            <m:e>
                              <m:r>
                                <a:rPr lang="en-CN" sz="1600" i="1" kern="100">
                                  <a:effectLst/>
                                  <a:latin typeface="Cambria Math" panose="02040503050406030204" pitchFamily="18" charset="0"/>
                                  <a:ea typeface="FangSong_GB2312" panose="02010609030101010101" pitchFamily="49" charset="-122"/>
                                </a:rPr>
                                <m:t>𝑓</m:t>
                              </m:r>
                            </m:e>
                          </m:d>
                          <m:r>
                            <m:rPr>
                              <m:lit/>
                            </m:rPr>
                            <a:rPr lang="en-CN" sz="1600" i="1" kern="100">
                              <a:effectLst/>
                              <a:latin typeface="Cambria Math" panose="02040503050406030204" pitchFamily="18" charset="0"/>
                              <a:ea typeface="FangSong_GB2312" panose="02010609030101010101" pitchFamily="49" charset="-122"/>
                            </a:rPr>
                            <m:t>/</m:t>
                          </m:r>
                          <m:sSub>
                            <m:sSubPr>
                              <m:ctrlPr>
                                <a:rPr lang="en-CN" sz="1600" i="1" kern="100">
                                  <a:effectLst/>
                                  <a:latin typeface="Cambria Math" panose="02040503050406030204" pitchFamily="18" charset="0"/>
                                  <a:ea typeface="FangSong_GB2312" panose="02010609030101010101" pitchFamily="49" charset="-122"/>
                                </a:rPr>
                              </m:ctrlPr>
                            </m:sSubPr>
                            <m:e>
                              <m:r>
                                <a:rPr lang="en-CN" sz="1600" i="1" kern="100">
                                  <a:effectLst/>
                                  <a:latin typeface="Cambria Math" panose="02040503050406030204" pitchFamily="18" charset="0"/>
                                  <a:ea typeface="FangSong_GB2312" panose="02010609030101010101" pitchFamily="49" charset="-122"/>
                                </a:rPr>
                                <m:t>𝑆</m:t>
                              </m:r>
                            </m:e>
                            <m:sub>
                              <m:d>
                                <m:dPr>
                                  <m:ctrlPr>
                                    <a:rPr lang="en-CN" sz="1600" i="1" kern="100">
                                      <a:effectLst/>
                                      <a:latin typeface="Cambria Math" panose="02040503050406030204" pitchFamily="18" charset="0"/>
                                      <a:ea typeface="FangSong_GB2312" panose="02010609030101010101" pitchFamily="49" charset="-122"/>
                                    </a:rPr>
                                  </m:ctrlPr>
                                </m:dPr>
                                <m:e>
                                  <m:r>
                                    <a:rPr lang="en-CN" sz="1600" i="1" kern="100">
                                      <a:effectLst/>
                                      <a:latin typeface="Cambria Math" panose="02040503050406030204" pitchFamily="18" charset="0"/>
                                      <a:ea typeface="FangSong_GB2312" panose="02010609030101010101" pitchFamily="49" charset="-122"/>
                                    </a:rPr>
                                    <m:t>𝑥𝑥</m:t>
                                  </m:r>
                                </m:e>
                                <m:e>
                                  <m:r>
                                    <a:rPr lang="en-CN" sz="1600" i="1" kern="100">
                                      <a:effectLst/>
                                      <a:latin typeface="Cambria Math" panose="02040503050406030204" pitchFamily="18" charset="0"/>
                                      <a:ea typeface="FangSong_GB2312" panose="02010609030101010101" pitchFamily="49" charset="-122"/>
                                    </a:rPr>
                                    <m:t>𝑦</m:t>
                                  </m:r>
                                </m:e>
                              </m:d>
                            </m:sub>
                          </m:sSub>
                          <m:d>
                            <m:dPr>
                              <m:ctrlPr>
                                <a:rPr lang="en-CN" sz="1600" i="1" kern="100">
                                  <a:effectLst/>
                                  <a:latin typeface="Cambria Math" panose="02040503050406030204" pitchFamily="18" charset="0"/>
                                  <a:ea typeface="FangSong_GB2312" panose="02010609030101010101" pitchFamily="49" charset="-122"/>
                                </a:rPr>
                              </m:ctrlPr>
                            </m:dPr>
                            <m:e>
                              <m:r>
                                <a:rPr lang="en-CN" sz="1600" i="1" kern="100">
                                  <a:effectLst/>
                                  <a:latin typeface="Cambria Math" panose="02040503050406030204" pitchFamily="18" charset="0"/>
                                  <a:ea typeface="FangSong_GB2312" panose="02010609030101010101" pitchFamily="49" charset="-122"/>
                                </a:rPr>
                                <m:t>𝑓</m:t>
                              </m:r>
                            </m:e>
                          </m:d>
                        </m:e>
                      </m:d>
                    </m:oMath>
                  </m:oMathPara>
                </a14:m>
                <a:endParaRPr lang="en-CN" sz="1600" kern="100" dirty="0">
                  <a:effectLst/>
                  <a:latin typeface="Times New Roman" panose="02020603050405020304" pitchFamily="18" charset="0"/>
                  <a:ea typeface="SimSun" panose="02010600030101010101" pitchFamily="2" charset="-122"/>
                </a:endParaRPr>
              </a:p>
              <a:p>
                <a:pPr indent="127000" algn="l">
                  <a:lnSpc>
                    <a:spcPct val="150000"/>
                  </a:lnSpc>
                  <a:buNone/>
                </a:pPr>
                <a14:m>
                  <m:oMathPara xmlns:m="http://schemas.openxmlformats.org/officeDocument/2006/math">
                    <m:oMathParaPr>
                      <m:jc m:val="centerGroup"/>
                    </m:oMathParaPr>
                    <m:oMath xmlns:m="http://schemas.openxmlformats.org/officeDocument/2006/math">
                      <m:r>
                        <a:rPr lang="en-CN" sz="1600" i="1" kern="100">
                          <a:effectLst/>
                          <a:latin typeface="Cambria Math" panose="02040503050406030204" pitchFamily="18" charset="0"/>
                          <a:ea typeface="FangSong_GB2312" panose="02010609030101010101" pitchFamily="49" charset="-122"/>
                        </a:rPr>
                        <m:t>𝐷</m:t>
                      </m:r>
                      <m:d>
                        <m:dPr>
                          <m:ctrlPr>
                            <a:rPr lang="en-CN" sz="1600" i="1" kern="100">
                              <a:effectLst/>
                              <a:latin typeface="Cambria Math" panose="02040503050406030204" pitchFamily="18" charset="0"/>
                              <a:ea typeface="FangSong_GB2312" panose="02010609030101010101" pitchFamily="49" charset="-122"/>
                            </a:rPr>
                          </m:ctrlPr>
                        </m:dPr>
                        <m:e>
                          <m:r>
                            <a:rPr lang="en-CN" sz="1600" i="1" kern="100">
                              <a:effectLst/>
                              <a:latin typeface="Cambria Math" panose="02040503050406030204" pitchFamily="18" charset="0"/>
                              <a:ea typeface="FangSong_GB2312" panose="02010609030101010101" pitchFamily="49" charset="-122"/>
                            </a:rPr>
                            <m:t>𝑓</m:t>
                          </m:r>
                        </m:e>
                      </m:d>
                      <m:r>
                        <a:rPr lang="en-CN" sz="1600" i="1" kern="100">
                          <a:effectLst/>
                          <a:latin typeface="Cambria Math" panose="02040503050406030204" pitchFamily="18" charset="0"/>
                          <a:ea typeface="FangSong_GB2312" panose="02010609030101010101" pitchFamily="49" charset="-122"/>
                        </a:rPr>
                        <m:t>=</m:t>
                      </m:r>
                      <m:sSub>
                        <m:sSubPr>
                          <m:ctrlPr>
                            <a:rPr lang="en-CN" sz="1600" i="1" kern="100">
                              <a:effectLst/>
                              <a:latin typeface="Cambria Math" panose="02040503050406030204" pitchFamily="18" charset="0"/>
                              <a:ea typeface="FangSong_GB2312" panose="02010609030101010101" pitchFamily="49" charset="-122"/>
                            </a:rPr>
                          </m:ctrlPr>
                        </m:sSubPr>
                        <m:e>
                          <m:r>
                            <a:rPr lang="en-CN" sz="1600" i="1" kern="100">
                              <a:effectLst/>
                              <a:latin typeface="Cambria Math" panose="02040503050406030204" pitchFamily="18" charset="0"/>
                              <a:ea typeface="FangSong_GB2312" panose="02010609030101010101" pitchFamily="49" charset="-122"/>
                            </a:rPr>
                            <m:t>𝐹</m:t>
                          </m:r>
                        </m:e>
                        <m:sub>
                          <m:r>
                            <m:rPr>
                              <m:nor/>
                            </m:rPr>
                            <a:rPr lang="en-CN" sz="1600" kern="100">
                              <a:effectLst/>
                              <a:latin typeface="Times New Roman" panose="02020603050405020304" pitchFamily="18" charset="0"/>
                              <a:ea typeface="FangSong_GB2312" panose="02010609030101010101" pitchFamily="49" charset="-122"/>
                            </a:rPr>
                            <m:t>HPC</m:t>
                          </m:r>
                          <m:r>
                            <a:rPr lang="en-CN" altLang="zh-CN" sz="1600" kern="100">
                              <a:effectLst/>
                              <a:latin typeface="Cambria Math" panose="02040503050406030204" pitchFamily="18" charset="0"/>
                              <a:ea typeface="FangSong_GB2312" panose="02010609030101010101" pitchFamily="49" charset="-122"/>
                            </a:rPr>
                            <m:t>→</m:t>
                          </m:r>
                          <m:r>
                            <m:rPr>
                              <m:nor/>
                            </m:rPr>
                            <a:rPr lang="en-CN" sz="1600" kern="100">
                              <a:effectLst/>
                              <a:latin typeface="Times New Roman" panose="02020603050405020304" pitchFamily="18" charset="0"/>
                              <a:ea typeface="FangSong_GB2312" panose="02010609030101010101" pitchFamily="49" charset="-122"/>
                            </a:rPr>
                            <m:t>AMY</m:t>
                          </m:r>
                        </m:sub>
                      </m:sSub>
                      <m:d>
                        <m:dPr>
                          <m:ctrlPr>
                            <a:rPr lang="en-CN" sz="1600" i="1" kern="100">
                              <a:effectLst/>
                              <a:latin typeface="Cambria Math" panose="02040503050406030204" pitchFamily="18" charset="0"/>
                              <a:ea typeface="FangSong_GB2312" panose="02010609030101010101" pitchFamily="49" charset="-122"/>
                            </a:rPr>
                          </m:ctrlPr>
                        </m:dPr>
                        <m:e>
                          <m:r>
                            <a:rPr lang="en-CN" sz="1600" i="1" kern="100">
                              <a:effectLst/>
                              <a:latin typeface="Cambria Math" panose="02040503050406030204" pitchFamily="18" charset="0"/>
                              <a:ea typeface="FangSong_GB2312" panose="02010609030101010101" pitchFamily="49" charset="-122"/>
                            </a:rPr>
                            <m:t>𝑓</m:t>
                          </m:r>
                        </m:e>
                      </m:d>
                      <m:r>
                        <a:rPr lang="en-CN" sz="1600" i="1" kern="100">
                          <a:effectLst/>
                          <a:latin typeface="Cambria Math" panose="02040503050406030204" pitchFamily="18" charset="0"/>
                          <a:ea typeface="FangSong_GB2312" panose="02010609030101010101" pitchFamily="49" charset="-122"/>
                        </a:rPr>
                        <m:t>−</m:t>
                      </m:r>
                      <m:sSub>
                        <m:sSubPr>
                          <m:ctrlPr>
                            <a:rPr lang="en-CN" sz="1600" i="1" kern="100">
                              <a:effectLst/>
                              <a:latin typeface="Cambria Math" panose="02040503050406030204" pitchFamily="18" charset="0"/>
                              <a:ea typeface="FangSong_GB2312" panose="02010609030101010101" pitchFamily="49" charset="-122"/>
                            </a:rPr>
                          </m:ctrlPr>
                        </m:sSubPr>
                        <m:e>
                          <m:r>
                            <a:rPr lang="en-CN" sz="1600" i="1" kern="100">
                              <a:effectLst/>
                              <a:latin typeface="Cambria Math" panose="02040503050406030204" pitchFamily="18" charset="0"/>
                              <a:ea typeface="FangSong_GB2312" panose="02010609030101010101" pitchFamily="49" charset="-122"/>
                            </a:rPr>
                            <m:t>𝐹</m:t>
                          </m:r>
                        </m:e>
                        <m:sub>
                          <m:r>
                            <m:rPr>
                              <m:nor/>
                            </m:rPr>
                            <a:rPr lang="en-CN" sz="1600" kern="100">
                              <a:effectLst/>
                              <a:latin typeface="Times New Roman" panose="02020603050405020304" pitchFamily="18" charset="0"/>
                              <a:ea typeface="FangSong_GB2312" panose="02010609030101010101" pitchFamily="49" charset="-122"/>
                            </a:rPr>
                            <m:t>AMY</m:t>
                          </m:r>
                          <m:r>
                            <a:rPr lang="en-CN" altLang="zh-CN" sz="1600" kern="100">
                              <a:effectLst/>
                              <a:latin typeface="Cambria Math" panose="02040503050406030204" pitchFamily="18" charset="0"/>
                              <a:ea typeface="FangSong_GB2312" panose="02010609030101010101" pitchFamily="49" charset="-122"/>
                            </a:rPr>
                            <m:t>→</m:t>
                          </m:r>
                          <m:r>
                            <m:rPr>
                              <m:nor/>
                            </m:rPr>
                            <a:rPr lang="en-CN" sz="1600" kern="100">
                              <a:effectLst/>
                              <a:latin typeface="Times New Roman" panose="02020603050405020304" pitchFamily="18" charset="0"/>
                              <a:ea typeface="FangSong_GB2312" panose="02010609030101010101" pitchFamily="49" charset="-122"/>
                            </a:rPr>
                            <m:t>HPC</m:t>
                          </m:r>
                        </m:sub>
                      </m:sSub>
                      <m:d>
                        <m:dPr>
                          <m:ctrlPr>
                            <a:rPr lang="en-CN" sz="1600" i="1" kern="100">
                              <a:effectLst/>
                              <a:latin typeface="Cambria Math" panose="02040503050406030204" pitchFamily="18" charset="0"/>
                              <a:ea typeface="FangSong_GB2312" panose="02010609030101010101" pitchFamily="49" charset="-122"/>
                            </a:rPr>
                          </m:ctrlPr>
                        </m:dPr>
                        <m:e>
                          <m:r>
                            <a:rPr lang="en-CN" sz="1600" i="1" kern="100">
                              <a:effectLst/>
                              <a:latin typeface="Cambria Math" panose="02040503050406030204" pitchFamily="18" charset="0"/>
                              <a:ea typeface="FangSong_GB2312" panose="02010609030101010101" pitchFamily="49" charset="-122"/>
                            </a:rPr>
                            <m:t>𝑓</m:t>
                          </m:r>
                        </m:e>
                      </m:d>
                    </m:oMath>
                  </m:oMathPara>
                </a14:m>
                <a:endParaRPr lang="en-CN" sz="1600" kern="100" dirty="0">
                  <a:effectLst/>
                  <a:latin typeface="Times New Roman" panose="02020603050405020304" pitchFamily="18" charset="0"/>
                  <a:ea typeface="SimSun" panose="02010600030101010101" pitchFamily="2" charset="-122"/>
                </a:endParaRPr>
              </a:p>
            </p:txBody>
          </p:sp>
        </mc:Choice>
        <mc:Fallback xmlns="">
          <p:sp>
            <p:nvSpPr>
              <p:cNvPr id="8" name="TextBox 7">
                <a:extLst>
                  <a:ext uri="{FF2B5EF4-FFF2-40B4-BE49-F238E27FC236}">
                    <a16:creationId xmlns:a16="http://schemas.microsoft.com/office/drawing/2014/main" id="{7576710F-D30B-5D56-614C-C558A3299A82}"/>
                  </a:ext>
                </a:extLst>
              </p:cNvPr>
              <p:cNvSpPr txBox="1">
                <a:spLocks noRot="1" noChangeAspect="1" noMove="1" noResize="1" noEditPoints="1" noAdjustHandles="1" noChangeArrowheads="1" noChangeShapeType="1" noTextEdit="1"/>
              </p:cNvSpPr>
              <p:nvPr/>
            </p:nvSpPr>
            <p:spPr>
              <a:xfrm>
                <a:off x="7407958" y="1179698"/>
                <a:ext cx="4425696" cy="4498604"/>
              </a:xfrm>
              <a:prstGeom prst="rect">
                <a:avLst/>
              </a:prstGeom>
              <a:blipFill>
                <a:blip r:embed="rId4"/>
                <a:stretch>
                  <a:fillRect/>
                </a:stretch>
              </a:blipFill>
            </p:spPr>
            <p:txBody>
              <a:bodyPr/>
              <a:lstStyle/>
              <a:p>
                <a:r>
                  <a:rPr lang="en-CN">
                    <a:noFill/>
                  </a:rPr>
                  <a:t> </a:t>
                </a:r>
              </a:p>
            </p:txBody>
          </p:sp>
        </mc:Fallback>
      </mc:AlternateContent>
      <p:sp>
        <p:nvSpPr>
          <p:cNvPr id="11" name="文本框 47">
            <a:extLst>
              <a:ext uri="{FF2B5EF4-FFF2-40B4-BE49-F238E27FC236}">
                <a16:creationId xmlns:a16="http://schemas.microsoft.com/office/drawing/2014/main" id="{B2F44D2C-C7DA-D315-5A75-BB4469602FE1}"/>
              </a:ext>
            </a:extLst>
          </p:cNvPr>
          <p:cNvSpPr txBox="1"/>
          <p:nvPr/>
        </p:nvSpPr>
        <p:spPr>
          <a:xfrm>
            <a:off x="718346" y="4070976"/>
            <a:ext cx="6689612" cy="2261581"/>
          </a:xfrm>
          <a:prstGeom prst="rect">
            <a:avLst/>
          </a:prstGeom>
          <a:noFill/>
        </p:spPr>
        <p:txBody>
          <a:bodyPr wrap="square">
            <a:spAutoFit/>
          </a:bodyPr>
          <a:lstStyle/>
          <a:p>
            <a:pPr algn="just">
              <a:lnSpc>
                <a:spcPct val="150000"/>
              </a:lnSpc>
            </a:pP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在</a:t>
            </a:r>
            <a:r>
              <a:rPr lang="zh-CN" altLang="en-CN" sz="1600" dirty="0">
                <a:latin typeface="Times New Roman" panose="02020603050405020304" pitchFamily="18" charset="0"/>
                <a:ea typeface="FangSong_GB2312" panose="02010609030101010101" pitchFamily="49" charset="-122"/>
                <a:cs typeface="Microsoft GothicNeo" panose="020B0500000101010101" pitchFamily="34" charset="-127"/>
              </a:rPr>
              <a:t>研究二</a:t>
            </a: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spike</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分析方法的基础上，进一步提取</a:t>
            </a: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70-150 Hz</a:t>
            </a:r>
            <a:r>
              <a:rPr lang="zh-CN" altLang="en-US" sz="1600" b="1" dirty="0">
                <a:latin typeface="Times New Roman" panose="02020603050405020304" pitchFamily="18" charset="0"/>
                <a:ea typeface="FangSong_GB2312" panose="02010609030101010101" pitchFamily="49" charset="-122"/>
                <a:cs typeface="Microsoft GothicNeo" panose="020B0500000101010101" pitchFamily="34" charset="-127"/>
              </a:rPr>
              <a:t>高</a:t>
            </a:r>
            <a:r>
              <a:rPr lang="en-US" altLang="zh-CN" sz="1600" b="1" dirty="0" err="1">
                <a:latin typeface="Times New Roman" panose="02020603050405020304" pitchFamily="18" charset="0"/>
                <a:ea typeface="FangSong_GB2312" panose="02010609030101010101" pitchFamily="49" charset="-122"/>
                <a:cs typeface="Microsoft GothicNeo" panose="020B0500000101010101" pitchFamily="34" charset="-127"/>
              </a:rPr>
              <a:t>γ</a:t>
            </a:r>
            <a:r>
              <a:rPr lang="zh-CN" altLang="en-US" sz="1600" b="1" dirty="0">
                <a:latin typeface="Times New Roman" panose="02020603050405020304" pitchFamily="18" charset="0"/>
                <a:ea typeface="FangSong_GB2312" panose="02010609030101010101" pitchFamily="49" charset="-122"/>
                <a:cs typeface="Microsoft GothicNeo" panose="020B0500000101010101" pitchFamily="34" charset="-127"/>
              </a:rPr>
              <a:t>包络</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，并在每个试次内计算</a:t>
            </a: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IFR</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与高伽马包络之间的</a:t>
            </a:r>
            <a:r>
              <a:rPr lang="en-US" altLang="zh-CN" sz="1600" b="1" dirty="0">
                <a:latin typeface="Times New Roman" panose="02020603050405020304" pitchFamily="18" charset="0"/>
                <a:ea typeface="FangSong_GB2312" panose="02010609030101010101" pitchFamily="49" charset="-122"/>
                <a:cs typeface="Microsoft GothicNeo" panose="020B0500000101010101" pitchFamily="34" charset="-127"/>
              </a:rPr>
              <a:t>Spearman</a:t>
            </a:r>
            <a:r>
              <a:rPr lang="zh-CN" altLang="en-US" sz="1600" b="1" dirty="0">
                <a:latin typeface="Times New Roman" panose="02020603050405020304" pitchFamily="18" charset="0"/>
                <a:ea typeface="FangSong_GB2312" panose="02010609030101010101" pitchFamily="49" charset="-122"/>
                <a:cs typeface="Microsoft GothicNeo" panose="020B0500000101010101" pitchFamily="34" charset="-127"/>
              </a:rPr>
              <a:t>相关</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，分别得到脑区内耦合和跨脑区耦合指标。</a:t>
            </a:r>
            <a:endPar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endParaRPr>
          </a:p>
          <a:p>
            <a:pPr algn="just">
              <a:lnSpc>
                <a:spcPct val="150000"/>
              </a:lnSpc>
            </a:pP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为描述杏仁核与海马放电率变化的相对时间关系，对每个试次的杏仁核</a:t>
            </a: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IFR</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和海马</a:t>
            </a: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IFR</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进行</a:t>
            </a:r>
            <a:r>
              <a:rPr lang="zh-CN" altLang="en-US" sz="1600" b="1" dirty="0">
                <a:latin typeface="Times New Roman" panose="02020603050405020304" pitchFamily="18" charset="0"/>
                <a:ea typeface="FangSong_GB2312" panose="02010609030101010101" pitchFamily="49" charset="-122"/>
                <a:cs typeface="Microsoft GothicNeo" panose="020B0500000101010101" pitchFamily="34" charset="-127"/>
              </a:rPr>
              <a:t>标准化互相关分析</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，在</a:t>
            </a: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±300 </a:t>
            </a:r>
            <a:r>
              <a:rPr lang="en-US" altLang="zh-CN" sz="1600" dirty="0" err="1">
                <a:latin typeface="Times New Roman" panose="02020603050405020304" pitchFamily="18" charset="0"/>
                <a:ea typeface="FangSong_GB2312" panose="02010609030101010101" pitchFamily="49" charset="-122"/>
                <a:cs typeface="Microsoft GothicNeo" panose="020B0500000101010101" pitchFamily="34" charset="-127"/>
              </a:rPr>
              <a:t>ms</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范围内寻找峰值相关对应的</a:t>
            </a:r>
            <a:r>
              <a:rPr lang="zh-CN" altLang="en-US" sz="1600" b="1" dirty="0">
                <a:latin typeface="Times New Roman" panose="02020603050405020304" pitchFamily="18" charset="0"/>
                <a:ea typeface="FangSong_GB2312" panose="02010609030101010101" pitchFamily="49" charset="-122"/>
                <a:cs typeface="Microsoft GothicNeo" panose="020B0500000101010101" pitchFamily="34" charset="-127"/>
              </a:rPr>
              <a:t>时滞</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；正值表示杏仁核领先海马，负值表示海马领先杏仁核。</a:t>
            </a:r>
            <a:endParaRPr lang="en-CN" sz="1600" kern="100" dirty="0">
              <a:latin typeface="Times New Roman" panose="02020603050405020304" pitchFamily="18" charset="0"/>
              <a:ea typeface="SimSun" panose="02010600030101010101" pitchFamily="2" charset="-122"/>
            </a:endParaRPr>
          </a:p>
        </p:txBody>
      </p:sp>
      <p:sp>
        <p:nvSpPr>
          <p:cNvPr id="12" name="TextBox 11">
            <a:extLst>
              <a:ext uri="{FF2B5EF4-FFF2-40B4-BE49-F238E27FC236}">
                <a16:creationId xmlns:a16="http://schemas.microsoft.com/office/drawing/2014/main" id="{A12F8DBE-F369-4B1B-525C-4BC566F7D4A6}"/>
              </a:ext>
            </a:extLst>
          </p:cNvPr>
          <p:cNvSpPr txBox="1"/>
          <p:nvPr/>
        </p:nvSpPr>
        <p:spPr>
          <a:xfrm>
            <a:off x="358346" y="3701644"/>
            <a:ext cx="6096000" cy="369332"/>
          </a:xfrm>
          <a:prstGeom prst="rect">
            <a:avLst/>
          </a:prstGeom>
          <a:noFill/>
        </p:spPr>
        <p:txBody>
          <a:bodyPr wrap="square">
            <a:spAutoFit/>
          </a:bodyPr>
          <a:lstStyle/>
          <a:p>
            <a:pPr marL="342900" indent="-342900" defTabSz="914400">
              <a:buFont typeface="Wingdings" pitchFamily="2" charset="2"/>
              <a:buChar char="Ø"/>
            </a:pPr>
            <a:r>
              <a:rPr lang="en-US" altLang="zh-CN" sz="1800" b="1" spc="300" dirty="0">
                <a:latin typeface="Times New Roman" panose="02020603050405020304" pitchFamily="18" charset="0"/>
                <a:ea typeface="FangSong_GB2312" panose="02010609030101010101" pitchFamily="49" charset="-122"/>
                <a:cs typeface="Times New Roman" panose="02020603050405020304" pitchFamily="18" charset="0"/>
              </a:rPr>
              <a:t>spike</a:t>
            </a:r>
            <a:r>
              <a:rPr lang="zh-CN" altLang="en-US" sz="1800" b="1" spc="300" dirty="0">
                <a:latin typeface="FangSong_GB2312" panose="02010609030101010101" pitchFamily="49" charset="-122"/>
                <a:ea typeface="FangSong_GB2312" panose="02010609030101010101" pitchFamily="49" charset="-122"/>
              </a:rPr>
              <a:t>分析</a:t>
            </a:r>
          </a:p>
        </p:txBody>
      </p:sp>
    </p:spTree>
    <p:extLst>
      <p:ext uri="{BB962C8B-B14F-4D97-AF65-F5344CB8AC3E}">
        <p14:creationId xmlns:p14="http://schemas.microsoft.com/office/powerpoint/2010/main" val="758909497"/>
      </p:ext>
    </p:extLst>
  </p:cSld>
  <p:clrMapOvr>
    <a:masterClrMapping/>
  </p:clrMapOvr>
  <mc:AlternateContent xmlns:mc="http://schemas.openxmlformats.org/markup-compatibility/2006" xmlns:p14="http://schemas.microsoft.com/office/powerpoint/2010/main">
    <mc:Choice Requires="p14">
      <p:transition spd="slow" p14:dur="2000" advTm="66649"/>
    </mc:Choice>
    <mc:Fallback xmlns="">
      <p:transition spd="slow" advTm="6664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33519-8E76-7036-910C-3DEEC936752B}"/>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A4B3484F-01BB-323C-BAA1-70C93C18D677}"/>
              </a:ext>
            </a:extLst>
          </p:cNvPr>
          <p:cNvSpPr/>
          <p:nvPr/>
        </p:nvSpPr>
        <p:spPr>
          <a:xfrm>
            <a:off x="1632707" y="5731621"/>
            <a:ext cx="5097160" cy="414922"/>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dirty="0"/>
          </a:p>
        </p:txBody>
      </p:sp>
      <p:sp>
        <p:nvSpPr>
          <p:cNvPr id="17" name="文本框 16">
            <a:extLst>
              <a:ext uri="{FF2B5EF4-FFF2-40B4-BE49-F238E27FC236}">
                <a16:creationId xmlns:a16="http://schemas.microsoft.com/office/drawing/2014/main" id="{E63FFB15-C77E-ACF0-C0E7-95A4A044A396}"/>
              </a:ext>
            </a:extLst>
          </p:cNvPr>
          <p:cNvSpPr txBox="1"/>
          <p:nvPr/>
        </p:nvSpPr>
        <p:spPr>
          <a:xfrm>
            <a:off x="1205171" y="395675"/>
            <a:ext cx="4093542" cy="307777"/>
          </a:xfrm>
          <a:prstGeom prst="rect">
            <a:avLst/>
          </a:prstGeom>
          <a:solidFill>
            <a:schemeClr val="bg1"/>
          </a:solid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defRPr/>
            </a:pPr>
            <a:endParaRPr kumimoji="0" lang="zh-CN" altLang="en-US" sz="1400" b="1" i="0" u="none" strike="noStrike" kern="1200" cap="none" spc="300" normalizeH="0" noProof="0" dirty="0">
              <a:ln>
                <a:noFill/>
              </a:ln>
              <a:solidFill>
                <a:prstClr val="black"/>
              </a:solidFill>
              <a:effectLst/>
              <a:uLnTx/>
              <a:uFillTx/>
              <a:latin typeface="FangSong_GB2312" panose="02010609030101010101" pitchFamily="49" charset="-122"/>
              <a:ea typeface="FangSong_GB2312" panose="02010609030101010101" pitchFamily="49" charset="-122"/>
            </a:endParaRPr>
          </a:p>
        </p:txBody>
      </p:sp>
      <p:sp>
        <p:nvSpPr>
          <p:cNvPr id="19" name="文本框 18">
            <a:extLst>
              <a:ext uri="{FF2B5EF4-FFF2-40B4-BE49-F238E27FC236}">
                <a16:creationId xmlns:a16="http://schemas.microsoft.com/office/drawing/2014/main" id="{2936E32A-D3BA-F5F8-34F4-60F84C2DD4A1}"/>
              </a:ext>
            </a:extLst>
          </p:cNvPr>
          <p:cNvSpPr txBox="1"/>
          <p:nvPr/>
        </p:nvSpPr>
        <p:spPr>
          <a:xfrm>
            <a:off x="358346" y="288442"/>
            <a:ext cx="720000" cy="523220"/>
          </a:xfrm>
          <a:prstGeom prst="rect">
            <a:avLst/>
          </a:prstGeom>
          <a:noFill/>
        </p:spPr>
        <p:txBody>
          <a:bodyPr wrap="square" rtlCol="0">
            <a:spAutoFit/>
          </a:bodyPr>
          <a:lstStyle/>
          <a:p>
            <a:pPr algn="ctr"/>
            <a:r>
              <a:rPr lang="en-US" altLang="zh-CN"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04</a:t>
            </a:r>
            <a:endParaRPr lang="zh-CN" altLang="en-US"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TextBox 2">
            <a:extLst>
              <a:ext uri="{FF2B5EF4-FFF2-40B4-BE49-F238E27FC236}">
                <a16:creationId xmlns:a16="http://schemas.microsoft.com/office/drawing/2014/main" id="{03EC094B-76A3-FBAC-5792-657EB73A59F4}"/>
              </a:ext>
            </a:extLst>
          </p:cNvPr>
          <p:cNvSpPr txBox="1"/>
          <p:nvPr/>
        </p:nvSpPr>
        <p:spPr>
          <a:xfrm>
            <a:off x="1215059" y="354359"/>
            <a:ext cx="4093541" cy="400110"/>
          </a:xfrm>
          <a:prstGeom prst="rect">
            <a:avLst/>
          </a:prstGeom>
          <a:noFill/>
        </p:spPr>
        <p:txBody>
          <a:bodyPr wrap="square">
            <a:spAutoFit/>
          </a:bodyPr>
          <a:lstStyle/>
          <a:p>
            <a:r>
              <a:rPr lang="zh-CN" altLang="en-US" sz="2000" b="1" dirty="0">
                <a:solidFill>
                  <a:schemeClr val="tx1"/>
                </a:solidFill>
                <a:latin typeface="FangSong_GB2312" panose="02010609030101010101" pitchFamily="49" charset="-122"/>
                <a:ea typeface="FangSong_GB2312" panose="02010609030101010101" pitchFamily="49" charset="-122"/>
              </a:rPr>
              <a:t>研究三结果：海马放电早于杏仁核</a:t>
            </a:r>
          </a:p>
        </p:txBody>
      </p:sp>
      <p:pic>
        <p:nvPicPr>
          <p:cNvPr id="5" name="Picture 4">
            <a:extLst>
              <a:ext uri="{FF2B5EF4-FFF2-40B4-BE49-F238E27FC236}">
                <a16:creationId xmlns:a16="http://schemas.microsoft.com/office/drawing/2014/main" id="{253CDDE1-CDB0-612D-EDD3-D94ACA4C870F}"/>
              </a:ext>
            </a:extLst>
          </p:cNvPr>
          <p:cNvPicPr>
            <a:picLocks noChangeAspect="1"/>
          </p:cNvPicPr>
          <p:nvPr/>
        </p:nvPicPr>
        <p:blipFill>
          <a:blip r:embed="rId3" cstate="print">
            <a:extLst>
              <a:ext uri="{28A0092B-C50C-407E-A947-70E740481C1C}">
                <a14:useLocalDpi xmlns:a14="http://schemas.microsoft.com/office/drawing/2010/main" val="0"/>
              </a:ext>
            </a:extLst>
          </a:blip>
          <a:srcRect b="50000"/>
          <a:stretch>
            <a:fillRect/>
          </a:stretch>
        </p:blipFill>
        <p:spPr>
          <a:xfrm>
            <a:off x="752873" y="1333841"/>
            <a:ext cx="10686254" cy="3482116"/>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FB85422-8844-028F-E864-BC8EEB396AA3}"/>
                  </a:ext>
                </a:extLst>
              </p:cNvPr>
              <p:cNvSpPr txBox="1"/>
              <p:nvPr/>
            </p:nvSpPr>
            <p:spPr>
              <a:xfrm>
                <a:off x="1596059" y="5109237"/>
                <a:ext cx="7024429" cy="414922"/>
              </a:xfrm>
              <a:prstGeom prst="rect">
                <a:avLst/>
              </a:prstGeom>
              <a:noFill/>
            </p:spPr>
            <p:txBody>
              <a:bodyPr wrap="square">
                <a:spAutoFit/>
              </a:bodyPr>
              <a:lstStyle/>
              <a:p>
                <a:pPr algn="just">
                  <a:lnSpc>
                    <a:spcPct val="150000"/>
                  </a:lnSpc>
                </a:pP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负时滞记录段的比例显著高于随机水平（</a:t>
                </a: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16/19</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，双侧</a:t>
                </a:r>
                <a14:m>
                  <m:oMath xmlns:m="http://schemas.openxmlformats.org/officeDocument/2006/math">
                    <m:r>
                      <a:rPr lang="en-US" sz="1600" i="1" dirty="0" smtClean="0">
                        <a:latin typeface="Cambria Math" panose="02040503050406030204" pitchFamily="18" charset="0"/>
                        <a:ea typeface="FangSong_GB2312" panose="02010609030101010101" pitchFamily="49" charset="-122"/>
                        <a:cs typeface="Microsoft GothicNeo" panose="020B0500000101010101" pitchFamily="34" charset="-127"/>
                      </a:rPr>
                      <m:t>𝑝</m:t>
                    </m:r>
                    <m:r>
                      <a:rPr lang="en-US" sz="1600" i="1" dirty="0" smtClean="0">
                        <a:latin typeface="Cambria Math" panose="02040503050406030204" pitchFamily="18" charset="0"/>
                        <a:ea typeface="FangSong_GB2312" panose="02010609030101010101" pitchFamily="49" charset="-122"/>
                        <a:cs typeface="Microsoft GothicNeo" panose="020B0500000101010101" pitchFamily="34" charset="-127"/>
                      </a:rPr>
                      <m:t>=0.004</m:t>
                    </m:r>
                  </m:oMath>
                </a14:m>
                <a:r>
                  <a:rPr lang="en-US" sz="1600" dirty="0">
                    <a:latin typeface="Times New Roman" panose="02020603050405020304" pitchFamily="18" charset="0"/>
                    <a:ea typeface="FangSong_GB2312" panose="02010609030101010101" pitchFamily="49" charset="-122"/>
                    <a:cs typeface="Microsoft GothicNeo" panose="020B0500000101010101" pitchFamily="34" charset="-127"/>
                  </a:rPr>
                  <a:t>）</a:t>
                </a:r>
              </a:p>
            </p:txBody>
          </p:sp>
        </mc:Choice>
        <mc:Fallback xmlns="">
          <p:sp>
            <p:nvSpPr>
              <p:cNvPr id="10" name="TextBox 9">
                <a:extLst>
                  <a:ext uri="{FF2B5EF4-FFF2-40B4-BE49-F238E27FC236}">
                    <a16:creationId xmlns:a16="http://schemas.microsoft.com/office/drawing/2014/main" id="{3FB85422-8844-028F-E864-BC8EEB396AA3}"/>
                  </a:ext>
                </a:extLst>
              </p:cNvPr>
              <p:cNvSpPr txBox="1">
                <a:spLocks noRot="1" noChangeAspect="1" noMove="1" noResize="1" noEditPoints="1" noAdjustHandles="1" noChangeArrowheads="1" noChangeShapeType="1" noTextEdit="1"/>
              </p:cNvSpPr>
              <p:nvPr/>
            </p:nvSpPr>
            <p:spPr>
              <a:xfrm>
                <a:off x="1596059" y="5109237"/>
                <a:ext cx="7024429" cy="414922"/>
              </a:xfrm>
              <a:prstGeom prst="rect">
                <a:avLst/>
              </a:prstGeom>
              <a:blipFill>
                <a:blip r:embed="rId4"/>
                <a:stretch>
                  <a:fillRect l="-361" b="-21212"/>
                </a:stretch>
              </a:blipFill>
            </p:spPr>
            <p:txBody>
              <a:bodyPr/>
              <a:lstStyle/>
              <a:p>
                <a:r>
                  <a:rPr lang="en-CN">
                    <a:noFill/>
                  </a:rPr>
                  <a:t> </a:t>
                </a:r>
              </a:p>
            </p:txBody>
          </p:sp>
        </mc:Fallback>
      </mc:AlternateContent>
      <p:sp>
        <p:nvSpPr>
          <p:cNvPr id="6" name="TextBox 5">
            <a:extLst>
              <a:ext uri="{FF2B5EF4-FFF2-40B4-BE49-F238E27FC236}">
                <a16:creationId xmlns:a16="http://schemas.microsoft.com/office/drawing/2014/main" id="{89A93282-D242-6671-EEB0-0207F1B7408F}"/>
              </a:ext>
            </a:extLst>
          </p:cNvPr>
          <p:cNvSpPr txBox="1"/>
          <p:nvPr/>
        </p:nvSpPr>
        <p:spPr>
          <a:xfrm>
            <a:off x="1632707" y="5673478"/>
            <a:ext cx="6096000" cy="414922"/>
          </a:xfrm>
          <a:prstGeom prst="rect">
            <a:avLst/>
          </a:prstGeom>
          <a:noFill/>
        </p:spPr>
        <p:txBody>
          <a:bodyPr wrap="square">
            <a:spAutoFit/>
          </a:bodyPr>
          <a:lstStyle/>
          <a:p>
            <a:pPr algn="just">
              <a:lnSpc>
                <a:spcPct val="150000"/>
              </a:lnSpc>
            </a:pP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海马对事件相关放电变化的时间响应总体上早于杏仁核</a:t>
            </a:r>
            <a:endParaRPr lang="en-CN" sz="1600" dirty="0">
              <a:latin typeface="Times New Roman" panose="02020603050405020304" pitchFamily="18" charset="0"/>
              <a:ea typeface="FangSong_GB2312" panose="02010609030101010101" pitchFamily="49" charset="-122"/>
              <a:cs typeface="Microsoft GothicNeo" panose="020B0500000101010101" pitchFamily="34" charset="-127"/>
            </a:endParaRPr>
          </a:p>
        </p:txBody>
      </p:sp>
    </p:spTree>
    <p:extLst>
      <p:ext uri="{BB962C8B-B14F-4D97-AF65-F5344CB8AC3E}">
        <p14:creationId xmlns:p14="http://schemas.microsoft.com/office/powerpoint/2010/main" val="3276614766"/>
      </p:ext>
    </p:extLst>
  </p:cSld>
  <p:clrMapOvr>
    <a:masterClrMapping/>
  </p:clrMapOvr>
  <mc:AlternateContent xmlns:mc="http://schemas.openxmlformats.org/markup-compatibility/2006" xmlns:p14="http://schemas.microsoft.com/office/powerpoint/2010/main">
    <mc:Choice Requires="p14">
      <p:transition spd="slow" p14:dur="2000" advTm="66649"/>
    </mc:Choice>
    <mc:Fallback xmlns="">
      <p:transition spd="slow" advTm="66649"/>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E1278-C60C-8AFF-FC6C-B914030A8A37}"/>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444C408A-6BE8-DA5E-CA82-41C1F675AD8A}"/>
              </a:ext>
            </a:extLst>
          </p:cNvPr>
          <p:cNvSpPr/>
          <p:nvPr/>
        </p:nvSpPr>
        <p:spPr>
          <a:xfrm>
            <a:off x="1864123" y="6050883"/>
            <a:ext cx="5870401" cy="411442"/>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dirty="0"/>
          </a:p>
        </p:txBody>
      </p:sp>
      <p:sp>
        <p:nvSpPr>
          <p:cNvPr id="9" name="TextBox 8">
            <a:extLst>
              <a:ext uri="{FF2B5EF4-FFF2-40B4-BE49-F238E27FC236}">
                <a16:creationId xmlns:a16="http://schemas.microsoft.com/office/drawing/2014/main" id="{5D302720-625D-AECF-92A4-1E9C15004EE0}"/>
              </a:ext>
            </a:extLst>
          </p:cNvPr>
          <p:cNvSpPr txBox="1"/>
          <p:nvPr/>
        </p:nvSpPr>
        <p:spPr>
          <a:xfrm>
            <a:off x="1864123" y="5059274"/>
            <a:ext cx="8463754" cy="870688"/>
          </a:xfrm>
          <a:prstGeom prst="rect">
            <a:avLst/>
          </a:prstGeom>
          <a:noFill/>
        </p:spPr>
        <p:txBody>
          <a:bodyPr wrap="square">
            <a:spAutoFit/>
          </a:bodyPr>
          <a:lstStyle/>
          <a:p>
            <a:pPr algn="just">
              <a:lnSpc>
                <a:spcPct val="150000"/>
              </a:lnSpc>
            </a:pPr>
            <a:r>
              <a:rPr lang="en-US" dirty="0" err="1">
                <a:latin typeface="Times New Roman" panose="02020603050405020304" pitchFamily="18" charset="0"/>
                <a:ea typeface="FangSong_GB2312" panose="02010609030101010101" pitchFamily="49" charset="-122"/>
                <a:cs typeface="Microsoft GothicNeo" panose="020B0500000101010101" pitchFamily="34" charset="-127"/>
              </a:rPr>
              <a:t>组水平平均sGC在A→H</a:t>
            </a:r>
            <a:r>
              <a:rPr lang="zh-CN" altLang="en-US" dirty="0">
                <a:latin typeface="Times New Roman" panose="02020603050405020304" pitchFamily="18" charset="0"/>
                <a:ea typeface="FangSong_GB2312" panose="02010609030101010101" pitchFamily="49" charset="-122"/>
                <a:cs typeface="Microsoft GothicNeo" panose="020B0500000101010101" pitchFamily="34" charset="-127"/>
              </a:rPr>
              <a:t>方向为</a:t>
            </a:r>
            <a:r>
              <a:rPr lang="en-US" dirty="0">
                <a:latin typeface="Times New Roman" panose="02020603050405020304" pitchFamily="18" charset="0"/>
                <a:ea typeface="FangSong_GB2312" panose="02010609030101010101" pitchFamily="49" charset="-122"/>
                <a:cs typeface="Microsoft GothicNeo" panose="020B0500000101010101" pitchFamily="34" charset="-127"/>
              </a:rPr>
              <a:t>0.535</a:t>
            </a:r>
            <a:r>
              <a:rPr lang="zh-CN" altLang="en-US" dirty="0">
                <a:latin typeface="Times New Roman" panose="02020603050405020304" pitchFamily="18" charset="0"/>
                <a:ea typeface="FangSong_GB2312" panose="02010609030101010101" pitchFamily="49" charset="-122"/>
                <a:cs typeface="Microsoft GothicNeo" panose="020B0500000101010101" pitchFamily="34" charset="-127"/>
              </a:rPr>
              <a:t>，</a:t>
            </a:r>
            <a:r>
              <a:rPr lang="en-US" dirty="0">
                <a:latin typeface="Times New Roman" panose="02020603050405020304" pitchFamily="18" charset="0"/>
                <a:ea typeface="FangSong_GB2312" panose="02010609030101010101" pitchFamily="49" charset="-122"/>
                <a:cs typeface="Microsoft GothicNeo" panose="020B0500000101010101" pitchFamily="34" charset="-127"/>
              </a:rPr>
              <a:t>H→A</a:t>
            </a:r>
            <a:r>
              <a:rPr lang="zh-CN" altLang="en-US" dirty="0">
                <a:latin typeface="Times New Roman" panose="02020603050405020304" pitchFamily="18" charset="0"/>
                <a:ea typeface="FangSong_GB2312" panose="02010609030101010101" pitchFamily="49" charset="-122"/>
                <a:cs typeface="Microsoft GothicNeo" panose="020B0500000101010101" pitchFamily="34" charset="-127"/>
              </a:rPr>
              <a:t>方向为</a:t>
            </a:r>
            <a:r>
              <a:rPr lang="en-US" dirty="0">
                <a:latin typeface="Times New Roman" panose="02020603050405020304" pitchFamily="18" charset="0"/>
                <a:ea typeface="FangSong_GB2312" panose="02010609030101010101" pitchFamily="49" charset="-122"/>
                <a:cs typeface="Microsoft GothicNeo" panose="020B0500000101010101" pitchFamily="34" charset="-127"/>
              </a:rPr>
              <a:t>0.584</a:t>
            </a:r>
            <a:r>
              <a:rPr lang="zh-CN" altLang="en-US" dirty="0">
                <a:latin typeface="Times New Roman" panose="02020603050405020304" pitchFamily="18" charset="0"/>
                <a:ea typeface="FangSong_GB2312" panose="02010609030101010101" pitchFamily="49" charset="-122"/>
                <a:cs typeface="Microsoft GothicNeo" panose="020B0500000101010101" pitchFamily="34" charset="-127"/>
              </a:rPr>
              <a:t>，平均方向差为</a:t>
            </a:r>
            <a:r>
              <a:rPr lang="en-US" dirty="0">
                <a:latin typeface="Times New Roman" panose="02020603050405020304" pitchFamily="18" charset="0"/>
                <a:ea typeface="FangSong_GB2312" panose="02010609030101010101" pitchFamily="49" charset="-122"/>
                <a:cs typeface="Microsoft GothicNeo" panose="020B0500000101010101" pitchFamily="34" charset="-127"/>
              </a:rPr>
              <a:t>0.049</a:t>
            </a:r>
            <a:r>
              <a:rPr lang="zh-CN" altLang="en-US" dirty="0">
                <a:latin typeface="Times New Roman" panose="02020603050405020304" pitchFamily="18" charset="0"/>
                <a:ea typeface="FangSong_GB2312" panose="02010609030101010101" pitchFamily="49" charset="-122"/>
                <a:cs typeface="Microsoft GothicNeo" panose="020B0500000101010101" pitchFamily="34" charset="-127"/>
              </a:rPr>
              <a:t>；</a:t>
            </a:r>
            <a:r>
              <a:rPr lang="en-US" dirty="0">
                <a:latin typeface="Times New Roman" panose="02020603050405020304" pitchFamily="18" charset="0"/>
                <a:ea typeface="FangSong_GB2312" panose="02010609030101010101" pitchFamily="49" charset="-122"/>
                <a:cs typeface="Microsoft GothicNeo" panose="020B0500000101010101" pitchFamily="34" charset="-127"/>
              </a:rPr>
              <a:t>FDR</a:t>
            </a:r>
            <a:r>
              <a:rPr lang="zh-CN" altLang="en-US" dirty="0">
                <a:latin typeface="Times New Roman" panose="02020603050405020304" pitchFamily="18" charset="0"/>
                <a:ea typeface="FangSong_GB2312" panose="02010609030101010101" pitchFamily="49" charset="-122"/>
                <a:cs typeface="Microsoft GothicNeo" panose="020B0500000101010101" pitchFamily="34" charset="-127"/>
              </a:rPr>
              <a:t>校正后显著频点主要分布在</a:t>
            </a:r>
            <a:r>
              <a:rPr lang="en-US" dirty="0">
                <a:latin typeface="Times New Roman" panose="02020603050405020304" pitchFamily="18" charset="0"/>
                <a:ea typeface="FangSong_GB2312" panose="02010609030101010101" pitchFamily="49" charset="-122"/>
                <a:cs typeface="Microsoft GothicNeo" panose="020B0500000101010101" pitchFamily="34" charset="-127"/>
              </a:rPr>
              <a:t>9.6-13.2 Hz</a:t>
            </a:r>
            <a:r>
              <a:rPr lang="zh-CN" altLang="en-US" dirty="0">
                <a:latin typeface="Times New Roman" panose="02020603050405020304" pitchFamily="18" charset="0"/>
                <a:ea typeface="FangSong_GB2312" panose="02010609030101010101" pitchFamily="49" charset="-122"/>
                <a:cs typeface="Microsoft GothicNeo" panose="020B0500000101010101" pitchFamily="34" charset="-127"/>
              </a:rPr>
              <a:t>、</a:t>
            </a:r>
            <a:r>
              <a:rPr lang="en-US" dirty="0">
                <a:latin typeface="Times New Roman" panose="02020603050405020304" pitchFamily="18" charset="0"/>
                <a:ea typeface="FangSong_GB2312" panose="02010609030101010101" pitchFamily="49" charset="-122"/>
                <a:cs typeface="Microsoft GothicNeo" panose="020B0500000101010101" pitchFamily="34" charset="-127"/>
              </a:rPr>
              <a:t>17.6-20.0 Hz</a:t>
            </a:r>
            <a:r>
              <a:rPr lang="zh-CN" altLang="en-US" dirty="0">
                <a:latin typeface="Times New Roman" panose="02020603050405020304" pitchFamily="18" charset="0"/>
                <a:ea typeface="FangSong_GB2312" panose="02010609030101010101" pitchFamily="49" charset="-122"/>
                <a:cs typeface="Microsoft GothicNeo" panose="020B0500000101010101" pitchFamily="34" charset="-127"/>
              </a:rPr>
              <a:t>和</a:t>
            </a:r>
            <a:r>
              <a:rPr lang="en-US" dirty="0">
                <a:latin typeface="Times New Roman" panose="02020603050405020304" pitchFamily="18" charset="0"/>
                <a:ea typeface="FangSong_GB2312" panose="02010609030101010101" pitchFamily="49" charset="-122"/>
                <a:cs typeface="Microsoft GothicNeo" panose="020B0500000101010101" pitchFamily="34" charset="-127"/>
              </a:rPr>
              <a:t>43.6-44.8 Hz</a:t>
            </a:r>
            <a:r>
              <a:rPr lang="zh-CN" altLang="en-US" dirty="0">
                <a:latin typeface="Times New Roman" panose="02020603050405020304" pitchFamily="18" charset="0"/>
                <a:ea typeface="FangSong_GB2312" panose="02010609030101010101" pitchFamily="49" charset="-122"/>
                <a:cs typeface="Microsoft GothicNeo" panose="020B0500000101010101" pitchFamily="34" charset="-127"/>
              </a:rPr>
              <a:t>三个频段</a:t>
            </a:r>
            <a:endParaRPr lang="en-US" altLang="zh-CN" dirty="0">
              <a:latin typeface="Times New Roman" panose="02020603050405020304" pitchFamily="18" charset="0"/>
              <a:ea typeface="FangSong_GB2312" panose="02010609030101010101" pitchFamily="49" charset="-122"/>
              <a:cs typeface="Microsoft GothicNeo" panose="020B0500000101010101" pitchFamily="34" charset="-127"/>
            </a:endParaRPr>
          </a:p>
        </p:txBody>
      </p:sp>
      <p:sp>
        <p:nvSpPr>
          <p:cNvPr id="17" name="文本框 16">
            <a:extLst>
              <a:ext uri="{FF2B5EF4-FFF2-40B4-BE49-F238E27FC236}">
                <a16:creationId xmlns:a16="http://schemas.microsoft.com/office/drawing/2014/main" id="{B3C9AC95-3141-529F-DC07-2DC83EE9ABE8}"/>
              </a:ext>
            </a:extLst>
          </p:cNvPr>
          <p:cNvSpPr txBox="1"/>
          <p:nvPr/>
        </p:nvSpPr>
        <p:spPr>
          <a:xfrm>
            <a:off x="1205171" y="395675"/>
            <a:ext cx="4626942" cy="307777"/>
          </a:xfrm>
          <a:prstGeom prst="rect">
            <a:avLst/>
          </a:prstGeom>
          <a:solidFill>
            <a:schemeClr val="bg1"/>
          </a:solid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defRPr/>
            </a:pPr>
            <a:endParaRPr kumimoji="0" lang="zh-CN" altLang="en-US" sz="1400" b="1" i="0" u="none" strike="noStrike" kern="1200" cap="none" spc="300" normalizeH="0" noProof="0" dirty="0">
              <a:ln>
                <a:noFill/>
              </a:ln>
              <a:solidFill>
                <a:prstClr val="black"/>
              </a:solidFill>
              <a:effectLst/>
              <a:uLnTx/>
              <a:uFillTx/>
              <a:latin typeface="FangSong_GB2312" panose="02010609030101010101" pitchFamily="49" charset="-122"/>
              <a:ea typeface="FangSong_GB2312" panose="02010609030101010101" pitchFamily="49" charset="-122"/>
            </a:endParaRPr>
          </a:p>
        </p:txBody>
      </p:sp>
      <p:sp>
        <p:nvSpPr>
          <p:cNvPr id="19" name="文本框 18">
            <a:extLst>
              <a:ext uri="{FF2B5EF4-FFF2-40B4-BE49-F238E27FC236}">
                <a16:creationId xmlns:a16="http://schemas.microsoft.com/office/drawing/2014/main" id="{92E1D471-AD9E-FB81-619F-AB8429D8EA16}"/>
              </a:ext>
            </a:extLst>
          </p:cNvPr>
          <p:cNvSpPr txBox="1"/>
          <p:nvPr/>
        </p:nvSpPr>
        <p:spPr>
          <a:xfrm>
            <a:off x="358346" y="288442"/>
            <a:ext cx="720000" cy="523220"/>
          </a:xfrm>
          <a:prstGeom prst="rect">
            <a:avLst/>
          </a:prstGeom>
          <a:noFill/>
        </p:spPr>
        <p:txBody>
          <a:bodyPr wrap="square" rtlCol="0">
            <a:spAutoFit/>
          </a:bodyPr>
          <a:lstStyle/>
          <a:p>
            <a:pPr algn="ctr"/>
            <a:r>
              <a:rPr lang="en-US" altLang="zh-CN"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04</a:t>
            </a:r>
            <a:endParaRPr lang="zh-CN" altLang="en-US"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TextBox 2">
            <a:extLst>
              <a:ext uri="{FF2B5EF4-FFF2-40B4-BE49-F238E27FC236}">
                <a16:creationId xmlns:a16="http://schemas.microsoft.com/office/drawing/2014/main" id="{E54B5023-F1CC-B656-C620-84E465BFF5A5}"/>
              </a:ext>
            </a:extLst>
          </p:cNvPr>
          <p:cNvSpPr txBox="1"/>
          <p:nvPr/>
        </p:nvSpPr>
        <p:spPr>
          <a:xfrm>
            <a:off x="1215059" y="354359"/>
            <a:ext cx="4626941" cy="400110"/>
          </a:xfrm>
          <a:prstGeom prst="rect">
            <a:avLst/>
          </a:prstGeom>
          <a:noFill/>
        </p:spPr>
        <p:txBody>
          <a:bodyPr wrap="square">
            <a:spAutoFit/>
          </a:bodyPr>
          <a:lstStyle/>
          <a:p>
            <a:r>
              <a:rPr lang="zh-CN" altLang="en-US" sz="2000" b="1" dirty="0">
                <a:solidFill>
                  <a:schemeClr val="tx1"/>
                </a:solidFill>
                <a:latin typeface="FangSong_GB2312" panose="02010609030101010101" pitchFamily="49" charset="-122"/>
                <a:ea typeface="FangSong_GB2312" panose="02010609030101010101" pitchFamily="49" charset="-122"/>
              </a:rPr>
              <a:t>研究三结果：海马</a:t>
            </a:r>
            <a:r>
              <a:rPr lang="en-US" altLang="zh-CN" sz="2000" b="1" dirty="0">
                <a:solidFill>
                  <a:schemeClr val="tx1"/>
                </a:solidFill>
                <a:latin typeface="FangSong_GB2312" panose="02010609030101010101" pitchFamily="49" charset="-122"/>
                <a:ea typeface="FangSong_GB2312" panose="02010609030101010101" pitchFamily="49" charset="-122"/>
              </a:rPr>
              <a:t>→</a:t>
            </a:r>
            <a:r>
              <a:rPr lang="zh-CN" altLang="en-US" sz="2000" b="1" dirty="0">
                <a:solidFill>
                  <a:schemeClr val="tx1"/>
                </a:solidFill>
                <a:latin typeface="FangSong_GB2312" panose="02010609030101010101" pitchFamily="49" charset="-122"/>
                <a:ea typeface="FangSong_GB2312" panose="02010609030101010101" pitchFamily="49" charset="-122"/>
              </a:rPr>
              <a:t>杏仁核信息流更强</a:t>
            </a:r>
          </a:p>
        </p:txBody>
      </p:sp>
      <p:pic>
        <p:nvPicPr>
          <p:cNvPr id="6" name="Picture 5">
            <a:extLst>
              <a:ext uri="{FF2B5EF4-FFF2-40B4-BE49-F238E27FC236}">
                <a16:creationId xmlns:a16="http://schemas.microsoft.com/office/drawing/2014/main" id="{0D06F0CE-2E44-4848-3697-BB6E6FA061C0}"/>
              </a:ext>
            </a:extLst>
          </p:cNvPr>
          <p:cNvPicPr>
            <a:picLocks noChangeAspect="1"/>
          </p:cNvPicPr>
          <p:nvPr/>
        </p:nvPicPr>
        <p:blipFill>
          <a:blip r:embed="rId3"/>
          <a:stretch>
            <a:fillRect/>
          </a:stretch>
        </p:blipFill>
        <p:spPr>
          <a:xfrm>
            <a:off x="1864123" y="986481"/>
            <a:ext cx="8463754" cy="3978988"/>
          </a:xfrm>
          <a:prstGeom prst="rect">
            <a:avLst/>
          </a:prstGeom>
        </p:spPr>
      </p:pic>
      <p:sp>
        <p:nvSpPr>
          <p:cNvPr id="4" name="TextBox 3">
            <a:extLst>
              <a:ext uri="{FF2B5EF4-FFF2-40B4-BE49-F238E27FC236}">
                <a16:creationId xmlns:a16="http://schemas.microsoft.com/office/drawing/2014/main" id="{CB81E202-16AA-BA09-74AC-246EFB4665A4}"/>
              </a:ext>
            </a:extLst>
          </p:cNvPr>
          <p:cNvSpPr txBox="1"/>
          <p:nvPr/>
        </p:nvSpPr>
        <p:spPr>
          <a:xfrm>
            <a:off x="1864123" y="5994436"/>
            <a:ext cx="5981374" cy="455189"/>
          </a:xfrm>
          <a:prstGeom prst="rect">
            <a:avLst/>
          </a:prstGeom>
          <a:noFill/>
        </p:spPr>
        <p:txBody>
          <a:bodyPr wrap="square">
            <a:spAutoFit/>
          </a:bodyPr>
          <a:lstStyle/>
          <a:p>
            <a:pPr algn="just">
              <a:lnSpc>
                <a:spcPct val="150000"/>
              </a:lnSpc>
            </a:pPr>
            <a:r>
              <a:rPr lang="zh-CN" altLang="en-US" dirty="0">
                <a:latin typeface="Times New Roman" panose="02020603050405020304" pitchFamily="18" charset="0"/>
                <a:ea typeface="FangSong_GB2312" panose="02010609030101010101" pitchFamily="49" charset="-122"/>
                <a:cs typeface="Microsoft GothicNeo" panose="020B0500000101010101" pitchFamily="34" charset="-127"/>
              </a:rPr>
              <a:t>涉及场景切换时，海马到杏仁核方向的信息流可能更强</a:t>
            </a:r>
            <a:endParaRPr lang="en-CN" sz="1600" dirty="0">
              <a:latin typeface="Times New Roman" panose="02020603050405020304" pitchFamily="18" charset="0"/>
              <a:ea typeface="FangSong_GB2312" panose="02010609030101010101" pitchFamily="49" charset="-122"/>
              <a:cs typeface="Microsoft GothicNeo" panose="020B0500000101010101" pitchFamily="34" charset="-127"/>
            </a:endParaRPr>
          </a:p>
        </p:txBody>
      </p:sp>
    </p:spTree>
    <p:extLst>
      <p:ext uri="{BB962C8B-B14F-4D97-AF65-F5344CB8AC3E}">
        <p14:creationId xmlns:p14="http://schemas.microsoft.com/office/powerpoint/2010/main" val="532677633"/>
      </p:ext>
    </p:extLst>
  </p:cSld>
  <p:clrMapOvr>
    <a:masterClrMapping/>
  </p:clrMapOvr>
  <mc:AlternateContent xmlns:mc="http://schemas.openxmlformats.org/markup-compatibility/2006" xmlns:p14="http://schemas.microsoft.com/office/powerpoint/2010/main">
    <mc:Choice Requires="p14">
      <p:transition spd="slow" p14:dur="2000" advTm="66649"/>
    </mc:Choice>
    <mc:Fallback xmlns="">
      <p:transition spd="slow" advTm="66649"/>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A7F34-EAB7-85DF-DC30-7E0BD6BAD5A4}"/>
            </a:ext>
          </a:extLst>
        </p:cNvPr>
        <p:cNvGrpSpPr/>
        <p:nvPr/>
      </p:nvGrpSpPr>
      <p:grpSpPr>
        <a:xfrm>
          <a:off x="0" y="0"/>
          <a:ext cx="0" cy="0"/>
          <a:chOff x="0" y="0"/>
          <a:chExt cx="0" cy="0"/>
        </a:xfrm>
      </p:grpSpPr>
      <p:sp>
        <p:nvSpPr>
          <p:cNvPr id="17" name="文本框 16">
            <a:extLst>
              <a:ext uri="{FF2B5EF4-FFF2-40B4-BE49-F238E27FC236}">
                <a16:creationId xmlns:a16="http://schemas.microsoft.com/office/drawing/2014/main" id="{E06F6482-20C4-BD31-999A-C6D65E86973F}"/>
              </a:ext>
            </a:extLst>
          </p:cNvPr>
          <p:cNvSpPr txBox="1"/>
          <p:nvPr/>
        </p:nvSpPr>
        <p:spPr>
          <a:xfrm>
            <a:off x="1205171" y="395675"/>
            <a:ext cx="3811329" cy="307777"/>
          </a:xfrm>
          <a:prstGeom prst="rect">
            <a:avLst/>
          </a:prstGeom>
          <a:solidFill>
            <a:schemeClr val="bg1"/>
          </a:solid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defRPr/>
            </a:pPr>
            <a:endParaRPr kumimoji="0" lang="zh-CN" altLang="en-US" sz="1400" b="1" i="0" u="none" strike="noStrike" kern="1200" cap="none" spc="300" normalizeH="0" noProof="0" dirty="0">
              <a:ln>
                <a:noFill/>
              </a:ln>
              <a:solidFill>
                <a:prstClr val="black"/>
              </a:solidFill>
              <a:effectLst/>
              <a:uLnTx/>
              <a:uFillTx/>
              <a:latin typeface="FangSong_GB2312" panose="02010609030101010101" pitchFamily="49" charset="-122"/>
              <a:ea typeface="FangSong_GB2312" panose="02010609030101010101" pitchFamily="49" charset="-122"/>
            </a:endParaRPr>
          </a:p>
        </p:txBody>
      </p:sp>
      <p:sp>
        <p:nvSpPr>
          <p:cNvPr id="19" name="文本框 18">
            <a:extLst>
              <a:ext uri="{FF2B5EF4-FFF2-40B4-BE49-F238E27FC236}">
                <a16:creationId xmlns:a16="http://schemas.microsoft.com/office/drawing/2014/main" id="{266A45FB-71BE-1501-6C60-FAE19017B1A5}"/>
              </a:ext>
            </a:extLst>
          </p:cNvPr>
          <p:cNvSpPr txBox="1"/>
          <p:nvPr/>
        </p:nvSpPr>
        <p:spPr>
          <a:xfrm>
            <a:off x="358346" y="288442"/>
            <a:ext cx="720000" cy="523220"/>
          </a:xfrm>
          <a:prstGeom prst="rect">
            <a:avLst/>
          </a:prstGeom>
          <a:noFill/>
        </p:spPr>
        <p:txBody>
          <a:bodyPr wrap="square" rtlCol="0">
            <a:spAutoFit/>
          </a:bodyPr>
          <a:lstStyle/>
          <a:p>
            <a:pPr algn="ctr"/>
            <a:r>
              <a:rPr lang="en-US" altLang="zh-CN"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04</a:t>
            </a:r>
            <a:endParaRPr lang="zh-CN" altLang="en-US"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TextBox 2">
            <a:extLst>
              <a:ext uri="{FF2B5EF4-FFF2-40B4-BE49-F238E27FC236}">
                <a16:creationId xmlns:a16="http://schemas.microsoft.com/office/drawing/2014/main" id="{95B87BDE-90AA-0C0A-1817-8042B52C64B1}"/>
              </a:ext>
            </a:extLst>
          </p:cNvPr>
          <p:cNvSpPr txBox="1"/>
          <p:nvPr/>
        </p:nvSpPr>
        <p:spPr>
          <a:xfrm>
            <a:off x="1215060" y="354359"/>
            <a:ext cx="3929966" cy="400110"/>
          </a:xfrm>
          <a:prstGeom prst="rect">
            <a:avLst/>
          </a:prstGeom>
          <a:noFill/>
        </p:spPr>
        <p:txBody>
          <a:bodyPr wrap="square">
            <a:spAutoFit/>
          </a:bodyPr>
          <a:lstStyle/>
          <a:p>
            <a:r>
              <a:rPr lang="zh-CN" altLang="en-US" sz="2000" b="1" dirty="0">
                <a:solidFill>
                  <a:schemeClr val="tx1"/>
                </a:solidFill>
                <a:latin typeface="FangSong_GB2312" panose="02010609030101010101" pitchFamily="49" charset="-122"/>
                <a:ea typeface="FangSong_GB2312" panose="02010609030101010101" pitchFamily="49" charset="-122"/>
              </a:rPr>
              <a:t>研究三：更合理的高凸显性划分</a:t>
            </a:r>
          </a:p>
        </p:txBody>
      </p:sp>
      <p:pic>
        <p:nvPicPr>
          <p:cNvPr id="43" name="Picture 42">
            <a:extLst>
              <a:ext uri="{FF2B5EF4-FFF2-40B4-BE49-F238E27FC236}">
                <a16:creationId xmlns:a16="http://schemas.microsoft.com/office/drawing/2014/main" id="{E17CDB57-D925-4BDE-96D2-A45E7165E5B4}"/>
              </a:ext>
            </a:extLst>
          </p:cNvPr>
          <p:cNvPicPr>
            <a:picLocks noChangeAspect="1"/>
          </p:cNvPicPr>
          <p:nvPr/>
        </p:nvPicPr>
        <p:blipFill>
          <a:blip r:embed="rId3" cstate="print">
            <a:extLst>
              <a:ext uri="{28A0092B-C50C-407E-A947-70E740481C1C}">
                <a14:useLocalDpi xmlns:a14="http://schemas.microsoft.com/office/drawing/2010/main" val="0"/>
              </a:ext>
            </a:extLst>
          </a:blip>
          <a:srcRect t="7418"/>
          <a:stretch>
            <a:fillRect/>
          </a:stretch>
        </p:blipFill>
        <p:spPr>
          <a:xfrm>
            <a:off x="1078346" y="1008542"/>
            <a:ext cx="10216354" cy="3422926"/>
          </a:xfrm>
          <a:prstGeom prst="rect">
            <a:avLst/>
          </a:prstGeom>
          <a:ln>
            <a:noFill/>
          </a:ln>
        </p:spPr>
      </p:pic>
      <p:sp>
        <p:nvSpPr>
          <p:cNvPr id="45" name="TextBox 44">
            <a:extLst>
              <a:ext uri="{FF2B5EF4-FFF2-40B4-BE49-F238E27FC236}">
                <a16:creationId xmlns:a16="http://schemas.microsoft.com/office/drawing/2014/main" id="{7247AD63-C6F2-85DB-1264-ADADC2CC61F1}"/>
              </a:ext>
            </a:extLst>
          </p:cNvPr>
          <p:cNvSpPr txBox="1"/>
          <p:nvPr/>
        </p:nvSpPr>
        <p:spPr>
          <a:xfrm>
            <a:off x="1308957" y="4429510"/>
            <a:ext cx="9206643" cy="875881"/>
          </a:xfrm>
          <a:prstGeom prst="rect">
            <a:avLst/>
          </a:prstGeom>
          <a:noFill/>
        </p:spPr>
        <p:txBody>
          <a:bodyPr wrap="square">
            <a:spAutoFit/>
          </a:bodyPr>
          <a:lstStyle/>
          <a:p>
            <a:pPr algn="just">
              <a:lnSpc>
                <a:spcPct val="150000"/>
              </a:lnSpc>
            </a:pPr>
            <a:r>
              <a:rPr lang="zh-CN" altLang="en-US" kern="100" dirty="0">
                <a:effectLst/>
                <a:latin typeface="Times New Roman" panose="02020603050405020304" pitchFamily="18" charset="0"/>
                <a:ea typeface="FangSong_GB2312" panose="02010609030101010101" pitchFamily="49" charset="-122"/>
                <a:cs typeface="Times New Roman" panose="02020603050405020304" pitchFamily="18" charset="0"/>
              </a:rPr>
              <a:t>使</a:t>
            </a:r>
            <a:r>
              <a:rPr lang="zh-CN" kern="100" dirty="0">
                <a:effectLst/>
                <a:latin typeface="Times New Roman" panose="02020603050405020304" pitchFamily="18" charset="0"/>
                <a:ea typeface="FangSong_GB2312" panose="02010609030101010101" pitchFamily="49" charset="-122"/>
                <a:cs typeface="Times New Roman" panose="02020603050405020304" pitchFamily="18" charset="0"/>
              </a:rPr>
              <a:t>用</a:t>
            </a:r>
            <a:r>
              <a:rPr lang="en-US" altLang="zh-CN" kern="100" dirty="0">
                <a:effectLst/>
                <a:latin typeface="Times New Roman" panose="02020603050405020304" pitchFamily="18" charset="0"/>
                <a:ea typeface="FangSong_GB2312" panose="02010609030101010101" pitchFamily="49" charset="-122"/>
                <a:cs typeface="Times New Roman" panose="02020603050405020304" pitchFamily="18" charset="0"/>
              </a:rPr>
              <a:t>VLM</a:t>
            </a:r>
            <a:r>
              <a:rPr lang="zh-CN" altLang="en-US" kern="100" dirty="0">
                <a:effectLst/>
                <a:latin typeface="Times New Roman" panose="02020603050405020304" pitchFamily="18" charset="0"/>
                <a:ea typeface="FangSong_GB2312" panose="02010609030101010101" pitchFamily="49" charset="-122"/>
                <a:cs typeface="Times New Roman" panose="02020603050405020304" pitchFamily="18" charset="0"/>
              </a:rPr>
              <a:t>模型</a:t>
            </a:r>
            <a:r>
              <a:rPr lang="en-US" kern="100" dirty="0">
                <a:effectLst/>
                <a:latin typeface="Times New Roman" panose="02020603050405020304" pitchFamily="18" charset="0"/>
                <a:ea typeface="FangSong_GB2312" panose="02010609030101010101" pitchFamily="49" charset="-122"/>
              </a:rPr>
              <a:t>Qwen/Qwen2.5-VL-3B-Instruct和声学特征共同评价视频材料的显著性水平</a:t>
            </a:r>
            <a:r>
              <a:rPr lang="zh-CN" altLang="en-US" kern="100" dirty="0">
                <a:latin typeface="Times New Roman" panose="02020603050405020304" pitchFamily="18" charset="0"/>
                <a:ea typeface="FangSong_GB2312" panose="02010609030101010101" pitchFamily="49" charset="-122"/>
              </a:rPr>
              <a:t>，</a:t>
            </a:r>
            <a:r>
              <a:rPr lang="zh-CN" altLang="en-CN" kern="100" dirty="0">
                <a:latin typeface="Times New Roman" panose="02020603050405020304" pitchFamily="18" charset="0"/>
                <a:ea typeface="FangSong_GB2312" panose="02010609030101010101" pitchFamily="49" charset="-122"/>
              </a:rPr>
              <a:t>从</a:t>
            </a:r>
            <a:r>
              <a:rPr lang="en-US" altLang="zh-CN" kern="100" dirty="0">
                <a:latin typeface="Times New Roman" panose="02020603050405020304" pitchFamily="18" charset="0"/>
                <a:ea typeface="FangSong_GB2312" panose="02010609030101010101" pitchFamily="49" charset="-122"/>
              </a:rPr>
              <a:t>477</a:t>
            </a:r>
            <a:r>
              <a:rPr lang="zh-CN" altLang="en-US" kern="100" dirty="0">
                <a:latin typeface="Times New Roman" panose="02020603050405020304" pitchFamily="18" charset="0"/>
                <a:ea typeface="FangSong_GB2312" panose="02010609030101010101" pitchFamily="49" charset="-122"/>
              </a:rPr>
              <a:t>个候选窗口中选出</a:t>
            </a:r>
            <a:r>
              <a:rPr lang="en-US" altLang="zh-CN" kern="100" dirty="0">
                <a:latin typeface="Times New Roman" panose="02020603050405020304" pitchFamily="18" charset="0"/>
                <a:ea typeface="FangSong_GB2312" panose="02010609030101010101" pitchFamily="49" charset="-122"/>
              </a:rPr>
              <a:t>19</a:t>
            </a:r>
            <a:r>
              <a:rPr lang="zh-CN" altLang="en-US" kern="100" dirty="0">
                <a:latin typeface="Times New Roman" panose="02020603050405020304" pitchFamily="18" charset="0"/>
                <a:ea typeface="FangSong_GB2312" panose="02010609030101010101" pitchFamily="49" charset="-122"/>
              </a:rPr>
              <a:t>个高凸显性窗口</a:t>
            </a:r>
            <a:endParaRPr lang="en-CN"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7B987EF-130A-9732-F029-16179E5BF64E}"/>
                  </a:ext>
                </a:extLst>
              </p:cNvPr>
              <p:cNvSpPr txBox="1"/>
              <p:nvPr/>
            </p:nvSpPr>
            <p:spPr>
              <a:xfrm>
                <a:off x="1310482" y="5305391"/>
                <a:ext cx="11267597" cy="784254"/>
              </a:xfrm>
              <a:prstGeom prst="rect">
                <a:avLst/>
              </a:prstGeom>
              <a:noFill/>
            </p:spPr>
            <p:txBody>
              <a:bodyPr wrap="square">
                <a:spAutoFit/>
              </a:bodyPr>
              <a:lstStyle/>
              <a:p>
                <a:pPr algn="just">
                  <a:lnSpc>
                    <a:spcPct val="150000"/>
                  </a:lnSpc>
                </a:pPr>
                <a:r>
                  <a:rPr lang="zh-CN" altLang="en-CN" sz="1600" kern="100" dirty="0">
                    <a:effectLst/>
                    <a:latin typeface="Times New Roman" panose="02020603050405020304" pitchFamily="18" charset="0"/>
                    <a:ea typeface="FangSong_GB2312" panose="02010609030101010101" pitchFamily="49" charset="-122"/>
                    <a:cs typeface="Times New Roman" panose="02020603050405020304" pitchFamily="18" charset="0"/>
                  </a:rPr>
                  <a:t>模型输出</a:t>
                </a:r>
                <a14:m>
                  <m:oMath xmlns:m="http://schemas.openxmlformats.org/officeDocument/2006/math">
                    <m:r>
                      <a:rPr lang="en-CN" sz="1600" i="1">
                        <a:latin typeface="Cambria Math" panose="02040503050406030204" pitchFamily="18" charset="0"/>
                      </a:rPr>
                      <m:t>𝐴𝑟𝑜𝑢𝑠𝑎𝑙𝑆𝑐𝑜𝑟</m:t>
                    </m:r>
                    <m:r>
                      <m:rPr>
                        <m:sty m:val="p"/>
                      </m:rPr>
                      <a:rPr lang="en-CN" sz="1600" i="1">
                        <a:latin typeface="Cambria Math" panose="02040503050406030204" pitchFamily="18" charset="0"/>
                      </a:rPr>
                      <m:t>e</m:t>
                    </m:r>
                  </m:oMath>
                </a14:m>
                <a:r>
                  <a:rPr lang="en-CN" sz="1600" dirty="0">
                    <a:latin typeface="FangSong_GB2312" panose="02010609030101010101" pitchFamily="49" charset="-122"/>
                    <a:ea typeface="FangSong_GB2312" panose="02010609030101010101" pitchFamily="49" charset="-122"/>
                  </a:rPr>
                  <a:t>和</a:t>
                </a:r>
                <a14:m>
                  <m:oMath xmlns:m="http://schemas.openxmlformats.org/officeDocument/2006/math">
                    <m:r>
                      <a:rPr lang="en-CN" sz="1600" i="1">
                        <a:latin typeface="Cambria Math" panose="02040503050406030204" pitchFamily="18" charset="0"/>
                      </a:rPr>
                      <m:t>𝐶𝑜𝑛𝑓𝑖𝑑𝑒𝑛𝑐𝑒</m:t>
                    </m:r>
                  </m:oMath>
                </a14:m>
                <a:endParaRPr lang="en-US" sz="1600" dirty="0">
                  <a:latin typeface="FangSong_GB2312" panose="02010609030101010101" pitchFamily="49" charset="-122"/>
                </a:endParaRPr>
              </a:p>
              <a:p>
                <a:pPr algn="just">
                  <a:lnSpc>
                    <a:spcPct val="150000"/>
                  </a:lnSpc>
                </a:pPr>
                <a:r>
                  <a:rPr lang="zh-CN" altLang="en-US" sz="1600" dirty="0">
                    <a:latin typeface="FangSong_GB2312" panose="02010609030101010101" pitchFamily="49" charset="-122"/>
                    <a:ea typeface="FangSong_GB2312" panose="02010609030101010101" pitchFamily="49" charset="-122"/>
                  </a:rPr>
                  <a:t>按照</a:t>
                </a:r>
                <a14:m>
                  <m:oMath xmlns:m="http://schemas.openxmlformats.org/officeDocument/2006/math">
                    <m:r>
                      <a:rPr lang="en-CN" sz="1600" i="1">
                        <a:latin typeface="Cambria Math" panose="02040503050406030204" pitchFamily="18" charset="0"/>
                      </a:rPr>
                      <m:t>𝐴𝑢𝑑𝑖𝑜𝑆𝑎𝑙𝑖𝑒𝑛𝑐𝑒</m:t>
                    </m:r>
                    <m:r>
                      <a:rPr lang="en-CN" sz="1600" i="1">
                        <a:latin typeface="Cambria Math" panose="02040503050406030204" pitchFamily="18" charset="0"/>
                      </a:rPr>
                      <m:t> = 0.6 × </m:t>
                    </m:r>
                    <m:r>
                      <a:rPr lang="en-CN" sz="1600" i="1">
                        <a:latin typeface="Cambria Math" panose="02040503050406030204" pitchFamily="18" charset="0"/>
                      </a:rPr>
                      <m:t>𝑅𝑚𝑠𝐸𝑛𝑒𝑟𝑔𝑦</m:t>
                    </m:r>
                    <m:r>
                      <a:rPr lang="en-CN" sz="1600" i="1">
                        <a:latin typeface="Cambria Math" panose="02040503050406030204" pitchFamily="18" charset="0"/>
                      </a:rPr>
                      <m:t> + 0.4 × </m:t>
                    </m:r>
                    <m:r>
                      <a:rPr lang="en-CN" sz="1600" i="1">
                        <a:latin typeface="Cambria Math" panose="02040503050406030204" pitchFamily="18" charset="0"/>
                      </a:rPr>
                      <m:t>𝑆𝑝𝑒𝑐𝑡𝑟𝑎𝑙𝐹𝑙𝑢𝑥</m:t>
                    </m:r>
                  </m:oMath>
                </a14:m>
                <a:r>
                  <a:rPr lang="en-CN" sz="1600" dirty="0">
                    <a:effectLst/>
                    <a:latin typeface="FangSong_GB2312" panose="02010609030101010101" pitchFamily="49" charset="-122"/>
                    <a:ea typeface="FangSong_GB2312" panose="02010609030101010101" pitchFamily="49" charset="-122"/>
                  </a:rPr>
                  <a:t>计算声学显著性</a:t>
                </a:r>
                <a:r>
                  <a:rPr lang="zh-CN" altLang="en-US" sz="1600" dirty="0">
                    <a:effectLst/>
                    <a:latin typeface="FangSong_GB2312" panose="02010609030101010101" pitchFamily="49" charset="-122"/>
                    <a:ea typeface="FangSong_GB2312" panose="02010609030101010101" pitchFamily="49" charset="-122"/>
                  </a:rPr>
                  <a:t>，</a:t>
                </a:r>
                <a:r>
                  <a:rPr lang="en-US" altLang="zh-CN" sz="1600" dirty="0">
                    <a:effectLst/>
                    <a:latin typeface="Times New Roman" panose="02020603050405020304" pitchFamily="18" charset="0"/>
                    <a:ea typeface="FangSong_GB2312" panose="02010609030101010101" pitchFamily="49" charset="-122"/>
                    <a:cs typeface="Times New Roman" panose="02020603050405020304" pitchFamily="18" charset="0"/>
                  </a:rPr>
                  <a:t>0-100</a:t>
                </a:r>
                <a:r>
                  <a:rPr lang="zh-CN" altLang="en-US" sz="1600" dirty="0">
                    <a:effectLst/>
                    <a:latin typeface="FangSong_GB2312" panose="02010609030101010101" pitchFamily="49" charset="-122"/>
                    <a:ea typeface="FangSong_GB2312" panose="02010609030101010101" pitchFamily="49" charset="-122"/>
                  </a:rPr>
                  <a:t>归一化后</a:t>
                </a:r>
                <a:r>
                  <a:rPr lang="zh-CN" altLang="en-US" sz="1600" dirty="0">
                    <a:latin typeface="FangSong_GB2312" panose="02010609030101010101" pitchFamily="49" charset="-122"/>
                    <a:ea typeface="FangSong_GB2312" panose="02010609030101010101" pitchFamily="49" charset="-122"/>
                  </a:rPr>
                  <a:t>综合得到</a:t>
                </a:r>
                <a:r>
                  <a:rPr lang="en-CN" sz="1600" dirty="0">
                    <a:effectLst/>
                    <a:latin typeface="FangSong_GB2312" panose="02010609030101010101" pitchFamily="49" charset="-122"/>
                    <a:ea typeface="FangSong_GB2312" panose="02010609030101010101" pitchFamily="49" charset="-122"/>
                  </a:rPr>
                  <a:t> </a:t>
                </a:r>
                <a:endParaRPr lang="en-CN" sz="1600" dirty="0">
                  <a:latin typeface="FangSong_GB2312" panose="02010609030101010101" pitchFamily="49" charset="-122"/>
                  <a:ea typeface="FangSong_GB2312" panose="02010609030101010101" pitchFamily="49" charset="-122"/>
                </a:endParaRPr>
              </a:p>
            </p:txBody>
          </p:sp>
        </mc:Choice>
        <mc:Fallback xmlns="">
          <p:sp>
            <p:nvSpPr>
              <p:cNvPr id="2" name="TextBox 1">
                <a:extLst>
                  <a:ext uri="{FF2B5EF4-FFF2-40B4-BE49-F238E27FC236}">
                    <a16:creationId xmlns:a16="http://schemas.microsoft.com/office/drawing/2014/main" id="{E7B987EF-130A-9732-F029-16179E5BF64E}"/>
                  </a:ext>
                </a:extLst>
              </p:cNvPr>
              <p:cNvSpPr txBox="1">
                <a:spLocks noRot="1" noChangeAspect="1" noMove="1" noResize="1" noEditPoints="1" noAdjustHandles="1" noChangeArrowheads="1" noChangeShapeType="1" noTextEdit="1"/>
              </p:cNvSpPr>
              <p:nvPr/>
            </p:nvSpPr>
            <p:spPr>
              <a:xfrm>
                <a:off x="1310482" y="5305391"/>
                <a:ext cx="11267597" cy="784254"/>
              </a:xfrm>
              <a:prstGeom prst="rect">
                <a:avLst/>
              </a:prstGeom>
              <a:blipFill>
                <a:blip r:embed="rId4"/>
                <a:stretch>
                  <a:fillRect l="-338" b="-9524"/>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4C58874-6702-1CD9-4830-352F9EFB88C4}"/>
                  </a:ext>
                </a:extLst>
              </p:cNvPr>
              <p:cNvSpPr txBox="1"/>
              <p:nvPr/>
            </p:nvSpPr>
            <p:spPr>
              <a:xfrm>
                <a:off x="1205171" y="6089645"/>
                <a:ext cx="9755131"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CN" sz="1600" i="1" smtClean="0">
                          <a:latin typeface="Cambria Math" panose="02040503050406030204" pitchFamily="18" charset="0"/>
                        </a:rPr>
                        <m:t>𝐹𝑖𝑛𝑎𝑙𝑆𝑐𝑜𝑟𝑒</m:t>
                      </m:r>
                      <m:r>
                        <a:rPr lang="en-CN" sz="1600" i="0">
                          <a:latin typeface="Cambria Math" panose="02040503050406030204" pitchFamily="18" charset="0"/>
                        </a:rPr>
                        <m:t>= 0.7 × </m:t>
                      </m:r>
                      <m:r>
                        <a:rPr lang="en-CN" sz="1600" i="1">
                          <a:latin typeface="Cambria Math" panose="02040503050406030204" pitchFamily="18" charset="0"/>
                        </a:rPr>
                        <m:t>𝐴𝑟𝑜𝑢𝑠𝑎𝑙𝑆𝑐𝑜𝑟𝑒</m:t>
                      </m:r>
                      <m:r>
                        <a:rPr lang="en-CN" sz="1600" i="0">
                          <a:latin typeface="Cambria Math" panose="02040503050406030204" pitchFamily="18" charset="0"/>
                        </a:rPr>
                        <m:t> + 0.2 × </m:t>
                      </m:r>
                      <m:r>
                        <a:rPr lang="en-CN" sz="1600" i="1">
                          <a:latin typeface="Cambria Math" panose="02040503050406030204" pitchFamily="18" charset="0"/>
                        </a:rPr>
                        <m:t>𝐶𝑜𝑛𝑓𝑖𝑑𝑒𝑛𝑐𝑒</m:t>
                      </m:r>
                      <m:r>
                        <a:rPr lang="en-CN" sz="1600" i="0">
                          <a:latin typeface="Cambria Math" panose="02040503050406030204" pitchFamily="18" charset="0"/>
                        </a:rPr>
                        <m:t> + 0.1 × </m:t>
                      </m:r>
                      <m:r>
                        <a:rPr lang="en-CN" sz="1600" i="1">
                          <a:latin typeface="Cambria Math" panose="02040503050406030204" pitchFamily="18" charset="0"/>
                        </a:rPr>
                        <m:t>𝑁𝑜𝑟𝑚𝑎𝑙𝑖𝑧𝑒𝑑𝐴𝑢𝑑𝑖𝑜𝑆𝑎𝑙𝑖𝑒𝑛𝑐𝑒</m:t>
                      </m:r>
                    </m:oMath>
                  </m:oMathPara>
                </a14:m>
                <a:endParaRPr lang="en-CN" sz="1600" dirty="0"/>
              </a:p>
            </p:txBody>
          </p:sp>
        </mc:Choice>
        <mc:Fallback xmlns="">
          <p:sp>
            <p:nvSpPr>
              <p:cNvPr id="5" name="TextBox 4">
                <a:extLst>
                  <a:ext uri="{FF2B5EF4-FFF2-40B4-BE49-F238E27FC236}">
                    <a16:creationId xmlns:a16="http://schemas.microsoft.com/office/drawing/2014/main" id="{E4C58874-6702-1CD9-4830-352F9EFB88C4}"/>
                  </a:ext>
                </a:extLst>
              </p:cNvPr>
              <p:cNvSpPr txBox="1">
                <a:spLocks noRot="1" noChangeAspect="1" noMove="1" noResize="1" noEditPoints="1" noAdjustHandles="1" noChangeArrowheads="1" noChangeShapeType="1" noTextEdit="1"/>
              </p:cNvSpPr>
              <p:nvPr/>
            </p:nvSpPr>
            <p:spPr>
              <a:xfrm>
                <a:off x="1205171" y="6089645"/>
                <a:ext cx="9755131" cy="338554"/>
              </a:xfrm>
              <a:prstGeom prst="rect">
                <a:avLst/>
              </a:prstGeom>
              <a:blipFill>
                <a:blip r:embed="rId5"/>
                <a:stretch>
                  <a:fillRect b="-14815"/>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3C25050-1CCF-2EF0-7181-91CE87D3A8C2}"/>
                  </a:ext>
                </a:extLst>
              </p:cNvPr>
              <p:cNvSpPr txBox="1"/>
              <p:nvPr/>
            </p:nvSpPr>
            <p:spPr>
              <a:xfrm>
                <a:off x="1308957" y="6428199"/>
                <a:ext cx="6100354" cy="338554"/>
              </a:xfrm>
              <a:prstGeom prst="rect">
                <a:avLst/>
              </a:prstGeom>
              <a:noFill/>
            </p:spPr>
            <p:txBody>
              <a:bodyPr wrap="square">
                <a:spAutoFit/>
              </a:bodyPr>
              <a:lstStyle/>
              <a:p>
                <a:r>
                  <a:rPr lang="zh-CN" altLang="en-US" sz="1600" dirty="0">
                    <a:latin typeface="FangSong_GB2312" panose="02010609030101010101" pitchFamily="49" charset="-122"/>
                    <a:ea typeface="FangSong_GB2312" panose="02010609030101010101" pitchFamily="49" charset="-122"/>
                  </a:rPr>
                  <a:t>定义</a:t>
                </a:r>
                <a14:m>
                  <m:oMath xmlns:m="http://schemas.openxmlformats.org/officeDocument/2006/math">
                    <m:r>
                      <a:rPr lang="en-CN" sz="1600" i="1">
                        <a:latin typeface="Cambria Math" panose="02040503050406030204" pitchFamily="18" charset="0"/>
                      </a:rPr>
                      <m:t>𝐹𝑖𝑛𝑎𝑙𝑆𝑐𝑜𝑟𝑒</m:t>
                    </m:r>
                    <m:r>
                      <a:rPr lang="en-US" sz="1600" i="1">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70</m:t>
                    </m:r>
                  </m:oMath>
                </a14:m>
                <a:r>
                  <a:rPr lang="zh-CN" altLang="en-US" sz="1600" dirty="0">
                    <a:latin typeface="FangSong_GB2312" panose="02010609030101010101" pitchFamily="49" charset="-122"/>
                    <a:ea typeface="FangSong_GB2312" panose="02010609030101010101" pitchFamily="49" charset="-122"/>
                  </a:rPr>
                  <a:t>为高凸显性窗口</a:t>
                </a:r>
                <a:endParaRPr lang="en-CN" sz="1600" dirty="0"/>
              </a:p>
            </p:txBody>
          </p:sp>
        </mc:Choice>
        <mc:Fallback xmlns="">
          <p:sp>
            <p:nvSpPr>
              <p:cNvPr id="7" name="TextBox 6">
                <a:extLst>
                  <a:ext uri="{FF2B5EF4-FFF2-40B4-BE49-F238E27FC236}">
                    <a16:creationId xmlns:a16="http://schemas.microsoft.com/office/drawing/2014/main" id="{93C25050-1CCF-2EF0-7181-91CE87D3A8C2}"/>
                  </a:ext>
                </a:extLst>
              </p:cNvPr>
              <p:cNvSpPr txBox="1">
                <a:spLocks noRot="1" noChangeAspect="1" noMove="1" noResize="1" noEditPoints="1" noAdjustHandles="1" noChangeArrowheads="1" noChangeShapeType="1" noTextEdit="1"/>
              </p:cNvSpPr>
              <p:nvPr/>
            </p:nvSpPr>
            <p:spPr>
              <a:xfrm>
                <a:off x="1308957" y="6428199"/>
                <a:ext cx="6100354" cy="338554"/>
              </a:xfrm>
              <a:prstGeom prst="rect">
                <a:avLst/>
              </a:prstGeom>
              <a:blipFill>
                <a:blip r:embed="rId6"/>
                <a:stretch>
                  <a:fillRect l="-624" t="-10714" b="-17857"/>
                </a:stretch>
              </a:blipFill>
            </p:spPr>
            <p:txBody>
              <a:bodyPr/>
              <a:lstStyle/>
              <a:p>
                <a:r>
                  <a:rPr lang="en-CN">
                    <a:noFill/>
                  </a:rPr>
                  <a:t> </a:t>
                </a:r>
              </a:p>
            </p:txBody>
          </p:sp>
        </mc:Fallback>
      </mc:AlternateContent>
    </p:spTree>
    <p:extLst>
      <p:ext uri="{BB962C8B-B14F-4D97-AF65-F5344CB8AC3E}">
        <p14:creationId xmlns:p14="http://schemas.microsoft.com/office/powerpoint/2010/main" val="83586812"/>
      </p:ext>
    </p:extLst>
  </p:cSld>
  <p:clrMapOvr>
    <a:masterClrMapping/>
  </p:clrMapOvr>
  <mc:AlternateContent xmlns:mc="http://schemas.openxmlformats.org/markup-compatibility/2006" xmlns:p14="http://schemas.microsoft.com/office/powerpoint/2010/main">
    <mc:Choice Requires="p14">
      <p:transition spd="slow" p14:dur="2000" advTm="66649"/>
    </mc:Choice>
    <mc:Fallback xmlns="">
      <p:transition spd="slow" advTm="66649"/>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0F7B4-77C8-DAD0-3F82-973878D642ED}"/>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3BD7B342-5A0D-DDA3-A084-5306514529B4}"/>
              </a:ext>
            </a:extLst>
          </p:cNvPr>
          <p:cNvSpPr/>
          <p:nvPr/>
        </p:nvSpPr>
        <p:spPr>
          <a:xfrm>
            <a:off x="596426" y="5525060"/>
            <a:ext cx="5499574" cy="772163"/>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dirty="0"/>
          </a:p>
        </p:txBody>
      </p:sp>
      <p:sp>
        <p:nvSpPr>
          <p:cNvPr id="17" name="文本框 16">
            <a:extLst>
              <a:ext uri="{FF2B5EF4-FFF2-40B4-BE49-F238E27FC236}">
                <a16:creationId xmlns:a16="http://schemas.microsoft.com/office/drawing/2014/main" id="{A26DCFF7-F35F-3722-5FF0-CF27EDEDBEE3}"/>
              </a:ext>
            </a:extLst>
          </p:cNvPr>
          <p:cNvSpPr txBox="1"/>
          <p:nvPr/>
        </p:nvSpPr>
        <p:spPr>
          <a:xfrm>
            <a:off x="1205171" y="395675"/>
            <a:ext cx="5337230" cy="307777"/>
          </a:xfrm>
          <a:prstGeom prst="rect">
            <a:avLst/>
          </a:prstGeom>
          <a:solidFill>
            <a:schemeClr val="bg1"/>
          </a:solid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defRPr/>
            </a:pPr>
            <a:endParaRPr kumimoji="0" lang="zh-CN" altLang="en-US" sz="1400" b="1" i="0" u="none" strike="noStrike" kern="1200" cap="none" spc="300" normalizeH="0" noProof="0" dirty="0">
              <a:ln>
                <a:noFill/>
              </a:ln>
              <a:solidFill>
                <a:prstClr val="black"/>
              </a:solidFill>
              <a:effectLst/>
              <a:uLnTx/>
              <a:uFillTx/>
              <a:latin typeface="FangSong_GB2312" panose="02010609030101010101" pitchFamily="49" charset="-122"/>
              <a:ea typeface="FangSong_GB2312" panose="02010609030101010101" pitchFamily="49" charset="-122"/>
            </a:endParaRPr>
          </a:p>
        </p:txBody>
      </p:sp>
      <p:sp>
        <p:nvSpPr>
          <p:cNvPr id="19" name="文本框 18">
            <a:extLst>
              <a:ext uri="{FF2B5EF4-FFF2-40B4-BE49-F238E27FC236}">
                <a16:creationId xmlns:a16="http://schemas.microsoft.com/office/drawing/2014/main" id="{F9A94739-35BF-8913-7F36-A5B09CB7CC6F}"/>
              </a:ext>
            </a:extLst>
          </p:cNvPr>
          <p:cNvSpPr txBox="1"/>
          <p:nvPr/>
        </p:nvSpPr>
        <p:spPr>
          <a:xfrm>
            <a:off x="358346" y="288442"/>
            <a:ext cx="720000" cy="523220"/>
          </a:xfrm>
          <a:prstGeom prst="rect">
            <a:avLst/>
          </a:prstGeom>
          <a:noFill/>
        </p:spPr>
        <p:txBody>
          <a:bodyPr wrap="square" rtlCol="0">
            <a:spAutoFit/>
          </a:bodyPr>
          <a:lstStyle/>
          <a:p>
            <a:pPr algn="ctr"/>
            <a:r>
              <a:rPr lang="en-US" altLang="zh-CN"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04</a:t>
            </a:r>
            <a:endParaRPr lang="zh-CN" altLang="en-US"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TextBox 2">
            <a:extLst>
              <a:ext uri="{FF2B5EF4-FFF2-40B4-BE49-F238E27FC236}">
                <a16:creationId xmlns:a16="http://schemas.microsoft.com/office/drawing/2014/main" id="{AFD96FD3-A181-B7D6-E53C-30BDE63D96FD}"/>
              </a:ext>
            </a:extLst>
          </p:cNvPr>
          <p:cNvSpPr txBox="1"/>
          <p:nvPr/>
        </p:nvSpPr>
        <p:spPr>
          <a:xfrm>
            <a:off x="1215059" y="354359"/>
            <a:ext cx="5271085" cy="400110"/>
          </a:xfrm>
          <a:prstGeom prst="rect">
            <a:avLst/>
          </a:prstGeom>
          <a:noFill/>
        </p:spPr>
        <p:txBody>
          <a:bodyPr wrap="square">
            <a:spAutoFit/>
          </a:bodyPr>
          <a:lstStyle/>
          <a:p>
            <a:r>
              <a:rPr lang="zh-CN" altLang="en-US" sz="2000" b="1" dirty="0">
                <a:solidFill>
                  <a:schemeClr val="tx1"/>
                </a:solidFill>
                <a:latin typeface="FangSong_GB2312" panose="02010609030101010101" pitchFamily="49" charset="-122"/>
                <a:ea typeface="FangSong_GB2312" panose="02010609030101010101" pitchFamily="49" charset="-122"/>
              </a:rPr>
              <a:t>研究三结果：基于</a:t>
            </a:r>
            <a:r>
              <a:rPr lang="en-US" altLang="zh-CN" sz="2000" b="1" dirty="0">
                <a:solidFill>
                  <a:schemeClr val="tx1"/>
                </a:solidFill>
                <a:latin typeface="Times New Roman" panose="02020603050405020304" pitchFamily="18" charset="0"/>
                <a:ea typeface="FangSong_GB2312" panose="02010609030101010101" pitchFamily="49" charset="-122"/>
                <a:cs typeface="Times New Roman" panose="02020603050405020304" pitchFamily="18" charset="0"/>
              </a:rPr>
              <a:t>VLM</a:t>
            </a:r>
            <a:r>
              <a:rPr lang="zh-CN" altLang="en-US" sz="2000" b="1" dirty="0">
                <a:solidFill>
                  <a:schemeClr val="tx1"/>
                </a:solidFill>
                <a:latin typeface="FangSong_GB2312" panose="02010609030101010101" pitchFamily="49" charset="-122"/>
                <a:ea typeface="FangSong_GB2312" panose="02010609030101010101" pitchFamily="49" charset="-122"/>
              </a:rPr>
              <a:t>标注的分频段信息流</a:t>
            </a:r>
          </a:p>
        </p:txBody>
      </p:sp>
      <p:sp>
        <p:nvSpPr>
          <p:cNvPr id="4" name="文本框 47">
            <a:extLst>
              <a:ext uri="{FF2B5EF4-FFF2-40B4-BE49-F238E27FC236}">
                <a16:creationId xmlns:a16="http://schemas.microsoft.com/office/drawing/2014/main" id="{8D8BC857-7B0A-22A1-27D2-180206D2E387}"/>
              </a:ext>
            </a:extLst>
          </p:cNvPr>
          <p:cNvSpPr txBox="1"/>
          <p:nvPr/>
        </p:nvSpPr>
        <p:spPr>
          <a:xfrm>
            <a:off x="596426" y="1541948"/>
            <a:ext cx="5536150" cy="784254"/>
          </a:xfrm>
          <a:prstGeom prst="rect">
            <a:avLst/>
          </a:prstGeom>
          <a:noFill/>
        </p:spPr>
        <p:txBody>
          <a:bodyPr wrap="square">
            <a:spAutoFit/>
          </a:bodyPr>
          <a:lstStyle/>
          <a:p>
            <a:pPr algn="just">
              <a:lnSpc>
                <a:spcPct val="150000"/>
              </a:lnSpc>
            </a:pP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使用</a:t>
            </a: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VLM</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标注事件</a:t>
            </a: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H→A</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平均</a:t>
            </a: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sGC</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为</a:t>
            </a: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1.501</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a:t>
            </a: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A→H</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平均</a:t>
            </a: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sGC</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为</a:t>
            </a:r>
            <a:r>
              <a:rPr lang="en-US" altLang="zh-CN" sz="1600" dirty="0">
                <a:latin typeface="Times New Roman" panose="02020603050405020304" pitchFamily="18" charset="0"/>
                <a:ea typeface="FangSong_GB2312" panose="02010609030101010101" pitchFamily="49" charset="-122"/>
                <a:cs typeface="Microsoft GothicNeo" panose="020B0500000101010101" pitchFamily="34" charset="-127"/>
              </a:rPr>
              <a:t>1.438</a:t>
            </a: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，方向差数值上仍表现为</a:t>
            </a:r>
            <a:r>
              <a:rPr lang="en-US" altLang="zh-CN" sz="1600" b="1" dirty="0">
                <a:latin typeface="Times New Roman" panose="02020603050405020304" pitchFamily="18" charset="0"/>
                <a:ea typeface="FangSong_GB2312" panose="02010609030101010101" pitchFamily="49" charset="-122"/>
                <a:cs typeface="Microsoft GothicNeo" panose="020B0500000101010101" pitchFamily="34" charset="-127"/>
              </a:rPr>
              <a:t>H→A</a:t>
            </a:r>
            <a:r>
              <a:rPr lang="zh-CN" altLang="en-US" sz="1600" b="1" dirty="0">
                <a:latin typeface="Times New Roman" panose="02020603050405020304" pitchFamily="18" charset="0"/>
                <a:ea typeface="FangSong_GB2312" panose="02010609030101010101" pitchFamily="49" charset="-122"/>
                <a:cs typeface="Microsoft GothicNeo" panose="020B0500000101010101" pitchFamily="34" charset="-127"/>
              </a:rPr>
              <a:t>更强</a:t>
            </a:r>
            <a:endParaRPr lang="en-CN" sz="1600" b="1" kern="100" dirty="0">
              <a:latin typeface="Times New Roman" panose="02020603050405020304" pitchFamily="18" charset="0"/>
              <a:ea typeface="SimSun" panose="02010600030101010101" pitchFamily="2" charset="-122"/>
            </a:endParaRPr>
          </a:p>
        </p:txBody>
      </p:sp>
      <p:sp>
        <p:nvSpPr>
          <p:cNvPr id="10" name="TextBox 9">
            <a:extLst>
              <a:ext uri="{FF2B5EF4-FFF2-40B4-BE49-F238E27FC236}">
                <a16:creationId xmlns:a16="http://schemas.microsoft.com/office/drawing/2014/main" id="{CE9F3F00-B28F-0F18-9FF8-88BFD4914A08}"/>
              </a:ext>
            </a:extLst>
          </p:cNvPr>
          <p:cNvSpPr txBox="1"/>
          <p:nvPr/>
        </p:nvSpPr>
        <p:spPr>
          <a:xfrm>
            <a:off x="596426" y="5486960"/>
            <a:ext cx="5499574" cy="784254"/>
          </a:xfrm>
          <a:prstGeom prst="rect">
            <a:avLst/>
          </a:prstGeom>
          <a:noFill/>
        </p:spPr>
        <p:txBody>
          <a:bodyPr wrap="square">
            <a:spAutoFit/>
          </a:bodyPr>
          <a:lstStyle/>
          <a:p>
            <a:pPr algn="just">
              <a:lnSpc>
                <a:spcPct val="150000"/>
              </a:lnSpc>
            </a:pPr>
            <a:r>
              <a:rPr lang="zh-CN" altLang="en-US" sz="1600" dirty="0">
                <a:latin typeface="Times New Roman" panose="02020603050405020304" pitchFamily="18" charset="0"/>
                <a:ea typeface="FangSong_GB2312" panose="02010609030101010101" pitchFamily="49" charset="-122"/>
                <a:cs typeface="Microsoft GothicNeo" panose="020B0500000101010101" pitchFamily="34" charset="-127"/>
              </a:rPr>
              <a:t>高唤醒片段锁定条件下的方向性差异主要表现为</a:t>
            </a:r>
            <a:r>
              <a:rPr lang="el-GR" altLang="zh-CN" sz="1600" b="1" dirty="0">
                <a:latin typeface="Times New Roman" panose="02020603050405020304" pitchFamily="18" charset="0"/>
                <a:ea typeface="FangSong_GB2312" panose="02010609030101010101" pitchFamily="49" charset="-122"/>
                <a:cs typeface="Microsoft GothicNeo" panose="020B0500000101010101" pitchFamily="34" charset="-127"/>
              </a:rPr>
              <a:t>δ</a:t>
            </a:r>
            <a:r>
              <a:rPr lang="zh-CN" altLang="en-US" sz="1600" b="1" dirty="0">
                <a:latin typeface="Times New Roman" panose="02020603050405020304" pitchFamily="18" charset="0"/>
                <a:ea typeface="FangSong_GB2312" panose="02010609030101010101" pitchFamily="49" charset="-122"/>
                <a:cs typeface="Microsoft GothicNeo" panose="020B0500000101010101" pitchFamily="34" charset="-127"/>
              </a:rPr>
              <a:t>和</a:t>
            </a:r>
            <a:r>
              <a:rPr lang="el-GR" altLang="zh-CN" sz="1600" b="1" dirty="0">
                <a:latin typeface="Times New Roman" panose="02020603050405020304" pitchFamily="18" charset="0"/>
                <a:ea typeface="FangSong_GB2312" panose="02010609030101010101" pitchFamily="49" charset="-122"/>
                <a:cs typeface="Microsoft GothicNeo" panose="020B0500000101010101" pitchFamily="34" charset="-127"/>
              </a:rPr>
              <a:t>α</a:t>
            </a:r>
            <a:r>
              <a:rPr lang="zh-CN" altLang="en-US" sz="1600" b="1" dirty="0">
                <a:latin typeface="Times New Roman" panose="02020603050405020304" pitchFamily="18" charset="0"/>
                <a:ea typeface="FangSong_GB2312" panose="02010609030101010101" pitchFamily="49" charset="-122"/>
                <a:cs typeface="Microsoft GothicNeo" panose="020B0500000101010101" pitchFamily="34" charset="-127"/>
              </a:rPr>
              <a:t>频段的</a:t>
            </a:r>
            <a:r>
              <a:rPr lang="zh-CN" altLang="en-US" sz="1600" b="1" dirty="0">
                <a:solidFill>
                  <a:srgbClr val="FF0000"/>
                </a:solidFill>
                <a:latin typeface="Times New Roman" panose="02020603050405020304" pitchFamily="18" charset="0"/>
                <a:ea typeface="FangSong_GB2312" panose="02010609030101010101" pitchFamily="49" charset="-122"/>
                <a:cs typeface="Microsoft GothicNeo" panose="020B0500000101010101" pitchFamily="34" charset="-127"/>
              </a:rPr>
              <a:t>海马</a:t>
            </a:r>
            <a:r>
              <a:rPr lang="en-US" altLang="zh-CN" sz="1600" b="1" dirty="0">
                <a:solidFill>
                  <a:srgbClr val="FF0000"/>
                </a:solidFill>
                <a:latin typeface="Times New Roman" panose="02020603050405020304" pitchFamily="18" charset="0"/>
                <a:ea typeface="FangSong_GB2312" panose="02010609030101010101" pitchFamily="49" charset="-122"/>
                <a:cs typeface="Microsoft GothicNeo" panose="020B0500000101010101" pitchFamily="34" charset="-127"/>
              </a:rPr>
              <a:t>→</a:t>
            </a:r>
            <a:r>
              <a:rPr lang="zh-CN" altLang="en-US" sz="1600" b="1" dirty="0">
                <a:solidFill>
                  <a:srgbClr val="FF0000"/>
                </a:solidFill>
                <a:latin typeface="Times New Roman" panose="02020603050405020304" pitchFamily="18" charset="0"/>
                <a:ea typeface="FangSong_GB2312" panose="02010609030101010101" pitchFamily="49" charset="-122"/>
                <a:cs typeface="Microsoft GothicNeo" panose="020B0500000101010101" pitchFamily="34" charset="-127"/>
              </a:rPr>
              <a:t>杏仁核优势</a:t>
            </a:r>
            <a:endParaRPr lang="en-CN" sz="1600" b="1" dirty="0">
              <a:solidFill>
                <a:srgbClr val="FF0000"/>
              </a:solidFill>
              <a:latin typeface="Times New Roman" panose="02020603050405020304" pitchFamily="18" charset="0"/>
              <a:ea typeface="FangSong_GB2312" panose="02010609030101010101" pitchFamily="49" charset="-122"/>
              <a:cs typeface="Microsoft GothicNeo" panose="020B0500000101010101" pitchFamily="34" charset="-127"/>
            </a:endParaRPr>
          </a:p>
        </p:txBody>
      </p:sp>
      <p:pic>
        <p:nvPicPr>
          <p:cNvPr id="2" name="Picture 1">
            <a:extLst>
              <a:ext uri="{FF2B5EF4-FFF2-40B4-BE49-F238E27FC236}">
                <a16:creationId xmlns:a16="http://schemas.microsoft.com/office/drawing/2014/main" id="{088409AB-CDD0-F5E2-973E-DE7ADDF4B86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27626" y="946036"/>
            <a:ext cx="4267948" cy="2760332"/>
          </a:xfrm>
          <a:prstGeom prst="rect">
            <a:avLst/>
          </a:prstGeom>
        </p:spPr>
      </p:pic>
      <p:pic>
        <p:nvPicPr>
          <p:cNvPr id="6" name="Picture 5">
            <a:extLst>
              <a:ext uri="{FF2B5EF4-FFF2-40B4-BE49-F238E27FC236}">
                <a16:creationId xmlns:a16="http://schemas.microsoft.com/office/drawing/2014/main" id="{429E5C70-41E5-E4EE-D4CF-71537CB3428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86145" y="3798515"/>
            <a:ext cx="5337230" cy="2790834"/>
          </a:xfrm>
          <a:prstGeom prst="rect">
            <a:avLst/>
          </a:prstGeom>
        </p:spPr>
      </p:pic>
      <p:graphicFrame>
        <p:nvGraphicFramePr>
          <p:cNvPr id="11" name="Table 10">
            <a:extLst>
              <a:ext uri="{FF2B5EF4-FFF2-40B4-BE49-F238E27FC236}">
                <a16:creationId xmlns:a16="http://schemas.microsoft.com/office/drawing/2014/main" id="{35E5835C-2EBF-FC4E-2D9E-59CE8A38C0FC}"/>
              </a:ext>
            </a:extLst>
          </p:cNvPr>
          <p:cNvGraphicFramePr>
            <a:graphicFrameLocks noGrp="1"/>
          </p:cNvGraphicFramePr>
          <p:nvPr>
            <p:extLst>
              <p:ext uri="{D42A27DB-BD31-4B8C-83A1-F6EECF244321}">
                <p14:modId xmlns:p14="http://schemas.microsoft.com/office/powerpoint/2010/main" val="1821907243"/>
              </p:ext>
            </p:extLst>
          </p:nvPr>
        </p:nvGraphicFramePr>
        <p:xfrm>
          <a:off x="596426" y="2881484"/>
          <a:ext cx="5536150" cy="2312448"/>
        </p:xfrm>
        <a:graphic>
          <a:graphicData uri="http://schemas.openxmlformats.org/drawingml/2006/table">
            <a:tbl>
              <a:tblPr firstRow="1" firstCol="1" bandRow="1">
                <a:tableStyleId>{5C22544A-7EE6-4342-B048-85BDC9FD1C3A}</a:tableStyleId>
              </a:tblPr>
              <a:tblGrid>
                <a:gridCol w="769730">
                  <a:extLst>
                    <a:ext uri="{9D8B030D-6E8A-4147-A177-3AD203B41FA5}">
                      <a16:colId xmlns:a16="http://schemas.microsoft.com/office/drawing/2014/main" val="2749776275"/>
                    </a:ext>
                  </a:extLst>
                </a:gridCol>
                <a:gridCol w="805544">
                  <a:extLst>
                    <a:ext uri="{9D8B030D-6E8A-4147-A177-3AD203B41FA5}">
                      <a16:colId xmlns:a16="http://schemas.microsoft.com/office/drawing/2014/main" val="963770529"/>
                    </a:ext>
                  </a:extLst>
                </a:gridCol>
                <a:gridCol w="977900">
                  <a:extLst>
                    <a:ext uri="{9D8B030D-6E8A-4147-A177-3AD203B41FA5}">
                      <a16:colId xmlns:a16="http://schemas.microsoft.com/office/drawing/2014/main" val="1601698881"/>
                    </a:ext>
                  </a:extLst>
                </a:gridCol>
                <a:gridCol w="972326">
                  <a:extLst>
                    <a:ext uri="{9D8B030D-6E8A-4147-A177-3AD203B41FA5}">
                      <a16:colId xmlns:a16="http://schemas.microsoft.com/office/drawing/2014/main" val="4160739568"/>
                    </a:ext>
                  </a:extLst>
                </a:gridCol>
                <a:gridCol w="1182734">
                  <a:extLst>
                    <a:ext uri="{9D8B030D-6E8A-4147-A177-3AD203B41FA5}">
                      <a16:colId xmlns:a16="http://schemas.microsoft.com/office/drawing/2014/main" val="667427868"/>
                    </a:ext>
                  </a:extLst>
                </a:gridCol>
                <a:gridCol w="827916">
                  <a:extLst>
                    <a:ext uri="{9D8B030D-6E8A-4147-A177-3AD203B41FA5}">
                      <a16:colId xmlns:a16="http://schemas.microsoft.com/office/drawing/2014/main" val="3234856332"/>
                    </a:ext>
                  </a:extLst>
                </a:gridCol>
              </a:tblGrid>
              <a:tr h="382928">
                <a:tc>
                  <a:txBody>
                    <a:bodyPr/>
                    <a:lstStyle/>
                    <a:p>
                      <a:pPr algn="ctr">
                        <a:lnSpc>
                          <a:spcPts val="1650"/>
                        </a:lnSpc>
                        <a:buNone/>
                      </a:pPr>
                      <a:r>
                        <a:rPr lang="zh-CN" sz="1400" kern="0" baseline="0">
                          <a:effectLst/>
                          <a:latin typeface="Times New Roman" panose="02020603050405020304" pitchFamily="18" charset="0"/>
                          <a:ea typeface="FangSong_GB2312" panose="02010609030101010101" pitchFamily="49" charset="-122"/>
                        </a:rPr>
                        <a:t>频段</a:t>
                      </a:r>
                      <a:endParaRPr lang="en-CN" sz="1400" kern="100" baseline="0">
                        <a:effectLst/>
                        <a:latin typeface="Times New Roman" panose="02020603050405020304" pitchFamily="18" charset="0"/>
                        <a:ea typeface="FangSong_GB2312" panose="02010609030101010101" pitchFamily="49" charset="-122"/>
                        <a:cs typeface="Times New Roman" panose="02020603050405020304" pitchFamily="18" charset="0"/>
                      </a:endParaRPr>
                    </a:p>
                  </a:txBody>
                  <a:tcPr marL="38100" marR="38100" marT="38100" marB="38100" anchor="ctr"/>
                </a:tc>
                <a:tc>
                  <a:txBody>
                    <a:bodyPr/>
                    <a:lstStyle/>
                    <a:p>
                      <a:pPr algn="ctr">
                        <a:lnSpc>
                          <a:spcPts val="1650"/>
                        </a:lnSpc>
                        <a:buNone/>
                      </a:pPr>
                      <a:r>
                        <a:rPr lang="zh-CN" sz="1400" kern="0" baseline="0">
                          <a:effectLst/>
                          <a:latin typeface="Times New Roman" panose="02020603050405020304" pitchFamily="18" charset="0"/>
                          <a:ea typeface="FangSong_GB2312" panose="02010609030101010101" pitchFamily="49" charset="-122"/>
                        </a:rPr>
                        <a:t>频率范围</a:t>
                      </a:r>
                      <a:endParaRPr lang="en-CN" sz="1400" kern="100" baseline="0">
                        <a:effectLst/>
                        <a:latin typeface="Times New Roman" panose="02020603050405020304" pitchFamily="18" charset="0"/>
                        <a:ea typeface="FangSong_GB2312" panose="02010609030101010101" pitchFamily="49" charset="-122"/>
                        <a:cs typeface="Times New Roman" panose="02020603050405020304" pitchFamily="18" charset="0"/>
                      </a:endParaRPr>
                    </a:p>
                  </a:txBody>
                  <a:tcPr marL="38100" marR="38100" marT="38100" marB="38100" anchor="ctr"/>
                </a:tc>
                <a:tc>
                  <a:txBody>
                    <a:bodyPr/>
                    <a:lstStyle/>
                    <a:p>
                      <a:pPr algn="ctr">
                        <a:lnSpc>
                          <a:spcPts val="1650"/>
                        </a:lnSpc>
                        <a:buNone/>
                      </a:pPr>
                      <a:r>
                        <a:rPr lang="en-CN" sz="1400" kern="0" baseline="0" dirty="0">
                          <a:effectLst/>
                          <a:latin typeface="Times New Roman" panose="02020603050405020304" pitchFamily="18" charset="0"/>
                          <a:ea typeface="FangSong_GB2312" panose="02010609030101010101" pitchFamily="49" charset="-122"/>
                        </a:rPr>
                        <a:t>A→H </a:t>
                      </a:r>
                      <a:r>
                        <a:rPr lang="zh-CN" sz="1400" kern="0" baseline="0" dirty="0">
                          <a:effectLst/>
                          <a:latin typeface="Times New Roman" panose="02020603050405020304" pitchFamily="18" charset="0"/>
                          <a:ea typeface="FangSong_GB2312" panose="02010609030101010101" pitchFamily="49" charset="-122"/>
                        </a:rPr>
                        <a:t>均值</a:t>
                      </a:r>
                      <a:endParaRPr lang="en-CN" sz="1400" kern="100" baseline="0" dirty="0">
                        <a:effectLst/>
                        <a:latin typeface="Times New Roman" panose="02020603050405020304" pitchFamily="18" charset="0"/>
                        <a:ea typeface="FangSong_GB2312" panose="02010609030101010101" pitchFamily="49" charset="-122"/>
                        <a:cs typeface="Times New Roman" panose="02020603050405020304" pitchFamily="18" charset="0"/>
                      </a:endParaRPr>
                    </a:p>
                  </a:txBody>
                  <a:tcPr marL="38100" marR="38100" marT="38100" marB="38100" anchor="ctr"/>
                </a:tc>
                <a:tc>
                  <a:txBody>
                    <a:bodyPr/>
                    <a:lstStyle/>
                    <a:p>
                      <a:pPr algn="ctr">
                        <a:lnSpc>
                          <a:spcPts val="1650"/>
                        </a:lnSpc>
                        <a:buNone/>
                      </a:pPr>
                      <a:r>
                        <a:rPr lang="en-CN" sz="1400" kern="0" baseline="0" dirty="0">
                          <a:effectLst/>
                          <a:latin typeface="Times New Roman" panose="02020603050405020304" pitchFamily="18" charset="0"/>
                          <a:ea typeface="FangSong_GB2312" panose="02010609030101010101" pitchFamily="49" charset="-122"/>
                        </a:rPr>
                        <a:t>H→A </a:t>
                      </a:r>
                      <a:r>
                        <a:rPr lang="zh-CN" sz="1400" kern="0" baseline="0" dirty="0">
                          <a:effectLst/>
                          <a:latin typeface="Times New Roman" panose="02020603050405020304" pitchFamily="18" charset="0"/>
                          <a:ea typeface="FangSong_GB2312" panose="02010609030101010101" pitchFamily="49" charset="-122"/>
                        </a:rPr>
                        <a:t>均值</a:t>
                      </a:r>
                      <a:endParaRPr lang="en-CN" sz="1400" kern="100" baseline="0" dirty="0">
                        <a:effectLst/>
                        <a:latin typeface="Times New Roman" panose="02020603050405020304" pitchFamily="18" charset="0"/>
                        <a:ea typeface="FangSong_GB2312" panose="02010609030101010101" pitchFamily="49" charset="-122"/>
                        <a:cs typeface="Times New Roman" panose="02020603050405020304" pitchFamily="18" charset="0"/>
                      </a:endParaRPr>
                    </a:p>
                  </a:txBody>
                  <a:tcPr marL="38100" marR="38100" marT="38100" marB="38100" anchor="ctr"/>
                </a:tc>
                <a:tc>
                  <a:txBody>
                    <a:bodyPr/>
                    <a:lstStyle/>
                    <a:p>
                      <a:pPr algn="ctr">
                        <a:lnSpc>
                          <a:spcPts val="1650"/>
                        </a:lnSpc>
                        <a:buNone/>
                      </a:pPr>
                      <a:r>
                        <a:rPr lang="zh-CN" sz="1400" kern="0" baseline="0" dirty="0">
                          <a:effectLst/>
                          <a:latin typeface="Times New Roman" panose="02020603050405020304" pitchFamily="18" charset="0"/>
                          <a:ea typeface="FangSong_GB2312" panose="02010609030101010101" pitchFamily="49" charset="-122"/>
                        </a:rPr>
                        <a:t>统计结果</a:t>
                      </a:r>
                      <a:endParaRPr lang="en-CN" sz="1400" kern="100" baseline="0" dirty="0">
                        <a:effectLst/>
                        <a:latin typeface="Times New Roman" panose="02020603050405020304" pitchFamily="18" charset="0"/>
                        <a:ea typeface="FangSong_GB2312" panose="02010609030101010101" pitchFamily="49" charset="-122"/>
                        <a:cs typeface="Times New Roman" panose="02020603050405020304" pitchFamily="18" charset="0"/>
                      </a:endParaRPr>
                    </a:p>
                  </a:txBody>
                  <a:tcPr marL="38100" marR="38100" marT="38100" marB="38100" anchor="ctr"/>
                </a:tc>
                <a:tc>
                  <a:txBody>
                    <a:bodyPr/>
                    <a:lstStyle/>
                    <a:p>
                      <a:pPr algn="ctr">
                        <a:lnSpc>
                          <a:spcPts val="1650"/>
                        </a:lnSpc>
                        <a:buNone/>
                      </a:pPr>
                      <a:r>
                        <a:rPr lang="en-CN" sz="1400" kern="100" baseline="0" dirty="0">
                          <a:effectLst/>
                          <a:latin typeface="Times New Roman" panose="02020603050405020304" pitchFamily="18" charset="0"/>
                          <a:ea typeface="FangSong_GB2312" panose="02010609030101010101" pitchFamily="49" charset="-122"/>
                          <a:cs typeface="Times New Roman" panose="02020603050405020304" pitchFamily="18" charset="0"/>
                        </a:rPr>
                        <a:t>p值</a:t>
                      </a:r>
                    </a:p>
                  </a:txBody>
                  <a:tcPr marL="38100" marR="38100" marT="38100" marB="38100" anchor="ctr"/>
                </a:tc>
                <a:extLst>
                  <a:ext uri="{0D108BD9-81ED-4DB2-BD59-A6C34878D82A}">
                    <a16:rowId xmlns:a16="http://schemas.microsoft.com/office/drawing/2014/main" val="1993441364"/>
                  </a:ext>
                </a:extLst>
              </a:tr>
              <a:tr h="385904">
                <a:tc>
                  <a:txBody>
                    <a:bodyPr/>
                    <a:lstStyle/>
                    <a:p>
                      <a:pPr algn="ctr">
                        <a:lnSpc>
                          <a:spcPts val="1650"/>
                        </a:lnSpc>
                        <a:buNone/>
                      </a:pPr>
                      <a:r>
                        <a:rPr lang="en-CN" sz="1400" kern="0" baseline="0">
                          <a:effectLst/>
                          <a:latin typeface="Times New Roman" panose="02020603050405020304" pitchFamily="18" charset="0"/>
                          <a:ea typeface="FangSong_GB2312" panose="02010609030101010101" pitchFamily="49" charset="-122"/>
                        </a:rPr>
                        <a:t>δ</a:t>
                      </a:r>
                      <a:endParaRPr lang="en-CN" sz="1400" kern="100" baseline="0">
                        <a:effectLst/>
                        <a:latin typeface="Times New Roman" panose="02020603050405020304" pitchFamily="18" charset="0"/>
                        <a:ea typeface="FangSong_GB2312" panose="02010609030101010101" pitchFamily="49" charset="-122"/>
                        <a:cs typeface="Times New Roman" panose="02020603050405020304" pitchFamily="18" charset="0"/>
                      </a:endParaRPr>
                    </a:p>
                  </a:txBody>
                  <a:tcPr marL="38100" marR="38100" marT="38100" marB="38100" anchor="ctr"/>
                </a:tc>
                <a:tc>
                  <a:txBody>
                    <a:bodyPr/>
                    <a:lstStyle/>
                    <a:p>
                      <a:pPr algn="ctr">
                        <a:lnSpc>
                          <a:spcPts val="1650"/>
                        </a:lnSpc>
                        <a:buNone/>
                      </a:pPr>
                      <a:r>
                        <a:rPr lang="en-CN" sz="1400" kern="0" baseline="0">
                          <a:effectLst/>
                          <a:latin typeface="Times New Roman" panose="02020603050405020304" pitchFamily="18" charset="0"/>
                          <a:ea typeface="FangSong_GB2312" panose="02010609030101010101" pitchFamily="49" charset="-122"/>
                        </a:rPr>
                        <a:t>2–4 Hz</a:t>
                      </a:r>
                      <a:endParaRPr lang="en-CN" sz="1400" kern="100" baseline="0">
                        <a:effectLst/>
                        <a:latin typeface="Times New Roman" panose="02020603050405020304" pitchFamily="18" charset="0"/>
                        <a:ea typeface="FangSong_GB2312" panose="02010609030101010101" pitchFamily="49" charset="-122"/>
                        <a:cs typeface="Times New Roman" panose="02020603050405020304" pitchFamily="18" charset="0"/>
                      </a:endParaRPr>
                    </a:p>
                  </a:txBody>
                  <a:tcPr marL="38100" marR="38100" marT="38100" marB="38100" anchor="ctr"/>
                </a:tc>
                <a:tc>
                  <a:txBody>
                    <a:bodyPr/>
                    <a:lstStyle/>
                    <a:p>
                      <a:pPr algn="ctr">
                        <a:lnSpc>
                          <a:spcPts val="1650"/>
                        </a:lnSpc>
                        <a:buNone/>
                      </a:pPr>
                      <a:r>
                        <a:rPr lang="en-CN" sz="1400" kern="0" baseline="0">
                          <a:effectLst/>
                          <a:latin typeface="Times New Roman" panose="02020603050405020304" pitchFamily="18" charset="0"/>
                          <a:ea typeface="FangSong_GB2312" panose="02010609030101010101" pitchFamily="49" charset="-122"/>
                        </a:rPr>
                        <a:t>2.187</a:t>
                      </a:r>
                      <a:endParaRPr lang="en-CN" sz="1400" kern="100" baseline="0">
                        <a:effectLst/>
                        <a:latin typeface="Times New Roman" panose="02020603050405020304" pitchFamily="18" charset="0"/>
                        <a:ea typeface="FangSong_GB2312" panose="02010609030101010101" pitchFamily="49" charset="-122"/>
                        <a:cs typeface="Times New Roman" panose="02020603050405020304" pitchFamily="18" charset="0"/>
                      </a:endParaRPr>
                    </a:p>
                  </a:txBody>
                  <a:tcPr marL="38100" marR="38100" marT="38100" marB="38100" anchor="ctr"/>
                </a:tc>
                <a:tc>
                  <a:txBody>
                    <a:bodyPr/>
                    <a:lstStyle/>
                    <a:p>
                      <a:pPr algn="ctr">
                        <a:lnSpc>
                          <a:spcPts val="1650"/>
                        </a:lnSpc>
                        <a:buNone/>
                      </a:pPr>
                      <a:r>
                        <a:rPr lang="en-CN" sz="1400" kern="0" baseline="0" dirty="0">
                          <a:effectLst/>
                          <a:latin typeface="Times New Roman" panose="02020603050405020304" pitchFamily="18" charset="0"/>
                          <a:ea typeface="FangSong_GB2312" panose="02010609030101010101" pitchFamily="49" charset="-122"/>
                        </a:rPr>
                        <a:t>2.406</a:t>
                      </a:r>
                      <a:endParaRPr lang="en-CN" sz="1400" kern="100" baseline="0" dirty="0">
                        <a:effectLst/>
                        <a:latin typeface="Times New Roman" panose="02020603050405020304" pitchFamily="18" charset="0"/>
                        <a:ea typeface="FangSong_GB2312" panose="02010609030101010101" pitchFamily="49" charset="-122"/>
                        <a:cs typeface="Times New Roman" panose="02020603050405020304" pitchFamily="18" charset="0"/>
                      </a:endParaRPr>
                    </a:p>
                  </a:txBody>
                  <a:tcPr marL="38100" marR="38100" marT="38100" marB="38100" anchor="ctr"/>
                </a:tc>
                <a:tc>
                  <a:txBody>
                    <a:bodyPr/>
                    <a:lstStyle/>
                    <a:p>
                      <a:pPr algn="ctr">
                        <a:lnSpc>
                          <a:spcPts val="1650"/>
                        </a:lnSpc>
                        <a:buNone/>
                      </a:pPr>
                      <a:r>
                        <a:rPr lang="en-CN" sz="1400" kern="0" baseline="0" dirty="0">
                          <a:effectLst/>
                          <a:latin typeface="Times New Roman" panose="02020603050405020304" pitchFamily="18" charset="0"/>
                          <a:ea typeface="FangSong_GB2312" panose="02010609030101010101" pitchFamily="49" charset="-122"/>
                        </a:rPr>
                        <a:t>H→A &gt; A→H</a:t>
                      </a:r>
                      <a:endParaRPr lang="en-US" sz="1400" kern="0" baseline="0" dirty="0">
                        <a:effectLst/>
                        <a:latin typeface="Times New Roman" panose="02020603050405020304" pitchFamily="18" charset="0"/>
                        <a:ea typeface="FangSong_GB2312" panose="02010609030101010101" pitchFamily="49" charset="-122"/>
                      </a:endParaRPr>
                    </a:p>
                  </a:txBody>
                  <a:tcPr marL="38100" marR="38100" marT="38100" marB="38100" anchor="ctr"/>
                </a:tc>
                <a:tc>
                  <a:txBody>
                    <a:bodyPr/>
                    <a:lstStyle/>
                    <a:p>
                      <a:pPr algn="ctr">
                        <a:lnSpc>
                          <a:spcPts val="1650"/>
                        </a:lnSpc>
                        <a:buNone/>
                      </a:pPr>
                      <a:r>
                        <a:rPr lang="en-US" altLang="zh-CN" sz="1400" kern="100" baseline="0" dirty="0">
                          <a:effectLst/>
                          <a:latin typeface="Times New Roman" panose="02020603050405020304" pitchFamily="18" charset="0"/>
                          <a:ea typeface="FangSong_GB2312" panose="02010609030101010101" pitchFamily="49" charset="-122"/>
                          <a:cs typeface="Times New Roman" panose="02020603050405020304" pitchFamily="18" charset="0"/>
                        </a:rPr>
                        <a:t>.011</a:t>
                      </a:r>
                      <a:endParaRPr lang="en-CN" sz="1400" kern="100" baseline="0" dirty="0">
                        <a:effectLst/>
                        <a:latin typeface="Times New Roman" panose="02020603050405020304" pitchFamily="18" charset="0"/>
                        <a:ea typeface="FangSong_GB2312" panose="02010609030101010101" pitchFamily="49" charset="-122"/>
                        <a:cs typeface="Times New Roman" panose="02020603050405020304" pitchFamily="18" charset="0"/>
                      </a:endParaRPr>
                    </a:p>
                  </a:txBody>
                  <a:tcPr marL="38100" marR="38100" marT="38100" marB="38100" anchor="ctr"/>
                </a:tc>
                <a:extLst>
                  <a:ext uri="{0D108BD9-81ED-4DB2-BD59-A6C34878D82A}">
                    <a16:rowId xmlns:a16="http://schemas.microsoft.com/office/drawing/2014/main" val="185933639"/>
                  </a:ext>
                </a:extLst>
              </a:tr>
              <a:tr h="385904">
                <a:tc>
                  <a:txBody>
                    <a:bodyPr/>
                    <a:lstStyle/>
                    <a:p>
                      <a:pPr algn="ctr">
                        <a:lnSpc>
                          <a:spcPts val="1650"/>
                        </a:lnSpc>
                        <a:buNone/>
                      </a:pPr>
                      <a:r>
                        <a:rPr lang="en-CN" sz="1400" kern="0" baseline="0">
                          <a:effectLst/>
                          <a:latin typeface="Times New Roman" panose="02020603050405020304" pitchFamily="18" charset="0"/>
                          <a:ea typeface="FangSong_GB2312" panose="02010609030101010101" pitchFamily="49" charset="-122"/>
                        </a:rPr>
                        <a:t>θ</a:t>
                      </a:r>
                      <a:endParaRPr lang="en-CN" sz="1400" kern="100" baseline="0">
                        <a:effectLst/>
                        <a:latin typeface="Times New Roman" panose="02020603050405020304" pitchFamily="18" charset="0"/>
                        <a:ea typeface="FangSong_GB2312" panose="02010609030101010101" pitchFamily="49" charset="-122"/>
                        <a:cs typeface="Times New Roman" panose="02020603050405020304" pitchFamily="18" charset="0"/>
                      </a:endParaRPr>
                    </a:p>
                  </a:txBody>
                  <a:tcPr marL="38100" marR="38100" marT="38100" marB="38100" anchor="ctr"/>
                </a:tc>
                <a:tc>
                  <a:txBody>
                    <a:bodyPr/>
                    <a:lstStyle/>
                    <a:p>
                      <a:pPr algn="ctr">
                        <a:lnSpc>
                          <a:spcPts val="1650"/>
                        </a:lnSpc>
                        <a:buNone/>
                      </a:pPr>
                      <a:r>
                        <a:rPr lang="en-CN" sz="1400" kern="0" baseline="0">
                          <a:effectLst/>
                          <a:latin typeface="Times New Roman" panose="02020603050405020304" pitchFamily="18" charset="0"/>
                          <a:ea typeface="FangSong_GB2312" panose="02010609030101010101" pitchFamily="49" charset="-122"/>
                        </a:rPr>
                        <a:t>4–8 Hz</a:t>
                      </a:r>
                      <a:endParaRPr lang="en-CN" sz="1400" kern="100" baseline="0">
                        <a:effectLst/>
                        <a:latin typeface="Times New Roman" panose="02020603050405020304" pitchFamily="18" charset="0"/>
                        <a:ea typeface="FangSong_GB2312" panose="02010609030101010101" pitchFamily="49" charset="-122"/>
                        <a:cs typeface="Times New Roman" panose="02020603050405020304" pitchFamily="18" charset="0"/>
                      </a:endParaRPr>
                    </a:p>
                  </a:txBody>
                  <a:tcPr marL="38100" marR="38100" marT="38100" marB="38100" anchor="ctr"/>
                </a:tc>
                <a:tc>
                  <a:txBody>
                    <a:bodyPr/>
                    <a:lstStyle/>
                    <a:p>
                      <a:pPr algn="ctr">
                        <a:lnSpc>
                          <a:spcPts val="1650"/>
                        </a:lnSpc>
                        <a:buNone/>
                      </a:pPr>
                      <a:r>
                        <a:rPr lang="en-CN" sz="1400" kern="0" baseline="0">
                          <a:effectLst/>
                          <a:latin typeface="Times New Roman" panose="02020603050405020304" pitchFamily="18" charset="0"/>
                          <a:ea typeface="FangSong_GB2312" panose="02010609030101010101" pitchFamily="49" charset="-122"/>
                        </a:rPr>
                        <a:t>1.937</a:t>
                      </a:r>
                      <a:endParaRPr lang="en-CN" sz="1400" kern="100" baseline="0">
                        <a:effectLst/>
                        <a:latin typeface="Times New Roman" panose="02020603050405020304" pitchFamily="18" charset="0"/>
                        <a:ea typeface="FangSong_GB2312" panose="02010609030101010101" pitchFamily="49" charset="-122"/>
                        <a:cs typeface="Times New Roman" panose="02020603050405020304" pitchFamily="18" charset="0"/>
                      </a:endParaRPr>
                    </a:p>
                  </a:txBody>
                  <a:tcPr marL="38100" marR="38100" marT="38100" marB="38100" anchor="ctr"/>
                </a:tc>
                <a:tc>
                  <a:txBody>
                    <a:bodyPr/>
                    <a:lstStyle/>
                    <a:p>
                      <a:pPr algn="ctr">
                        <a:lnSpc>
                          <a:spcPts val="1650"/>
                        </a:lnSpc>
                        <a:buNone/>
                      </a:pPr>
                      <a:r>
                        <a:rPr lang="en-CN" sz="1400" kern="0" baseline="0" dirty="0">
                          <a:effectLst/>
                          <a:latin typeface="Times New Roman" panose="02020603050405020304" pitchFamily="18" charset="0"/>
                          <a:ea typeface="FangSong_GB2312" panose="02010609030101010101" pitchFamily="49" charset="-122"/>
                        </a:rPr>
                        <a:t>1.902</a:t>
                      </a:r>
                      <a:endParaRPr lang="en-CN" sz="1400" kern="100" baseline="0" dirty="0">
                        <a:effectLst/>
                        <a:latin typeface="Times New Roman" panose="02020603050405020304" pitchFamily="18" charset="0"/>
                        <a:ea typeface="FangSong_GB2312" panose="02010609030101010101" pitchFamily="49" charset="-122"/>
                        <a:cs typeface="Times New Roman" panose="02020603050405020304" pitchFamily="18" charset="0"/>
                      </a:endParaRPr>
                    </a:p>
                  </a:txBody>
                  <a:tcPr marL="38100" marR="38100" marT="38100" marB="38100" anchor="ctr"/>
                </a:tc>
                <a:tc>
                  <a:txBody>
                    <a:bodyPr/>
                    <a:lstStyle/>
                    <a:p>
                      <a:pPr algn="ctr">
                        <a:lnSpc>
                          <a:spcPts val="1650"/>
                        </a:lnSpc>
                        <a:buNone/>
                      </a:pPr>
                      <a:r>
                        <a:rPr lang="en-CN" sz="1400" kern="0" baseline="0" dirty="0">
                          <a:effectLst/>
                          <a:latin typeface="Times New Roman" panose="02020603050405020304" pitchFamily="18" charset="0"/>
                          <a:ea typeface="FangSong_GB2312" panose="02010609030101010101" pitchFamily="49" charset="-122"/>
                        </a:rPr>
                        <a:t>n.s.</a:t>
                      </a:r>
                      <a:endParaRPr lang="en-US" sz="1400" kern="0" baseline="0" dirty="0">
                        <a:effectLst/>
                        <a:latin typeface="Times New Roman" panose="02020603050405020304" pitchFamily="18" charset="0"/>
                        <a:ea typeface="FangSong_GB2312" panose="02010609030101010101" pitchFamily="49" charset="-122"/>
                      </a:endParaRPr>
                    </a:p>
                  </a:txBody>
                  <a:tcPr marL="38100" marR="38100" marT="38100" marB="38100" anchor="ctr"/>
                </a:tc>
                <a:tc>
                  <a:txBody>
                    <a:bodyPr/>
                    <a:lstStyle/>
                    <a:p>
                      <a:pPr algn="ctr">
                        <a:lnSpc>
                          <a:spcPts val="1650"/>
                        </a:lnSpc>
                        <a:buNone/>
                      </a:pPr>
                      <a:r>
                        <a:rPr lang="en-CN" sz="1400" kern="100" baseline="0" dirty="0">
                          <a:effectLst/>
                          <a:latin typeface="Times New Roman" panose="02020603050405020304" pitchFamily="18" charset="0"/>
                          <a:ea typeface="FangSong_GB2312" panose="02010609030101010101" pitchFamily="49" charset="-122"/>
                          <a:cs typeface="Times New Roman" panose="02020603050405020304" pitchFamily="18" charset="0"/>
                        </a:rPr>
                        <a:t>.730</a:t>
                      </a:r>
                    </a:p>
                  </a:txBody>
                  <a:tcPr marL="38100" marR="38100" marT="38100" marB="38100" anchor="ctr"/>
                </a:tc>
                <a:extLst>
                  <a:ext uri="{0D108BD9-81ED-4DB2-BD59-A6C34878D82A}">
                    <a16:rowId xmlns:a16="http://schemas.microsoft.com/office/drawing/2014/main" val="3991430344"/>
                  </a:ext>
                </a:extLst>
              </a:tr>
              <a:tr h="385904">
                <a:tc>
                  <a:txBody>
                    <a:bodyPr/>
                    <a:lstStyle/>
                    <a:p>
                      <a:pPr algn="ctr">
                        <a:lnSpc>
                          <a:spcPts val="1650"/>
                        </a:lnSpc>
                        <a:buNone/>
                      </a:pPr>
                      <a:r>
                        <a:rPr lang="en-CN" sz="1400" kern="0" baseline="0">
                          <a:effectLst/>
                          <a:latin typeface="Times New Roman" panose="02020603050405020304" pitchFamily="18" charset="0"/>
                          <a:ea typeface="FangSong_GB2312" panose="02010609030101010101" pitchFamily="49" charset="-122"/>
                        </a:rPr>
                        <a:t>α</a:t>
                      </a:r>
                      <a:endParaRPr lang="en-CN" sz="1400" kern="100" baseline="0">
                        <a:effectLst/>
                        <a:latin typeface="Times New Roman" panose="02020603050405020304" pitchFamily="18" charset="0"/>
                        <a:ea typeface="FangSong_GB2312" panose="02010609030101010101" pitchFamily="49" charset="-122"/>
                        <a:cs typeface="Times New Roman" panose="02020603050405020304" pitchFamily="18" charset="0"/>
                      </a:endParaRPr>
                    </a:p>
                  </a:txBody>
                  <a:tcPr marL="38100" marR="38100" marT="38100" marB="38100" anchor="ctr"/>
                </a:tc>
                <a:tc>
                  <a:txBody>
                    <a:bodyPr/>
                    <a:lstStyle/>
                    <a:p>
                      <a:pPr algn="ctr">
                        <a:lnSpc>
                          <a:spcPts val="1650"/>
                        </a:lnSpc>
                        <a:buNone/>
                      </a:pPr>
                      <a:r>
                        <a:rPr lang="en-CN" sz="1400" kern="0" baseline="0">
                          <a:effectLst/>
                          <a:latin typeface="Times New Roman" panose="02020603050405020304" pitchFamily="18" charset="0"/>
                          <a:ea typeface="FangSong_GB2312" panose="02010609030101010101" pitchFamily="49" charset="-122"/>
                        </a:rPr>
                        <a:t>8–13 Hz</a:t>
                      </a:r>
                      <a:endParaRPr lang="en-CN" sz="1400" kern="100" baseline="0">
                        <a:effectLst/>
                        <a:latin typeface="Times New Roman" panose="02020603050405020304" pitchFamily="18" charset="0"/>
                        <a:ea typeface="FangSong_GB2312" panose="02010609030101010101" pitchFamily="49" charset="-122"/>
                        <a:cs typeface="Times New Roman" panose="02020603050405020304" pitchFamily="18" charset="0"/>
                      </a:endParaRPr>
                    </a:p>
                  </a:txBody>
                  <a:tcPr marL="38100" marR="38100" marT="38100" marB="38100" anchor="ctr"/>
                </a:tc>
                <a:tc>
                  <a:txBody>
                    <a:bodyPr/>
                    <a:lstStyle/>
                    <a:p>
                      <a:pPr algn="ctr">
                        <a:lnSpc>
                          <a:spcPts val="1650"/>
                        </a:lnSpc>
                        <a:buNone/>
                      </a:pPr>
                      <a:r>
                        <a:rPr lang="en-CN" sz="1400" kern="0" baseline="0">
                          <a:effectLst/>
                          <a:latin typeface="Times New Roman" panose="02020603050405020304" pitchFamily="18" charset="0"/>
                          <a:ea typeface="FangSong_GB2312" panose="02010609030101010101" pitchFamily="49" charset="-122"/>
                        </a:rPr>
                        <a:t>1.723</a:t>
                      </a:r>
                      <a:endParaRPr lang="en-CN" sz="1400" kern="100" baseline="0">
                        <a:effectLst/>
                        <a:latin typeface="Times New Roman" panose="02020603050405020304" pitchFamily="18" charset="0"/>
                        <a:ea typeface="FangSong_GB2312" panose="02010609030101010101" pitchFamily="49" charset="-122"/>
                        <a:cs typeface="Times New Roman" panose="02020603050405020304" pitchFamily="18" charset="0"/>
                      </a:endParaRPr>
                    </a:p>
                  </a:txBody>
                  <a:tcPr marL="38100" marR="38100" marT="38100" marB="38100" anchor="ctr"/>
                </a:tc>
                <a:tc>
                  <a:txBody>
                    <a:bodyPr/>
                    <a:lstStyle/>
                    <a:p>
                      <a:pPr algn="ctr">
                        <a:lnSpc>
                          <a:spcPts val="1650"/>
                        </a:lnSpc>
                        <a:buNone/>
                      </a:pPr>
                      <a:r>
                        <a:rPr lang="en-CN" sz="1400" kern="0" baseline="0" dirty="0">
                          <a:effectLst/>
                          <a:latin typeface="Times New Roman" panose="02020603050405020304" pitchFamily="18" charset="0"/>
                          <a:ea typeface="FangSong_GB2312" panose="02010609030101010101" pitchFamily="49" charset="-122"/>
                        </a:rPr>
                        <a:t>1.917</a:t>
                      </a:r>
                      <a:endParaRPr lang="en-CN" sz="1400" kern="100" baseline="0" dirty="0">
                        <a:effectLst/>
                        <a:latin typeface="Times New Roman" panose="02020603050405020304" pitchFamily="18" charset="0"/>
                        <a:ea typeface="FangSong_GB2312" panose="02010609030101010101" pitchFamily="49" charset="-122"/>
                        <a:cs typeface="Times New Roman" panose="02020603050405020304" pitchFamily="18" charset="0"/>
                      </a:endParaRPr>
                    </a:p>
                  </a:txBody>
                  <a:tcPr marL="38100" marR="38100" marT="38100" marB="38100" anchor="ctr"/>
                </a:tc>
                <a:tc>
                  <a:txBody>
                    <a:bodyPr/>
                    <a:lstStyle/>
                    <a:p>
                      <a:pPr algn="ctr">
                        <a:lnSpc>
                          <a:spcPts val="1650"/>
                        </a:lnSpc>
                        <a:buNone/>
                      </a:pPr>
                      <a:r>
                        <a:rPr lang="en-CN" sz="1400" kern="0" baseline="0" dirty="0">
                          <a:effectLst/>
                          <a:latin typeface="Times New Roman" panose="02020603050405020304" pitchFamily="18" charset="0"/>
                          <a:ea typeface="FangSong_GB2312" panose="02010609030101010101" pitchFamily="49" charset="-122"/>
                        </a:rPr>
                        <a:t>H→A &gt; A→H</a:t>
                      </a:r>
                      <a:endParaRPr lang="en-US" sz="1400" kern="0" baseline="0" dirty="0">
                        <a:effectLst/>
                        <a:latin typeface="Times New Roman" panose="02020603050405020304" pitchFamily="18" charset="0"/>
                        <a:ea typeface="FangSong_GB2312" panose="02010609030101010101" pitchFamily="49" charset="-122"/>
                      </a:endParaRPr>
                    </a:p>
                  </a:txBody>
                  <a:tcPr marL="38100" marR="38100" marT="38100" marB="38100" anchor="ctr"/>
                </a:tc>
                <a:tc>
                  <a:txBody>
                    <a:bodyPr/>
                    <a:lstStyle/>
                    <a:p>
                      <a:pPr algn="ctr">
                        <a:lnSpc>
                          <a:spcPts val="1650"/>
                        </a:lnSpc>
                        <a:buNone/>
                      </a:pPr>
                      <a:r>
                        <a:rPr lang="en-CN" sz="1400" kern="100" baseline="0" dirty="0">
                          <a:effectLst/>
                          <a:latin typeface="Times New Roman" panose="02020603050405020304" pitchFamily="18" charset="0"/>
                          <a:ea typeface="FangSong_GB2312" panose="02010609030101010101" pitchFamily="49" charset="-122"/>
                          <a:cs typeface="Times New Roman" panose="02020603050405020304" pitchFamily="18" charset="0"/>
                        </a:rPr>
                        <a:t>.003</a:t>
                      </a:r>
                    </a:p>
                  </a:txBody>
                  <a:tcPr marL="38100" marR="38100" marT="38100" marB="38100" anchor="ctr"/>
                </a:tc>
                <a:extLst>
                  <a:ext uri="{0D108BD9-81ED-4DB2-BD59-A6C34878D82A}">
                    <a16:rowId xmlns:a16="http://schemas.microsoft.com/office/drawing/2014/main" val="3948475981"/>
                  </a:ext>
                </a:extLst>
              </a:tr>
              <a:tr h="385904">
                <a:tc>
                  <a:txBody>
                    <a:bodyPr/>
                    <a:lstStyle/>
                    <a:p>
                      <a:pPr algn="ctr">
                        <a:lnSpc>
                          <a:spcPts val="1650"/>
                        </a:lnSpc>
                        <a:buNone/>
                      </a:pPr>
                      <a:r>
                        <a:rPr lang="en-CN" sz="1400" kern="0" baseline="0">
                          <a:effectLst/>
                          <a:latin typeface="Times New Roman" panose="02020603050405020304" pitchFamily="18" charset="0"/>
                          <a:ea typeface="FangSong_GB2312" panose="02010609030101010101" pitchFamily="49" charset="-122"/>
                        </a:rPr>
                        <a:t>β</a:t>
                      </a:r>
                      <a:endParaRPr lang="en-CN" sz="1400" kern="100" baseline="0">
                        <a:effectLst/>
                        <a:latin typeface="Times New Roman" panose="02020603050405020304" pitchFamily="18" charset="0"/>
                        <a:ea typeface="FangSong_GB2312" panose="02010609030101010101" pitchFamily="49" charset="-122"/>
                        <a:cs typeface="Times New Roman" panose="02020603050405020304" pitchFamily="18" charset="0"/>
                      </a:endParaRPr>
                    </a:p>
                  </a:txBody>
                  <a:tcPr marL="38100" marR="38100" marT="38100" marB="38100" anchor="ctr"/>
                </a:tc>
                <a:tc>
                  <a:txBody>
                    <a:bodyPr/>
                    <a:lstStyle/>
                    <a:p>
                      <a:pPr algn="ctr">
                        <a:lnSpc>
                          <a:spcPts val="1650"/>
                        </a:lnSpc>
                        <a:buNone/>
                      </a:pPr>
                      <a:r>
                        <a:rPr lang="en-CN" sz="1400" kern="0" baseline="0">
                          <a:effectLst/>
                          <a:latin typeface="Times New Roman" panose="02020603050405020304" pitchFamily="18" charset="0"/>
                          <a:ea typeface="FangSong_GB2312" panose="02010609030101010101" pitchFamily="49" charset="-122"/>
                        </a:rPr>
                        <a:t>13–30 Hz</a:t>
                      </a:r>
                      <a:endParaRPr lang="en-CN" sz="1400" kern="100" baseline="0">
                        <a:effectLst/>
                        <a:latin typeface="Times New Roman" panose="02020603050405020304" pitchFamily="18" charset="0"/>
                        <a:ea typeface="FangSong_GB2312" panose="02010609030101010101" pitchFamily="49" charset="-122"/>
                        <a:cs typeface="Times New Roman" panose="02020603050405020304" pitchFamily="18" charset="0"/>
                      </a:endParaRPr>
                    </a:p>
                  </a:txBody>
                  <a:tcPr marL="38100" marR="38100" marT="38100" marB="38100" anchor="ctr"/>
                </a:tc>
                <a:tc>
                  <a:txBody>
                    <a:bodyPr/>
                    <a:lstStyle/>
                    <a:p>
                      <a:pPr algn="ctr">
                        <a:lnSpc>
                          <a:spcPts val="1650"/>
                        </a:lnSpc>
                        <a:buNone/>
                      </a:pPr>
                      <a:r>
                        <a:rPr lang="en-CN" sz="1400" kern="0" baseline="0">
                          <a:effectLst/>
                          <a:latin typeface="Times New Roman" panose="02020603050405020304" pitchFamily="18" charset="0"/>
                          <a:ea typeface="FangSong_GB2312" panose="02010609030101010101" pitchFamily="49" charset="-122"/>
                        </a:rPr>
                        <a:t>1.453</a:t>
                      </a:r>
                      <a:endParaRPr lang="en-CN" sz="1400" kern="100" baseline="0">
                        <a:effectLst/>
                        <a:latin typeface="Times New Roman" panose="02020603050405020304" pitchFamily="18" charset="0"/>
                        <a:ea typeface="FangSong_GB2312" panose="02010609030101010101" pitchFamily="49" charset="-122"/>
                        <a:cs typeface="Times New Roman" panose="02020603050405020304" pitchFamily="18" charset="0"/>
                      </a:endParaRPr>
                    </a:p>
                  </a:txBody>
                  <a:tcPr marL="38100" marR="38100" marT="38100" marB="38100" anchor="ctr"/>
                </a:tc>
                <a:tc>
                  <a:txBody>
                    <a:bodyPr/>
                    <a:lstStyle/>
                    <a:p>
                      <a:pPr algn="ctr">
                        <a:lnSpc>
                          <a:spcPts val="1650"/>
                        </a:lnSpc>
                        <a:buNone/>
                      </a:pPr>
                      <a:r>
                        <a:rPr lang="en-CN" sz="1400" kern="0" baseline="0" dirty="0">
                          <a:effectLst/>
                          <a:latin typeface="Times New Roman" panose="02020603050405020304" pitchFamily="18" charset="0"/>
                          <a:ea typeface="FangSong_GB2312" panose="02010609030101010101" pitchFamily="49" charset="-122"/>
                        </a:rPr>
                        <a:t>1.507</a:t>
                      </a:r>
                      <a:endParaRPr lang="en-CN" sz="1400" kern="100" baseline="0" dirty="0">
                        <a:effectLst/>
                        <a:latin typeface="Times New Roman" panose="02020603050405020304" pitchFamily="18" charset="0"/>
                        <a:ea typeface="FangSong_GB2312" panose="02010609030101010101" pitchFamily="49" charset="-122"/>
                        <a:cs typeface="Times New Roman" panose="02020603050405020304" pitchFamily="18" charset="0"/>
                      </a:endParaRPr>
                    </a:p>
                  </a:txBody>
                  <a:tcPr marL="38100" marR="38100" marT="38100" marB="38100" anchor="ctr"/>
                </a:tc>
                <a:tc>
                  <a:txBody>
                    <a:bodyPr/>
                    <a:lstStyle/>
                    <a:p>
                      <a:pPr algn="ctr">
                        <a:lnSpc>
                          <a:spcPts val="1650"/>
                        </a:lnSpc>
                        <a:buNone/>
                      </a:pPr>
                      <a:r>
                        <a:rPr lang="en-CN" sz="1400" kern="0" baseline="0" dirty="0">
                          <a:effectLst/>
                          <a:latin typeface="Times New Roman" panose="02020603050405020304" pitchFamily="18" charset="0"/>
                          <a:ea typeface="FangSong_GB2312" panose="02010609030101010101" pitchFamily="49" charset="-122"/>
                        </a:rPr>
                        <a:t>n.s.</a:t>
                      </a:r>
                      <a:endParaRPr lang="en-US" sz="1400" kern="0" baseline="0" dirty="0">
                        <a:effectLst/>
                        <a:latin typeface="Times New Roman" panose="02020603050405020304" pitchFamily="18" charset="0"/>
                        <a:ea typeface="FangSong_GB2312" panose="02010609030101010101" pitchFamily="49" charset="-122"/>
                      </a:endParaRPr>
                    </a:p>
                  </a:txBody>
                  <a:tcPr marL="38100" marR="38100" marT="38100" marB="38100" anchor="ctr"/>
                </a:tc>
                <a:tc>
                  <a:txBody>
                    <a:bodyPr/>
                    <a:lstStyle/>
                    <a:p>
                      <a:pPr algn="ctr">
                        <a:lnSpc>
                          <a:spcPts val="1650"/>
                        </a:lnSpc>
                        <a:buNone/>
                      </a:pPr>
                      <a:r>
                        <a:rPr lang="en-CN" sz="1400" kern="100" baseline="0" dirty="0">
                          <a:effectLst/>
                          <a:latin typeface="Times New Roman" panose="02020603050405020304" pitchFamily="18" charset="0"/>
                          <a:ea typeface="FangSong_GB2312" panose="02010609030101010101" pitchFamily="49" charset="-122"/>
                          <a:cs typeface="Times New Roman" panose="02020603050405020304" pitchFamily="18" charset="0"/>
                        </a:rPr>
                        <a:t>.095</a:t>
                      </a:r>
                    </a:p>
                  </a:txBody>
                  <a:tcPr marL="38100" marR="38100" marT="38100" marB="38100" anchor="ctr"/>
                </a:tc>
                <a:extLst>
                  <a:ext uri="{0D108BD9-81ED-4DB2-BD59-A6C34878D82A}">
                    <a16:rowId xmlns:a16="http://schemas.microsoft.com/office/drawing/2014/main" val="1136588652"/>
                  </a:ext>
                </a:extLst>
              </a:tr>
              <a:tr h="385904">
                <a:tc>
                  <a:txBody>
                    <a:bodyPr/>
                    <a:lstStyle/>
                    <a:p>
                      <a:pPr algn="ctr">
                        <a:lnSpc>
                          <a:spcPts val="1650"/>
                        </a:lnSpc>
                        <a:buNone/>
                      </a:pPr>
                      <a:r>
                        <a:rPr lang="en-CN" sz="1400" kern="0" baseline="0">
                          <a:effectLst/>
                          <a:latin typeface="Times New Roman" panose="02020603050405020304" pitchFamily="18" charset="0"/>
                          <a:ea typeface="FangSong_GB2312" panose="02010609030101010101" pitchFamily="49" charset="-122"/>
                        </a:rPr>
                        <a:t>γ</a:t>
                      </a:r>
                      <a:endParaRPr lang="en-CN" sz="1400" kern="100" baseline="0">
                        <a:effectLst/>
                        <a:latin typeface="Times New Roman" panose="02020603050405020304" pitchFamily="18" charset="0"/>
                        <a:ea typeface="FangSong_GB2312" panose="02010609030101010101" pitchFamily="49" charset="-122"/>
                        <a:cs typeface="Times New Roman" panose="02020603050405020304" pitchFamily="18" charset="0"/>
                      </a:endParaRPr>
                    </a:p>
                  </a:txBody>
                  <a:tcPr marL="38100" marR="38100" marT="38100" marB="38100" anchor="ctr"/>
                </a:tc>
                <a:tc>
                  <a:txBody>
                    <a:bodyPr/>
                    <a:lstStyle/>
                    <a:p>
                      <a:pPr algn="ctr">
                        <a:lnSpc>
                          <a:spcPts val="1650"/>
                        </a:lnSpc>
                        <a:buNone/>
                      </a:pPr>
                      <a:r>
                        <a:rPr lang="en-CN" sz="1400" kern="0" baseline="0">
                          <a:effectLst/>
                          <a:latin typeface="Times New Roman" panose="02020603050405020304" pitchFamily="18" charset="0"/>
                          <a:ea typeface="FangSong_GB2312" panose="02010609030101010101" pitchFamily="49" charset="-122"/>
                        </a:rPr>
                        <a:t>30–45 Hz</a:t>
                      </a:r>
                      <a:endParaRPr lang="en-CN" sz="1400" kern="100" baseline="0">
                        <a:effectLst/>
                        <a:latin typeface="Times New Roman" panose="02020603050405020304" pitchFamily="18" charset="0"/>
                        <a:ea typeface="FangSong_GB2312" panose="02010609030101010101" pitchFamily="49" charset="-122"/>
                        <a:cs typeface="Times New Roman" panose="02020603050405020304" pitchFamily="18" charset="0"/>
                      </a:endParaRPr>
                    </a:p>
                  </a:txBody>
                  <a:tcPr marL="38100" marR="38100" marT="38100" marB="38100" anchor="ctr"/>
                </a:tc>
                <a:tc>
                  <a:txBody>
                    <a:bodyPr/>
                    <a:lstStyle/>
                    <a:p>
                      <a:pPr algn="ctr">
                        <a:lnSpc>
                          <a:spcPts val="1650"/>
                        </a:lnSpc>
                        <a:buNone/>
                      </a:pPr>
                      <a:r>
                        <a:rPr lang="en-CN" sz="1400" kern="0" baseline="0" dirty="0">
                          <a:effectLst/>
                          <a:latin typeface="Times New Roman" panose="02020603050405020304" pitchFamily="18" charset="0"/>
                          <a:ea typeface="FangSong_GB2312" panose="02010609030101010101" pitchFamily="49" charset="-122"/>
                        </a:rPr>
                        <a:t>1.323</a:t>
                      </a:r>
                      <a:endParaRPr lang="en-CN" sz="1400" kern="100" baseline="0" dirty="0">
                        <a:effectLst/>
                        <a:latin typeface="Times New Roman" panose="02020603050405020304" pitchFamily="18" charset="0"/>
                        <a:ea typeface="FangSong_GB2312" panose="02010609030101010101" pitchFamily="49" charset="-122"/>
                        <a:cs typeface="Times New Roman" panose="02020603050405020304" pitchFamily="18" charset="0"/>
                      </a:endParaRPr>
                    </a:p>
                  </a:txBody>
                  <a:tcPr marL="38100" marR="38100" marT="38100" marB="38100" anchor="ctr"/>
                </a:tc>
                <a:tc>
                  <a:txBody>
                    <a:bodyPr/>
                    <a:lstStyle/>
                    <a:p>
                      <a:pPr algn="ctr">
                        <a:lnSpc>
                          <a:spcPts val="1650"/>
                        </a:lnSpc>
                        <a:buNone/>
                      </a:pPr>
                      <a:r>
                        <a:rPr lang="en-CN" sz="1400" kern="0" baseline="0" dirty="0">
                          <a:effectLst/>
                          <a:latin typeface="Times New Roman" panose="02020603050405020304" pitchFamily="18" charset="0"/>
                          <a:ea typeface="FangSong_GB2312" panose="02010609030101010101" pitchFamily="49" charset="-122"/>
                        </a:rPr>
                        <a:t>1.351</a:t>
                      </a:r>
                      <a:endParaRPr lang="en-CN" sz="1400" kern="100" baseline="0" dirty="0">
                        <a:effectLst/>
                        <a:latin typeface="Times New Roman" panose="02020603050405020304" pitchFamily="18" charset="0"/>
                        <a:ea typeface="FangSong_GB2312" panose="02010609030101010101" pitchFamily="49" charset="-122"/>
                        <a:cs typeface="Times New Roman" panose="02020603050405020304" pitchFamily="18" charset="0"/>
                      </a:endParaRPr>
                    </a:p>
                  </a:txBody>
                  <a:tcPr marL="38100" marR="38100" marT="38100" marB="38100" anchor="ctr"/>
                </a:tc>
                <a:tc>
                  <a:txBody>
                    <a:bodyPr/>
                    <a:lstStyle/>
                    <a:p>
                      <a:pPr algn="ctr">
                        <a:lnSpc>
                          <a:spcPts val="1650"/>
                        </a:lnSpc>
                        <a:buNone/>
                      </a:pPr>
                      <a:r>
                        <a:rPr lang="en-CN" sz="1400" kern="0" baseline="0" dirty="0">
                          <a:effectLst/>
                          <a:latin typeface="Times New Roman" panose="02020603050405020304" pitchFamily="18" charset="0"/>
                          <a:ea typeface="FangSong_GB2312" panose="02010609030101010101" pitchFamily="49" charset="-122"/>
                        </a:rPr>
                        <a:t>n.s.</a:t>
                      </a:r>
                      <a:endParaRPr lang="en-CN" sz="1400" kern="100" baseline="0" dirty="0">
                        <a:effectLst/>
                        <a:latin typeface="Times New Roman" panose="02020603050405020304" pitchFamily="18" charset="0"/>
                        <a:ea typeface="FangSong_GB2312" panose="02010609030101010101" pitchFamily="49" charset="-122"/>
                        <a:cs typeface="Times New Roman" panose="02020603050405020304" pitchFamily="18" charset="0"/>
                      </a:endParaRPr>
                    </a:p>
                  </a:txBody>
                  <a:tcPr marL="38100" marR="38100" marT="38100" marB="38100" anchor="ctr"/>
                </a:tc>
                <a:tc>
                  <a:txBody>
                    <a:bodyPr/>
                    <a:lstStyle/>
                    <a:p>
                      <a:pPr algn="ctr">
                        <a:lnSpc>
                          <a:spcPts val="1650"/>
                        </a:lnSpc>
                        <a:buNone/>
                      </a:pPr>
                      <a:r>
                        <a:rPr lang="en-CN" sz="1400" kern="100" baseline="0" dirty="0">
                          <a:effectLst/>
                          <a:latin typeface="Times New Roman" panose="02020603050405020304" pitchFamily="18" charset="0"/>
                          <a:ea typeface="FangSong_GB2312" panose="02010609030101010101" pitchFamily="49" charset="-122"/>
                          <a:cs typeface="Times New Roman" panose="02020603050405020304" pitchFamily="18" charset="0"/>
                        </a:rPr>
                        <a:t>.148</a:t>
                      </a:r>
                    </a:p>
                  </a:txBody>
                  <a:tcPr marL="38100" marR="38100" marT="38100" marB="38100" anchor="ctr"/>
                </a:tc>
                <a:extLst>
                  <a:ext uri="{0D108BD9-81ED-4DB2-BD59-A6C34878D82A}">
                    <a16:rowId xmlns:a16="http://schemas.microsoft.com/office/drawing/2014/main" val="4062461649"/>
                  </a:ext>
                </a:extLst>
              </a:tr>
            </a:tbl>
          </a:graphicData>
        </a:graphic>
      </p:graphicFrame>
    </p:spTree>
    <p:extLst>
      <p:ext uri="{BB962C8B-B14F-4D97-AF65-F5344CB8AC3E}">
        <p14:creationId xmlns:p14="http://schemas.microsoft.com/office/powerpoint/2010/main" val="1803025279"/>
      </p:ext>
    </p:extLst>
  </p:cSld>
  <p:clrMapOvr>
    <a:masterClrMapping/>
  </p:clrMapOvr>
  <mc:AlternateContent xmlns:mc="http://schemas.openxmlformats.org/markup-compatibility/2006" xmlns:p14="http://schemas.microsoft.com/office/powerpoint/2010/main">
    <mc:Choice Requires="p14">
      <p:transition spd="slow" p14:dur="2000" advTm="66649"/>
    </mc:Choice>
    <mc:Fallback xmlns="">
      <p:transition spd="slow" advTm="6664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BD00D0E-FA2B-3948-42EA-513CEC564485}"/>
            </a:ext>
          </a:extLst>
        </p:cNvPr>
        <p:cNvGrpSpPr/>
        <p:nvPr/>
      </p:nvGrpSpPr>
      <p:grpSpPr>
        <a:xfrm>
          <a:off x="0" y="0"/>
          <a:ext cx="0" cy="0"/>
          <a:chOff x="0" y="0"/>
          <a:chExt cx="0" cy="0"/>
        </a:xfrm>
      </p:grpSpPr>
      <p:sp>
        <p:nvSpPr>
          <p:cNvPr id="16" name="文本框 15">
            <a:extLst>
              <a:ext uri="{FF2B5EF4-FFF2-40B4-BE49-F238E27FC236}">
                <a16:creationId xmlns:a16="http://schemas.microsoft.com/office/drawing/2014/main" id="{1562E20A-2542-21CA-FB60-7DCBD17AE362}"/>
              </a:ext>
            </a:extLst>
          </p:cNvPr>
          <p:cNvSpPr txBox="1"/>
          <p:nvPr/>
        </p:nvSpPr>
        <p:spPr>
          <a:xfrm>
            <a:off x="1219949" y="319219"/>
            <a:ext cx="1667444" cy="400110"/>
          </a:xfrm>
          <a:prstGeom prst="rect">
            <a:avLst/>
          </a:prstGeom>
          <a:solidFill>
            <a:schemeClr val="bg1"/>
          </a:solidFill>
        </p:spPr>
        <p:txBody>
          <a:bodyPr wrap="none" rtlCol="0">
            <a:spAutoFit/>
          </a:bodyPr>
          <a:lstStyle/>
          <a:p>
            <a:pPr defTabSz="914400"/>
            <a:r>
              <a:rPr lang="zh-CN" altLang="en-US" sz="2000" b="1" spc="300" dirty="0">
                <a:latin typeface="FangSong_GB2312" panose="02010609030101010101" pitchFamily="49" charset="-122"/>
                <a:ea typeface="FangSong_GB2312" panose="02010609030101010101" pitchFamily="49" charset="-122"/>
              </a:rPr>
              <a:t>讨</a:t>
            </a:r>
            <a:r>
              <a:rPr lang="zh-CN" altLang="en-CN" sz="2000" b="1" spc="300" dirty="0">
                <a:latin typeface="FangSong_GB2312" panose="02010609030101010101" pitchFamily="49" charset="-122"/>
                <a:ea typeface="FangSong_GB2312" panose="02010609030101010101" pitchFamily="49" charset="-122"/>
              </a:rPr>
              <a:t>论</a:t>
            </a:r>
            <a:r>
              <a:rPr lang="zh-CN" altLang="en-US" sz="2000" b="1" spc="300" dirty="0">
                <a:latin typeface="FangSong_GB2312" panose="02010609030101010101" pitchFamily="49" charset="-122"/>
                <a:ea typeface="FangSong_GB2312" panose="02010609030101010101" pitchFamily="49" charset="-122"/>
              </a:rPr>
              <a:t>与结论</a:t>
            </a:r>
          </a:p>
        </p:txBody>
      </p:sp>
      <p:sp>
        <p:nvSpPr>
          <p:cNvPr id="3" name="文本框 2">
            <a:extLst>
              <a:ext uri="{FF2B5EF4-FFF2-40B4-BE49-F238E27FC236}">
                <a16:creationId xmlns:a16="http://schemas.microsoft.com/office/drawing/2014/main" id="{16CF01D3-7B6D-7D0A-6457-D4AE149E27D8}"/>
              </a:ext>
            </a:extLst>
          </p:cNvPr>
          <p:cNvSpPr txBox="1"/>
          <p:nvPr/>
        </p:nvSpPr>
        <p:spPr>
          <a:xfrm>
            <a:off x="358346" y="288442"/>
            <a:ext cx="720000" cy="523220"/>
          </a:xfrm>
          <a:prstGeom prst="rect">
            <a:avLst/>
          </a:prstGeom>
          <a:noFill/>
        </p:spPr>
        <p:txBody>
          <a:bodyPr wrap="square" rtlCol="0">
            <a:spAutoFit/>
          </a:bodyPr>
          <a:lstStyle/>
          <a:p>
            <a:pPr algn="ctr"/>
            <a:r>
              <a:rPr lang="en-US" altLang="zh-CN"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06</a:t>
            </a:r>
            <a:endParaRPr lang="zh-CN" altLang="en-US"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圆角 291">
            <a:extLst>
              <a:ext uri="{FF2B5EF4-FFF2-40B4-BE49-F238E27FC236}">
                <a16:creationId xmlns:a16="http://schemas.microsoft.com/office/drawing/2014/main" id="{B8CC73E8-C021-E895-932B-1D0ABF92DE2A}"/>
              </a:ext>
            </a:extLst>
          </p:cNvPr>
          <p:cNvSpPr/>
          <p:nvPr/>
        </p:nvSpPr>
        <p:spPr>
          <a:xfrm>
            <a:off x="197739" y="1755282"/>
            <a:ext cx="2689654" cy="3496101"/>
          </a:xfrm>
          <a:prstGeom prst="roundRect">
            <a:avLst>
              <a:gd name="adj" fmla="val 5160"/>
            </a:avLst>
          </a:prstGeom>
          <a:noFill/>
          <a:ln w="19050">
            <a:solidFill>
              <a:schemeClr val="accent1">
                <a:alpha val="8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1" name="TextBox 10">
            <a:extLst>
              <a:ext uri="{FF2B5EF4-FFF2-40B4-BE49-F238E27FC236}">
                <a16:creationId xmlns:a16="http://schemas.microsoft.com/office/drawing/2014/main" id="{0AB2C714-4FB5-831C-F111-22D22E3649A9}"/>
              </a:ext>
            </a:extLst>
          </p:cNvPr>
          <p:cNvSpPr txBox="1"/>
          <p:nvPr/>
        </p:nvSpPr>
        <p:spPr>
          <a:xfrm>
            <a:off x="358345" y="5550134"/>
            <a:ext cx="7827711" cy="707886"/>
          </a:xfrm>
          <a:prstGeom prst="rect">
            <a:avLst/>
          </a:prstGeom>
          <a:noFill/>
        </p:spPr>
        <p:txBody>
          <a:bodyPr wrap="square">
            <a:spAutoFit/>
          </a:bodyPr>
          <a:lstStyle/>
          <a:p>
            <a:pPr algn="just"/>
            <a:r>
              <a:rPr lang="zh-CN" altLang="en-US" sz="2000" b="1" i="0" dirty="0">
                <a:effectLst/>
                <a:latin typeface="FangSong_GB2312" panose="02010609030101010101" pitchFamily="49" charset="-122"/>
                <a:ea typeface="FangSong_GB2312" panose="02010609030101010101" pitchFamily="49" charset="-122"/>
              </a:rPr>
              <a:t>整体来看，短视频观看中的情绪、偏好和凸显性信息并非孤立加工，而是在杏仁核</a:t>
            </a:r>
            <a:r>
              <a:rPr lang="en-US" altLang="zh-CN" sz="2000" b="1" i="0" dirty="0">
                <a:effectLst/>
                <a:latin typeface="FangSong_GB2312" panose="02010609030101010101" pitchFamily="49" charset="-122"/>
                <a:ea typeface="FangSong_GB2312" panose="02010609030101010101" pitchFamily="49" charset="-122"/>
              </a:rPr>
              <a:t>—</a:t>
            </a:r>
            <a:r>
              <a:rPr lang="zh-CN" altLang="en-US" sz="2000" b="1" i="0" dirty="0">
                <a:effectLst/>
                <a:latin typeface="FangSong_GB2312" panose="02010609030101010101" pitchFamily="49" charset="-122"/>
                <a:ea typeface="FangSong_GB2312" panose="02010609030101010101" pitchFamily="49" charset="-122"/>
              </a:rPr>
              <a:t>海马系统中形成连续、动态的交互过程</a:t>
            </a:r>
            <a:endParaRPr lang="en-US" altLang="zh-CN" sz="2000" b="1" i="0" dirty="0">
              <a:effectLst/>
              <a:latin typeface="FangSong_GB2312" panose="02010609030101010101" pitchFamily="49" charset="-122"/>
              <a:ea typeface="FangSong_GB2312" panose="02010609030101010101" pitchFamily="49" charset="-122"/>
            </a:endParaRPr>
          </a:p>
        </p:txBody>
      </p:sp>
      <p:sp>
        <p:nvSpPr>
          <p:cNvPr id="14" name="TextBox 13">
            <a:extLst>
              <a:ext uri="{FF2B5EF4-FFF2-40B4-BE49-F238E27FC236}">
                <a16:creationId xmlns:a16="http://schemas.microsoft.com/office/drawing/2014/main" id="{4BD82843-2C02-7780-31B6-A6AE41B98A9C}"/>
              </a:ext>
            </a:extLst>
          </p:cNvPr>
          <p:cNvSpPr txBox="1"/>
          <p:nvPr/>
        </p:nvSpPr>
        <p:spPr>
          <a:xfrm>
            <a:off x="700251" y="1843686"/>
            <a:ext cx="1684626" cy="369332"/>
          </a:xfrm>
          <a:prstGeom prst="rect">
            <a:avLst/>
          </a:prstGeom>
          <a:noFill/>
        </p:spPr>
        <p:txBody>
          <a:bodyPr wrap="square">
            <a:spAutoFit/>
          </a:bodyPr>
          <a:lstStyle/>
          <a:p>
            <a:pPr algn="ctr"/>
            <a:r>
              <a:rPr lang="zh-CN" altLang="en-US" sz="1800" b="1" i="0" dirty="0">
                <a:effectLst/>
                <a:latin typeface="FangSong_GB2312" panose="02010609030101010101" pitchFamily="49" charset="-122"/>
                <a:ea typeface="FangSong_GB2312" panose="02010609030101010101" pitchFamily="49" charset="-122"/>
              </a:rPr>
              <a:t>从效价到偏好</a:t>
            </a:r>
            <a:endParaRPr lang="en-CN" dirty="0"/>
          </a:p>
        </p:txBody>
      </p:sp>
      <p:sp>
        <p:nvSpPr>
          <p:cNvPr id="18" name="TextBox 17">
            <a:extLst>
              <a:ext uri="{FF2B5EF4-FFF2-40B4-BE49-F238E27FC236}">
                <a16:creationId xmlns:a16="http://schemas.microsoft.com/office/drawing/2014/main" id="{4D66B927-3FEE-6CDE-344F-F49546D4C4AD}"/>
              </a:ext>
            </a:extLst>
          </p:cNvPr>
          <p:cNvSpPr txBox="1"/>
          <p:nvPr/>
        </p:nvSpPr>
        <p:spPr>
          <a:xfrm>
            <a:off x="197738" y="2213018"/>
            <a:ext cx="2689653" cy="3097195"/>
          </a:xfrm>
          <a:prstGeom prst="rect">
            <a:avLst/>
          </a:prstGeom>
          <a:noFill/>
        </p:spPr>
        <p:txBody>
          <a:bodyPr wrap="square">
            <a:spAutoFit/>
          </a:bodyPr>
          <a:lstStyle/>
          <a:p>
            <a:pPr algn="just">
              <a:lnSpc>
                <a:spcPct val="150000"/>
              </a:lnSpc>
            </a:pPr>
            <a:r>
              <a:rPr lang="zh-CN" altLang="en-US" sz="1600" i="0" dirty="0">
                <a:effectLst/>
                <a:latin typeface="FangSong_GB2312" panose="02010609030101010101" pitchFamily="49" charset="-122"/>
                <a:ea typeface="FangSong_GB2312" panose="02010609030101010101" pitchFamily="49" charset="-122"/>
              </a:rPr>
              <a:t>研究一：杏仁核效价簇显著，海马不稳定；研究二：杏仁核和海马均出现偏好相关</a:t>
            </a:r>
            <a:r>
              <a:rPr lang="en-US" altLang="zh-CN" sz="1600" i="0" dirty="0">
                <a:effectLst/>
                <a:latin typeface="Times New Roman" panose="02020603050405020304" pitchFamily="18" charset="0"/>
                <a:ea typeface="FangSong_GB2312" panose="02010609030101010101" pitchFamily="49" charset="-122"/>
                <a:cs typeface="Times New Roman" panose="02020603050405020304" pitchFamily="18" charset="0"/>
              </a:rPr>
              <a:t>LFP</a:t>
            </a:r>
            <a:r>
              <a:rPr lang="zh-CN" altLang="en-US" sz="1600" i="0" dirty="0">
                <a:effectLst/>
                <a:latin typeface="FangSong_GB2312" panose="02010609030101010101" pitchFamily="49" charset="-122"/>
                <a:ea typeface="FangSong_GB2312" panose="02010609030101010101" pitchFamily="49" charset="-122"/>
              </a:rPr>
              <a:t>簇</a:t>
            </a:r>
            <a:endParaRPr lang="en-US" altLang="zh-CN" sz="1600" i="0" dirty="0">
              <a:effectLst/>
              <a:latin typeface="FangSong_GB2312" panose="02010609030101010101" pitchFamily="49" charset="-122"/>
              <a:ea typeface="FangSong_GB2312" panose="02010609030101010101" pitchFamily="49" charset="-122"/>
            </a:endParaRPr>
          </a:p>
          <a:p>
            <a:pPr algn="just">
              <a:lnSpc>
                <a:spcPct val="150000"/>
              </a:lnSpc>
            </a:pPr>
            <a:r>
              <a:rPr lang="en-US" altLang="zh-CN" i="0" dirty="0">
                <a:solidFill>
                  <a:srgbClr val="FF0000"/>
                </a:solidFill>
                <a:effectLst/>
                <a:latin typeface="FangSong_GB2312" panose="02010609030101010101" pitchFamily="49" charset="-122"/>
                <a:ea typeface="FangSong_GB2312" panose="02010609030101010101" pitchFamily="49" charset="-122"/>
              </a:rPr>
              <a:t>→</a:t>
            </a:r>
            <a:r>
              <a:rPr lang="zh-CN" altLang="en-US" sz="1600" i="0" dirty="0">
                <a:effectLst/>
                <a:latin typeface="FangSong_GB2312" panose="02010609030101010101" pitchFamily="49" charset="-122"/>
                <a:ea typeface="FangSong_GB2312" panose="02010609030101010101" pitchFamily="49" charset="-122"/>
              </a:rPr>
              <a:t>短视频偏好不是正</a:t>
            </a:r>
            <a:r>
              <a:rPr lang="en-US" altLang="zh-CN" sz="1600" i="0" dirty="0">
                <a:effectLst/>
                <a:latin typeface="FangSong_GB2312" panose="02010609030101010101" pitchFamily="49" charset="-122"/>
                <a:ea typeface="FangSong_GB2312" panose="02010609030101010101" pitchFamily="49" charset="-122"/>
              </a:rPr>
              <a:t>/</a:t>
            </a:r>
            <a:r>
              <a:rPr lang="zh-CN" altLang="en-US" sz="1600" i="0" dirty="0">
                <a:effectLst/>
                <a:latin typeface="FangSong_GB2312" panose="02010609030101010101" pitchFamily="49" charset="-122"/>
                <a:ea typeface="FangSong_GB2312" panose="02010609030101010101" pitchFamily="49" charset="-122"/>
              </a:rPr>
              <a:t>负效价，而是动态语义、声音、节奏、经验和继续观看倾向的综合评价</a:t>
            </a:r>
            <a:endParaRPr lang="en-CN" sz="1600" dirty="0"/>
          </a:p>
        </p:txBody>
      </p:sp>
      <p:sp>
        <p:nvSpPr>
          <p:cNvPr id="20" name="TextBox 19">
            <a:extLst>
              <a:ext uri="{FF2B5EF4-FFF2-40B4-BE49-F238E27FC236}">
                <a16:creationId xmlns:a16="http://schemas.microsoft.com/office/drawing/2014/main" id="{3CABBE38-1EB6-7138-D524-28EEE79BE756}"/>
              </a:ext>
            </a:extLst>
          </p:cNvPr>
          <p:cNvSpPr txBox="1"/>
          <p:nvPr/>
        </p:nvSpPr>
        <p:spPr>
          <a:xfrm>
            <a:off x="3165431" y="1843686"/>
            <a:ext cx="2850264" cy="369332"/>
          </a:xfrm>
          <a:prstGeom prst="rect">
            <a:avLst/>
          </a:prstGeom>
          <a:noFill/>
        </p:spPr>
        <p:txBody>
          <a:bodyPr wrap="square">
            <a:spAutoFit/>
          </a:bodyPr>
          <a:lstStyle/>
          <a:p>
            <a:pPr algn="ctr"/>
            <a:r>
              <a:rPr lang="zh-CN" altLang="en-US" sz="1800" b="1" i="0" dirty="0">
                <a:effectLst/>
                <a:latin typeface="FangSong_GB2312" panose="02010609030101010101" pitchFamily="49" charset="-122"/>
                <a:ea typeface="FangSong_GB2312" panose="02010609030101010101" pitchFamily="49" charset="-122"/>
              </a:rPr>
              <a:t>从平均活动到神经元分化</a:t>
            </a:r>
            <a:endParaRPr lang="en-CN" dirty="0"/>
          </a:p>
        </p:txBody>
      </p:sp>
      <p:sp>
        <p:nvSpPr>
          <p:cNvPr id="22" name="TextBox 21">
            <a:extLst>
              <a:ext uri="{FF2B5EF4-FFF2-40B4-BE49-F238E27FC236}">
                <a16:creationId xmlns:a16="http://schemas.microsoft.com/office/drawing/2014/main" id="{82860AD5-5BA0-E345-2C3E-75543A1539E3}"/>
              </a:ext>
            </a:extLst>
          </p:cNvPr>
          <p:cNvSpPr txBox="1"/>
          <p:nvPr/>
        </p:nvSpPr>
        <p:spPr>
          <a:xfrm>
            <a:off x="3245738" y="2213018"/>
            <a:ext cx="2689654" cy="1938416"/>
          </a:xfrm>
          <a:prstGeom prst="rect">
            <a:avLst/>
          </a:prstGeom>
          <a:noFill/>
        </p:spPr>
        <p:txBody>
          <a:bodyPr wrap="square">
            <a:spAutoFit/>
          </a:bodyPr>
          <a:lstStyle/>
          <a:p>
            <a:pPr algn="just">
              <a:lnSpc>
                <a:spcPct val="150000"/>
              </a:lnSpc>
            </a:pPr>
            <a:r>
              <a:rPr lang="zh-CN" altLang="en-US" sz="1600" i="0" dirty="0">
                <a:effectLst/>
                <a:latin typeface="Times New Roman" panose="02020603050405020304" pitchFamily="18" charset="0"/>
                <a:ea typeface="FangSong_GB2312" panose="02010609030101010101" pitchFamily="49" charset="-122"/>
              </a:rPr>
              <a:t>喜欢</a:t>
            </a:r>
            <a:r>
              <a:rPr lang="en-US" altLang="zh-CN" sz="1600" i="0" dirty="0">
                <a:effectLst/>
                <a:latin typeface="Times New Roman" panose="02020603050405020304" pitchFamily="18" charset="0"/>
                <a:ea typeface="FangSong_GB2312" panose="02010609030101010101" pitchFamily="49" charset="-122"/>
              </a:rPr>
              <a:t>/</a:t>
            </a:r>
            <a:r>
              <a:rPr lang="zh-CN" altLang="en-US" sz="1600" i="0" dirty="0">
                <a:effectLst/>
                <a:latin typeface="Times New Roman" panose="02020603050405020304" pitchFamily="18" charset="0"/>
                <a:ea typeface="FangSong_GB2312" panose="02010609030101010101" pitchFamily="49" charset="-122"/>
              </a:rPr>
              <a:t>不喜欢条件出现拮抗性</a:t>
            </a:r>
            <a:r>
              <a:rPr lang="en-US" altLang="zh-CN" sz="1600" i="0" dirty="0">
                <a:effectLst/>
                <a:latin typeface="Times New Roman" panose="02020603050405020304" pitchFamily="18" charset="0"/>
                <a:ea typeface="FangSong_GB2312" panose="02010609030101010101" pitchFamily="49" charset="-122"/>
              </a:rPr>
              <a:t>IFR</a:t>
            </a:r>
            <a:r>
              <a:rPr lang="zh-CN" altLang="en-US" sz="1600" i="0" dirty="0">
                <a:effectLst/>
                <a:latin typeface="Times New Roman" panose="02020603050405020304" pitchFamily="18" charset="0"/>
                <a:ea typeface="FangSong_GB2312" panose="02010609030101010101" pitchFamily="49" charset="-122"/>
              </a:rPr>
              <a:t>模式；海马贡献更明显</a:t>
            </a:r>
            <a:endParaRPr lang="en-US" altLang="zh-CN" sz="1600" i="0" dirty="0">
              <a:effectLst/>
              <a:latin typeface="Times New Roman" panose="02020603050405020304" pitchFamily="18" charset="0"/>
              <a:ea typeface="FangSong_GB2312" panose="02010609030101010101" pitchFamily="49" charset="-122"/>
            </a:endParaRPr>
          </a:p>
          <a:p>
            <a:pPr algn="just">
              <a:lnSpc>
                <a:spcPct val="150000"/>
              </a:lnSpc>
            </a:pPr>
            <a:r>
              <a:rPr lang="en-US" altLang="zh-CN" dirty="0">
                <a:solidFill>
                  <a:srgbClr val="FF0000"/>
                </a:solidFill>
                <a:latin typeface="FangSong_GB2312" panose="02010609030101010101" pitchFamily="49" charset="-122"/>
                <a:ea typeface="FangSong_GB2312" panose="02010609030101010101" pitchFamily="49" charset="-122"/>
              </a:rPr>
              <a:t>→</a:t>
            </a:r>
            <a:r>
              <a:rPr lang="zh-CN" altLang="en-US" sz="1600" dirty="0">
                <a:latin typeface="Times New Roman" panose="02020603050405020304" pitchFamily="18" charset="0"/>
                <a:ea typeface="FangSong_GB2312" panose="02010609030101010101" pitchFamily="49" charset="-122"/>
              </a:rPr>
              <a:t>喜欢不等于整体放电增强；边缘系统可能通过激活</a:t>
            </a:r>
            <a:r>
              <a:rPr lang="en-US" altLang="zh-CN" sz="1600" dirty="0">
                <a:latin typeface="Times New Roman" panose="02020603050405020304" pitchFamily="18" charset="0"/>
                <a:ea typeface="FangSong_GB2312" panose="02010609030101010101" pitchFamily="49" charset="-122"/>
              </a:rPr>
              <a:t>/</a:t>
            </a:r>
            <a:r>
              <a:rPr lang="zh-CN" altLang="en-US" sz="1600" dirty="0">
                <a:latin typeface="Times New Roman" panose="02020603050405020304" pitchFamily="18" charset="0"/>
                <a:ea typeface="FangSong_GB2312" panose="02010609030101010101" pitchFamily="49" charset="-122"/>
              </a:rPr>
              <a:t>抑制群体的平衡编码偏好状态</a:t>
            </a:r>
            <a:endParaRPr lang="en-CN" sz="1600" dirty="0">
              <a:latin typeface="Times New Roman" panose="02020603050405020304" pitchFamily="18" charset="0"/>
              <a:ea typeface="FangSong_GB2312" panose="02010609030101010101" pitchFamily="49" charset="-122"/>
            </a:endParaRPr>
          </a:p>
        </p:txBody>
      </p:sp>
      <p:sp>
        <p:nvSpPr>
          <p:cNvPr id="23" name="矩形: 圆角 291">
            <a:extLst>
              <a:ext uri="{FF2B5EF4-FFF2-40B4-BE49-F238E27FC236}">
                <a16:creationId xmlns:a16="http://schemas.microsoft.com/office/drawing/2014/main" id="{F6E4E3B7-D633-0738-F557-01827CAAF12B}"/>
              </a:ext>
            </a:extLst>
          </p:cNvPr>
          <p:cNvSpPr/>
          <p:nvPr/>
        </p:nvSpPr>
        <p:spPr>
          <a:xfrm>
            <a:off x="3245738" y="1755283"/>
            <a:ext cx="2689654" cy="3496100"/>
          </a:xfrm>
          <a:prstGeom prst="roundRect">
            <a:avLst>
              <a:gd name="adj" fmla="val 5160"/>
            </a:avLst>
          </a:prstGeom>
          <a:noFill/>
          <a:ln w="19050">
            <a:solidFill>
              <a:schemeClr val="accent1">
                <a:alpha val="8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4" name="TextBox 23">
            <a:extLst>
              <a:ext uri="{FF2B5EF4-FFF2-40B4-BE49-F238E27FC236}">
                <a16:creationId xmlns:a16="http://schemas.microsoft.com/office/drawing/2014/main" id="{1DD0F2ED-5FA8-298D-A594-A9A821EBA645}"/>
              </a:ext>
            </a:extLst>
          </p:cNvPr>
          <p:cNvSpPr txBox="1"/>
          <p:nvPr/>
        </p:nvSpPr>
        <p:spPr>
          <a:xfrm>
            <a:off x="6353369" y="1843686"/>
            <a:ext cx="2570386" cy="369332"/>
          </a:xfrm>
          <a:prstGeom prst="rect">
            <a:avLst/>
          </a:prstGeom>
          <a:noFill/>
        </p:spPr>
        <p:txBody>
          <a:bodyPr wrap="square">
            <a:spAutoFit/>
          </a:bodyPr>
          <a:lstStyle/>
          <a:p>
            <a:pPr algn="ctr"/>
            <a:r>
              <a:rPr lang="zh-CN" altLang="en-US" sz="1800" b="1" i="0" dirty="0">
                <a:effectLst/>
                <a:latin typeface="FangSong_GB2312" panose="02010609030101010101" pitchFamily="49" charset="-122"/>
                <a:ea typeface="FangSong_GB2312" panose="02010609030101010101" pitchFamily="49" charset="-122"/>
              </a:rPr>
              <a:t>从局部活动到跨区通信</a:t>
            </a:r>
            <a:endParaRPr lang="en-CN" dirty="0"/>
          </a:p>
        </p:txBody>
      </p:sp>
      <p:sp>
        <p:nvSpPr>
          <p:cNvPr id="25" name="TextBox 24">
            <a:extLst>
              <a:ext uri="{FF2B5EF4-FFF2-40B4-BE49-F238E27FC236}">
                <a16:creationId xmlns:a16="http://schemas.microsoft.com/office/drawing/2014/main" id="{CD6E542E-9770-070B-8BFC-46D91501C9A0}"/>
              </a:ext>
            </a:extLst>
          </p:cNvPr>
          <p:cNvSpPr txBox="1"/>
          <p:nvPr/>
        </p:nvSpPr>
        <p:spPr>
          <a:xfrm>
            <a:off x="6293737" y="2213018"/>
            <a:ext cx="2689654" cy="2307748"/>
          </a:xfrm>
          <a:prstGeom prst="rect">
            <a:avLst/>
          </a:prstGeom>
          <a:noFill/>
        </p:spPr>
        <p:txBody>
          <a:bodyPr wrap="square">
            <a:spAutoFit/>
          </a:bodyPr>
          <a:lstStyle/>
          <a:p>
            <a:pPr algn="just">
              <a:lnSpc>
                <a:spcPct val="150000"/>
              </a:lnSpc>
            </a:pPr>
            <a:r>
              <a:rPr lang="zh-CN" altLang="en-US" sz="1600" i="0" dirty="0">
                <a:effectLst/>
                <a:latin typeface="Times New Roman" panose="02020603050405020304" pitchFamily="18" charset="0"/>
                <a:ea typeface="FangSong_GB2312" panose="02010609030101010101" pitchFamily="49" charset="-122"/>
              </a:rPr>
              <a:t>研究三：低频 相干性增强；</a:t>
            </a:r>
            <a:r>
              <a:rPr lang="en-US" altLang="zh-CN" sz="1600" i="0" dirty="0">
                <a:effectLst/>
                <a:latin typeface="Times New Roman" panose="02020603050405020304" pitchFamily="18" charset="0"/>
                <a:ea typeface="FangSong_GB2312" panose="02010609030101010101" pitchFamily="49" charset="-122"/>
              </a:rPr>
              <a:t>sGC</a:t>
            </a:r>
            <a:r>
              <a:rPr lang="zh-CN" altLang="en-US" sz="1600" i="0" dirty="0">
                <a:effectLst/>
                <a:latin typeface="Times New Roman" panose="02020603050405020304" pitchFamily="18" charset="0"/>
                <a:ea typeface="FangSong_GB2312" panose="02010609030101010101" pitchFamily="49" charset="-122"/>
              </a:rPr>
              <a:t>中</a:t>
            </a:r>
            <a:r>
              <a:rPr lang="en-US" altLang="zh-CN" sz="1600" i="0" dirty="0">
                <a:effectLst/>
                <a:latin typeface="Times New Roman" panose="02020603050405020304" pitchFamily="18" charset="0"/>
                <a:ea typeface="FangSong_GB2312" panose="02010609030101010101" pitchFamily="49" charset="-122"/>
              </a:rPr>
              <a:t>H→A</a:t>
            </a:r>
            <a:r>
              <a:rPr lang="zh-CN" altLang="en-US" sz="1600" i="0" dirty="0">
                <a:effectLst/>
                <a:latin typeface="Times New Roman" panose="02020603050405020304" pitchFamily="18" charset="0"/>
                <a:ea typeface="FangSong_GB2312" panose="02010609030101010101" pitchFamily="49" charset="-122"/>
              </a:rPr>
              <a:t>较高；</a:t>
            </a:r>
            <a:r>
              <a:rPr lang="en-US" altLang="zh-CN" sz="1600" i="0" dirty="0">
                <a:effectLst/>
                <a:latin typeface="Times New Roman" panose="02020603050405020304" pitchFamily="18" charset="0"/>
                <a:ea typeface="FangSong_GB2312" panose="02010609030101010101" pitchFamily="49" charset="-122"/>
              </a:rPr>
              <a:t>spike</a:t>
            </a:r>
            <a:r>
              <a:rPr lang="zh-CN" altLang="en-US" sz="1600" dirty="0">
                <a:latin typeface="Times New Roman" panose="02020603050405020304" pitchFamily="18" charset="0"/>
                <a:ea typeface="FangSong_GB2312" panose="02010609030101010101" pitchFamily="49" charset="-122"/>
              </a:rPr>
              <a:t>时滞</a:t>
            </a:r>
            <a:r>
              <a:rPr lang="zh-CN" altLang="en-US" sz="1600" i="0" dirty="0">
                <a:effectLst/>
                <a:latin typeface="Times New Roman" panose="02020603050405020304" pitchFamily="18" charset="0"/>
                <a:ea typeface="FangSong_GB2312" panose="02010609030101010101" pitchFamily="49" charset="-122"/>
              </a:rPr>
              <a:t>提示海马领先</a:t>
            </a:r>
            <a:endParaRPr lang="en-US" altLang="zh-CN" sz="1600" i="0" dirty="0">
              <a:effectLst/>
              <a:latin typeface="Times New Roman" panose="02020603050405020304" pitchFamily="18" charset="0"/>
              <a:ea typeface="FangSong_GB2312" panose="02010609030101010101" pitchFamily="49" charset="-122"/>
            </a:endParaRPr>
          </a:p>
          <a:p>
            <a:pPr algn="just">
              <a:lnSpc>
                <a:spcPct val="150000"/>
              </a:lnSpc>
            </a:pPr>
            <a:r>
              <a:rPr lang="en-US" altLang="zh-CN" dirty="0">
                <a:solidFill>
                  <a:srgbClr val="FF0000"/>
                </a:solidFill>
                <a:latin typeface="FangSong_GB2312" panose="02010609030101010101" pitchFamily="49" charset="-122"/>
                <a:ea typeface="FangSong_GB2312" panose="02010609030101010101" pitchFamily="49" charset="-122"/>
              </a:rPr>
              <a:t>→</a:t>
            </a:r>
            <a:r>
              <a:rPr lang="zh-CN" altLang="en-US" sz="1600" dirty="0">
                <a:latin typeface="Times New Roman" panose="02020603050405020304" pitchFamily="18" charset="0"/>
                <a:ea typeface="FangSong_GB2312" panose="02010609030101010101" pitchFamily="49" charset="-122"/>
              </a:rPr>
              <a:t>海马可能先更新情境</a:t>
            </a:r>
            <a:r>
              <a:rPr lang="en-US" altLang="zh-CN" sz="1600" dirty="0">
                <a:latin typeface="Times New Roman" panose="02020603050405020304" pitchFamily="18" charset="0"/>
                <a:ea typeface="FangSong_GB2312" panose="02010609030101010101" pitchFamily="49" charset="-122"/>
              </a:rPr>
              <a:t>/</a:t>
            </a:r>
            <a:r>
              <a:rPr lang="zh-CN" altLang="en-US" sz="1600" dirty="0">
                <a:latin typeface="Times New Roman" panose="02020603050405020304" pitchFamily="18" charset="0"/>
                <a:ea typeface="FangSong_GB2312" panose="02010609030101010101" pitchFamily="49" charset="-122"/>
              </a:rPr>
              <a:t>事件结构，再为杏仁核的显著性和价值评估提供框架</a:t>
            </a:r>
            <a:endParaRPr lang="en-CN" sz="1600" dirty="0">
              <a:latin typeface="Times New Roman" panose="02020603050405020304" pitchFamily="18" charset="0"/>
              <a:ea typeface="FangSong_GB2312" panose="02010609030101010101" pitchFamily="49" charset="-122"/>
            </a:endParaRPr>
          </a:p>
        </p:txBody>
      </p:sp>
      <p:sp>
        <p:nvSpPr>
          <p:cNvPr id="26" name="矩形: 圆角 291">
            <a:extLst>
              <a:ext uri="{FF2B5EF4-FFF2-40B4-BE49-F238E27FC236}">
                <a16:creationId xmlns:a16="http://schemas.microsoft.com/office/drawing/2014/main" id="{A6993F88-6F0D-3DE6-D443-539183E93477}"/>
              </a:ext>
            </a:extLst>
          </p:cNvPr>
          <p:cNvSpPr/>
          <p:nvPr/>
        </p:nvSpPr>
        <p:spPr>
          <a:xfrm>
            <a:off x="6293737" y="1755282"/>
            <a:ext cx="2689654" cy="3496099"/>
          </a:xfrm>
          <a:prstGeom prst="roundRect">
            <a:avLst>
              <a:gd name="adj" fmla="val 5160"/>
            </a:avLst>
          </a:prstGeom>
          <a:noFill/>
          <a:ln w="19050">
            <a:solidFill>
              <a:schemeClr val="accent1">
                <a:alpha val="8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31" name="TextBox 30">
            <a:extLst>
              <a:ext uri="{FF2B5EF4-FFF2-40B4-BE49-F238E27FC236}">
                <a16:creationId xmlns:a16="http://schemas.microsoft.com/office/drawing/2014/main" id="{C9040B62-2A58-36FE-A548-F832B5B63CC5}"/>
              </a:ext>
            </a:extLst>
          </p:cNvPr>
          <p:cNvSpPr txBox="1"/>
          <p:nvPr/>
        </p:nvSpPr>
        <p:spPr>
          <a:xfrm>
            <a:off x="358345" y="1018078"/>
            <a:ext cx="7827711" cy="400110"/>
          </a:xfrm>
          <a:prstGeom prst="rect">
            <a:avLst/>
          </a:prstGeom>
          <a:noFill/>
        </p:spPr>
        <p:txBody>
          <a:bodyPr wrap="square">
            <a:spAutoFit/>
          </a:bodyPr>
          <a:lstStyle/>
          <a:p>
            <a:pPr marL="342900" indent="-342900" algn="just">
              <a:buFont typeface="Wingdings" pitchFamily="2" charset="2"/>
              <a:buChar char="v"/>
            </a:pPr>
            <a:r>
              <a:rPr lang="en-CN" sz="2000" b="1" dirty="0">
                <a:latin typeface="FangSong_GB2312" panose="02010609030101010101" pitchFamily="49" charset="-122"/>
                <a:ea typeface="FangSong_GB2312" panose="02010609030101010101" pitchFamily="49" charset="-122"/>
              </a:rPr>
              <a:t>三项研究共同揭示短视频加工中的杏仁核</a:t>
            </a:r>
            <a:r>
              <a:rPr lang="en-US" altLang="zh-CN" sz="2000" b="1" dirty="0">
                <a:latin typeface="FangSong_GB2312" panose="02010609030101010101" pitchFamily="49" charset="-122"/>
                <a:ea typeface="FangSong_GB2312" panose="02010609030101010101" pitchFamily="49" charset="-122"/>
              </a:rPr>
              <a:t>—</a:t>
            </a:r>
            <a:r>
              <a:rPr lang="en-CN" sz="2000" b="1" dirty="0">
                <a:latin typeface="FangSong_GB2312" panose="02010609030101010101" pitchFamily="49" charset="-122"/>
                <a:ea typeface="FangSong_GB2312" panose="02010609030101010101" pitchFamily="49" charset="-122"/>
              </a:rPr>
              <a:t>海马动态机制</a:t>
            </a:r>
          </a:p>
        </p:txBody>
      </p:sp>
    </p:spTree>
    <p:extLst>
      <p:ext uri="{BB962C8B-B14F-4D97-AF65-F5344CB8AC3E}">
        <p14:creationId xmlns:p14="http://schemas.microsoft.com/office/powerpoint/2010/main" val="466523405"/>
      </p:ext>
    </p:extLst>
  </p:cSld>
  <p:clrMapOvr>
    <a:masterClrMapping/>
  </p:clrMapOvr>
  <mc:AlternateContent xmlns:mc="http://schemas.openxmlformats.org/markup-compatibility/2006" xmlns:p14="http://schemas.microsoft.com/office/powerpoint/2010/main">
    <mc:Choice Requires="p14">
      <p:transition spd="slow" p14:dur="2000" advTm="10194"/>
    </mc:Choice>
    <mc:Fallback xmlns="">
      <p:transition spd="slow" advTm="10194"/>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C4EBC-A7E3-7638-717E-CEEEE5556799}"/>
            </a:ext>
          </a:extLst>
        </p:cNvPr>
        <p:cNvGrpSpPr/>
        <p:nvPr/>
      </p:nvGrpSpPr>
      <p:grpSpPr>
        <a:xfrm>
          <a:off x="0" y="0"/>
          <a:ext cx="0" cy="0"/>
          <a:chOff x="0" y="0"/>
          <a:chExt cx="0" cy="0"/>
        </a:xfrm>
      </p:grpSpPr>
      <p:sp>
        <p:nvSpPr>
          <p:cNvPr id="16" name="文本框 15">
            <a:extLst>
              <a:ext uri="{FF2B5EF4-FFF2-40B4-BE49-F238E27FC236}">
                <a16:creationId xmlns:a16="http://schemas.microsoft.com/office/drawing/2014/main" id="{FFB2B6F1-8C8C-1F11-30F8-ADE30BE954FF}"/>
              </a:ext>
            </a:extLst>
          </p:cNvPr>
          <p:cNvSpPr txBox="1"/>
          <p:nvPr/>
        </p:nvSpPr>
        <p:spPr>
          <a:xfrm>
            <a:off x="1219949" y="319219"/>
            <a:ext cx="1667444" cy="400110"/>
          </a:xfrm>
          <a:prstGeom prst="rect">
            <a:avLst/>
          </a:prstGeom>
          <a:solidFill>
            <a:schemeClr val="bg1"/>
          </a:solidFill>
        </p:spPr>
        <p:txBody>
          <a:bodyPr wrap="none" rtlCol="0">
            <a:spAutoFit/>
          </a:bodyPr>
          <a:lstStyle/>
          <a:p>
            <a:pPr defTabSz="914400"/>
            <a:r>
              <a:rPr lang="zh-CN" altLang="en-US" sz="2000" b="1" spc="300" dirty="0">
                <a:latin typeface="FangSong_GB2312" panose="02010609030101010101" pitchFamily="49" charset="-122"/>
                <a:ea typeface="FangSong_GB2312" panose="02010609030101010101" pitchFamily="49" charset="-122"/>
              </a:rPr>
              <a:t>讨</a:t>
            </a:r>
            <a:r>
              <a:rPr lang="zh-CN" altLang="en-CN" sz="2000" b="1" spc="300" dirty="0">
                <a:latin typeface="FangSong_GB2312" panose="02010609030101010101" pitchFamily="49" charset="-122"/>
                <a:ea typeface="FangSong_GB2312" panose="02010609030101010101" pitchFamily="49" charset="-122"/>
              </a:rPr>
              <a:t>论</a:t>
            </a:r>
            <a:r>
              <a:rPr lang="zh-CN" altLang="en-US" sz="2000" b="1" spc="300" dirty="0">
                <a:latin typeface="FangSong_GB2312" panose="02010609030101010101" pitchFamily="49" charset="-122"/>
                <a:ea typeface="FangSong_GB2312" panose="02010609030101010101" pitchFamily="49" charset="-122"/>
              </a:rPr>
              <a:t>与结论</a:t>
            </a:r>
          </a:p>
        </p:txBody>
      </p:sp>
      <p:sp>
        <p:nvSpPr>
          <p:cNvPr id="3" name="文本框 2">
            <a:extLst>
              <a:ext uri="{FF2B5EF4-FFF2-40B4-BE49-F238E27FC236}">
                <a16:creationId xmlns:a16="http://schemas.microsoft.com/office/drawing/2014/main" id="{E7D09A48-F7E0-CF26-99DC-4F46C81A2D5A}"/>
              </a:ext>
            </a:extLst>
          </p:cNvPr>
          <p:cNvSpPr txBox="1"/>
          <p:nvPr/>
        </p:nvSpPr>
        <p:spPr>
          <a:xfrm>
            <a:off x="358346" y="288442"/>
            <a:ext cx="720000" cy="523220"/>
          </a:xfrm>
          <a:prstGeom prst="rect">
            <a:avLst/>
          </a:prstGeom>
          <a:noFill/>
        </p:spPr>
        <p:txBody>
          <a:bodyPr wrap="square" rtlCol="0">
            <a:spAutoFit/>
          </a:bodyPr>
          <a:lstStyle/>
          <a:p>
            <a:pPr algn="ctr"/>
            <a:r>
              <a:rPr lang="en-US" altLang="zh-CN"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05</a:t>
            </a:r>
            <a:endParaRPr lang="zh-CN" altLang="en-US"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2" name="Group 1">
            <a:extLst>
              <a:ext uri="{FF2B5EF4-FFF2-40B4-BE49-F238E27FC236}">
                <a16:creationId xmlns:a16="http://schemas.microsoft.com/office/drawing/2014/main" id="{10DD1078-63BC-84FF-9888-BB541E6290C9}"/>
              </a:ext>
            </a:extLst>
          </p:cNvPr>
          <p:cNvGrpSpPr/>
          <p:nvPr/>
        </p:nvGrpSpPr>
        <p:grpSpPr>
          <a:xfrm>
            <a:off x="452057" y="1049377"/>
            <a:ext cx="7434643" cy="4146177"/>
            <a:chOff x="452057" y="927419"/>
            <a:chExt cx="9292834" cy="2848307"/>
          </a:xfrm>
        </p:grpSpPr>
        <p:sp>
          <p:nvSpPr>
            <p:cNvPr id="15" name="Rectangle 14">
              <a:extLst>
                <a:ext uri="{FF2B5EF4-FFF2-40B4-BE49-F238E27FC236}">
                  <a16:creationId xmlns:a16="http://schemas.microsoft.com/office/drawing/2014/main" id="{DBD64042-9A1F-E063-C7F4-9745F2457793}"/>
                </a:ext>
              </a:extLst>
            </p:cNvPr>
            <p:cNvSpPr/>
            <p:nvPr/>
          </p:nvSpPr>
          <p:spPr>
            <a:xfrm>
              <a:off x="452057" y="927419"/>
              <a:ext cx="9292834" cy="2848307"/>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dirty="0"/>
            </a:p>
          </p:txBody>
        </p:sp>
        <p:sp>
          <p:nvSpPr>
            <p:cNvPr id="14" name="TextBox 13">
              <a:extLst>
                <a:ext uri="{FF2B5EF4-FFF2-40B4-BE49-F238E27FC236}">
                  <a16:creationId xmlns:a16="http://schemas.microsoft.com/office/drawing/2014/main" id="{A5FB9E79-0FC7-8731-31B3-049660A7F597}"/>
                </a:ext>
              </a:extLst>
            </p:cNvPr>
            <p:cNvSpPr txBox="1"/>
            <p:nvPr/>
          </p:nvSpPr>
          <p:spPr>
            <a:xfrm>
              <a:off x="604458" y="1033950"/>
              <a:ext cx="1684626" cy="274864"/>
            </a:xfrm>
            <a:prstGeom prst="rect">
              <a:avLst/>
            </a:prstGeom>
            <a:noFill/>
          </p:spPr>
          <p:txBody>
            <a:bodyPr wrap="square">
              <a:spAutoFit/>
            </a:bodyPr>
            <a:lstStyle/>
            <a:p>
              <a:r>
                <a:rPr lang="zh-CN" altLang="en-US" sz="2000" b="1" i="0" dirty="0">
                  <a:effectLst/>
                  <a:latin typeface="FangSong_GB2312" panose="02010609030101010101" pitchFamily="49" charset="-122"/>
                  <a:ea typeface="FangSong_GB2312" panose="02010609030101010101" pitchFamily="49" charset="-122"/>
                </a:rPr>
                <a:t>主要结论</a:t>
              </a:r>
              <a:endParaRPr lang="en-CN" sz="2000" dirty="0"/>
            </a:p>
          </p:txBody>
        </p:sp>
      </p:grpSp>
      <p:grpSp>
        <p:nvGrpSpPr>
          <p:cNvPr id="4" name="Group 3">
            <a:extLst>
              <a:ext uri="{FF2B5EF4-FFF2-40B4-BE49-F238E27FC236}">
                <a16:creationId xmlns:a16="http://schemas.microsoft.com/office/drawing/2014/main" id="{F2A105DD-6989-28C3-7E30-29D3020C1217}"/>
              </a:ext>
            </a:extLst>
          </p:cNvPr>
          <p:cNvGrpSpPr/>
          <p:nvPr/>
        </p:nvGrpSpPr>
        <p:grpSpPr>
          <a:xfrm>
            <a:off x="452057" y="5354064"/>
            <a:ext cx="9292833" cy="1393393"/>
            <a:chOff x="452056" y="3979801"/>
            <a:chExt cx="9292833" cy="1393393"/>
          </a:xfrm>
        </p:grpSpPr>
        <p:sp>
          <p:nvSpPr>
            <p:cNvPr id="21" name="Rectangle 20">
              <a:extLst>
                <a:ext uri="{FF2B5EF4-FFF2-40B4-BE49-F238E27FC236}">
                  <a16:creationId xmlns:a16="http://schemas.microsoft.com/office/drawing/2014/main" id="{79E64E93-BF6E-B67A-6CBB-E98D06333A6B}"/>
                </a:ext>
              </a:extLst>
            </p:cNvPr>
            <p:cNvSpPr/>
            <p:nvPr/>
          </p:nvSpPr>
          <p:spPr>
            <a:xfrm>
              <a:off x="452056" y="3979801"/>
              <a:ext cx="9292833" cy="1393393"/>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dirty="0"/>
            </a:p>
          </p:txBody>
        </p:sp>
        <p:sp>
          <p:nvSpPr>
            <p:cNvPr id="12" name="TextBox 11">
              <a:extLst>
                <a:ext uri="{FF2B5EF4-FFF2-40B4-BE49-F238E27FC236}">
                  <a16:creationId xmlns:a16="http://schemas.microsoft.com/office/drawing/2014/main" id="{5D4A537F-85BC-7D2F-E089-3B9E0BA0FBFA}"/>
                </a:ext>
              </a:extLst>
            </p:cNvPr>
            <p:cNvSpPr txBox="1"/>
            <p:nvPr/>
          </p:nvSpPr>
          <p:spPr>
            <a:xfrm>
              <a:off x="604458" y="4065028"/>
              <a:ext cx="1684626" cy="369332"/>
            </a:xfrm>
            <a:prstGeom prst="rect">
              <a:avLst/>
            </a:prstGeom>
            <a:noFill/>
          </p:spPr>
          <p:txBody>
            <a:bodyPr wrap="square">
              <a:spAutoFit/>
            </a:bodyPr>
            <a:lstStyle/>
            <a:p>
              <a:r>
                <a:rPr lang="en-CN" b="1" dirty="0">
                  <a:latin typeface="FangSong_GB2312" panose="02010609030101010101" pitchFamily="49" charset="-122"/>
                  <a:ea typeface="FangSong_GB2312" panose="02010609030101010101" pitchFamily="49" charset="-122"/>
                </a:rPr>
                <a:t>局限与展望</a:t>
              </a:r>
            </a:p>
          </p:txBody>
        </p:sp>
        <p:sp>
          <p:nvSpPr>
            <p:cNvPr id="13" name="TextBox 12">
              <a:extLst>
                <a:ext uri="{FF2B5EF4-FFF2-40B4-BE49-F238E27FC236}">
                  <a16:creationId xmlns:a16="http://schemas.microsoft.com/office/drawing/2014/main" id="{A116B46D-758D-A624-FDA8-1AB13A570A2F}"/>
                </a:ext>
              </a:extLst>
            </p:cNvPr>
            <p:cNvSpPr txBox="1"/>
            <p:nvPr/>
          </p:nvSpPr>
          <p:spPr>
            <a:xfrm>
              <a:off x="604458" y="4430430"/>
              <a:ext cx="8118626" cy="784254"/>
            </a:xfrm>
            <a:prstGeom prst="rect">
              <a:avLst/>
            </a:prstGeom>
            <a:noFill/>
          </p:spPr>
          <p:txBody>
            <a:bodyPr wrap="square">
              <a:spAutoFit/>
            </a:bodyPr>
            <a:lstStyle/>
            <a:p>
              <a:pPr marL="342900" indent="-342900" algn="just">
                <a:lnSpc>
                  <a:spcPct val="150000"/>
                </a:lnSpc>
                <a:buFontTx/>
                <a:buAutoNum type="arabicPeriod"/>
              </a:pPr>
              <a:r>
                <a:rPr lang="zh-CN" altLang="en-CN" sz="1600" dirty="0">
                  <a:latin typeface="Times New Roman" panose="02020603050405020304" pitchFamily="18" charset="0"/>
                  <a:ea typeface="FangSong_GB2312" panose="02010609030101010101" pitchFamily="49" charset="-122"/>
                </a:rPr>
                <a:t>样本量</a:t>
              </a:r>
              <a:r>
                <a:rPr lang="zh-CN" altLang="en-US" sz="1600" dirty="0">
                  <a:latin typeface="Times New Roman" panose="02020603050405020304" pitchFamily="18" charset="0"/>
                  <a:ea typeface="FangSong_GB2312" panose="02010609030101010101" pitchFamily="49" charset="-122"/>
                </a:rPr>
                <a:t>有限，缺乏来自健康被试的直接证据；</a:t>
              </a:r>
              <a:r>
                <a:rPr lang="en-US" altLang="zh-CN" sz="1600" dirty="0">
                  <a:latin typeface="Times New Roman" panose="02020603050405020304" pitchFamily="18" charset="0"/>
                  <a:ea typeface="FangSong_GB2312" panose="02010609030101010101" pitchFamily="49" charset="-122"/>
                </a:rPr>
                <a:t>spike</a:t>
              </a:r>
              <a:r>
                <a:rPr lang="zh-CN" altLang="en-US" sz="1600" dirty="0">
                  <a:latin typeface="Times New Roman" panose="02020603050405020304" pitchFamily="18" charset="0"/>
                  <a:ea typeface="FangSong_GB2312" panose="02010609030101010101" pitchFamily="49" charset="-122"/>
                </a:rPr>
                <a:t>分析中的边缘系统单元数量也有限</a:t>
              </a:r>
              <a:endParaRPr lang="en-US" altLang="zh-CN" sz="1600" dirty="0">
                <a:latin typeface="Times New Roman" panose="02020603050405020304" pitchFamily="18" charset="0"/>
                <a:ea typeface="FangSong_GB2312" panose="02010609030101010101" pitchFamily="49" charset="-122"/>
              </a:endParaRPr>
            </a:p>
            <a:p>
              <a:pPr marL="342900" indent="-342900" algn="just">
                <a:lnSpc>
                  <a:spcPct val="150000"/>
                </a:lnSpc>
                <a:buFontTx/>
                <a:buAutoNum type="arabicPeriod"/>
              </a:pPr>
              <a:r>
                <a:rPr lang="zh-CN" altLang="en-US" sz="1600" dirty="0">
                  <a:latin typeface="Times New Roman" panose="02020603050405020304" pitchFamily="18" charset="0"/>
                  <a:ea typeface="FangSong_GB2312" panose="02010609030101010101" pitchFamily="49" charset="-122"/>
                </a:rPr>
                <a:t>尚未系统纳入伏隔核、眶额皮层、前扣带回等与奖赏、控制和决策相关的区域</a:t>
              </a:r>
              <a:endParaRPr lang="en-US" altLang="zh-CN" sz="1600" dirty="0">
                <a:latin typeface="Times New Roman" panose="02020603050405020304" pitchFamily="18" charset="0"/>
                <a:ea typeface="FangSong_GB2312" panose="02010609030101010101" pitchFamily="49" charset="-122"/>
              </a:endParaRPr>
            </a:p>
          </p:txBody>
        </p:sp>
      </p:grpSp>
      <p:pic>
        <p:nvPicPr>
          <p:cNvPr id="6" name="Picture 5">
            <a:extLst>
              <a:ext uri="{FF2B5EF4-FFF2-40B4-BE49-F238E27FC236}">
                <a16:creationId xmlns:a16="http://schemas.microsoft.com/office/drawing/2014/main" id="{928A661F-B9D0-2A68-4312-8F91BF991C0C}"/>
              </a:ext>
            </a:extLst>
          </p:cNvPr>
          <p:cNvPicPr>
            <a:picLocks noChangeAspect="1"/>
          </p:cNvPicPr>
          <p:nvPr/>
        </p:nvPicPr>
        <p:blipFill>
          <a:blip r:embed="rId3"/>
          <a:stretch>
            <a:fillRect/>
          </a:stretch>
        </p:blipFill>
        <p:spPr>
          <a:xfrm>
            <a:off x="8144691" y="1018254"/>
            <a:ext cx="1926696" cy="1363915"/>
          </a:xfrm>
          <a:prstGeom prst="rect">
            <a:avLst/>
          </a:prstGeom>
        </p:spPr>
      </p:pic>
      <p:pic>
        <p:nvPicPr>
          <p:cNvPr id="7" name="Picture 6">
            <a:extLst>
              <a:ext uri="{FF2B5EF4-FFF2-40B4-BE49-F238E27FC236}">
                <a16:creationId xmlns:a16="http://schemas.microsoft.com/office/drawing/2014/main" id="{4189229F-999A-F3C4-33E1-495BD8C9EA94}"/>
              </a:ext>
            </a:extLst>
          </p:cNvPr>
          <p:cNvPicPr>
            <a:picLocks noChangeAspect="1"/>
          </p:cNvPicPr>
          <p:nvPr/>
        </p:nvPicPr>
        <p:blipFill>
          <a:blip r:embed="rId4" cstate="print">
            <a:extLst>
              <a:ext uri="{28A0092B-C50C-407E-A947-70E740481C1C}">
                <a14:useLocalDpi xmlns:a14="http://schemas.microsoft.com/office/drawing/2010/main" val="0"/>
              </a:ext>
            </a:extLst>
          </a:blip>
          <a:srcRect l="61454" t="53675" r="11616" b="3493"/>
          <a:stretch>
            <a:fillRect/>
          </a:stretch>
        </p:blipFill>
        <p:spPr>
          <a:xfrm>
            <a:off x="8436881" y="2415458"/>
            <a:ext cx="1790612" cy="1414014"/>
          </a:xfrm>
          <a:prstGeom prst="rect">
            <a:avLst/>
          </a:prstGeom>
          <a:ln>
            <a:noFill/>
          </a:ln>
        </p:spPr>
      </p:pic>
      <p:pic>
        <p:nvPicPr>
          <p:cNvPr id="8" name="Picture 7">
            <a:extLst>
              <a:ext uri="{FF2B5EF4-FFF2-40B4-BE49-F238E27FC236}">
                <a16:creationId xmlns:a16="http://schemas.microsoft.com/office/drawing/2014/main" id="{844863B8-4206-C7FC-7D36-1A17B7FE44C9}"/>
              </a:ext>
            </a:extLst>
          </p:cNvPr>
          <p:cNvPicPr>
            <a:picLocks noChangeAspect="1"/>
          </p:cNvPicPr>
          <p:nvPr/>
        </p:nvPicPr>
        <p:blipFill>
          <a:blip r:embed="rId5" cstate="print">
            <a:extLst>
              <a:ext uri="{28A0092B-C50C-407E-A947-70E740481C1C}">
                <a14:useLocalDpi xmlns:a14="http://schemas.microsoft.com/office/drawing/2010/main" val="0"/>
              </a:ext>
            </a:extLst>
          </a:blip>
          <a:srcRect l="51189" t="3532" b="50000"/>
          <a:stretch>
            <a:fillRect/>
          </a:stretch>
        </p:blipFill>
        <p:spPr>
          <a:xfrm>
            <a:off x="8078957" y="3964747"/>
            <a:ext cx="1941343" cy="1204422"/>
          </a:xfrm>
          <a:prstGeom prst="rect">
            <a:avLst/>
          </a:prstGeom>
        </p:spPr>
      </p:pic>
      <p:pic>
        <p:nvPicPr>
          <p:cNvPr id="9" name="Picture 8">
            <a:extLst>
              <a:ext uri="{FF2B5EF4-FFF2-40B4-BE49-F238E27FC236}">
                <a16:creationId xmlns:a16="http://schemas.microsoft.com/office/drawing/2014/main" id="{AE0FBDF2-17B1-A6E8-042E-9ABBCAEECDD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020300" y="3972223"/>
            <a:ext cx="1850684" cy="1196946"/>
          </a:xfrm>
          <a:prstGeom prst="rect">
            <a:avLst/>
          </a:prstGeom>
        </p:spPr>
      </p:pic>
      <p:sp>
        <p:nvSpPr>
          <p:cNvPr id="10" name="TextBox 9">
            <a:extLst>
              <a:ext uri="{FF2B5EF4-FFF2-40B4-BE49-F238E27FC236}">
                <a16:creationId xmlns:a16="http://schemas.microsoft.com/office/drawing/2014/main" id="{F42CDB2A-E3C1-0267-838C-48E4A694751A}"/>
              </a:ext>
            </a:extLst>
          </p:cNvPr>
          <p:cNvSpPr txBox="1"/>
          <p:nvPr/>
        </p:nvSpPr>
        <p:spPr>
          <a:xfrm>
            <a:off x="424211" y="2777630"/>
            <a:ext cx="2014190" cy="646331"/>
          </a:xfrm>
          <a:prstGeom prst="rect">
            <a:avLst/>
          </a:prstGeom>
          <a:noFill/>
        </p:spPr>
        <p:txBody>
          <a:bodyPr wrap="square">
            <a:spAutoFit/>
          </a:bodyPr>
          <a:lstStyle/>
          <a:p>
            <a:pPr algn="ctr"/>
            <a:r>
              <a:rPr lang="zh-CN" altLang="en-US" dirty="0">
                <a:solidFill>
                  <a:srgbClr val="2E75B6"/>
                </a:solidFill>
                <a:latin typeface="FangSong_GB2312" panose="02010609030101010101" pitchFamily="49" charset="-122"/>
                <a:ea typeface="FangSong_GB2312" panose="02010609030101010101" pitchFamily="49" charset="-122"/>
              </a:rPr>
              <a:t>杏仁核</a:t>
            </a:r>
            <a:r>
              <a:rPr lang="en-US" altLang="zh-CN" dirty="0">
                <a:solidFill>
                  <a:srgbClr val="2E75B6"/>
                </a:solidFill>
                <a:latin typeface="FangSong_GB2312" panose="02010609030101010101" pitchFamily="49" charset="-122"/>
                <a:ea typeface="FangSong_GB2312" panose="02010609030101010101" pitchFamily="49" charset="-122"/>
              </a:rPr>
              <a:t>—</a:t>
            </a:r>
            <a:r>
              <a:rPr lang="zh-CN" altLang="en-US" dirty="0">
                <a:solidFill>
                  <a:srgbClr val="2E75B6"/>
                </a:solidFill>
                <a:latin typeface="FangSong_GB2312" panose="02010609030101010101" pitchFamily="49" charset="-122"/>
                <a:ea typeface="FangSong_GB2312" panose="02010609030101010101" pitchFamily="49" charset="-122"/>
              </a:rPr>
              <a:t>海马</a:t>
            </a:r>
            <a:r>
              <a:rPr lang="zh-CN" altLang="en-US" dirty="0">
                <a:latin typeface="FangSong_GB2312" panose="02010609030101010101" pitchFamily="49" charset="-122"/>
                <a:ea typeface="FangSong_GB2312" panose="02010609030101010101" pitchFamily="49" charset="-122"/>
              </a:rPr>
              <a:t>系统</a:t>
            </a:r>
            <a:endParaRPr lang="en-US" altLang="zh-CN" dirty="0">
              <a:latin typeface="FangSong_GB2312" panose="02010609030101010101" pitchFamily="49" charset="-122"/>
              <a:ea typeface="FangSong_GB2312" panose="02010609030101010101" pitchFamily="49" charset="-122"/>
            </a:endParaRPr>
          </a:p>
          <a:p>
            <a:pPr algn="ctr"/>
            <a:r>
              <a:rPr lang="zh-CN" altLang="en-US" dirty="0">
                <a:latin typeface="FangSong_GB2312" panose="02010609030101010101" pitchFamily="49" charset="-122"/>
                <a:ea typeface="FangSong_GB2312" panose="02010609030101010101" pitchFamily="49" charset="-122"/>
              </a:rPr>
              <a:t>如何加工</a:t>
            </a:r>
            <a:endParaRPr lang="en-US" altLang="zh-CN" dirty="0">
              <a:latin typeface="FangSong_GB2312" panose="02010609030101010101" pitchFamily="49" charset="-122"/>
              <a:ea typeface="FangSong_GB2312" panose="02010609030101010101" pitchFamily="49" charset="-122"/>
            </a:endParaRPr>
          </a:p>
        </p:txBody>
      </p:sp>
      <p:sp>
        <p:nvSpPr>
          <p:cNvPr id="11" name="Left Brace 10">
            <a:extLst>
              <a:ext uri="{FF2B5EF4-FFF2-40B4-BE49-F238E27FC236}">
                <a16:creationId xmlns:a16="http://schemas.microsoft.com/office/drawing/2014/main" id="{70431F39-924F-89A8-E354-74A2A8B7C2A6}"/>
              </a:ext>
            </a:extLst>
          </p:cNvPr>
          <p:cNvSpPr/>
          <p:nvPr/>
        </p:nvSpPr>
        <p:spPr>
          <a:xfrm>
            <a:off x="2438401" y="1668331"/>
            <a:ext cx="691200" cy="2941769"/>
          </a:xfrm>
          <a:prstGeom prst="leftBrace">
            <a:avLst>
              <a:gd name="adj1" fmla="val 0"/>
              <a:gd name="adj2" fmla="val 50025"/>
            </a:avLst>
          </a:prstGeom>
          <a:ln w="31750">
            <a:solidFill>
              <a:srgbClr val="7F7F7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p:grpSp>
        <p:nvGrpSpPr>
          <p:cNvPr id="17" name="Group 16">
            <a:extLst>
              <a:ext uri="{FF2B5EF4-FFF2-40B4-BE49-F238E27FC236}">
                <a16:creationId xmlns:a16="http://schemas.microsoft.com/office/drawing/2014/main" id="{840045DD-922C-543A-CA43-3278DEDA66D9}"/>
              </a:ext>
            </a:extLst>
          </p:cNvPr>
          <p:cNvGrpSpPr/>
          <p:nvPr/>
        </p:nvGrpSpPr>
        <p:grpSpPr>
          <a:xfrm>
            <a:off x="3159601" y="1471671"/>
            <a:ext cx="1652694" cy="3280308"/>
            <a:chOff x="5452477" y="3161990"/>
            <a:chExt cx="1652694" cy="3280308"/>
          </a:xfrm>
        </p:grpSpPr>
        <p:sp>
          <p:nvSpPr>
            <p:cNvPr id="19" name="TextBox 18">
              <a:extLst>
                <a:ext uri="{FF2B5EF4-FFF2-40B4-BE49-F238E27FC236}">
                  <a16:creationId xmlns:a16="http://schemas.microsoft.com/office/drawing/2014/main" id="{3C91A721-6F74-3ADE-D137-B6D54C153EF9}"/>
                </a:ext>
              </a:extLst>
            </p:cNvPr>
            <p:cNvSpPr txBox="1"/>
            <p:nvPr/>
          </p:nvSpPr>
          <p:spPr>
            <a:xfrm>
              <a:off x="5452477" y="3161990"/>
              <a:ext cx="1652694" cy="369332"/>
            </a:xfrm>
            <a:prstGeom prst="rect">
              <a:avLst/>
            </a:prstGeom>
            <a:noFill/>
          </p:spPr>
          <p:txBody>
            <a:bodyPr wrap="square" anchor="ctr">
              <a:spAutoFit/>
            </a:bodyPr>
            <a:lstStyle/>
            <a:p>
              <a:r>
                <a:rPr lang="zh-CN" altLang="en-US" sz="1800" dirty="0">
                  <a:latin typeface="FangSong_GB2312" panose="02010609030101010101" pitchFamily="49" charset="-122"/>
                  <a:ea typeface="FangSong_GB2312" panose="02010609030101010101" pitchFamily="49" charset="-122"/>
                </a:rPr>
                <a:t>情绪效价？</a:t>
              </a:r>
              <a:endParaRPr lang="en-US" altLang="zh-CN" sz="1800" dirty="0">
                <a:latin typeface="FangSong_GB2312" panose="02010609030101010101" pitchFamily="49" charset="-122"/>
                <a:ea typeface="FangSong_GB2312" panose="02010609030101010101" pitchFamily="49" charset="-122"/>
              </a:endParaRPr>
            </a:p>
          </p:txBody>
        </p:sp>
        <p:sp>
          <p:nvSpPr>
            <p:cNvPr id="20" name="TextBox 19">
              <a:extLst>
                <a:ext uri="{FF2B5EF4-FFF2-40B4-BE49-F238E27FC236}">
                  <a16:creationId xmlns:a16="http://schemas.microsoft.com/office/drawing/2014/main" id="{AD8A2787-DA0F-455F-91FB-7731AC4F2C45}"/>
                </a:ext>
              </a:extLst>
            </p:cNvPr>
            <p:cNvSpPr txBox="1"/>
            <p:nvPr/>
          </p:nvSpPr>
          <p:spPr>
            <a:xfrm>
              <a:off x="5452477" y="4628118"/>
              <a:ext cx="1652694" cy="369332"/>
            </a:xfrm>
            <a:prstGeom prst="rect">
              <a:avLst/>
            </a:prstGeom>
            <a:noFill/>
          </p:spPr>
          <p:txBody>
            <a:bodyPr wrap="square" anchor="ctr">
              <a:spAutoFit/>
            </a:bodyPr>
            <a:lstStyle/>
            <a:p>
              <a:r>
                <a:rPr lang="zh-CN" altLang="en-US" dirty="0">
                  <a:latin typeface="FangSong_GB2312" panose="02010609030101010101" pitchFamily="49" charset="-122"/>
                  <a:ea typeface="FangSong_GB2312" panose="02010609030101010101" pitchFamily="49" charset="-122"/>
                </a:rPr>
                <a:t>主观偏好</a:t>
              </a:r>
              <a:r>
                <a:rPr lang="zh-CN" altLang="en-US" sz="1800" dirty="0">
                  <a:latin typeface="FangSong_GB2312" panose="02010609030101010101" pitchFamily="49" charset="-122"/>
                  <a:ea typeface="FangSong_GB2312" panose="02010609030101010101" pitchFamily="49" charset="-122"/>
                </a:rPr>
                <a:t>？</a:t>
              </a:r>
              <a:endParaRPr lang="en-US" altLang="zh-CN" sz="1800" dirty="0">
                <a:latin typeface="FangSong_GB2312" panose="02010609030101010101" pitchFamily="49" charset="-122"/>
                <a:ea typeface="FangSong_GB2312" panose="02010609030101010101" pitchFamily="49" charset="-122"/>
              </a:endParaRPr>
            </a:p>
          </p:txBody>
        </p:sp>
        <p:sp>
          <p:nvSpPr>
            <p:cNvPr id="22" name="TextBox 21">
              <a:extLst>
                <a:ext uri="{FF2B5EF4-FFF2-40B4-BE49-F238E27FC236}">
                  <a16:creationId xmlns:a16="http://schemas.microsoft.com/office/drawing/2014/main" id="{98E3AFD5-D2BE-5C10-FD90-DBA1059BC8F2}"/>
                </a:ext>
              </a:extLst>
            </p:cNvPr>
            <p:cNvSpPr txBox="1"/>
            <p:nvPr/>
          </p:nvSpPr>
          <p:spPr>
            <a:xfrm>
              <a:off x="5452477" y="6072966"/>
              <a:ext cx="1652694" cy="369332"/>
            </a:xfrm>
            <a:prstGeom prst="rect">
              <a:avLst/>
            </a:prstGeom>
            <a:noFill/>
          </p:spPr>
          <p:txBody>
            <a:bodyPr wrap="square" anchor="ctr">
              <a:spAutoFit/>
            </a:bodyPr>
            <a:lstStyle/>
            <a:p>
              <a:r>
                <a:rPr lang="zh-CN" altLang="en-US" dirty="0">
                  <a:latin typeface="FangSong_GB2312" panose="02010609030101010101" pitchFamily="49" charset="-122"/>
                  <a:ea typeface="FangSong_GB2312" panose="02010609030101010101" pitchFamily="49" charset="-122"/>
                </a:rPr>
                <a:t>刺激凸显性</a:t>
              </a:r>
              <a:r>
                <a:rPr lang="zh-CN" altLang="en-US" sz="1800" dirty="0">
                  <a:latin typeface="FangSong_GB2312" panose="02010609030101010101" pitchFamily="49" charset="-122"/>
                  <a:ea typeface="FangSong_GB2312" panose="02010609030101010101" pitchFamily="49" charset="-122"/>
                </a:rPr>
                <a:t>？</a:t>
              </a:r>
              <a:endParaRPr lang="en-US" altLang="zh-CN" sz="1800" dirty="0">
                <a:latin typeface="FangSong_GB2312" panose="02010609030101010101" pitchFamily="49" charset="-122"/>
                <a:ea typeface="FangSong_GB2312" panose="02010609030101010101" pitchFamily="49" charset="-122"/>
              </a:endParaRPr>
            </a:p>
          </p:txBody>
        </p:sp>
      </p:grpSp>
      <p:sp>
        <p:nvSpPr>
          <p:cNvPr id="24" name="TextBox 23">
            <a:extLst>
              <a:ext uri="{FF2B5EF4-FFF2-40B4-BE49-F238E27FC236}">
                <a16:creationId xmlns:a16="http://schemas.microsoft.com/office/drawing/2014/main" id="{3E6FFB5D-C561-253B-2940-28665542B6D6}"/>
              </a:ext>
            </a:extLst>
          </p:cNvPr>
          <p:cNvSpPr txBox="1"/>
          <p:nvPr/>
        </p:nvSpPr>
        <p:spPr>
          <a:xfrm>
            <a:off x="4629297" y="1398609"/>
            <a:ext cx="3152560" cy="646331"/>
          </a:xfrm>
          <a:prstGeom prst="rect">
            <a:avLst/>
          </a:prstGeom>
          <a:noFill/>
        </p:spPr>
        <p:txBody>
          <a:bodyPr wrap="square">
            <a:spAutoFit/>
          </a:bodyPr>
          <a:lstStyle/>
          <a:p>
            <a:r>
              <a:rPr lang="zh-CN" altLang="en-US" sz="1800" dirty="0">
                <a:latin typeface="Times New Roman" panose="02020603050405020304" pitchFamily="18" charset="0"/>
                <a:ea typeface="FangSong_GB2312" panose="02010609030101010101" pitchFamily="49" charset="-122"/>
              </a:rPr>
              <a:t>杏仁核：</a:t>
            </a:r>
            <a:r>
              <a:rPr lang="el-GR" altLang="zh-CN" sz="1800" dirty="0">
                <a:latin typeface="Times New Roman" panose="02020603050405020304" pitchFamily="18" charset="0"/>
                <a:ea typeface="FangSong_GB2312" panose="02010609030101010101" pitchFamily="49" charset="-122"/>
              </a:rPr>
              <a:t>θ/α</a:t>
            </a:r>
            <a:r>
              <a:rPr lang="zh-CN" altLang="en-US" sz="1800" dirty="0">
                <a:latin typeface="Times New Roman" panose="02020603050405020304" pitchFamily="18" charset="0"/>
                <a:ea typeface="FangSong_GB2312" panose="02010609030101010101" pitchFamily="49" charset="-122"/>
              </a:rPr>
              <a:t>至</a:t>
            </a:r>
            <a:r>
              <a:rPr lang="el-GR" altLang="zh-CN" sz="1800" dirty="0">
                <a:latin typeface="Times New Roman" panose="02020603050405020304" pitchFamily="18" charset="0"/>
                <a:ea typeface="FangSong_GB2312" panose="02010609030101010101" pitchFamily="49" charset="-122"/>
              </a:rPr>
              <a:t>β</a:t>
            </a:r>
            <a:r>
              <a:rPr lang="zh-CN" altLang="en-US" sz="1800" dirty="0">
                <a:latin typeface="Times New Roman" panose="02020603050405020304" pitchFamily="18" charset="0"/>
                <a:ea typeface="FangSong_GB2312" panose="02010609030101010101" pitchFamily="49" charset="-122"/>
              </a:rPr>
              <a:t>频段活动改变</a:t>
            </a:r>
            <a:endParaRPr lang="en-US" altLang="zh-CN" sz="1800" dirty="0">
              <a:latin typeface="Times New Roman" panose="02020603050405020304" pitchFamily="18" charset="0"/>
              <a:ea typeface="FangSong_GB2312" panose="02010609030101010101" pitchFamily="49" charset="-122"/>
            </a:endParaRPr>
          </a:p>
          <a:p>
            <a:r>
              <a:rPr lang="zh-CN" altLang="en-US" dirty="0">
                <a:latin typeface="Times New Roman" panose="02020603050405020304" pitchFamily="18" charset="0"/>
                <a:ea typeface="FangSong_GB2312" panose="02010609030101010101" pitchFamily="49" charset="-122"/>
              </a:rPr>
              <a:t>海    马：无显著变化</a:t>
            </a:r>
            <a:endParaRPr lang="en-CN" dirty="0"/>
          </a:p>
        </p:txBody>
      </p:sp>
      <p:sp>
        <p:nvSpPr>
          <p:cNvPr id="25" name="TextBox 24">
            <a:extLst>
              <a:ext uri="{FF2B5EF4-FFF2-40B4-BE49-F238E27FC236}">
                <a16:creationId xmlns:a16="http://schemas.microsoft.com/office/drawing/2014/main" id="{F508552B-2B99-7A51-C15E-B612230DD5DD}"/>
              </a:ext>
            </a:extLst>
          </p:cNvPr>
          <p:cNvSpPr txBox="1"/>
          <p:nvPr/>
        </p:nvSpPr>
        <p:spPr>
          <a:xfrm>
            <a:off x="4663772" y="2868887"/>
            <a:ext cx="3152560" cy="646331"/>
          </a:xfrm>
          <a:prstGeom prst="rect">
            <a:avLst/>
          </a:prstGeom>
          <a:noFill/>
        </p:spPr>
        <p:txBody>
          <a:bodyPr wrap="square">
            <a:spAutoFit/>
          </a:bodyPr>
          <a:lstStyle/>
          <a:p>
            <a:r>
              <a:rPr lang="en-CN" dirty="0">
                <a:latin typeface="FangSong_GB2312" panose="02010609030101010101" pitchFamily="49" charset="-122"/>
                <a:ea typeface="FangSong_GB2312" panose="02010609030101010101" pitchFamily="49" charset="-122"/>
              </a:rPr>
              <a:t>喜欢视频放电率降低</a:t>
            </a:r>
          </a:p>
          <a:p>
            <a:r>
              <a:rPr lang="en-CN" dirty="0">
                <a:latin typeface="FangSong_GB2312" panose="02010609030101010101" pitchFamily="49" charset="-122"/>
                <a:ea typeface="FangSong_GB2312" panose="02010609030101010101" pitchFamily="49" charset="-122"/>
              </a:rPr>
              <a:t>主要来自海马</a:t>
            </a:r>
          </a:p>
        </p:txBody>
      </p:sp>
      <p:sp>
        <p:nvSpPr>
          <p:cNvPr id="26" name="TextBox 25">
            <a:extLst>
              <a:ext uri="{FF2B5EF4-FFF2-40B4-BE49-F238E27FC236}">
                <a16:creationId xmlns:a16="http://schemas.microsoft.com/office/drawing/2014/main" id="{F21A1049-F123-2571-0043-D2924381FD8A}"/>
              </a:ext>
            </a:extLst>
          </p:cNvPr>
          <p:cNvSpPr txBox="1"/>
          <p:nvPr/>
        </p:nvSpPr>
        <p:spPr>
          <a:xfrm>
            <a:off x="4629297" y="4247879"/>
            <a:ext cx="3152560" cy="646331"/>
          </a:xfrm>
          <a:prstGeom prst="rect">
            <a:avLst/>
          </a:prstGeom>
          <a:noFill/>
        </p:spPr>
        <p:txBody>
          <a:bodyPr wrap="square">
            <a:spAutoFit/>
          </a:bodyPr>
          <a:lstStyle/>
          <a:p>
            <a:r>
              <a:rPr lang="en-CN" dirty="0">
                <a:latin typeface="FangSong_GB2312" panose="02010609030101010101" pitchFamily="49" charset="-122"/>
                <a:ea typeface="FangSong_GB2312" panose="02010609030101010101" pitchFamily="49" charset="-122"/>
              </a:rPr>
              <a:t>海马放电比杏仁核更早</a:t>
            </a:r>
          </a:p>
          <a:p>
            <a:r>
              <a:rPr lang="en-CN" dirty="0">
                <a:latin typeface="FangSong_GB2312" panose="02010609030101010101" pitchFamily="49" charset="-122"/>
                <a:ea typeface="FangSong_GB2312" panose="02010609030101010101" pitchFamily="49" charset="-122"/>
              </a:rPr>
              <a:t>海马→杏仁核信息流更强</a:t>
            </a:r>
          </a:p>
        </p:txBody>
      </p:sp>
    </p:spTree>
    <p:extLst>
      <p:ext uri="{BB962C8B-B14F-4D97-AF65-F5344CB8AC3E}">
        <p14:creationId xmlns:p14="http://schemas.microsoft.com/office/powerpoint/2010/main" val="3398991840"/>
      </p:ext>
    </p:extLst>
  </p:cSld>
  <p:clrMapOvr>
    <a:masterClrMapping/>
  </p:clrMapOvr>
  <mc:AlternateContent xmlns:mc="http://schemas.openxmlformats.org/markup-compatibility/2006" xmlns:p14="http://schemas.microsoft.com/office/powerpoint/2010/main">
    <mc:Choice Requires="p14">
      <p:transition spd="slow" p14:dur="2000" advTm="10194"/>
    </mc:Choice>
    <mc:Fallback xmlns="">
      <p:transition spd="slow" advTm="10194"/>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27186-5418-179A-6035-2183688919F9}"/>
            </a:ext>
          </a:extLst>
        </p:cNvPr>
        <p:cNvGrpSpPr/>
        <p:nvPr/>
      </p:nvGrpSpPr>
      <p:grpSpPr>
        <a:xfrm>
          <a:off x="0" y="0"/>
          <a:ext cx="0" cy="0"/>
          <a:chOff x="0" y="0"/>
          <a:chExt cx="0" cy="0"/>
        </a:xfrm>
      </p:grpSpPr>
      <p:sp>
        <p:nvSpPr>
          <p:cNvPr id="16" name="文本框 15">
            <a:extLst>
              <a:ext uri="{FF2B5EF4-FFF2-40B4-BE49-F238E27FC236}">
                <a16:creationId xmlns:a16="http://schemas.microsoft.com/office/drawing/2014/main" id="{DEEDA46E-021F-4709-E9D6-A76143B78B41}"/>
              </a:ext>
            </a:extLst>
          </p:cNvPr>
          <p:cNvSpPr txBox="1"/>
          <p:nvPr/>
        </p:nvSpPr>
        <p:spPr>
          <a:xfrm>
            <a:off x="1219949" y="319219"/>
            <a:ext cx="3105337" cy="400110"/>
          </a:xfrm>
          <a:prstGeom prst="rect">
            <a:avLst/>
          </a:prstGeom>
          <a:solidFill>
            <a:schemeClr val="bg1"/>
          </a:solidFill>
        </p:spPr>
        <p:txBody>
          <a:bodyPr wrap="none" rtlCol="0">
            <a:spAutoFit/>
          </a:bodyPr>
          <a:lstStyle/>
          <a:p>
            <a:pPr defTabSz="914400"/>
            <a:r>
              <a:rPr lang="zh-CN" altLang="en-US" sz="2000" b="1" spc="300" dirty="0">
                <a:latin typeface="FangSong_GB2312" panose="02010609030101010101" pitchFamily="49" charset="-122"/>
                <a:ea typeface="FangSong_GB2312" panose="02010609030101010101" pitchFamily="49" charset="-122"/>
              </a:rPr>
              <a:t>参考文献</a:t>
            </a:r>
            <a:r>
              <a:rPr lang="en-US" altLang="zh-CN" sz="2000" b="1" spc="300" dirty="0">
                <a:latin typeface="Times New Roman" panose="02020603050405020304" pitchFamily="18" charset="0"/>
                <a:ea typeface="FangSong_GB2312" panose="02010609030101010101" pitchFamily="49" charset="-122"/>
                <a:cs typeface="Times New Roman" panose="02020603050405020304" pitchFamily="18" charset="0"/>
              </a:rPr>
              <a:t>&amp;</a:t>
            </a:r>
            <a:r>
              <a:rPr lang="zh-CN" altLang="en-US" sz="2000" b="1" spc="300" dirty="0">
                <a:latin typeface="FangSong_GB2312" panose="02010609030101010101" pitchFamily="49" charset="-122"/>
                <a:ea typeface="FangSong_GB2312" panose="02010609030101010101" pitchFamily="49" charset="-122"/>
              </a:rPr>
              <a:t>代码可用性</a:t>
            </a:r>
          </a:p>
        </p:txBody>
      </p:sp>
      <p:sp>
        <p:nvSpPr>
          <p:cNvPr id="3" name="文本框 2">
            <a:extLst>
              <a:ext uri="{FF2B5EF4-FFF2-40B4-BE49-F238E27FC236}">
                <a16:creationId xmlns:a16="http://schemas.microsoft.com/office/drawing/2014/main" id="{A893DD5E-26EC-19C2-89D4-6BD2E79331EE}"/>
              </a:ext>
            </a:extLst>
          </p:cNvPr>
          <p:cNvSpPr txBox="1"/>
          <p:nvPr/>
        </p:nvSpPr>
        <p:spPr>
          <a:xfrm>
            <a:off x="358346" y="288442"/>
            <a:ext cx="720000" cy="523220"/>
          </a:xfrm>
          <a:prstGeom prst="rect">
            <a:avLst/>
          </a:prstGeom>
          <a:noFill/>
        </p:spPr>
        <p:txBody>
          <a:bodyPr wrap="square" rtlCol="0">
            <a:spAutoFit/>
          </a:bodyPr>
          <a:lstStyle/>
          <a:p>
            <a:pPr algn="ctr"/>
            <a:r>
              <a:rPr lang="en-US" altLang="zh-CN"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06</a:t>
            </a:r>
            <a:endParaRPr lang="zh-CN" altLang="en-US"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4" name="Picture 3">
            <a:extLst>
              <a:ext uri="{FF2B5EF4-FFF2-40B4-BE49-F238E27FC236}">
                <a16:creationId xmlns:a16="http://schemas.microsoft.com/office/drawing/2014/main" id="{55D8AD87-48AA-9F52-C666-0D39094CEEBB}"/>
              </a:ext>
            </a:extLst>
          </p:cNvPr>
          <p:cNvPicPr>
            <a:picLocks noChangeAspect="1"/>
          </p:cNvPicPr>
          <p:nvPr/>
        </p:nvPicPr>
        <p:blipFill>
          <a:blip r:embed="rId3"/>
          <a:srcRect t="13333" b="6845"/>
          <a:stretch>
            <a:fillRect/>
          </a:stretch>
        </p:blipFill>
        <p:spPr>
          <a:xfrm>
            <a:off x="-387042" y="1064777"/>
            <a:ext cx="4846211" cy="5474208"/>
          </a:xfrm>
          <a:prstGeom prst="rect">
            <a:avLst/>
          </a:prstGeom>
        </p:spPr>
      </p:pic>
      <p:pic>
        <p:nvPicPr>
          <p:cNvPr id="6" name="Picture 5">
            <a:extLst>
              <a:ext uri="{FF2B5EF4-FFF2-40B4-BE49-F238E27FC236}">
                <a16:creationId xmlns:a16="http://schemas.microsoft.com/office/drawing/2014/main" id="{92151B1D-52D7-DFC5-F53B-AC3C3CDB3601}"/>
              </a:ext>
            </a:extLst>
          </p:cNvPr>
          <p:cNvPicPr>
            <a:picLocks noChangeAspect="1"/>
          </p:cNvPicPr>
          <p:nvPr/>
        </p:nvPicPr>
        <p:blipFill>
          <a:blip r:embed="rId4"/>
          <a:srcRect t="8356" b="7911"/>
          <a:stretch>
            <a:fillRect/>
          </a:stretch>
        </p:blipFill>
        <p:spPr>
          <a:xfrm>
            <a:off x="3694229" y="960120"/>
            <a:ext cx="4846211" cy="5742432"/>
          </a:xfrm>
          <a:prstGeom prst="rect">
            <a:avLst/>
          </a:prstGeom>
        </p:spPr>
      </p:pic>
      <p:pic>
        <p:nvPicPr>
          <p:cNvPr id="10" name="Picture 9">
            <a:extLst>
              <a:ext uri="{FF2B5EF4-FFF2-40B4-BE49-F238E27FC236}">
                <a16:creationId xmlns:a16="http://schemas.microsoft.com/office/drawing/2014/main" id="{5BFD4777-1EFD-53BD-485C-F56414879F19}"/>
              </a:ext>
            </a:extLst>
          </p:cNvPr>
          <p:cNvPicPr>
            <a:picLocks noChangeAspect="1"/>
          </p:cNvPicPr>
          <p:nvPr/>
        </p:nvPicPr>
        <p:blipFill>
          <a:blip r:embed="rId5"/>
          <a:srcRect t="8594" b="7673"/>
          <a:stretch>
            <a:fillRect/>
          </a:stretch>
        </p:blipFill>
        <p:spPr>
          <a:xfrm>
            <a:off x="7653580" y="983094"/>
            <a:ext cx="4846211" cy="5742432"/>
          </a:xfrm>
          <a:prstGeom prst="rect">
            <a:avLst/>
          </a:prstGeom>
        </p:spPr>
      </p:pic>
    </p:spTree>
    <p:extLst>
      <p:ext uri="{BB962C8B-B14F-4D97-AF65-F5344CB8AC3E}">
        <p14:creationId xmlns:p14="http://schemas.microsoft.com/office/powerpoint/2010/main" val="1265311581"/>
      </p:ext>
    </p:extLst>
  </p:cSld>
  <p:clrMapOvr>
    <a:masterClrMapping/>
  </p:clrMapOvr>
  <mc:AlternateContent xmlns:mc="http://schemas.openxmlformats.org/markup-compatibility/2006" xmlns:p14="http://schemas.microsoft.com/office/powerpoint/2010/main">
    <mc:Choice Requires="p14">
      <p:transition spd="slow" p14:dur="2000" advTm="10194"/>
    </mc:Choice>
    <mc:Fallback xmlns="">
      <p:transition spd="slow" advTm="10194"/>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F1FF1-1402-67BD-DBE2-DEDD04E6C653}"/>
            </a:ext>
          </a:extLst>
        </p:cNvPr>
        <p:cNvGrpSpPr/>
        <p:nvPr/>
      </p:nvGrpSpPr>
      <p:grpSpPr>
        <a:xfrm>
          <a:off x="0" y="0"/>
          <a:ext cx="0" cy="0"/>
          <a:chOff x="0" y="0"/>
          <a:chExt cx="0" cy="0"/>
        </a:xfrm>
      </p:grpSpPr>
      <p:sp>
        <p:nvSpPr>
          <p:cNvPr id="16" name="文本框 15">
            <a:extLst>
              <a:ext uri="{FF2B5EF4-FFF2-40B4-BE49-F238E27FC236}">
                <a16:creationId xmlns:a16="http://schemas.microsoft.com/office/drawing/2014/main" id="{A34D820A-1BEB-B0FC-475E-D2A764A83722}"/>
              </a:ext>
            </a:extLst>
          </p:cNvPr>
          <p:cNvSpPr txBox="1"/>
          <p:nvPr/>
        </p:nvSpPr>
        <p:spPr>
          <a:xfrm>
            <a:off x="1219949" y="319219"/>
            <a:ext cx="3105337" cy="400110"/>
          </a:xfrm>
          <a:prstGeom prst="rect">
            <a:avLst/>
          </a:prstGeom>
          <a:solidFill>
            <a:schemeClr val="bg1"/>
          </a:solidFill>
        </p:spPr>
        <p:txBody>
          <a:bodyPr wrap="none" rtlCol="0">
            <a:spAutoFit/>
          </a:bodyPr>
          <a:lstStyle/>
          <a:p>
            <a:pPr defTabSz="914400"/>
            <a:r>
              <a:rPr lang="zh-CN" altLang="en-US" sz="2000" b="1" spc="300" dirty="0">
                <a:latin typeface="FangSong_GB2312" panose="02010609030101010101" pitchFamily="49" charset="-122"/>
                <a:ea typeface="FangSong_GB2312" panose="02010609030101010101" pitchFamily="49" charset="-122"/>
              </a:rPr>
              <a:t>参考文献</a:t>
            </a:r>
            <a:r>
              <a:rPr lang="en-US" altLang="zh-CN" sz="2000" b="1" spc="300" dirty="0">
                <a:latin typeface="Times New Roman" panose="02020603050405020304" pitchFamily="18" charset="0"/>
                <a:ea typeface="FangSong_GB2312" panose="02010609030101010101" pitchFamily="49" charset="-122"/>
                <a:cs typeface="Times New Roman" panose="02020603050405020304" pitchFamily="18" charset="0"/>
              </a:rPr>
              <a:t>&amp;</a:t>
            </a:r>
            <a:r>
              <a:rPr lang="zh-CN" altLang="en-US" sz="2000" b="1" spc="300" dirty="0">
                <a:latin typeface="FangSong_GB2312" panose="02010609030101010101" pitchFamily="49" charset="-122"/>
                <a:ea typeface="FangSong_GB2312" panose="02010609030101010101" pitchFamily="49" charset="-122"/>
              </a:rPr>
              <a:t>代码可用性</a:t>
            </a:r>
          </a:p>
        </p:txBody>
      </p:sp>
      <p:sp>
        <p:nvSpPr>
          <p:cNvPr id="3" name="文本框 2">
            <a:extLst>
              <a:ext uri="{FF2B5EF4-FFF2-40B4-BE49-F238E27FC236}">
                <a16:creationId xmlns:a16="http://schemas.microsoft.com/office/drawing/2014/main" id="{CEA65F98-FAC1-12A4-0E53-305E7A7480F1}"/>
              </a:ext>
            </a:extLst>
          </p:cNvPr>
          <p:cNvSpPr txBox="1"/>
          <p:nvPr/>
        </p:nvSpPr>
        <p:spPr>
          <a:xfrm>
            <a:off x="358346" y="288442"/>
            <a:ext cx="720000" cy="523220"/>
          </a:xfrm>
          <a:prstGeom prst="rect">
            <a:avLst/>
          </a:prstGeom>
          <a:noFill/>
        </p:spPr>
        <p:txBody>
          <a:bodyPr wrap="square" rtlCol="0">
            <a:spAutoFit/>
          </a:bodyPr>
          <a:lstStyle/>
          <a:p>
            <a:pPr algn="ctr"/>
            <a:r>
              <a:rPr lang="en-US" altLang="zh-CN"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06</a:t>
            </a:r>
            <a:endParaRPr lang="zh-CN" altLang="en-US"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5" name="Picture 4">
            <a:extLst>
              <a:ext uri="{FF2B5EF4-FFF2-40B4-BE49-F238E27FC236}">
                <a16:creationId xmlns:a16="http://schemas.microsoft.com/office/drawing/2014/main" id="{FFB0F60A-9BC1-7DD3-81A7-38203E17EC46}"/>
              </a:ext>
            </a:extLst>
          </p:cNvPr>
          <p:cNvPicPr>
            <a:picLocks noChangeAspect="1"/>
          </p:cNvPicPr>
          <p:nvPr/>
        </p:nvPicPr>
        <p:blipFill>
          <a:blip r:embed="rId3"/>
          <a:srcRect t="8468" b="7798"/>
          <a:stretch>
            <a:fillRect/>
          </a:stretch>
        </p:blipFill>
        <p:spPr>
          <a:xfrm>
            <a:off x="-344366" y="960120"/>
            <a:ext cx="4846211" cy="5742432"/>
          </a:xfrm>
          <a:prstGeom prst="rect">
            <a:avLst/>
          </a:prstGeom>
        </p:spPr>
      </p:pic>
      <p:pic>
        <p:nvPicPr>
          <p:cNvPr id="8" name="Picture 7">
            <a:extLst>
              <a:ext uri="{FF2B5EF4-FFF2-40B4-BE49-F238E27FC236}">
                <a16:creationId xmlns:a16="http://schemas.microsoft.com/office/drawing/2014/main" id="{9A75119B-7098-8CA3-0087-36B9C892E8CB}"/>
              </a:ext>
            </a:extLst>
          </p:cNvPr>
          <p:cNvPicPr>
            <a:picLocks noChangeAspect="1"/>
          </p:cNvPicPr>
          <p:nvPr/>
        </p:nvPicPr>
        <p:blipFill>
          <a:blip r:embed="rId4"/>
          <a:srcRect t="8533" b="6490"/>
          <a:stretch>
            <a:fillRect/>
          </a:stretch>
        </p:blipFill>
        <p:spPr>
          <a:xfrm>
            <a:off x="3672894" y="837009"/>
            <a:ext cx="4846211" cy="5827776"/>
          </a:xfrm>
          <a:prstGeom prst="rect">
            <a:avLst/>
          </a:prstGeom>
        </p:spPr>
      </p:pic>
      <p:pic>
        <p:nvPicPr>
          <p:cNvPr id="12" name="Picture 11">
            <a:extLst>
              <a:ext uri="{FF2B5EF4-FFF2-40B4-BE49-F238E27FC236}">
                <a16:creationId xmlns:a16="http://schemas.microsoft.com/office/drawing/2014/main" id="{3C0FFC34-526C-31CD-FFA3-A377A66AD59E}"/>
              </a:ext>
            </a:extLst>
          </p:cNvPr>
          <p:cNvPicPr>
            <a:picLocks noChangeAspect="1"/>
          </p:cNvPicPr>
          <p:nvPr/>
        </p:nvPicPr>
        <p:blipFill>
          <a:blip r:embed="rId5"/>
          <a:srcRect t="8533" b="54667"/>
          <a:stretch>
            <a:fillRect/>
          </a:stretch>
        </p:blipFill>
        <p:spPr>
          <a:xfrm>
            <a:off x="7623102" y="1239345"/>
            <a:ext cx="4846211" cy="2523744"/>
          </a:xfrm>
          <a:prstGeom prst="rect">
            <a:avLst/>
          </a:prstGeom>
        </p:spPr>
      </p:pic>
      <p:sp>
        <p:nvSpPr>
          <p:cNvPr id="13" name="矩形: 圆角 359">
            <a:extLst>
              <a:ext uri="{FF2B5EF4-FFF2-40B4-BE49-F238E27FC236}">
                <a16:creationId xmlns:a16="http://schemas.microsoft.com/office/drawing/2014/main" id="{6EF7DD48-A93F-DD3E-00C1-E6D190E1B4B5}"/>
              </a:ext>
            </a:extLst>
          </p:cNvPr>
          <p:cNvSpPr/>
          <p:nvPr/>
        </p:nvSpPr>
        <p:spPr>
          <a:xfrm>
            <a:off x="8709631" y="3950208"/>
            <a:ext cx="2673151" cy="1141809"/>
          </a:xfrm>
          <a:prstGeom prst="roundRect">
            <a:avLst>
              <a:gd name="adj" fmla="val 1988"/>
            </a:avLst>
          </a:prstGeom>
          <a:solidFill>
            <a:schemeClr val="accent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0" rIns="0" bIns="0" rtlCol="0" anchor="ctr"/>
          <a:lstStyle/>
          <a:p>
            <a:pPr algn="ctr">
              <a:buClr>
                <a:srgbClr val="9B0000"/>
              </a:buClr>
            </a:pPr>
            <a:r>
              <a:rPr lang="en-US" altLang="zh-CN" sz="16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Repository</a:t>
            </a:r>
            <a:r>
              <a:rPr lang="zh-CN" altLang="en-US" sz="16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a:t>
            </a:r>
            <a:r>
              <a:rPr lang="zh-CN" altLang="en-US" sz="16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16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200000"/>
              </a:lnSpc>
              <a:buClr>
                <a:srgbClr val="9B0000"/>
              </a:buClr>
            </a:pPr>
            <a:r>
              <a:rPr lang="en-US" altLang="zh-CN" sz="1600" b="1"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https://</a:t>
            </a:r>
            <a:r>
              <a:rPr lang="en-US" altLang="zh-CN" sz="1600" b="1" i="1"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github.com</a:t>
            </a:r>
            <a:r>
              <a:rPr lang="en-US" altLang="zh-CN" sz="1600" b="1"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i="1"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itsxjs</a:t>
            </a:r>
            <a:r>
              <a:rPr lang="en-US" altLang="zh-CN" sz="1600" b="1"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i="1"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seeg</a:t>
            </a:r>
            <a:endParaRPr lang="zh-CN" altLang="en-US" sz="1600" b="1"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614783962"/>
      </p:ext>
    </p:extLst>
  </p:cSld>
  <p:clrMapOvr>
    <a:masterClrMapping/>
  </p:clrMapOvr>
  <mc:AlternateContent xmlns:mc="http://schemas.openxmlformats.org/markup-compatibility/2006" xmlns:p14="http://schemas.microsoft.com/office/powerpoint/2010/main">
    <mc:Choice Requires="p14">
      <p:transition spd="slow" p14:dur="2000" advTm="10194"/>
    </mc:Choice>
    <mc:Fallback xmlns="">
      <p:transition spd="slow" advTm="10194"/>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标题 1"/>
          <p:cNvSpPr txBox="1"/>
          <p:nvPr/>
        </p:nvSpPr>
        <p:spPr>
          <a:xfrm>
            <a:off x="961008" y="2391912"/>
            <a:ext cx="5134992" cy="719987"/>
          </a:xfrm>
          <a:prstGeom prst="rect">
            <a:avLst/>
          </a:prstGeom>
        </p:spPr>
        <p:txBody>
          <a:bodyPr anchor="b">
            <a:normAutofit/>
          </a:bodyPr>
          <a:lstStyle>
            <a:lvl1pPr algn="l" defTabSz="914400" rtl="0" eaLnBrk="1" latinLnBrk="0" hangingPunct="1">
              <a:lnSpc>
                <a:spcPct val="90000"/>
              </a:lnSpc>
              <a:spcBef>
                <a:spcPct val="0"/>
              </a:spcBef>
              <a:buNone/>
              <a:defRPr sz="36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dirty="0">
                <a:latin typeface="FangSong_GB2312" panose="02010609030101010101" pitchFamily="49" charset="-122"/>
                <a:ea typeface="FangSong_GB2312" panose="02010609030101010101" pitchFamily="49" charset="-122"/>
              </a:rPr>
              <a:t>敬请各位老师批评指正</a:t>
            </a:r>
          </a:p>
        </p:txBody>
      </p:sp>
      <p:sp>
        <p:nvSpPr>
          <p:cNvPr id="6" name="任意多边形 25"/>
          <p:cNvSpPr/>
          <p:nvPr/>
        </p:nvSpPr>
        <p:spPr>
          <a:xfrm rot="10800000">
            <a:off x="2496042" y="1305082"/>
            <a:ext cx="8258441" cy="4597885"/>
          </a:xfrm>
          <a:custGeom>
            <a:avLst/>
            <a:gdLst>
              <a:gd name="connsiteX0" fmla="*/ 6762786 w 6826313"/>
              <a:gd name="connsiteY0" fmla="*/ 1876457 h 4508626"/>
              <a:gd name="connsiteX1" fmla="*/ 6826313 w 6826313"/>
              <a:gd name="connsiteY1" fmla="*/ 1876457 h 4508626"/>
              <a:gd name="connsiteX2" fmla="*/ 6826313 w 6826313"/>
              <a:gd name="connsiteY2" fmla="*/ 2139756 h 4508626"/>
              <a:gd name="connsiteX3" fmla="*/ 6762786 w 6826313"/>
              <a:gd name="connsiteY3" fmla="*/ 2139756 h 4508626"/>
              <a:gd name="connsiteX4" fmla="*/ 0 w 6826313"/>
              <a:gd name="connsiteY4" fmla="*/ 0 h 4508626"/>
              <a:gd name="connsiteX5" fmla="*/ 6826313 w 6826313"/>
              <a:gd name="connsiteY5" fmla="*/ 0 h 4508626"/>
              <a:gd name="connsiteX6" fmla="*/ 6826313 w 6826313"/>
              <a:gd name="connsiteY6" fmla="*/ 959382 h 4508626"/>
              <a:gd name="connsiteX7" fmla="*/ 6762786 w 6826313"/>
              <a:gd name="connsiteY7" fmla="*/ 959382 h 4508626"/>
              <a:gd name="connsiteX8" fmla="*/ 6762786 w 6826313"/>
              <a:gd name="connsiteY8" fmla="*/ 63527 h 4508626"/>
              <a:gd name="connsiteX9" fmla="*/ 63527 w 6826313"/>
              <a:gd name="connsiteY9" fmla="*/ 63527 h 4508626"/>
              <a:gd name="connsiteX10" fmla="*/ 63527 w 6826313"/>
              <a:gd name="connsiteY10" fmla="*/ 4445099 h 4508626"/>
              <a:gd name="connsiteX11" fmla="*/ 6762786 w 6826313"/>
              <a:gd name="connsiteY11" fmla="*/ 4445099 h 4508626"/>
              <a:gd name="connsiteX12" fmla="*/ 6762786 w 6826313"/>
              <a:gd name="connsiteY12" fmla="*/ 3756057 h 4508626"/>
              <a:gd name="connsiteX13" fmla="*/ 6826313 w 6826313"/>
              <a:gd name="connsiteY13" fmla="*/ 3756057 h 4508626"/>
              <a:gd name="connsiteX14" fmla="*/ 6826313 w 6826313"/>
              <a:gd name="connsiteY14" fmla="*/ 4508626 h 4508626"/>
              <a:gd name="connsiteX15" fmla="*/ 0 w 6826313"/>
              <a:gd name="connsiteY15" fmla="*/ 4508626 h 4508626"/>
              <a:gd name="connsiteX0-1" fmla="*/ 6762786 w 6826313"/>
              <a:gd name="connsiteY0-2" fmla="*/ 1876457 h 4508626"/>
              <a:gd name="connsiteX1-3" fmla="*/ 6826313 w 6826313"/>
              <a:gd name="connsiteY1-4" fmla="*/ 1876457 h 4508626"/>
              <a:gd name="connsiteX2-5" fmla="*/ 6826313 w 6826313"/>
              <a:gd name="connsiteY2-6" fmla="*/ 2476058 h 4508626"/>
              <a:gd name="connsiteX3-7" fmla="*/ 6762786 w 6826313"/>
              <a:gd name="connsiteY3-8" fmla="*/ 2139756 h 4508626"/>
              <a:gd name="connsiteX4-9" fmla="*/ 6762786 w 6826313"/>
              <a:gd name="connsiteY4-10" fmla="*/ 1876457 h 4508626"/>
              <a:gd name="connsiteX5-11" fmla="*/ 0 w 6826313"/>
              <a:gd name="connsiteY5-12" fmla="*/ 0 h 4508626"/>
              <a:gd name="connsiteX6-13" fmla="*/ 6826313 w 6826313"/>
              <a:gd name="connsiteY6-14" fmla="*/ 0 h 4508626"/>
              <a:gd name="connsiteX7-15" fmla="*/ 6826313 w 6826313"/>
              <a:gd name="connsiteY7-16" fmla="*/ 959382 h 4508626"/>
              <a:gd name="connsiteX8-17" fmla="*/ 6762786 w 6826313"/>
              <a:gd name="connsiteY8-18" fmla="*/ 959382 h 4508626"/>
              <a:gd name="connsiteX9-19" fmla="*/ 6762786 w 6826313"/>
              <a:gd name="connsiteY9-20" fmla="*/ 63527 h 4508626"/>
              <a:gd name="connsiteX10-21" fmla="*/ 63527 w 6826313"/>
              <a:gd name="connsiteY10-22" fmla="*/ 63527 h 4508626"/>
              <a:gd name="connsiteX11-23" fmla="*/ 63527 w 6826313"/>
              <a:gd name="connsiteY11-24" fmla="*/ 4445099 h 4508626"/>
              <a:gd name="connsiteX12-25" fmla="*/ 6762786 w 6826313"/>
              <a:gd name="connsiteY12-26" fmla="*/ 4445099 h 4508626"/>
              <a:gd name="connsiteX13-27" fmla="*/ 6762786 w 6826313"/>
              <a:gd name="connsiteY13-28" fmla="*/ 3756057 h 4508626"/>
              <a:gd name="connsiteX14-29" fmla="*/ 6826313 w 6826313"/>
              <a:gd name="connsiteY14-30" fmla="*/ 3756057 h 4508626"/>
              <a:gd name="connsiteX15-31" fmla="*/ 6826313 w 6826313"/>
              <a:gd name="connsiteY15-32" fmla="*/ 4508626 h 4508626"/>
              <a:gd name="connsiteX16" fmla="*/ 0 w 6826313"/>
              <a:gd name="connsiteY16" fmla="*/ 4508626 h 4508626"/>
              <a:gd name="connsiteX17" fmla="*/ 0 w 6826313"/>
              <a:gd name="connsiteY17" fmla="*/ 0 h 4508626"/>
              <a:gd name="connsiteX0-33" fmla="*/ 6762786 w 6826313"/>
              <a:gd name="connsiteY0-34" fmla="*/ 1876457 h 4508626"/>
              <a:gd name="connsiteX1-35" fmla="*/ 6826313 w 6826313"/>
              <a:gd name="connsiteY1-36" fmla="*/ 1876457 h 4508626"/>
              <a:gd name="connsiteX2-37" fmla="*/ 6826313 w 6826313"/>
              <a:gd name="connsiteY2-38" fmla="*/ 2476058 h 4508626"/>
              <a:gd name="connsiteX3-39" fmla="*/ 6762786 w 6826313"/>
              <a:gd name="connsiteY3-40" fmla="*/ 2455298 h 4508626"/>
              <a:gd name="connsiteX4-41" fmla="*/ 6762786 w 6826313"/>
              <a:gd name="connsiteY4-42" fmla="*/ 1876457 h 4508626"/>
              <a:gd name="connsiteX5-43" fmla="*/ 0 w 6826313"/>
              <a:gd name="connsiteY5-44" fmla="*/ 0 h 4508626"/>
              <a:gd name="connsiteX6-45" fmla="*/ 6826313 w 6826313"/>
              <a:gd name="connsiteY6-46" fmla="*/ 0 h 4508626"/>
              <a:gd name="connsiteX7-47" fmla="*/ 6826313 w 6826313"/>
              <a:gd name="connsiteY7-48" fmla="*/ 959382 h 4508626"/>
              <a:gd name="connsiteX8-49" fmla="*/ 6762786 w 6826313"/>
              <a:gd name="connsiteY8-50" fmla="*/ 959382 h 4508626"/>
              <a:gd name="connsiteX9-51" fmla="*/ 6762786 w 6826313"/>
              <a:gd name="connsiteY9-52" fmla="*/ 63527 h 4508626"/>
              <a:gd name="connsiteX10-53" fmla="*/ 63527 w 6826313"/>
              <a:gd name="connsiteY10-54" fmla="*/ 63527 h 4508626"/>
              <a:gd name="connsiteX11-55" fmla="*/ 63527 w 6826313"/>
              <a:gd name="connsiteY11-56" fmla="*/ 4445099 h 4508626"/>
              <a:gd name="connsiteX12-57" fmla="*/ 6762786 w 6826313"/>
              <a:gd name="connsiteY12-58" fmla="*/ 4445099 h 4508626"/>
              <a:gd name="connsiteX13-59" fmla="*/ 6762786 w 6826313"/>
              <a:gd name="connsiteY13-60" fmla="*/ 3756057 h 4508626"/>
              <a:gd name="connsiteX14-61" fmla="*/ 6826313 w 6826313"/>
              <a:gd name="connsiteY14-62" fmla="*/ 3756057 h 4508626"/>
              <a:gd name="connsiteX15-63" fmla="*/ 6826313 w 6826313"/>
              <a:gd name="connsiteY15-64" fmla="*/ 4508626 h 4508626"/>
              <a:gd name="connsiteX16-65" fmla="*/ 0 w 6826313"/>
              <a:gd name="connsiteY16-66" fmla="*/ 4508626 h 4508626"/>
              <a:gd name="connsiteX17-67" fmla="*/ 0 w 6826313"/>
              <a:gd name="connsiteY17-68" fmla="*/ 0 h 4508626"/>
              <a:gd name="connsiteX0-69" fmla="*/ 6762786 w 6826313"/>
              <a:gd name="connsiteY0-70" fmla="*/ 1876457 h 4508626"/>
              <a:gd name="connsiteX1-71" fmla="*/ 6826313 w 6826313"/>
              <a:gd name="connsiteY1-72" fmla="*/ 1876457 h 4508626"/>
              <a:gd name="connsiteX2-73" fmla="*/ 6826313 w 6826313"/>
              <a:gd name="connsiteY2-74" fmla="*/ 2476058 h 4508626"/>
              <a:gd name="connsiteX3-75" fmla="*/ 6762786 w 6826313"/>
              <a:gd name="connsiteY3-76" fmla="*/ 2476058 h 4508626"/>
              <a:gd name="connsiteX4-77" fmla="*/ 6762786 w 6826313"/>
              <a:gd name="connsiteY4-78" fmla="*/ 1876457 h 4508626"/>
              <a:gd name="connsiteX5-79" fmla="*/ 0 w 6826313"/>
              <a:gd name="connsiteY5-80" fmla="*/ 0 h 4508626"/>
              <a:gd name="connsiteX6-81" fmla="*/ 6826313 w 6826313"/>
              <a:gd name="connsiteY6-82" fmla="*/ 0 h 4508626"/>
              <a:gd name="connsiteX7-83" fmla="*/ 6826313 w 6826313"/>
              <a:gd name="connsiteY7-84" fmla="*/ 959382 h 4508626"/>
              <a:gd name="connsiteX8-85" fmla="*/ 6762786 w 6826313"/>
              <a:gd name="connsiteY8-86" fmla="*/ 959382 h 4508626"/>
              <a:gd name="connsiteX9-87" fmla="*/ 6762786 w 6826313"/>
              <a:gd name="connsiteY9-88" fmla="*/ 63527 h 4508626"/>
              <a:gd name="connsiteX10-89" fmla="*/ 63527 w 6826313"/>
              <a:gd name="connsiteY10-90" fmla="*/ 63527 h 4508626"/>
              <a:gd name="connsiteX11-91" fmla="*/ 63527 w 6826313"/>
              <a:gd name="connsiteY11-92" fmla="*/ 4445099 h 4508626"/>
              <a:gd name="connsiteX12-93" fmla="*/ 6762786 w 6826313"/>
              <a:gd name="connsiteY12-94" fmla="*/ 4445099 h 4508626"/>
              <a:gd name="connsiteX13-95" fmla="*/ 6762786 w 6826313"/>
              <a:gd name="connsiteY13-96" fmla="*/ 3756057 h 4508626"/>
              <a:gd name="connsiteX14-97" fmla="*/ 6826313 w 6826313"/>
              <a:gd name="connsiteY14-98" fmla="*/ 3756057 h 4508626"/>
              <a:gd name="connsiteX15-99" fmla="*/ 6826313 w 6826313"/>
              <a:gd name="connsiteY15-100" fmla="*/ 4508626 h 4508626"/>
              <a:gd name="connsiteX16-101" fmla="*/ 0 w 6826313"/>
              <a:gd name="connsiteY16-102" fmla="*/ 4508626 h 4508626"/>
              <a:gd name="connsiteX17-103" fmla="*/ 0 w 6826313"/>
              <a:gd name="connsiteY17-104" fmla="*/ 0 h 4508626"/>
              <a:gd name="connsiteX0-105" fmla="*/ 6762786 w 6826313"/>
              <a:gd name="connsiteY0-106" fmla="*/ 1876457 h 4508626"/>
              <a:gd name="connsiteX1-107" fmla="*/ 6826313 w 6826313"/>
              <a:gd name="connsiteY1-108" fmla="*/ 1876457 h 4508626"/>
              <a:gd name="connsiteX2-109" fmla="*/ 6826313 w 6826313"/>
              <a:gd name="connsiteY2-110" fmla="*/ 2476058 h 4508626"/>
              <a:gd name="connsiteX3-111" fmla="*/ 6762786 w 6826313"/>
              <a:gd name="connsiteY3-112" fmla="*/ 2476058 h 4508626"/>
              <a:gd name="connsiteX4-113" fmla="*/ 6762786 w 6826313"/>
              <a:gd name="connsiteY4-114" fmla="*/ 1876457 h 4508626"/>
              <a:gd name="connsiteX5-115" fmla="*/ 0 w 6826313"/>
              <a:gd name="connsiteY5-116" fmla="*/ 0 h 4508626"/>
              <a:gd name="connsiteX6-117" fmla="*/ 6826313 w 6826313"/>
              <a:gd name="connsiteY6-118" fmla="*/ 0 h 4508626"/>
              <a:gd name="connsiteX7-119" fmla="*/ 6826313 w 6826313"/>
              <a:gd name="connsiteY7-120" fmla="*/ 959382 h 4508626"/>
              <a:gd name="connsiteX8-121" fmla="*/ 6762786 w 6826313"/>
              <a:gd name="connsiteY8-122" fmla="*/ 959382 h 4508626"/>
              <a:gd name="connsiteX9-123" fmla="*/ 6762786 w 6826313"/>
              <a:gd name="connsiteY9-124" fmla="*/ 63527 h 4508626"/>
              <a:gd name="connsiteX10-125" fmla="*/ 63527 w 6826313"/>
              <a:gd name="connsiteY10-126" fmla="*/ 63527 h 4508626"/>
              <a:gd name="connsiteX11-127" fmla="*/ 63527 w 6826313"/>
              <a:gd name="connsiteY11-128" fmla="*/ 4445099 h 4508626"/>
              <a:gd name="connsiteX12-129" fmla="*/ 6762786 w 6826313"/>
              <a:gd name="connsiteY12-130" fmla="*/ 4445099 h 4508626"/>
              <a:gd name="connsiteX13-131" fmla="*/ 6762786 w 6826313"/>
              <a:gd name="connsiteY13-132" fmla="*/ 3403147 h 4508626"/>
              <a:gd name="connsiteX14-133" fmla="*/ 6826313 w 6826313"/>
              <a:gd name="connsiteY14-134" fmla="*/ 3756057 h 4508626"/>
              <a:gd name="connsiteX15-135" fmla="*/ 6826313 w 6826313"/>
              <a:gd name="connsiteY15-136" fmla="*/ 4508626 h 4508626"/>
              <a:gd name="connsiteX16-137" fmla="*/ 0 w 6826313"/>
              <a:gd name="connsiteY16-138" fmla="*/ 4508626 h 4508626"/>
              <a:gd name="connsiteX17-139" fmla="*/ 0 w 6826313"/>
              <a:gd name="connsiteY17-140" fmla="*/ 0 h 4508626"/>
              <a:gd name="connsiteX0-141" fmla="*/ 6762786 w 6829816"/>
              <a:gd name="connsiteY0-142" fmla="*/ 1876457 h 4508626"/>
              <a:gd name="connsiteX1-143" fmla="*/ 6826313 w 6829816"/>
              <a:gd name="connsiteY1-144" fmla="*/ 1876457 h 4508626"/>
              <a:gd name="connsiteX2-145" fmla="*/ 6826313 w 6829816"/>
              <a:gd name="connsiteY2-146" fmla="*/ 2476058 h 4508626"/>
              <a:gd name="connsiteX3-147" fmla="*/ 6762786 w 6829816"/>
              <a:gd name="connsiteY3-148" fmla="*/ 2476058 h 4508626"/>
              <a:gd name="connsiteX4-149" fmla="*/ 6762786 w 6829816"/>
              <a:gd name="connsiteY4-150" fmla="*/ 1876457 h 4508626"/>
              <a:gd name="connsiteX5-151" fmla="*/ 0 w 6829816"/>
              <a:gd name="connsiteY5-152" fmla="*/ 0 h 4508626"/>
              <a:gd name="connsiteX6-153" fmla="*/ 6826313 w 6829816"/>
              <a:gd name="connsiteY6-154" fmla="*/ 0 h 4508626"/>
              <a:gd name="connsiteX7-155" fmla="*/ 6826313 w 6829816"/>
              <a:gd name="connsiteY7-156" fmla="*/ 959382 h 4508626"/>
              <a:gd name="connsiteX8-157" fmla="*/ 6762786 w 6829816"/>
              <a:gd name="connsiteY8-158" fmla="*/ 959382 h 4508626"/>
              <a:gd name="connsiteX9-159" fmla="*/ 6762786 w 6829816"/>
              <a:gd name="connsiteY9-160" fmla="*/ 63527 h 4508626"/>
              <a:gd name="connsiteX10-161" fmla="*/ 63527 w 6829816"/>
              <a:gd name="connsiteY10-162" fmla="*/ 63527 h 4508626"/>
              <a:gd name="connsiteX11-163" fmla="*/ 63527 w 6829816"/>
              <a:gd name="connsiteY11-164" fmla="*/ 4445099 h 4508626"/>
              <a:gd name="connsiteX12-165" fmla="*/ 6762786 w 6829816"/>
              <a:gd name="connsiteY12-166" fmla="*/ 4445099 h 4508626"/>
              <a:gd name="connsiteX13-167" fmla="*/ 6762786 w 6829816"/>
              <a:gd name="connsiteY13-168" fmla="*/ 3403147 h 4508626"/>
              <a:gd name="connsiteX14-169" fmla="*/ 6829816 w 6829816"/>
              <a:gd name="connsiteY14-170" fmla="*/ 3415603 h 4508626"/>
              <a:gd name="connsiteX15-171" fmla="*/ 6826313 w 6829816"/>
              <a:gd name="connsiteY15-172" fmla="*/ 4508626 h 4508626"/>
              <a:gd name="connsiteX16-173" fmla="*/ 0 w 6829816"/>
              <a:gd name="connsiteY16-174" fmla="*/ 4508626 h 4508626"/>
              <a:gd name="connsiteX17-175" fmla="*/ 0 w 6829816"/>
              <a:gd name="connsiteY17-176" fmla="*/ 0 h 4508626"/>
              <a:gd name="connsiteX0-177" fmla="*/ 6762786 w 6833319"/>
              <a:gd name="connsiteY0-178" fmla="*/ 1876457 h 4508626"/>
              <a:gd name="connsiteX1-179" fmla="*/ 6826313 w 6833319"/>
              <a:gd name="connsiteY1-180" fmla="*/ 1876457 h 4508626"/>
              <a:gd name="connsiteX2-181" fmla="*/ 6826313 w 6833319"/>
              <a:gd name="connsiteY2-182" fmla="*/ 2476058 h 4508626"/>
              <a:gd name="connsiteX3-183" fmla="*/ 6762786 w 6833319"/>
              <a:gd name="connsiteY3-184" fmla="*/ 2476058 h 4508626"/>
              <a:gd name="connsiteX4-185" fmla="*/ 6762786 w 6833319"/>
              <a:gd name="connsiteY4-186" fmla="*/ 1876457 h 4508626"/>
              <a:gd name="connsiteX5-187" fmla="*/ 0 w 6833319"/>
              <a:gd name="connsiteY5-188" fmla="*/ 0 h 4508626"/>
              <a:gd name="connsiteX6-189" fmla="*/ 6826313 w 6833319"/>
              <a:gd name="connsiteY6-190" fmla="*/ 0 h 4508626"/>
              <a:gd name="connsiteX7-191" fmla="*/ 6826313 w 6833319"/>
              <a:gd name="connsiteY7-192" fmla="*/ 959382 h 4508626"/>
              <a:gd name="connsiteX8-193" fmla="*/ 6762786 w 6833319"/>
              <a:gd name="connsiteY8-194" fmla="*/ 959382 h 4508626"/>
              <a:gd name="connsiteX9-195" fmla="*/ 6762786 w 6833319"/>
              <a:gd name="connsiteY9-196" fmla="*/ 63527 h 4508626"/>
              <a:gd name="connsiteX10-197" fmla="*/ 63527 w 6833319"/>
              <a:gd name="connsiteY10-198" fmla="*/ 63527 h 4508626"/>
              <a:gd name="connsiteX11-199" fmla="*/ 63527 w 6833319"/>
              <a:gd name="connsiteY11-200" fmla="*/ 4445099 h 4508626"/>
              <a:gd name="connsiteX12-201" fmla="*/ 6762786 w 6833319"/>
              <a:gd name="connsiteY12-202" fmla="*/ 4445099 h 4508626"/>
              <a:gd name="connsiteX13-203" fmla="*/ 6762786 w 6833319"/>
              <a:gd name="connsiteY13-204" fmla="*/ 3403147 h 4508626"/>
              <a:gd name="connsiteX14-205" fmla="*/ 6833319 w 6833319"/>
              <a:gd name="connsiteY14-206" fmla="*/ 3394844 h 4508626"/>
              <a:gd name="connsiteX15-207" fmla="*/ 6826313 w 6833319"/>
              <a:gd name="connsiteY15-208" fmla="*/ 4508626 h 4508626"/>
              <a:gd name="connsiteX16-209" fmla="*/ 0 w 6833319"/>
              <a:gd name="connsiteY16-210" fmla="*/ 4508626 h 4508626"/>
              <a:gd name="connsiteX17-211" fmla="*/ 0 w 6833319"/>
              <a:gd name="connsiteY17-212" fmla="*/ 0 h 45086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65" y="connsiteY16-66"/>
              </a:cxn>
              <a:cxn ang="0">
                <a:pos x="connsiteX17-67" y="connsiteY17-68"/>
              </a:cxn>
            </a:cxnLst>
            <a:rect l="l" t="t" r="r" b="b"/>
            <a:pathLst>
              <a:path w="6833319" h="4508626">
                <a:moveTo>
                  <a:pt x="6762786" y="1876457"/>
                </a:moveTo>
                <a:lnTo>
                  <a:pt x="6826313" y="1876457"/>
                </a:lnTo>
                <a:lnTo>
                  <a:pt x="6826313" y="2476058"/>
                </a:lnTo>
                <a:lnTo>
                  <a:pt x="6762786" y="2476058"/>
                </a:lnTo>
                <a:lnTo>
                  <a:pt x="6762786" y="1876457"/>
                </a:lnTo>
                <a:close/>
                <a:moveTo>
                  <a:pt x="0" y="0"/>
                </a:moveTo>
                <a:lnTo>
                  <a:pt x="6826313" y="0"/>
                </a:lnTo>
                <a:lnTo>
                  <a:pt x="6826313" y="959382"/>
                </a:lnTo>
                <a:lnTo>
                  <a:pt x="6762786" y="959382"/>
                </a:lnTo>
                <a:lnTo>
                  <a:pt x="6762786" y="63527"/>
                </a:lnTo>
                <a:lnTo>
                  <a:pt x="63527" y="63527"/>
                </a:lnTo>
                <a:lnTo>
                  <a:pt x="63527" y="4445099"/>
                </a:lnTo>
                <a:lnTo>
                  <a:pt x="6762786" y="4445099"/>
                </a:lnTo>
                <a:lnTo>
                  <a:pt x="6762786" y="3403147"/>
                </a:lnTo>
                <a:lnTo>
                  <a:pt x="6833319" y="3394844"/>
                </a:lnTo>
                <a:cubicBezTo>
                  <a:pt x="6832151" y="3759185"/>
                  <a:pt x="6827481" y="4144285"/>
                  <a:pt x="6826313" y="4508626"/>
                </a:cubicBezTo>
                <a:lnTo>
                  <a:pt x="0" y="4508626"/>
                </a:lnTo>
                <a:lnTo>
                  <a:pt x="0" y="0"/>
                </a:lnTo>
                <a:close/>
              </a:path>
            </a:pathLst>
          </a:cu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 name="文本框 7"/>
          <p:cNvSpPr txBox="1"/>
          <p:nvPr/>
        </p:nvSpPr>
        <p:spPr>
          <a:xfrm>
            <a:off x="2732784" y="3877729"/>
            <a:ext cx="1338828" cy="646331"/>
          </a:xfrm>
          <a:prstGeom prst="rect">
            <a:avLst/>
          </a:prstGeom>
          <a:noFill/>
        </p:spPr>
        <p:txBody>
          <a:bodyPr wrap="none" rtlCol="0">
            <a:spAutoFit/>
          </a:bodyPr>
          <a:lstStyle/>
          <a:p>
            <a:r>
              <a:rPr lang="zh-CN" altLang="en-US" sz="3600" dirty="0">
                <a:latin typeface="FangSong_GB2312" panose="02010609030101010101" pitchFamily="49" charset="-122"/>
                <a:ea typeface="FangSong_GB2312" panose="02010609030101010101" pitchFamily="49" charset="-122"/>
              </a:rPr>
              <a:t>谢 谢</a:t>
            </a:r>
          </a:p>
        </p:txBody>
      </p:sp>
      <p:pic>
        <p:nvPicPr>
          <p:cNvPr id="7" name="图片 6"/>
          <p:cNvPicPr>
            <a:picLocks noChangeAspect="1"/>
          </p:cNvPicPr>
          <p:nvPr/>
        </p:nvPicPr>
        <p:blipFill rotWithShape="1">
          <a:blip r:embed="rId3"/>
          <a:srcRect l="1176" r="1176"/>
          <a:stretch>
            <a:fillRect/>
          </a:stretch>
        </p:blipFill>
        <p:spPr>
          <a:xfrm>
            <a:off x="296567" y="118087"/>
            <a:ext cx="7094700" cy="6621825"/>
          </a:xfrm>
          <a:prstGeom prst="rect">
            <a:avLst/>
          </a:prstGeom>
        </p:spPr>
      </p:pic>
      <p:sp>
        <p:nvSpPr>
          <p:cNvPr id="4" name="任意多边形 25"/>
          <p:cNvSpPr/>
          <p:nvPr/>
        </p:nvSpPr>
        <p:spPr>
          <a:xfrm rot="10800000">
            <a:off x="3262047" y="1130497"/>
            <a:ext cx="8258441" cy="4597885"/>
          </a:xfrm>
          <a:custGeom>
            <a:avLst/>
            <a:gdLst>
              <a:gd name="connsiteX0" fmla="*/ 6762786 w 6826313"/>
              <a:gd name="connsiteY0" fmla="*/ 1876457 h 4508626"/>
              <a:gd name="connsiteX1" fmla="*/ 6826313 w 6826313"/>
              <a:gd name="connsiteY1" fmla="*/ 1876457 h 4508626"/>
              <a:gd name="connsiteX2" fmla="*/ 6826313 w 6826313"/>
              <a:gd name="connsiteY2" fmla="*/ 2139756 h 4508626"/>
              <a:gd name="connsiteX3" fmla="*/ 6762786 w 6826313"/>
              <a:gd name="connsiteY3" fmla="*/ 2139756 h 4508626"/>
              <a:gd name="connsiteX4" fmla="*/ 0 w 6826313"/>
              <a:gd name="connsiteY4" fmla="*/ 0 h 4508626"/>
              <a:gd name="connsiteX5" fmla="*/ 6826313 w 6826313"/>
              <a:gd name="connsiteY5" fmla="*/ 0 h 4508626"/>
              <a:gd name="connsiteX6" fmla="*/ 6826313 w 6826313"/>
              <a:gd name="connsiteY6" fmla="*/ 959382 h 4508626"/>
              <a:gd name="connsiteX7" fmla="*/ 6762786 w 6826313"/>
              <a:gd name="connsiteY7" fmla="*/ 959382 h 4508626"/>
              <a:gd name="connsiteX8" fmla="*/ 6762786 w 6826313"/>
              <a:gd name="connsiteY8" fmla="*/ 63527 h 4508626"/>
              <a:gd name="connsiteX9" fmla="*/ 63527 w 6826313"/>
              <a:gd name="connsiteY9" fmla="*/ 63527 h 4508626"/>
              <a:gd name="connsiteX10" fmla="*/ 63527 w 6826313"/>
              <a:gd name="connsiteY10" fmla="*/ 4445099 h 4508626"/>
              <a:gd name="connsiteX11" fmla="*/ 6762786 w 6826313"/>
              <a:gd name="connsiteY11" fmla="*/ 4445099 h 4508626"/>
              <a:gd name="connsiteX12" fmla="*/ 6762786 w 6826313"/>
              <a:gd name="connsiteY12" fmla="*/ 3756057 h 4508626"/>
              <a:gd name="connsiteX13" fmla="*/ 6826313 w 6826313"/>
              <a:gd name="connsiteY13" fmla="*/ 3756057 h 4508626"/>
              <a:gd name="connsiteX14" fmla="*/ 6826313 w 6826313"/>
              <a:gd name="connsiteY14" fmla="*/ 4508626 h 4508626"/>
              <a:gd name="connsiteX15" fmla="*/ 0 w 6826313"/>
              <a:gd name="connsiteY15" fmla="*/ 4508626 h 4508626"/>
              <a:gd name="connsiteX0-1" fmla="*/ 6762786 w 6826313"/>
              <a:gd name="connsiteY0-2" fmla="*/ 1876457 h 4508626"/>
              <a:gd name="connsiteX1-3" fmla="*/ 6826313 w 6826313"/>
              <a:gd name="connsiteY1-4" fmla="*/ 1876457 h 4508626"/>
              <a:gd name="connsiteX2-5" fmla="*/ 6826313 w 6826313"/>
              <a:gd name="connsiteY2-6" fmla="*/ 2476058 h 4508626"/>
              <a:gd name="connsiteX3-7" fmla="*/ 6762786 w 6826313"/>
              <a:gd name="connsiteY3-8" fmla="*/ 2139756 h 4508626"/>
              <a:gd name="connsiteX4-9" fmla="*/ 6762786 w 6826313"/>
              <a:gd name="connsiteY4-10" fmla="*/ 1876457 h 4508626"/>
              <a:gd name="connsiteX5-11" fmla="*/ 0 w 6826313"/>
              <a:gd name="connsiteY5-12" fmla="*/ 0 h 4508626"/>
              <a:gd name="connsiteX6-13" fmla="*/ 6826313 w 6826313"/>
              <a:gd name="connsiteY6-14" fmla="*/ 0 h 4508626"/>
              <a:gd name="connsiteX7-15" fmla="*/ 6826313 w 6826313"/>
              <a:gd name="connsiteY7-16" fmla="*/ 959382 h 4508626"/>
              <a:gd name="connsiteX8-17" fmla="*/ 6762786 w 6826313"/>
              <a:gd name="connsiteY8-18" fmla="*/ 959382 h 4508626"/>
              <a:gd name="connsiteX9-19" fmla="*/ 6762786 w 6826313"/>
              <a:gd name="connsiteY9-20" fmla="*/ 63527 h 4508626"/>
              <a:gd name="connsiteX10-21" fmla="*/ 63527 w 6826313"/>
              <a:gd name="connsiteY10-22" fmla="*/ 63527 h 4508626"/>
              <a:gd name="connsiteX11-23" fmla="*/ 63527 w 6826313"/>
              <a:gd name="connsiteY11-24" fmla="*/ 4445099 h 4508626"/>
              <a:gd name="connsiteX12-25" fmla="*/ 6762786 w 6826313"/>
              <a:gd name="connsiteY12-26" fmla="*/ 4445099 h 4508626"/>
              <a:gd name="connsiteX13-27" fmla="*/ 6762786 w 6826313"/>
              <a:gd name="connsiteY13-28" fmla="*/ 3756057 h 4508626"/>
              <a:gd name="connsiteX14-29" fmla="*/ 6826313 w 6826313"/>
              <a:gd name="connsiteY14-30" fmla="*/ 3756057 h 4508626"/>
              <a:gd name="connsiteX15-31" fmla="*/ 6826313 w 6826313"/>
              <a:gd name="connsiteY15-32" fmla="*/ 4508626 h 4508626"/>
              <a:gd name="connsiteX16" fmla="*/ 0 w 6826313"/>
              <a:gd name="connsiteY16" fmla="*/ 4508626 h 4508626"/>
              <a:gd name="connsiteX17" fmla="*/ 0 w 6826313"/>
              <a:gd name="connsiteY17" fmla="*/ 0 h 4508626"/>
              <a:gd name="connsiteX0-33" fmla="*/ 6762786 w 6826313"/>
              <a:gd name="connsiteY0-34" fmla="*/ 1876457 h 4508626"/>
              <a:gd name="connsiteX1-35" fmla="*/ 6826313 w 6826313"/>
              <a:gd name="connsiteY1-36" fmla="*/ 1876457 h 4508626"/>
              <a:gd name="connsiteX2-37" fmla="*/ 6826313 w 6826313"/>
              <a:gd name="connsiteY2-38" fmla="*/ 2476058 h 4508626"/>
              <a:gd name="connsiteX3-39" fmla="*/ 6762786 w 6826313"/>
              <a:gd name="connsiteY3-40" fmla="*/ 2455298 h 4508626"/>
              <a:gd name="connsiteX4-41" fmla="*/ 6762786 w 6826313"/>
              <a:gd name="connsiteY4-42" fmla="*/ 1876457 h 4508626"/>
              <a:gd name="connsiteX5-43" fmla="*/ 0 w 6826313"/>
              <a:gd name="connsiteY5-44" fmla="*/ 0 h 4508626"/>
              <a:gd name="connsiteX6-45" fmla="*/ 6826313 w 6826313"/>
              <a:gd name="connsiteY6-46" fmla="*/ 0 h 4508626"/>
              <a:gd name="connsiteX7-47" fmla="*/ 6826313 w 6826313"/>
              <a:gd name="connsiteY7-48" fmla="*/ 959382 h 4508626"/>
              <a:gd name="connsiteX8-49" fmla="*/ 6762786 w 6826313"/>
              <a:gd name="connsiteY8-50" fmla="*/ 959382 h 4508626"/>
              <a:gd name="connsiteX9-51" fmla="*/ 6762786 w 6826313"/>
              <a:gd name="connsiteY9-52" fmla="*/ 63527 h 4508626"/>
              <a:gd name="connsiteX10-53" fmla="*/ 63527 w 6826313"/>
              <a:gd name="connsiteY10-54" fmla="*/ 63527 h 4508626"/>
              <a:gd name="connsiteX11-55" fmla="*/ 63527 w 6826313"/>
              <a:gd name="connsiteY11-56" fmla="*/ 4445099 h 4508626"/>
              <a:gd name="connsiteX12-57" fmla="*/ 6762786 w 6826313"/>
              <a:gd name="connsiteY12-58" fmla="*/ 4445099 h 4508626"/>
              <a:gd name="connsiteX13-59" fmla="*/ 6762786 w 6826313"/>
              <a:gd name="connsiteY13-60" fmla="*/ 3756057 h 4508626"/>
              <a:gd name="connsiteX14-61" fmla="*/ 6826313 w 6826313"/>
              <a:gd name="connsiteY14-62" fmla="*/ 3756057 h 4508626"/>
              <a:gd name="connsiteX15-63" fmla="*/ 6826313 w 6826313"/>
              <a:gd name="connsiteY15-64" fmla="*/ 4508626 h 4508626"/>
              <a:gd name="connsiteX16-65" fmla="*/ 0 w 6826313"/>
              <a:gd name="connsiteY16-66" fmla="*/ 4508626 h 4508626"/>
              <a:gd name="connsiteX17-67" fmla="*/ 0 w 6826313"/>
              <a:gd name="connsiteY17-68" fmla="*/ 0 h 4508626"/>
              <a:gd name="connsiteX0-69" fmla="*/ 6762786 w 6826313"/>
              <a:gd name="connsiteY0-70" fmla="*/ 1876457 h 4508626"/>
              <a:gd name="connsiteX1-71" fmla="*/ 6826313 w 6826313"/>
              <a:gd name="connsiteY1-72" fmla="*/ 1876457 h 4508626"/>
              <a:gd name="connsiteX2-73" fmla="*/ 6826313 w 6826313"/>
              <a:gd name="connsiteY2-74" fmla="*/ 2476058 h 4508626"/>
              <a:gd name="connsiteX3-75" fmla="*/ 6762786 w 6826313"/>
              <a:gd name="connsiteY3-76" fmla="*/ 2476058 h 4508626"/>
              <a:gd name="connsiteX4-77" fmla="*/ 6762786 w 6826313"/>
              <a:gd name="connsiteY4-78" fmla="*/ 1876457 h 4508626"/>
              <a:gd name="connsiteX5-79" fmla="*/ 0 w 6826313"/>
              <a:gd name="connsiteY5-80" fmla="*/ 0 h 4508626"/>
              <a:gd name="connsiteX6-81" fmla="*/ 6826313 w 6826313"/>
              <a:gd name="connsiteY6-82" fmla="*/ 0 h 4508626"/>
              <a:gd name="connsiteX7-83" fmla="*/ 6826313 w 6826313"/>
              <a:gd name="connsiteY7-84" fmla="*/ 959382 h 4508626"/>
              <a:gd name="connsiteX8-85" fmla="*/ 6762786 w 6826313"/>
              <a:gd name="connsiteY8-86" fmla="*/ 959382 h 4508626"/>
              <a:gd name="connsiteX9-87" fmla="*/ 6762786 w 6826313"/>
              <a:gd name="connsiteY9-88" fmla="*/ 63527 h 4508626"/>
              <a:gd name="connsiteX10-89" fmla="*/ 63527 w 6826313"/>
              <a:gd name="connsiteY10-90" fmla="*/ 63527 h 4508626"/>
              <a:gd name="connsiteX11-91" fmla="*/ 63527 w 6826313"/>
              <a:gd name="connsiteY11-92" fmla="*/ 4445099 h 4508626"/>
              <a:gd name="connsiteX12-93" fmla="*/ 6762786 w 6826313"/>
              <a:gd name="connsiteY12-94" fmla="*/ 4445099 h 4508626"/>
              <a:gd name="connsiteX13-95" fmla="*/ 6762786 w 6826313"/>
              <a:gd name="connsiteY13-96" fmla="*/ 3756057 h 4508626"/>
              <a:gd name="connsiteX14-97" fmla="*/ 6826313 w 6826313"/>
              <a:gd name="connsiteY14-98" fmla="*/ 3756057 h 4508626"/>
              <a:gd name="connsiteX15-99" fmla="*/ 6826313 w 6826313"/>
              <a:gd name="connsiteY15-100" fmla="*/ 4508626 h 4508626"/>
              <a:gd name="connsiteX16-101" fmla="*/ 0 w 6826313"/>
              <a:gd name="connsiteY16-102" fmla="*/ 4508626 h 4508626"/>
              <a:gd name="connsiteX17-103" fmla="*/ 0 w 6826313"/>
              <a:gd name="connsiteY17-104" fmla="*/ 0 h 4508626"/>
              <a:gd name="connsiteX0-105" fmla="*/ 6762786 w 6826313"/>
              <a:gd name="connsiteY0-106" fmla="*/ 1876457 h 4508626"/>
              <a:gd name="connsiteX1-107" fmla="*/ 6826313 w 6826313"/>
              <a:gd name="connsiteY1-108" fmla="*/ 1876457 h 4508626"/>
              <a:gd name="connsiteX2-109" fmla="*/ 6826313 w 6826313"/>
              <a:gd name="connsiteY2-110" fmla="*/ 2476058 h 4508626"/>
              <a:gd name="connsiteX3-111" fmla="*/ 6762786 w 6826313"/>
              <a:gd name="connsiteY3-112" fmla="*/ 2476058 h 4508626"/>
              <a:gd name="connsiteX4-113" fmla="*/ 6762786 w 6826313"/>
              <a:gd name="connsiteY4-114" fmla="*/ 1876457 h 4508626"/>
              <a:gd name="connsiteX5-115" fmla="*/ 0 w 6826313"/>
              <a:gd name="connsiteY5-116" fmla="*/ 0 h 4508626"/>
              <a:gd name="connsiteX6-117" fmla="*/ 6826313 w 6826313"/>
              <a:gd name="connsiteY6-118" fmla="*/ 0 h 4508626"/>
              <a:gd name="connsiteX7-119" fmla="*/ 6826313 w 6826313"/>
              <a:gd name="connsiteY7-120" fmla="*/ 959382 h 4508626"/>
              <a:gd name="connsiteX8-121" fmla="*/ 6762786 w 6826313"/>
              <a:gd name="connsiteY8-122" fmla="*/ 959382 h 4508626"/>
              <a:gd name="connsiteX9-123" fmla="*/ 6762786 w 6826313"/>
              <a:gd name="connsiteY9-124" fmla="*/ 63527 h 4508626"/>
              <a:gd name="connsiteX10-125" fmla="*/ 63527 w 6826313"/>
              <a:gd name="connsiteY10-126" fmla="*/ 63527 h 4508626"/>
              <a:gd name="connsiteX11-127" fmla="*/ 63527 w 6826313"/>
              <a:gd name="connsiteY11-128" fmla="*/ 4445099 h 4508626"/>
              <a:gd name="connsiteX12-129" fmla="*/ 6762786 w 6826313"/>
              <a:gd name="connsiteY12-130" fmla="*/ 4445099 h 4508626"/>
              <a:gd name="connsiteX13-131" fmla="*/ 6762786 w 6826313"/>
              <a:gd name="connsiteY13-132" fmla="*/ 3403147 h 4508626"/>
              <a:gd name="connsiteX14-133" fmla="*/ 6826313 w 6826313"/>
              <a:gd name="connsiteY14-134" fmla="*/ 3756057 h 4508626"/>
              <a:gd name="connsiteX15-135" fmla="*/ 6826313 w 6826313"/>
              <a:gd name="connsiteY15-136" fmla="*/ 4508626 h 4508626"/>
              <a:gd name="connsiteX16-137" fmla="*/ 0 w 6826313"/>
              <a:gd name="connsiteY16-138" fmla="*/ 4508626 h 4508626"/>
              <a:gd name="connsiteX17-139" fmla="*/ 0 w 6826313"/>
              <a:gd name="connsiteY17-140" fmla="*/ 0 h 4508626"/>
              <a:gd name="connsiteX0-141" fmla="*/ 6762786 w 6829816"/>
              <a:gd name="connsiteY0-142" fmla="*/ 1876457 h 4508626"/>
              <a:gd name="connsiteX1-143" fmla="*/ 6826313 w 6829816"/>
              <a:gd name="connsiteY1-144" fmla="*/ 1876457 h 4508626"/>
              <a:gd name="connsiteX2-145" fmla="*/ 6826313 w 6829816"/>
              <a:gd name="connsiteY2-146" fmla="*/ 2476058 h 4508626"/>
              <a:gd name="connsiteX3-147" fmla="*/ 6762786 w 6829816"/>
              <a:gd name="connsiteY3-148" fmla="*/ 2476058 h 4508626"/>
              <a:gd name="connsiteX4-149" fmla="*/ 6762786 w 6829816"/>
              <a:gd name="connsiteY4-150" fmla="*/ 1876457 h 4508626"/>
              <a:gd name="connsiteX5-151" fmla="*/ 0 w 6829816"/>
              <a:gd name="connsiteY5-152" fmla="*/ 0 h 4508626"/>
              <a:gd name="connsiteX6-153" fmla="*/ 6826313 w 6829816"/>
              <a:gd name="connsiteY6-154" fmla="*/ 0 h 4508626"/>
              <a:gd name="connsiteX7-155" fmla="*/ 6826313 w 6829816"/>
              <a:gd name="connsiteY7-156" fmla="*/ 959382 h 4508626"/>
              <a:gd name="connsiteX8-157" fmla="*/ 6762786 w 6829816"/>
              <a:gd name="connsiteY8-158" fmla="*/ 959382 h 4508626"/>
              <a:gd name="connsiteX9-159" fmla="*/ 6762786 w 6829816"/>
              <a:gd name="connsiteY9-160" fmla="*/ 63527 h 4508626"/>
              <a:gd name="connsiteX10-161" fmla="*/ 63527 w 6829816"/>
              <a:gd name="connsiteY10-162" fmla="*/ 63527 h 4508626"/>
              <a:gd name="connsiteX11-163" fmla="*/ 63527 w 6829816"/>
              <a:gd name="connsiteY11-164" fmla="*/ 4445099 h 4508626"/>
              <a:gd name="connsiteX12-165" fmla="*/ 6762786 w 6829816"/>
              <a:gd name="connsiteY12-166" fmla="*/ 4445099 h 4508626"/>
              <a:gd name="connsiteX13-167" fmla="*/ 6762786 w 6829816"/>
              <a:gd name="connsiteY13-168" fmla="*/ 3403147 h 4508626"/>
              <a:gd name="connsiteX14-169" fmla="*/ 6829816 w 6829816"/>
              <a:gd name="connsiteY14-170" fmla="*/ 3415603 h 4508626"/>
              <a:gd name="connsiteX15-171" fmla="*/ 6826313 w 6829816"/>
              <a:gd name="connsiteY15-172" fmla="*/ 4508626 h 4508626"/>
              <a:gd name="connsiteX16-173" fmla="*/ 0 w 6829816"/>
              <a:gd name="connsiteY16-174" fmla="*/ 4508626 h 4508626"/>
              <a:gd name="connsiteX17-175" fmla="*/ 0 w 6829816"/>
              <a:gd name="connsiteY17-176" fmla="*/ 0 h 4508626"/>
              <a:gd name="connsiteX0-177" fmla="*/ 6762786 w 6833319"/>
              <a:gd name="connsiteY0-178" fmla="*/ 1876457 h 4508626"/>
              <a:gd name="connsiteX1-179" fmla="*/ 6826313 w 6833319"/>
              <a:gd name="connsiteY1-180" fmla="*/ 1876457 h 4508626"/>
              <a:gd name="connsiteX2-181" fmla="*/ 6826313 w 6833319"/>
              <a:gd name="connsiteY2-182" fmla="*/ 2476058 h 4508626"/>
              <a:gd name="connsiteX3-183" fmla="*/ 6762786 w 6833319"/>
              <a:gd name="connsiteY3-184" fmla="*/ 2476058 h 4508626"/>
              <a:gd name="connsiteX4-185" fmla="*/ 6762786 w 6833319"/>
              <a:gd name="connsiteY4-186" fmla="*/ 1876457 h 4508626"/>
              <a:gd name="connsiteX5-187" fmla="*/ 0 w 6833319"/>
              <a:gd name="connsiteY5-188" fmla="*/ 0 h 4508626"/>
              <a:gd name="connsiteX6-189" fmla="*/ 6826313 w 6833319"/>
              <a:gd name="connsiteY6-190" fmla="*/ 0 h 4508626"/>
              <a:gd name="connsiteX7-191" fmla="*/ 6826313 w 6833319"/>
              <a:gd name="connsiteY7-192" fmla="*/ 959382 h 4508626"/>
              <a:gd name="connsiteX8-193" fmla="*/ 6762786 w 6833319"/>
              <a:gd name="connsiteY8-194" fmla="*/ 959382 h 4508626"/>
              <a:gd name="connsiteX9-195" fmla="*/ 6762786 w 6833319"/>
              <a:gd name="connsiteY9-196" fmla="*/ 63527 h 4508626"/>
              <a:gd name="connsiteX10-197" fmla="*/ 63527 w 6833319"/>
              <a:gd name="connsiteY10-198" fmla="*/ 63527 h 4508626"/>
              <a:gd name="connsiteX11-199" fmla="*/ 63527 w 6833319"/>
              <a:gd name="connsiteY11-200" fmla="*/ 4445099 h 4508626"/>
              <a:gd name="connsiteX12-201" fmla="*/ 6762786 w 6833319"/>
              <a:gd name="connsiteY12-202" fmla="*/ 4445099 h 4508626"/>
              <a:gd name="connsiteX13-203" fmla="*/ 6762786 w 6833319"/>
              <a:gd name="connsiteY13-204" fmla="*/ 3403147 h 4508626"/>
              <a:gd name="connsiteX14-205" fmla="*/ 6833319 w 6833319"/>
              <a:gd name="connsiteY14-206" fmla="*/ 3394844 h 4508626"/>
              <a:gd name="connsiteX15-207" fmla="*/ 6826313 w 6833319"/>
              <a:gd name="connsiteY15-208" fmla="*/ 4508626 h 4508626"/>
              <a:gd name="connsiteX16-209" fmla="*/ 0 w 6833319"/>
              <a:gd name="connsiteY16-210" fmla="*/ 4508626 h 4508626"/>
              <a:gd name="connsiteX17-211" fmla="*/ 0 w 6833319"/>
              <a:gd name="connsiteY17-212" fmla="*/ 0 h 45086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65" y="connsiteY16-66"/>
              </a:cxn>
              <a:cxn ang="0">
                <a:pos x="connsiteX17-67" y="connsiteY17-68"/>
              </a:cxn>
            </a:cxnLst>
            <a:rect l="l" t="t" r="r" b="b"/>
            <a:pathLst>
              <a:path w="6833319" h="4508626">
                <a:moveTo>
                  <a:pt x="6762786" y="1876457"/>
                </a:moveTo>
                <a:lnTo>
                  <a:pt x="6826313" y="1876457"/>
                </a:lnTo>
                <a:lnTo>
                  <a:pt x="6826313" y="2476058"/>
                </a:lnTo>
                <a:lnTo>
                  <a:pt x="6762786" y="2476058"/>
                </a:lnTo>
                <a:lnTo>
                  <a:pt x="6762786" y="1876457"/>
                </a:lnTo>
                <a:close/>
                <a:moveTo>
                  <a:pt x="0" y="0"/>
                </a:moveTo>
                <a:lnTo>
                  <a:pt x="6826313" y="0"/>
                </a:lnTo>
                <a:lnTo>
                  <a:pt x="6826313" y="959382"/>
                </a:lnTo>
                <a:lnTo>
                  <a:pt x="6762786" y="959382"/>
                </a:lnTo>
                <a:lnTo>
                  <a:pt x="6762786" y="63527"/>
                </a:lnTo>
                <a:lnTo>
                  <a:pt x="63527" y="63527"/>
                </a:lnTo>
                <a:lnTo>
                  <a:pt x="63527" y="4445099"/>
                </a:lnTo>
                <a:lnTo>
                  <a:pt x="6762786" y="4445099"/>
                </a:lnTo>
                <a:lnTo>
                  <a:pt x="6762786" y="3403147"/>
                </a:lnTo>
                <a:lnTo>
                  <a:pt x="6833319" y="3394844"/>
                </a:lnTo>
                <a:cubicBezTo>
                  <a:pt x="6832151" y="3759185"/>
                  <a:pt x="6827481" y="4144285"/>
                  <a:pt x="6826313" y="4508626"/>
                </a:cubicBezTo>
                <a:lnTo>
                  <a:pt x="0" y="4508626"/>
                </a:lnTo>
                <a:lnTo>
                  <a:pt x="0" y="0"/>
                </a:lnTo>
                <a:close/>
              </a:path>
            </a:pathLst>
          </a:cu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pic>
        <p:nvPicPr>
          <p:cNvPr id="2" name="图片 1"/>
          <p:cNvPicPr>
            <a:picLocks noChangeAspect="1"/>
          </p:cNvPicPr>
          <p:nvPr/>
        </p:nvPicPr>
        <p:blipFill rotWithShape="1">
          <a:blip r:embed="rId4"/>
          <a:srcRect l="12674" r="41628"/>
          <a:stretch>
            <a:fillRect/>
          </a:stretch>
        </p:blipFill>
        <p:spPr>
          <a:xfrm>
            <a:off x="8243008" y="1302584"/>
            <a:ext cx="3036637" cy="4252832"/>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6FBEA-81F6-98AA-FC55-9098D716B2B9}"/>
            </a:ext>
          </a:extLst>
        </p:cNvPr>
        <p:cNvGrpSpPr/>
        <p:nvPr/>
      </p:nvGrpSpPr>
      <p:grpSpPr>
        <a:xfrm>
          <a:off x="0" y="0"/>
          <a:ext cx="0" cy="0"/>
          <a:chOff x="0" y="0"/>
          <a:chExt cx="0" cy="0"/>
        </a:xfrm>
      </p:grpSpPr>
      <p:sp>
        <p:nvSpPr>
          <p:cNvPr id="16" name="文本框 15">
            <a:extLst>
              <a:ext uri="{FF2B5EF4-FFF2-40B4-BE49-F238E27FC236}">
                <a16:creationId xmlns:a16="http://schemas.microsoft.com/office/drawing/2014/main" id="{616C7790-8406-5F1D-9922-9B60BC76558E}"/>
              </a:ext>
            </a:extLst>
          </p:cNvPr>
          <p:cNvSpPr txBox="1"/>
          <p:nvPr/>
        </p:nvSpPr>
        <p:spPr>
          <a:xfrm>
            <a:off x="1219949" y="319219"/>
            <a:ext cx="777777" cy="400110"/>
          </a:xfrm>
          <a:prstGeom prst="rect">
            <a:avLst/>
          </a:prstGeom>
          <a:solidFill>
            <a:schemeClr val="bg1"/>
          </a:solidFill>
        </p:spPr>
        <p:txBody>
          <a:bodyPr wrap="none" rtlCol="0">
            <a:spAutoFit/>
          </a:bodyPr>
          <a:lstStyle/>
          <a:p>
            <a:pPr defTabSz="914400"/>
            <a:r>
              <a:rPr lang="zh-CN" altLang="en-CN" sz="2000" b="1" spc="300" dirty="0">
                <a:latin typeface="FangSong_GB2312" panose="02010609030101010101" pitchFamily="49" charset="-122"/>
                <a:ea typeface="FangSong_GB2312" panose="02010609030101010101" pitchFamily="49" charset="-122"/>
              </a:rPr>
              <a:t>附录</a:t>
            </a:r>
            <a:endParaRPr lang="zh-CN" altLang="en-US" sz="2000" b="1" spc="300" dirty="0">
              <a:latin typeface="FangSong_GB2312" panose="02010609030101010101" pitchFamily="49" charset="-122"/>
              <a:ea typeface="FangSong_GB2312" panose="02010609030101010101" pitchFamily="49" charset="-122"/>
            </a:endParaRPr>
          </a:p>
        </p:txBody>
      </p:sp>
      <p:sp>
        <p:nvSpPr>
          <p:cNvPr id="3" name="文本框 2">
            <a:extLst>
              <a:ext uri="{FF2B5EF4-FFF2-40B4-BE49-F238E27FC236}">
                <a16:creationId xmlns:a16="http://schemas.microsoft.com/office/drawing/2014/main" id="{16A1F01C-B02D-F8DD-C51A-2F6D1AA2DD87}"/>
              </a:ext>
            </a:extLst>
          </p:cNvPr>
          <p:cNvSpPr txBox="1"/>
          <p:nvPr/>
        </p:nvSpPr>
        <p:spPr>
          <a:xfrm>
            <a:off x="358346" y="288442"/>
            <a:ext cx="720000" cy="523220"/>
          </a:xfrm>
          <a:prstGeom prst="rect">
            <a:avLst/>
          </a:prstGeom>
          <a:noFill/>
        </p:spPr>
        <p:txBody>
          <a:bodyPr wrap="square" rtlCol="0">
            <a:spAutoFit/>
          </a:bodyPr>
          <a:lstStyle/>
          <a:p>
            <a:pPr algn="ctr"/>
            <a:r>
              <a:rPr lang="en-US" altLang="zh-CN"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07</a:t>
            </a:r>
            <a:endParaRPr lang="zh-CN" altLang="en-US"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2" name="Picture 1">
            <a:extLst>
              <a:ext uri="{FF2B5EF4-FFF2-40B4-BE49-F238E27FC236}">
                <a16:creationId xmlns:a16="http://schemas.microsoft.com/office/drawing/2014/main" id="{71FE0D26-84A2-AA1B-CCE9-F49F500496F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49653" y="1074102"/>
            <a:ext cx="7692694" cy="2456498"/>
          </a:xfrm>
          <a:prstGeom prst="rect">
            <a:avLst/>
          </a:prstGeom>
        </p:spPr>
      </p:pic>
      <p:pic>
        <p:nvPicPr>
          <p:cNvPr id="4" name="Picture 3">
            <a:extLst>
              <a:ext uri="{FF2B5EF4-FFF2-40B4-BE49-F238E27FC236}">
                <a16:creationId xmlns:a16="http://schemas.microsoft.com/office/drawing/2014/main" id="{34F0CFE6-BE43-7F9B-C2EB-3EF81CD6051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49652" y="3918903"/>
            <a:ext cx="7692695" cy="2456602"/>
          </a:xfrm>
          <a:prstGeom prst="rect">
            <a:avLst/>
          </a:prstGeom>
        </p:spPr>
      </p:pic>
    </p:spTree>
    <p:extLst>
      <p:ext uri="{BB962C8B-B14F-4D97-AF65-F5344CB8AC3E}">
        <p14:creationId xmlns:p14="http://schemas.microsoft.com/office/powerpoint/2010/main" val="3119199491"/>
      </p:ext>
    </p:extLst>
  </p:cSld>
  <p:clrMapOvr>
    <a:masterClrMapping/>
  </p:clrMapOvr>
  <mc:AlternateContent xmlns:mc="http://schemas.openxmlformats.org/markup-compatibility/2006" xmlns:p14="http://schemas.microsoft.com/office/powerpoint/2010/main">
    <mc:Choice Requires="p14">
      <p:transition spd="slow" p14:dur="2000" advTm="10194"/>
    </mc:Choice>
    <mc:Fallback xmlns="">
      <p:transition spd="slow" advTm="10194"/>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3A3A4-0211-C71D-27EE-1C43DBE9C76E}"/>
            </a:ext>
          </a:extLst>
        </p:cNvPr>
        <p:cNvGrpSpPr/>
        <p:nvPr/>
      </p:nvGrpSpPr>
      <p:grpSpPr>
        <a:xfrm>
          <a:off x="0" y="0"/>
          <a:ext cx="0" cy="0"/>
          <a:chOff x="0" y="0"/>
          <a:chExt cx="0" cy="0"/>
        </a:xfrm>
      </p:grpSpPr>
      <p:sp>
        <p:nvSpPr>
          <p:cNvPr id="16" name="文本框 15">
            <a:extLst>
              <a:ext uri="{FF2B5EF4-FFF2-40B4-BE49-F238E27FC236}">
                <a16:creationId xmlns:a16="http://schemas.microsoft.com/office/drawing/2014/main" id="{5BA38C5C-05BE-2E1D-A35B-6AA2AF36A390}"/>
              </a:ext>
            </a:extLst>
          </p:cNvPr>
          <p:cNvSpPr txBox="1"/>
          <p:nvPr/>
        </p:nvSpPr>
        <p:spPr>
          <a:xfrm>
            <a:off x="1219949" y="319219"/>
            <a:ext cx="777777" cy="400110"/>
          </a:xfrm>
          <a:prstGeom prst="rect">
            <a:avLst/>
          </a:prstGeom>
          <a:solidFill>
            <a:schemeClr val="bg1"/>
          </a:solidFill>
        </p:spPr>
        <p:txBody>
          <a:bodyPr wrap="none" rtlCol="0">
            <a:spAutoFit/>
          </a:bodyPr>
          <a:lstStyle/>
          <a:p>
            <a:pPr defTabSz="914400"/>
            <a:r>
              <a:rPr lang="zh-CN" altLang="en-CN" sz="2000" b="1" spc="300" dirty="0">
                <a:latin typeface="FangSong_GB2312" panose="02010609030101010101" pitchFamily="49" charset="-122"/>
                <a:ea typeface="FangSong_GB2312" panose="02010609030101010101" pitchFamily="49" charset="-122"/>
              </a:rPr>
              <a:t>附录</a:t>
            </a:r>
            <a:endParaRPr lang="zh-CN" altLang="en-US" sz="2000" b="1" spc="300" dirty="0">
              <a:latin typeface="FangSong_GB2312" panose="02010609030101010101" pitchFamily="49" charset="-122"/>
              <a:ea typeface="FangSong_GB2312" panose="02010609030101010101" pitchFamily="49" charset="-122"/>
            </a:endParaRPr>
          </a:p>
        </p:txBody>
      </p:sp>
      <p:sp>
        <p:nvSpPr>
          <p:cNvPr id="3" name="文本框 2">
            <a:extLst>
              <a:ext uri="{FF2B5EF4-FFF2-40B4-BE49-F238E27FC236}">
                <a16:creationId xmlns:a16="http://schemas.microsoft.com/office/drawing/2014/main" id="{F510BBFF-8A4A-F993-0011-B9A7E9B71B91}"/>
              </a:ext>
            </a:extLst>
          </p:cNvPr>
          <p:cNvSpPr txBox="1"/>
          <p:nvPr/>
        </p:nvSpPr>
        <p:spPr>
          <a:xfrm>
            <a:off x="358346" y="288442"/>
            <a:ext cx="720000" cy="523220"/>
          </a:xfrm>
          <a:prstGeom prst="rect">
            <a:avLst/>
          </a:prstGeom>
          <a:noFill/>
        </p:spPr>
        <p:txBody>
          <a:bodyPr wrap="square" rtlCol="0">
            <a:spAutoFit/>
          </a:bodyPr>
          <a:lstStyle/>
          <a:p>
            <a:pPr algn="ctr"/>
            <a:r>
              <a:rPr lang="en-US" altLang="zh-CN"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07</a:t>
            </a:r>
            <a:endParaRPr lang="zh-CN" altLang="en-US"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5" name="Picture 4">
            <a:extLst>
              <a:ext uri="{FF2B5EF4-FFF2-40B4-BE49-F238E27FC236}">
                <a16:creationId xmlns:a16="http://schemas.microsoft.com/office/drawing/2014/main" id="{FCDBB117-7C09-7C89-F08C-1ED24843A7B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26105" y="811662"/>
            <a:ext cx="5939790" cy="5681980"/>
          </a:xfrm>
          <a:prstGeom prst="rect">
            <a:avLst/>
          </a:prstGeom>
        </p:spPr>
      </p:pic>
    </p:spTree>
    <p:extLst>
      <p:ext uri="{BB962C8B-B14F-4D97-AF65-F5344CB8AC3E}">
        <p14:creationId xmlns:p14="http://schemas.microsoft.com/office/powerpoint/2010/main" val="3603618817"/>
      </p:ext>
    </p:extLst>
  </p:cSld>
  <p:clrMapOvr>
    <a:masterClrMapping/>
  </p:clrMapOvr>
  <mc:AlternateContent xmlns:mc="http://schemas.openxmlformats.org/markup-compatibility/2006" xmlns:p14="http://schemas.microsoft.com/office/powerpoint/2010/main">
    <mc:Choice Requires="p14">
      <p:transition spd="slow" p14:dur="2000" advTm="10194"/>
    </mc:Choice>
    <mc:Fallback xmlns="">
      <p:transition spd="slow" advTm="10194"/>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968D9-69A9-FD48-195A-1022B76462AB}"/>
            </a:ext>
          </a:extLst>
        </p:cNvPr>
        <p:cNvGrpSpPr/>
        <p:nvPr/>
      </p:nvGrpSpPr>
      <p:grpSpPr>
        <a:xfrm>
          <a:off x="0" y="0"/>
          <a:ext cx="0" cy="0"/>
          <a:chOff x="0" y="0"/>
          <a:chExt cx="0" cy="0"/>
        </a:xfrm>
      </p:grpSpPr>
      <p:sp>
        <p:nvSpPr>
          <p:cNvPr id="16" name="文本框 15">
            <a:extLst>
              <a:ext uri="{FF2B5EF4-FFF2-40B4-BE49-F238E27FC236}">
                <a16:creationId xmlns:a16="http://schemas.microsoft.com/office/drawing/2014/main" id="{F5C87617-D29C-6485-1FB5-19F5F1D08B95}"/>
              </a:ext>
            </a:extLst>
          </p:cNvPr>
          <p:cNvSpPr txBox="1"/>
          <p:nvPr/>
        </p:nvSpPr>
        <p:spPr>
          <a:xfrm>
            <a:off x="1219949" y="319219"/>
            <a:ext cx="777777" cy="400110"/>
          </a:xfrm>
          <a:prstGeom prst="rect">
            <a:avLst/>
          </a:prstGeom>
          <a:solidFill>
            <a:schemeClr val="bg1"/>
          </a:solidFill>
        </p:spPr>
        <p:txBody>
          <a:bodyPr wrap="none" rtlCol="0">
            <a:spAutoFit/>
          </a:bodyPr>
          <a:lstStyle/>
          <a:p>
            <a:pPr defTabSz="914400"/>
            <a:r>
              <a:rPr lang="zh-CN" altLang="en-CN" sz="2000" b="1" spc="300" dirty="0">
                <a:latin typeface="FangSong_GB2312" panose="02010609030101010101" pitchFamily="49" charset="-122"/>
                <a:ea typeface="FangSong_GB2312" panose="02010609030101010101" pitchFamily="49" charset="-122"/>
              </a:rPr>
              <a:t>附录</a:t>
            </a:r>
            <a:endParaRPr lang="zh-CN" altLang="en-US" sz="2000" b="1" spc="300" dirty="0">
              <a:latin typeface="FangSong_GB2312" panose="02010609030101010101" pitchFamily="49" charset="-122"/>
              <a:ea typeface="FangSong_GB2312" panose="02010609030101010101" pitchFamily="49" charset="-122"/>
            </a:endParaRPr>
          </a:p>
        </p:txBody>
      </p:sp>
      <p:sp>
        <p:nvSpPr>
          <p:cNvPr id="3" name="文本框 2">
            <a:extLst>
              <a:ext uri="{FF2B5EF4-FFF2-40B4-BE49-F238E27FC236}">
                <a16:creationId xmlns:a16="http://schemas.microsoft.com/office/drawing/2014/main" id="{90001464-73F1-6C22-6A8B-E7840A7F6D66}"/>
              </a:ext>
            </a:extLst>
          </p:cNvPr>
          <p:cNvSpPr txBox="1"/>
          <p:nvPr/>
        </p:nvSpPr>
        <p:spPr>
          <a:xfrm>
            <a:off x="358346" y="288442"/>
            <a:ext cx="720000" cy="523220"/>
          </a:xfrm>
          <a:prstGeom prst="rect">
            <a:avLst/>
          </a:prstGeom>
          <a:noFill/>
        </p:spPr>
        <p:txBody>
          <a:bodyPr wrap="square" rtlCol="0">
            <a:spAutoFit/>
          </a:bodyPr>
          <a:lstStyle/>
          <a:p>
            <a:pPr algn="ctr"/>
            <a:r>
              <a:rPr lang="en-US" altLang="zh-CN"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07</a:t>
            </a:r>
            <a:endParaRPr lang="zh-CN" altLang="en-US"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2" name="Picture 1">
            <a:extLst>
              <a:ext uri="{FF2B5EF4-FFF2-40B4-BE49-F238E27FC236}">
                <a16:creationId xmlns:a16="http://schemas.microsoft.com/office/drawing/2014/main" id="{604FFD69-2B15-E210-46A9-2D5F755B71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2446" y="1630694"/>
            <a:ext cx="5444404" cy="3971290"/>
          </a:xfrm>
          <a:prstGeom prst="rect">
            <a:avLst/>
          </a:prstGeom>
        </p:spPr>
      </p:pic>
      <p:pic>
        <p:nvPicPr>
          <p:cNvPr id="4" name="Picture 3">
            <a:extLst>
              <a:ext uri="{FF2B5EF4-FFF2-40B4-BE49-F238E27FC236}">
                <a16:creationId xmlns:a16="http://schemas.microsoft.com/office/drawing/2014/main" id="{0EAFF050-31D5-50E4-C4A4-2A9FC05DB68D}"/>
              </a:ext>
            </a:extLst>
          </p:cNvPr>
          <p:cNvPicPr>
            <a:picLocks noChangeAspect="1"/>
          </p:cNvPicPr>
          <p:nvPr/>
        </p:nvPicPr>
        <p:blipFill>
          <a:blip r:embed="rId4" cstate="print">
            <a:extLst>
              <a:ext uri="{28A0092B-C50C-407E-A947-70E740481C1C}">
                <a14:useLocalDpi xmlns:a14="http://schemas.microsoft.com/office/drawing/2010/main" val="0"/>
              </a:ext>
            </a:extLst>
          </a:blip>
          <a:srcRect t="50000" r="50856"/>
          <a:stretch>
            <a:fillRect/>
          </a:stretch>
        </p:blipFill>
        <p:spPr>
          <a:xfrm>
            <a:off x="6974205" y="923003"/>
            <a:ext cx="4062095" cy="2693336"/>
          </a:xfrm>
          <a:prstGeom prst="rect">
            <a:avLst/>
          </a:prstGeom>
        </p:spPr>
      </p:pic>
      <p:pic>
        <p:nvPicPr>
          <p:cNvPr id="7" name="Picture 6">
            <a:extLst>
              <a:ext uri="{FF2B5EF4-FFF2-40B4-BE49-F238E27FC236}">
                <a16:creationId xmlns:a16="http://schemas.microsoft.com/office/drawing/2014/main" id="{E1604723-965F-3DE6-A404-F48C4197C2C3}"/>
              </a:ext>
            </a:extLst>
          </p:cNvPr>
          <p:cNvPicPr>
            <a:picLocks noChangeAspect="1"/>
          </p:cNvPicPr>
          <p:nvPr/>
        </p:nvPicPr>
        <p:blipFill>
          <a:blip r:embed="rId4" cstate="print">
            <a:extLst>
              <a:ext uri="{28A0092B-C50C-407E-A947-70E740481C1C}">
                <a14:useLocalDpi xmlns:a14="http://schemas.microsoft.com/office/drawing/2010/main" val="0"/>
              </a:ext>
            </a:extLst>
          </a:blip>
          <a:srcRect l="48661" t="50000" r="2195"/>
          <a:stretch>
            <a:fillRect/>
          </a:stretch>
        </p:blipFill>
        <p:spPr>
          <a:xfrm>
            <a:off x="6974205" y="3616339"/>
            <a:ext cx="4062095" cy="2693336"/>
          </a:xfrm>
          <a:prstGeom prst="rect">
            <a:avLst/>
          </a:prstGeom>
        </p:spPr>
      </p:pic>
    </p:spTree>
    <p:extLst>
      <p:ext uri="{BB962C8B-B14F-4D97-AF65-F5344CB8AC3E}">
        <p14:creationId xmlns:p14="http://schemas.microsoft.com/office/powerpoint/2010/main" val="2703157376"/>
      </p:ext>
    </p:extLst>
  </p:cSld>
  <p:clrMapOvr>
    <a:masterClrMapping/>
  </p:clrMapOvr>
  <mc:AlternateContent xmlns:mc="http://schemas.openxmlformats.org/markup-compatibility/2006" xmlns:p14="http://schemas.microsoft.com/office/powerpoint/2010/main">
    <mc:Choice Requires="p14">
      <p:transition spd="slow" p14:dur="2000" advTm="10194"/>
    </mc:Choice>
    <mc:Fallback xmlns="">
      <p:transition spd="slow" advTm="10194"/>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1C5F9-4E29-311E-95A3-C08837D62E4D}"/>
            </a:ext>
          </a:extLst>
        </p:cNvPr>
        <p:cNvGrpSpPr/>
        <p:nvPr/>
      </p:nvGrpSpPr>
      <p:grpSpPr>
        <a:xfrm>
          <a:off x="0" y="0"/>
          <a:ext cx="0" cy="0"/>
          <a:chOff x="0" y="0"/>
          <a:chExt cx="0" cy="0"/>
        </a:xfrm>
      </p:grpSpPr>
      <p:sp>
        <p:nvSpPr>
          <p:cNvPr id="16" name="文本框 15">
            <a:extLst>
              <a:ext uri="{FF2B5EF4-FFF2-40B4-BE49-F238E27FC236}">
                <a16:creationId xmlns:a16="http://schemas.microsoft.com/office/drawing/2014/main" id="{39BCB1AE-24D5-5E07-6AA9-6CF6140F6B56}"/>
              </a:ext>
            </a:extLst>
          </p:cNvPr>
          <p:cNvSpPr txBox="1"/>
          <p:nvPr/>
        </p:nvSpPr>
        <p:spPr>
          <a:xfrm>
            <a:off x="1219949" y="319219"/>
            <a:ext cx="777777" cy="400110"/>
          </a:xfrm>
          <a:prstGeom prst="rect">
            <a:avLst/>
          </a:prstGeom>
          <a:solidFill>
            <a:schemeClr val="bg1"/>
          </a:solidFill>
        </p:spPr>
        <p:txBody>
          <a:bodyPr wrap="none" rtlCol="0">
            <a:spAutoFit/>
          </a:bodyPr>
          <a:lstStyle/>
          <a:p>
            <a:pPr defTabSz="914400"/>
            <a:r>
              <a:rPr lang="zh-CN" altLang="en-CN" sz="2000" b="1" spc="300" dirty="0">
                <a:latin typeface="FangSong_GB2312" panose="02010609030101010101" pitchFamily="49" charset="-122"/>
                <a:ea typeface="FangSong_GB2312" panose="02010609030101010101" pitchFamily="49" charset="-122"/>
              </a:rPr>
              <a:t>附录</a:t>
            </a:r>
            <a:endParaRPr lang="zh-CN" altLang="en-US" sz="2000" b="1" spc="300" dirty="0">
              <a:latin typeface="FangSong_GB2312" panose="02010609030101010101" pitchFamily="49" charset="-122"/>
              <a:ea typeface="FangSong_GB2312" panose="02010609030101010101" pitchFamily="49" charset="-122"/>
            </a:endParaRPr>
          </a:p>
        </p:txBody>
      </p:sp>
      <p:sp>
        <p:nvSpPr>
          <p:cNvPr id="3" name="文本框 2">
            <a:extLst>
              <a:ext uri="{FF2B5EF4-FFF2-40B4-BE49-F238E27FC236}">
                <a16:creationId xmlns:a16="http://schemas.microsoft.com/office/drawing/2014/main" id="{4329D519-59E5-C041-86BC-2B2B826C40DB}"/>
              </a:ext>
            </a:extLst>
          </p:cNvPr>
          <p:cNvSpPr txBox="1"/>
          <p:nvPr/>
        </p:nvSpPr>
        <p:spPr>
          <a:xfrm>
            <a:off x="358346" y="288442"/>
            <a:ext cx="720000" cy="523220"/>
          </a:xfrm>
          <a:prstGeom prst="rect">
            <a:avLst/>
          </a:prstGeom>
          <a:noFill/>
        </p:spPr>
        <p:txBody>
          <a:bodyPr wrap="square" rtlCol="0">
            <a:spAutoFit/>
          </a:bodyPr>
          <a:lstStyle/>
          <a:p>
            <a:pPr algn="ctr"/>
            <a:r>
              <a:rPr lang="en-US" altLang="zh-CN"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07</a:t>
            </a:r>
            <a:endParaRPr lang="zh-CN" altLang="en-US"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5" name="Picture 4">
            <a:extLst>
              <a:ext uri="{FF2B5EF4-FFF2-40B4-BE49-F238E27FC236}">
                <a16:creationId xmlns:a16="http://schemas.microsoft.com/office/drawing/2014/main" id="{A22EFD1C-6315-D5C5-6430-13CAB657CFCD}"/>
              </a:ext>
            </a:extLst>
          </p:cNvPr>
          <p:cNvPicPr>
            <a:picLocks noChangeAspect="1"/>
          </p:cNvPicPr>
          <p:nvPr/>
        </p:nvPicPr>
        <p:blipFill>
          <a:blip r:embed="rId3" cstate="print">
            <a:extLst>
              <a:ext uri="{28A0092B-C50C-407E-A947-70E740481C1C}">
                <a14:useLocalDpi xmlns:a14="http://schemas.microsoft.com/office/drawing/2010/main" val="0"/>
              </a:ext>
            </a:extLst>
          </a:blip>
          <a:srcRect t="5343"/>
          <a:stretch>
            <a:fillRect/>
          </a:stretch>
        </p:blipFill>
        <p:spPr>
          <a:xfrm>
            <a:off x="1587116" y="1856626"/>
            <a:ext cx="9017768" cy="3144747"/>
          </a:xfrm>
          <a:prstGeom prst="rect">
            <a:avLst/>
          </a:prstGeom>
          <a:ln>
            <a:noFill/>
          </a:ln>
        </p:spPr>
      </p:pic>
    </p:spTree>
    <p:extLst>
      <p:ext uri="{BB962C8B-B14F-4D97-AF65-F5344CB8AC3E}">
        <p14:creationId xmlns:p14="http://schemas.microsoft.com/office/powerpoint/2010/main" val="3939901543"/>
      </p:ext>
    </p:extLst>
  </p:cSld>
  <p:clrMapOvr>
    <a:masterClrMapping/>
  </p:clrMapOvr>
  <mc:AlternateContent xmlns:mc="http://schemas.openxmlformats.org/markup-compatibility/2006" xmlns:p14="http://schemas.microsoft.com/office/powerpoint/2010/main">
    <mc:Choice Requires="p14">
      <p:transition spd="slow" p14:dur="2000" advTm="10194"/>
    </mc:Choice>
    <mc:Fallback xmlns="">
      <p:transition spd="slow" advTm="10194"/>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51ABC-C553-0A8C-63FE-DB8C53DD0F10}"/>
            </a:ext>
          </a:extLst>
        </p:cNvPr>
        <p:cNvGrpSpPr/>
        <p:nvPr/>
      </p:nvGrpSpPr>
      <p:grpSpPr>
        <a:xfrm>
          <a:off x="0" y="0"/>
          <a:ext cx="0" cy="0"/>
          <a:chOff x="0" y="0"/>
          <a:chExt cx="0" cy="0"/>
        </a:xfrm>
      </p:grpSpPr>
      <p:sp>
        <p:nvSpPr>
          <p:cNvPr id="16" name="文本框 15">
            <a:extLst>
              <a:ext uri="{FF2B5EF4-FFF2-40B4-BE49-F238E27FC236}">
                <a16:creationId xmlns:a16="http://schemas.microsoft.com/office/drawing/2014/main" id="{CBEFE89E-25D7-3A8A-C494-27B135E9756E}"/>
              </a:ext>
            </a:extLst>
          </p:cNvPr>
          <p:cNvSpPr txBox="1"/>
          <p:nvPr/>
        </p:nvSpPr>
        <p:spPr>
          <a:xfrm>
            <a:off x="1219949" y="319219"/>
            <a:ext cx="777777" cy="400110"/>
          </a:xfrm>
          <a:prstGeom prst="rect">
            <a:avLst/>
          </a:prstGeom>
          <a:solidFill>
            <a:schemeClr val="bg1"/>
          </a:solidFill>
        </p:spPr>
        <p:txBody>
          <a:bodyPr wrap="none" rtlCol="0">
            <a:spAutoFit/>
          </a:bodyPr>
          <a:lstStyle/>
          <a:p>
            <a:pPr defTabSz="914400"/>
            <a:r>
              <a:rPr lang="zh-CN" altLang="en-CN" sz="2000" b="1" spc="300" dirty="0">
                <a:latin typeface="FangSong_GB2312" panose="02010609030101010101" pitchFamily="49" charset="-122"/>
                <a:ea typeface="FangSong_GB2312" panose="02010609030101010101" pitchFamily="49" charset="-122"/>
              </a:rPr>
              <a:t>附录</a:t>
            </a:r>
            <a:endParaRPr lang="zh-CN" altLang="en-US" sz="2000" b="1" spc="300" dirty="0">
              <a:latin typeface="FangSong_GB2312" panose="02010609030101010101" pitchFamily="49" charset="-122"/>
              <a:ea typeface="FangSong_GB2312" panose="02010609030101010101" pitchFamily="49" charset="-122"/>
            </a:endParaRPr>
          </a:p>
        </p:txBody>
      </p:sp>
      <p:sp>
        <p:nvSpPr>
          <p:cNvPr id="3" name="文本框 2">
            <a:extLst>
              <a:ext uri="{FF2B5EF4-FFF2-40B4-BE49-F238E27FC236}">
                <a16:creationId xmlns:a16="http://schemas.microsoft.com/office/drawing/2014/main" id="{889DFC14-FF82-29D5-AF87-2684207BD333}"/>
              </a:ext>
            </a:extLst>
          </p:cNvPr>
          <p:cNvSpPr txBox="1"/>
          <p:nvPr/>
        </p:nvSpPr>
        <p:spPr>
          <a:xfrm>
            <a:off x="358346" y="288442"/>
            <a:ext cx="720000" cy="523220"/>
          </a:xfrm>
          <a:prstGeom prst="rect">
            <a:avLst/>
          </a:prstGeom>
          <a:noFill/>
        </p:spPr>
        <p:txBody>
          <a:bodyPr wrap="square" rtlCol="0">
            <a:spAutoFit/>
          </a:bodyPr>
          <a:lstStyle/>
          <a:p>
            <a:pPr algn="ctr"/>
            <a:r>
              <a:rPr lang="en-US" altLang="zh-CN"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07</a:t>
            </a:r>
            <a:endParaRPr lang="zh-CN" altLang="en-US"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2" name="Picture 1">
            <a:extLst>
              <a:ext uri="{FF2B5EF4-FFF2-40B4-BE49-F238E27FC236}">
                <a16:creationId xmlns:a16="http://schemas.microsoft.com/office/drawing/2014/main" id="{3107E7EE-0350-7CC2-6637-B12B9C11249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8346" y="1017692"/>
            <a:ext cx="5179695" cy="5840308"/>
          </a:xfrm>
          <a:prstGeom prst="rect">
            <a:avLst/>
          </a:prstGeom>
        </p:spPr>
      </p:pic>
      <p:pic>
        <p:nvPicPr>
          <p:cNvPr id="4" name="Picture 3">
            <a:extLst>
              <a:ext uri="{FF2B5EF4-FFF2-40B4-BE49-F238E27FC236}">
                <a16:creationId xmlns:a16="http://schemas.microsoft.com/office/drawing/2014/main" id="{DD8DBD38-3382-7A94-6AFE-26ECF481AC4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93959" y="1017692"/>
            <a:ext cx="5179695" cy="5840308"/>
          </a:xfrm>
          <a:prstGeom prst="rect">
            <a:avLst/>
          </a:prstGeom>
        </p:spPr>
      </p:pic>
    </p:spTree>
    <p:extLst>
      <p:ext uri="{BB962C8B-B14F-4D97-AF65-F5344CB8AC3E}">
        <p14:creationId xmlns:p14="http://schemas.microsoft.com/office/powerpoint/2010/main" val="2710671541"/>
      </p:ext>
    </p:extLst>
  </p:cSld>
  <p:clrMapOvr>
    <a:masterClrMapping/>
  </p:clrMapOvr>
  <mc:AlternateContent xmlns:mc="http://schemas.openxmlformats.org/markup-compatibility/2006" xmlns:p14="http://schemas.microsoft.com/office/powerpoint/2010/main">
    <mc:Choice Requires="p14">
      <p:transition spd="slow" p14:dur="2000" advTm="10194"/>
    </mc:Choice>
    <mc:Fallback xmlns="">
      <p:transition spd="slow" advTm="10194"/>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1EAE5-C0AD-6D8C-1AED-1C028FC42017}"/>
            </a:ext>
          </a:extLst>
        </p:cNvPr>
        <p:cNvGrpSpPr/>
        <p:nvPr/>
      </p:nvGrpSpPr>
      <p:grpSpPr>
        <a:xfrm>
          <a:off x="0" y="0"/>
          <a:ext cx="0" cy="0"/>
          <a:chOff x="0" y="0"/>
          <a:chExt cx="0" cy="0"/>
        </a:xfrm>
      </p:grpSpPr>
      <p:sp>
        <p:nvSpPr>
          <p:cNvPr id="16" name="文本框 15">
            <a:extLst>
              <a:ext uri="{FF2B5EF4-FFF2-40B4-BE49-F238E27FC236}">
                <a16:creationId xmlns:a16="http://schemas.microsoft.com/office/drawing/2014/main" id="{32E7D048-13AC-6125-FDE2-311F186C152B}"/>
              </a:ext>
            </a:extLst>
          </p:cNvPr>
          <p:cNvSpPr txBox="1"/>
          <p:nvPr/>
        </p:nvSpPr>
        <p:spPr>
          <a:xfrm>
            <a:off x="1219949" y="319219"/>
            <a:ext cx="777777" cy="400110"/>
          </a:xfrm>
          <a:prstGeom prst="rect">
            <a:avLst/>
          </a:prstGeom>
          <a:solidFill>
            <a:schemeClr val="bg1"/>
          </a:solidFill>
        </p:spPr>
        <p:txBody>
          <a:bodyPr wrap="none" rtlCol="0">
            <a:spAutoFit/>
          </a:bodyPr>
          <a:lstStyle/>
          <a:p>
            <a:pPr defTabSz="914400"/>
            <a:r>
              <a:rPr lang="zh-CN" altLang="en-CN" sz="2000" b="1" spc="300" dirty="0">
                <a:latin typeface="FangSong_GB2312" panose="02010609030101010101" pitchFamily="49" charset="-122"/>
                <a:ea typeface="FangSong_GB2312" panose="02010609030101010101" pitchFamily="49" charset="-122"/>
              </a:rPr>
              <a:t>附录</a:t>
            </a:r>
            <a:endParaRPr lang="zh-CN" altLang="en-US" sz="2000" b="1" spc="300" dirty="0">
              <a:latin typeface="FangSong_GB2312" panose="02010609030101010101" pitchFamily="49" charset="-122"/>
              <a:ea typeface="FangSong_GB2312" panose="02010609030101010101" pitchFamily="49" charset="-122"/>
            </a:endParaRPr>
          </a:p>
        </p:txBody>
      </p:sp>
      <p:sp>
        <p:nvSpPr>
          <p:cNvPr id="3" name="文本框 2">
            <a:extLst>
              <a:ext uri="{FF2B5EF4-FFF2-40B4-BE49-F238E27FC236}">
                <a16:creationId xmlns:a16="http://schemas.microsoft.com/office/drawing/2014/main" id="{79CD040C-C4E8-2944-562C-B2D68C0844DF}"/>
              </a:ext>
            </a:extLst>
          </p:cNvPr>
          <p:cNvSpPr txBox="1"/>
          <p:nvPr/>
        </p:nvSpPr>
        <p:spPr>
          <a:xfrm>
            <a:off x="358346" y="288442"/>
            <a:ext cx="720000" cy="523220"/>
          </a:xfrm>
          <a:prstGeom prst="rect">
            <a:avLst/>
          </a:prstGeom>
          <a:noFill/>
        </p:spPr>
        <p:txBody>
          <a:bodyPr wrap="square" rtlCol="0">
            <a:spAutoFit/>
          </a:bodyPr>
          <a:lstStyle/>
          <a:p>
            <a:pPr algn="ctr"/>
            <a:r>
              <a:rPr lang="en-US" altLang="zh-CN"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07</a:t>
            </a:r>
            <a:endParaRPr lang="zh-CN" altLang="en-US"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5" name="Picture 4">
            <a:extLst>
              <a:ext uri="{FF2B5EF4-FFF2-40B4-BE49-F238E27FC236}">
                <a16:creationId xmlns:a16="http://schemas.microsoft.com/office/drawing/2014/main" id="{48B342CE-BC19-EF3C-C18F-4B7C4E4F362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10902" y="605977"/>
            <a:ext cx="5370195" cy="6252023"/>
          </a:xfrm>
          <a:prstGeom prst="rect">
            <a:avLst/>
          </a:prstGeom>
        </p:spPr>
      </p:pic>
    </p:spTree>
    <p:extLst>
      <p:ext uri="{BB962C8B-B14F-4D97-AF65-F5344CB8AC3E}">
        <p14:creationId xmlns:p14="http://schemas.microsoft.com/office/powerpoint/2010/main" val="827930545"/>
      </p:ext>
    </p:extLst>
  </p:cSld>
  <p:clrMapOvr>
    <a:masterClrMapping/>
  </p:clrMapOvr>
  <mc:AlternateContent xmlns:mc="http://schemas.openxmlformats.org/markup-compatibility/2006" xmlns:p14="http://schemas.microsoft.com/office/powerpoint/2010/main">
    <mc:Choice Requires="p14">
      <p:transition spd="slow" p14:dur="2000" advTm="10194"/>
    </mc:Choice>
    <mc:Fallback xmlns="">
      <p:transition spd="slow" advTm="10194"/>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1F4C6-E5FF-E752-F4FE-C082F97FF06C}"/>
            </a:ext>
          </a:extLst>
        </p:cNvPr>
        <p:cNvGrpSpPr/>
        <p:nvPr/>
      </p:nvGrpSpPr>
      <p:grpSpPr>
        <a:xfrm>
          <a:off x="0" y="0"/>
          <a:ext cx="0" cy="0"/>
          <a:chOff x="0" y="0"/>
          <a:chExt cx="0" cy="0"/>
        </a:xfrm>
      </p:grpSpPr>
      <p:sp>
        <p:nvSpPr>
          <p:cNvPr id="16" name="文本框 15">
            <a:extLst>
              <a:ext uri="{FF2B5EF4-FFF2-40B4-BE49-F238E27FC236}">
                <a16:creationId xmlns:a16="http://schemas.microsoft.com/office/drawing/2014/main" id="{65692BE8-4212-3281-22BC-5287FB619914}"/>
              </a:ext>
            </a:extLst>
          </p:cNvPr>
          <p:cNvSpPr txBox="1"/>
          <p:nvPr/>
        </p:nvSpPr>
        <p:spPr>
          <a:xfrm>
            <a:off x="1219949" y="319219"/>
            <a:ext cx="777777" cy="400110"/>
          </a:xfrm>
          <a:prstGeom prst="rect">
            <a:avLst/>
          </a:prstGeom>
          <a:solidFill>
            <a:schemeClr val="bg1"/>
          </a:solidFill>
        </p:spPr>
        <p:txBody>
          <a:bodyPr wrap="none" rtlCol="0">
            <a:spAutoFit/>
          </a:bodyPr>
          <a:lstStyle/>
          <a:p>
            <a:pPr defTabSz="914400"/>
            <a:r>
              <a:rPr lang="zh-CN" altLang="en-CN" sz="2000" b="1" spc="300" dirty="0">
                <a:latin typeface="FangSong_GB2312" panose="02010609030101010101" pitchFamily="49" charset="-122"/>
                <a:ea typeface="FangSong_GB2312" panose="02010609030101010101" pitchFamily="49" charset="-122"/>
              </a:rPr>
              <a:t>附录</a:t>
            </a:r>
            <a:endParaRPr lang="zh-CN" altLang="en-US" sz="2000" b="1" spc="300" dirty="0">
              <a:latin typeface="FangSong_GB2312" panose="02010609030101010101" pitchFamily="49" charset="-122"/>
              <a:ea typeface="FangSong_GB2312" panose="02010609030101010101" pitchFamily="49" charset="-122"/>
            </a:endParaRPr>
          </a:p>
        </p:txBody>
      </p:sp>
      <p:sp>
        <p:nvSpPr>
          <p:cNvPr id="3" name="文本框 2">
            <a:extLst>
              <a:ext uri="{FF2B5EF4-FFF2-40B4-BE49-F238E27FC236}">
                <a16:creationId xmlns:a16="http://schemas.microsoft.com/office/drawing/2014/main" id="{F3B9F91B-A30A-4E0E-E6DC-CC118A23AFFD}"/>
              </a:ext>
            </a:extLst>
          </p:cNvPr>
          <p:cNvSpPr txBox="1"/>
          <p:nvPr/>
        </p:nvSpPr>
        <p:spPr>
          <a:xfrm>
            <a:off x="358346" y="288442"/>
            <a:ext cx="720000" cy="523220"/>
          </a:xfrm>
          <a:prstGeom prst="rect">
            <a:avLst/>
          </a:prstGeom>
          <a:noFill/>
        </p:spPr>
        <p:txBody>
          <a:bodyPr wrap="square" rtlCol="0">
            <a:spAutoFit/>
          </a:bodyPr>
          <a:lstStyle/>
          <a:p>
            <a:pPr algn="ctr"/>
            <a:r>
              <a:rPr lang="en-US" altLang="zh-CN"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07</a:t>
            </a:r>
            <a:endParaRPr lang="zh-CN" altLang="en-US"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4" name="Picture 3">
            <a:extLst>
              <a:ext uri="{FF2B5EF4-FFF2-40B4-BE49-F238E27FC236}">
                <a16:creationId xmlns:a16="http://schemas.microsoft.com/office/drawing/2014/main" id="{82D1F2ED-8FB3-64E4-E59D-1C4C812DC5B5}"/>
              </a:ext>
            </a:extLst>
          </p:cNvPr>
          <p:cNvPicPr>
            <a:picLocks noChangeAspect="1"/>
          </p:cNvPicPr>
          <p:nvPr/>
        </p:nvPicPr>
        <p:blipFill>
          <a:blip r:embed="rId3"/>
          <a:stretch>
            <a:fillRect/>
          </a:stretch>
        </p:blipFill>
        <p:spPr>
          <a:xfrm>
            <a:off x="358346" y="1017518"/>
            <a:ext cx="5632450" cy="1406137"/>
          </a:xfrm>
          <a:prstGeom prst="rect">
            <a:avLst/>
          </a:prstGeom>
        </p:spPr>
      </p:pic>
      <p:pic>
        <p:nvPicPr>
          <p:cNvPr id="7" name="Picture 6">
            <a:extLst>
              <a:ext uri="{FF2B5EF4-FFF2-40B4-BE49-F238E27FC236}">
                <a16:creationId xmlns:a16="http://schemas.microsoft.com/office/drawing/2014/main" id="{9B722FE3-B80F-33FF-5788-093B80037725}"/>
              </a:ext>
            </a:extLst>
          </p:cNvPr>
          <p:cNvPicPr>
            <a:picLocks noChangeAspect="1"/>
          </p:cNvPicPr>
          <p:nvPr/>
        </p:nvPicPr>
        <p:blipFill>
          <a:blip r:embed="rId4"/>
          <a:stretch>
            <a:fillRect/>
          </a:stretch>
        </p:blipFill>
        <p:spPr>
          <a:xfrm>
            <a:off x="6096000" y="1017518"/>
            <a:ext cx="5632450" cy="1396279"/>
          </a:xfrm>
          <a:prstGeom prst="rect">
            <a:avLst/>
          </a:prstGeom>
        </p:spPr>
      </p:pic>
      <p:pic>
        <p:nvPicPr>
          <p:cNvPr id="8" name="Picture 7">
            <a:extLst>
              <a:ext uri="{FF2B5EF4-FFF2-40B4-BE49-F238E27FC236}">
                <a16:creationId xmlns:a16="http://schemas.microsoft.com/office/drawing/2014/main" id="{C55A3C48-F275-0659-91D6-C803C5DEFD9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786088" y="2423655"/>
            <a:ext cx="8619824" cy="4309912"/>
          </a:xfrm>
          <a:prstGeom prst="rect">
            <a:avLst/>
          </a:prstGeom>
        </p:spPr>
      </p:pic>
    </p:spTree>
    <p:extLst>
      <p:ext uri="{BB962C8B-B14F-4D97-AF65-F5344CB8AC3E}">
        <p14:creationId xmlns:p14="http://schemas.microsoft.com/office/powerpoint/2010/main" val="928525955"/>
      </p:ext>
    </p:extLst>
  </p:cSld>
  <p:clrMapOvr>
    <a:masterClrMapping/>
  </p:clrMapOvr>
  <mc:AlternateContent xmlns:mc="http://schemas.openxmlformats.org/markup-compatibility/2006" xmlns:p14="http://schemas.microsoft.com/office/powerpoint/2010/main">
    <mc:Choice Requires="p14">
      <p:transition spd="slow" p14:dur="2000" advTm="10194"/>
    </mc:Choice>
    <mc:Fallback xmlns="">
      <p:transition spd="slow" advTm="10194"/>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mEwMGMxN2NmYjcwNzYwMmZiNmFlMWY3YzFmNWQzYjIifQ=="/>
</p:tagLst>
</file>

<file path=ppt/tags/tag2.xml><?xml version="1.0" encoding="utf-8"?>
<p:tagLst xmlns:a="http://schemas.openxmlformats.org/drawingml/2006/main" xmlns:r="http://schemas.openxmlformats.org/officeDocument/2006/relationships" xmlns:p="http://schemas.openxmlformats.org/presentationml/2006/main">
  <p:tag name="TIMING" val="|36.1"/>
</p:tagLst>
</file>

<file path=ppt/tags/tag3.xml><?xml version="1.0" encoding="utf-8"?>
<p:tagLst xmlns:a="http://schemas.openxmlformats.org/drawingml/2006/main" xmlns:r="http://schemas.openxmlformats.org/officeDocument/2006/relationships" xmlns:p="http://schemas.openxmlformats.org/presentationml/2006/main">
  <p:tag name="TIMING" val="|36.1"/>
</p:tagLst>
</file>

<file path=ppt/theme/theme1.xml><?xml version="1.0" encoding="utf-8"?>
<a:theme xmlns:a="http://schemas.openxmlformats.org/drawingml/2006/main" name="Office Theme">
  <a:themeElements>
    <a:clrScheme name="浙大蓝色">
      <a:dk1>
        <a:sysClr val="windowText" lastClr="000000"/>
      </a:dk1>
      <a:lt1>
        <a:sysClr val="window" lastClr="FFFFFF"/>
      </a:lt1>
      <a:dk2>
        <a:srgbClr val="44546A"/>
      </a:dk2>
      <a:lt2>
        <a:srgbClr val="FFFFFF"/>
      </a:lt2>
      <a:accent1>
        <a:srgbClr val="003E87"/>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23197</TotalTime>
  <Words>2748</Words>
  <Application>Microsoft Macintosh PowerPoint</Application>
  <PresentationFormat>Widescreen</PresentationFormat>
  <Paragraphs>411</Paragraphs>
  <Slides>29</Slides>
  <Notes>29</Notes>
  <HiddenSlides>4</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29</vt:i4>
      </vt:variant>
    </vt:vector>
  </HeadingPairs>
  <TitlesOfParts>
    <vt:vector size="40" baseType="lpstr">
      <vt:lpstr>等线</vt:lpstr>
      <vt:lpstr>FangSong_GB2312</vt:lpstr>
      <vt:lpstr>微软雅黑</vt:lpstr>
      <vt:lpstr>Microsoft YaHei UI</vt:lpstr>
      <vt:lpstr>Arial</vt:lpstr>
      <vt:lpstr>Calibri</vt:lpstr>
      <vt:lpstr>Calibri Light</vt:lpstr>
      <vt:lpstr>Cambria Math</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博士学长的百宝箱</dc:creator>
  <cp:lastModifiedBy>t30941</cp:lastModifiedBy>
  <cp:revision>1012</cp:revision>
  <cp:lastPrinted>2023-12-14T09:48:00Z</cp:lastPrinted>
  <dcterms:created xsi:type="dcterms:W3CDTF">2019-10-11T01:48:00Z</dcterms:created>
  <dcterms:modified xsi:type="dcterms:W3CDTF">2026-05-28T11:11:45Z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F79EE4121D954E6CAB4BC5AA0085E3C4_12</vt:lpwstr>
  </property>
  <property fmtid="{D5CDD505-2E9C-101B-9397-08002B2CF9AE}" pid="3" name="KSOProductBuildVer">
    <vt:lpwstr>2052-12.1.0.18276</vt:lpwstr>
  </property>
</Properties>
</file>